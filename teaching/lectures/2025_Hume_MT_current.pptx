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326"/>
  </p:notesMasterIdLst>
  <p:handoutMasterIdLst>
    <p:handoutMasterId r:id="rId327"/>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 id="1554" r:id="rId134"/>
    <p:sldId id="1557" r:id="rId135"/>
    <p:sldId id="1560" r:id="rId136"/>
    <p:sldId id="1026" r:id="rId137"/>
    <p:sldId id="1057" r:id="rId138"/>
    <p:sldId id="1060" r:id="rId139"/>
    <p:sldId id="1559" r:id="rId140"/>
    <p:sldId id="1061" r:id="rId141"/>
    <p:sldId id="1062" r:id="rId142"/>
    <p:sldId id="1084" r:id="rId143"/>
    <p:sldId id="1348" r:id="rId144"/>
    <p:sldId id="1055" r:id="rId145"/>
    <p:sldId id="1561" r:id="rId146"/>
    <p:sldId id="1058" r:id="rId147"/>
    <p:sldId id="1059" r:id="rId148"/>
    <p:sldId id="1063" r:id="rId149"/>
    <p:sldId id="1064" r:id="rId150"/>
    <p:sldId id="1065" r:id="rId151"/>
    <p:sldId id="1066" r:id="rId152"/>
    <p:sldId id="1067" r:id="rId153"/>
    <p:sldId id="1076" r:id="rId154"/>
    <p:sldId id="1074" r:id="rId155"/>
    <p:sldId id="1077" r:id="rId156"/>
    <p:sldId id="1078" r:id="rId157"/>
    <p:sldId id="1079" r:id="rId158"/>
    <p:sldId id="722" r:id="rId159"/>
    <p:sldId id="1080" r:id="rId160"/>
    <p:sldId id="1082" r:id="rId161"/>
    <p:sldId id="1352" r:id="rId162"/>
    <p:sldId id="1354" r:id="rId163"/>
    <p:sldId id="1562" r:id="rId164"/>
    <p:sldId id="1563" r:id="rId165"/>
    <p:sldId id="1097" r:id="rId166"/>
    <p:sldId id="1564" r:id="rId167"/>
    <p:sldId id="1565" r:id="rId168"/>
    <p:sldId id="1105" r:id="rId169"/>
    <p:sldId id="1569" r:id="rId170"/>
    <p:sldId id="1106" r:id="rId171"/>
    <p:sldId id="1107" r:id="rId172"/>
    <p:sldId id="1108" r:id="rId173"/>
    <p:sldId id="1109" r:id="rId174"/>
    <p:sldId id="1110" r:id="rId175"/>
    <p:sldId id="1573" r:id="rId176"/>
    <p:sldId id="1574" r:id="rId177"/>
    <p:sldId id="1575" r:id="rId178"/>
    <p:sldId id="1576" r:id="rId179"/>
    <p:sldId id="1577" r:id="rId180"/>
    <p:sldId id="1291" r:id="rId181"/>
    <p:sldId id="1580" r:id="rId182"/>
    <p:sldId id="1581" r:id="rId183"/>
    <p:sldId id="1115" r:id="rId184"/>
    <p:sldId id="1116" r:id="rId185"/>
    <p:sldId id="1583" r:id="rId186"/>
    <p:sldId id="1584" r:id="rId187"/>
    <p:sldId id="1585" r:id="rId188"/>
    <p:sldId id="1587" r:id="rId189"/>
    <p:sldId id="1589" r:id="rId190"/>
    <p:sldId id="1588" r:id="rId191"/>
    <p:sldId id="305" r:id="rId192"/>
    <p:sldId id="309" r:id="rId193"/>
    <p:sldId id="310" r:id="rId194"/>
    <p:sldId id="1591" r:id="rId195"/>
    <p:sldId id="972" r:id="rId196"/>
    <p:sldId id="1593" r:id="rId197"/>
    <p:sldId id="1594" r:id="rId198"/>
    <p:sldId id="1595" r:id="rId199"/>
    <p:sldId id="1597" r:id="rId200"/>
    <p:sldId id="1598" r:id="rId201"/>
    <p:sldId id="1599" r:id="rId202"/>
    <p:sldId id="1600" r:id="rId203"/>
    <p:sldId id="1604" r:id="rId204"/>
    <p:sldId id="1126" r:id="rId205"/>
    <p:sldId id="1127" r:id="rId206"/>
    <p:sldId id="1128" r:id="rId207"/>
    <p:sldId id="1123" r:id="rId208"/>
    <p:sldId id="1607" r:id="rId209"/>
    <p:sldId id="1125" r:id="rId210"/>
    <p:sldId id="1616" r:id="rId211"/>
    <p:sldId id="1608" r:id="rId212"/>
    <p:sldId id="1609" r:id="rId213"/>
    <p:sldId id="1610" r:id="rId214"/>
    <p:sldId id="1612" r:id="rId215"/>
    <p:sldId id="1613" r:id="rId216"/>
    <p:sldId id="1614" r:id="rId217"/>
    <p:sldId id="1618" r:id="rId218"/>
    <p:sldId id="1617" r:id="rId219"/>
    <p:sldId id="1615" r:id="rId220"/>
    <p:sldId id="1619" r:id="rId221"/>
    <p:sldId id="1620" r:id="rId222"/>
    <p:sldId id="1621" r:id="rId223"/>
    <p:sldId id="1147" r:id="rId224"/>
    <p:sldId id="1148" r:id="rId225"/>
    <p:sldId id="1150" r:id="rId226"/>
    <p:sldId id="1140" r:id="rId227"/>
    <p:sldId id="1141" r:id="rId228"/>
    <p:sldId id="1143" r:id="rId229"/>
    <p:sldId id="528" r:id="rId230"/>
    <p:sldId id="1169" r:id="rId231"/>
    <p:sldId id="1170" r:id="rId232"/>
    <p:sldId id="1168" r:id="rId233"/>
    <p:sldId id="443" r:id="rId234"/>
    <p:sldId id="1625" r:id="rId235"/>
    <p:sldId id="445" r:id="rId236"/>
    <p:sldId id="1628" r:id="rId237"/>
    <p:sldId id="1369" r:id="rId238"/>
    <p:sldId id="1172" r:id="rId239"/>
    <p:sldId id="1184" r:id="rId240"/>
    <p:sldId id="1185" r:id="rId241"/>
    <p:sldId id="1186" r:id="rId242"/>
    <p:sldId id="1187" r:id="rId243"/>
    <p:sldId id="1188" r:id="rId244"/>
    <p:sldId id="1189" r:id="rId245"/>
    <p:sldId id="1190" r:id="rId246"/>
    <p:sldId id="1191" r:id="rId247"/>
    <p:sldId id="1192" r:id="rId248"/>
    <p:sldId id="1370" r:id="rId249"/>
    <p:sldId id="1194" r:id="rId250"/>
    <p:sldId id="1371" r:id="rId251"/>
    <p:sldId id="1372" r:id="rId252"/>
    <p:sldId id="1200" r:id="rId253"/>
    <p:sldId id="1201" r:id="rId254"/>
    <p:sldId id="1202" r:id="rId255"/>
    <p:sldId id="1203" r:id="rId256"/>
    <p:sldId id="1373" r:id="rId257"/>
    <p:sldId id="1205" r:id="rId258"/>
    <p:sldId id="1206" r:id="rId259"/>
    <p:sldId id="1207" r:id="rId260"/>
    <p:sldId id="1208" r:id="rId261"/>
    <p:sldId id="1349" r:id="rId262"/>
    <p:sldId id="1210" r:id="rId263"/>
    <p:sldId id="1374" r:id="rId264"/>
    <p:sldId id="1212" r:id="rId265"/>
    <p:sldId id="1213" r:id="rId266"/>
    <p:sldId id="1214" r:id="rId267"/>
    <p:sldId id="1215" r:id="rId268"/>
    <p:sldId id="1375" r:id="rId269"/>
    <p:sldId id="1216" r:id="rId270"/>
    <p:sldId id="1217" r:id="rId271"/>
    <p:sldId id="1376" r:id="rId272"/>
    <p:sldId id="1218" r:id="rId273"/>
    <p:sldId id="1219" r:id="rId274"/>
    <p:sldId id="1220" r:id="rId275"/>
    <p:sldId id="1221" r:id="rId276"/>
    <p:sldId id="1222" r:id="rId277"/>
    <p:sldId id="1629" r:id="rId278"/>
    <p:sldId id="1630" r:id="rId279"/>
    <p:sldId id="1353" r:id="rId280"/>
    <p:sldId id="1377" r:id="rId281"/>
    <p:sldId id="1378" r:id="rId282"/>
    <p:sldId id="1379" r:id="rId283"/>
    <p:sldId id="1380" r:id="rId284"/>
    <p:sldId id="1381" r:id="rId285"/>
    <p:sldId id="1382" r:id="rId286"/>
    <p:sldId id="1383" r:id="rId287"/>
    <p:sldId id="1384" r:id="rId288"/>
    <p:sldId id="1385" r:id="rId289"/>
    <p:sldId id="1386" r:id="rId290"/>
    <p:sldId id="1387" r:id="rId291"/>
    <p:sldId id="1388" r:id="rId292"/>
    <p:sldId id="1389" r:id="rId293"/>
    <p:sldId id="1395" r:id="rId294"/>
    <p:sldId id="1224" r:id="rId295"/>
    <p:sldId id="1396" r:id="rId296"/>
    <p:sldId id="1411" r:id="rId297"/>
    <p:sldId id="1226" r:id="rId298"/>
    <p:sldId id="1227" r:id="rId299"/>
    <p:sldId id="1228" r:id="rId300"/>
    <p:sldId id="1412" r:id="rId301"/>
    <p:sldId id="1400" r:id="rId302"/>
    <p:sldId id="1397" r:id="rId303"/>
    <p:sldId id="1402" r:id="rId304"/>
    <p:sldId id="1405" r:id="rId305"/>
    <p:sldId id="1404" r:id="rId306"/>
    <p:sldId id="1230" r:id="rId307"/>
    <p:sldId id="1231" r:id="rId308"/>
    <p:sldId id="1232" r:id="rId309"/>
    <p:sldId id="1233" r:id="rId310"/>
    <p:sldId id="1407" r:id="rId311"/>
    <p:sldId id="1408" r:id="rId312"/>
    <p:sldId id="1413" r:id="rId313"/>
    <p:sldId id="1414" r:id="rId314"/>
    <p:sldId id="1415" r:id="rId315"/>
    <p:sldId id="1416" r:id="rId316"/>
    <p:sldId id="1417" r:id="rId317"/>
    <p:sldId id="1409" r:id="rId318"/>
    <p:sldId id="1239" r:id="rId319"/>
    <p:sldId id="1240" r:id="rId320"/>
    <p:sldId id="1418" r:id="rId321"/>
    <p:sldId id="1241" r:id="rId322"/>
    <p:sldId id="1419" r:id="rId323"/>
    <p:sldId id="1420" r:id="rId324"/>
    <p:sldId id="1242" r:id="rId325"/>
  </p:sldIdLst>
  <p:sldSz cx="9144000" cy="6858000" type="screen4x3"/>
  <p:notesSz cx="7004050" cy="929005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926"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99"/>
    <a:srgbClr val="FF7C80"/>
    <a:srgbClr val="00FFFF"/>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90" d="100"/>
          <a:sy n="90" d="100"/>
        </p:scale>
        <p:origin x="629" y="7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77" d="100"/>
          <a:sy n="77" d="100"/>
        </p:scale>
        <p:origin x="3264" y="180"/>
      </p:cViewPr>
      <p:guideLst>
        <p:guide orient="horz" pos="2926"/>
        <p:guide pos="2208"/>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notesMaster" Target="notesMasters/notesMaster1.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327" Type="http://schemas.openxmlformats.org/officeDocument/2006/relationships/handoutMaster" Target="handoutMasters/handoutMaster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viewProps" Target="view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theme" Target="theme/theme1.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7" y="230201"/>
            <a:ext cx="7004050" cy="421335"/>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 2024-25</a:t>
            </a:r>
            <a:endParaRPr lang="en-US" sz="2100" b="1" dirty="0"/>
          </a:p>
        </p:txBody>
      </p:sp>
      <p:sp>
        <p:nvSpPr>
          <p:cNvPr id="117767" name="Text Box 7"/>
          <p:cNvSpPr txBox="1">
            <a:spLocks noChangeArrowheads="1"/>
          </p:cNvSpPr>
          <p:nvPr/>
        </p:nvSpPr>
        <p:spPr bwMode="auto">
          <a:xfrm>
            <a:off x="452519" y="8688351"/>
            <a:ext cx="6023612" cy="267447"/>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7"/>
            <a:ext cx="3034761" cy="465024"/>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3967654" y="7"/>
            <a:ext cx="3034761" cy="465024"/>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1179513" y="695325"/>
            <a:ext cx="4645025" cy="3484563"/>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700082" y="4412519"/>
            <a:ext cx="5603895" cy="4180745"/>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8823550"/>
            <a:ext cx="3034761" cy="465024"/>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3967654" y="8823550"/>
            <a:ext cx="3034761" cy="465024"/>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0869-2028-B017-85DC-7AD2D5D7578D}"/>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7A473C9E-0DD5-EE67-F7B8-8EDEF31ECA8A}"/>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48429887-441C-D9A1-79DA-1A0BE5EEAA52}"/>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3C2D67EC-714A-213C-8DD8-32FFE7DD4DB9}"/>
              </a:ext>
            </a:extLst>
          </p:cNvPr>
          <p:cNvSpPr>
            <a:spLocks noGrp="1" noChangeArrowheads="1"/>
          </p:cNvSpPr>
          <p:nvPr>
            <p:ph type="sldNum" sz="quarter" idx="5"/>
          </p:nvPr>
        </p:nvSpPr>
        <p:spPr>
          <a:ln/>
        </p:spPr>
        <p:txBody>
          <a:bodyPr/>
          <a:lstStyle/>
          <a:p>
            <a:fld id="{5AEBFE11-5342-470A-855B-2D8F4DEE07D2}" type="slidenum">
              <a:rPr lang="en-GB"/>
              <a:pPr/>
              <a:t>133</a:t>
            </a:fld>
            <a:endParaRPr lang="en-GB"/>
          </a:p>
        </p:txBody>
      </p:sp>
      <p:sp>
        <p:nvSpPr>
          <p:cNvPr id="119810" name="Rectangle 2">
            <a:extLst>
              <a:ext uri="{FF2B5EF4-FFF2-40B4-BE49-F238E27FC236}">
                <a16:creationId xmlns:a16="http://schemas.microsoft.com/office/drawing/2014/main" id="{70C80C4E-7563-DF01-FC1B-1A5335B54413}"/>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240377C9-45E6-E826-FF55-2522B60F1F0A}"/>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4133042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CB4834F2-1A79-4A59-A02A-FAE9E5956410}" type="slidenum">
              <a:rPr lang="en-GB" altLang="en-US"/>
              <a:pPr/>
              <a:t>152</a:t>
            </a:fld>
            <a:endParaRPr lang="en-GB" altLang="en-US"/>
          </a:p>
        </p:txBody>
      </p:sp>
      <p:sp>
        <p:nvSpPr>
          <p:cNvPr id="39938" name="Rectangle 2"/>
          <p:cNvSpPr txBox="1">
            <a:spLocks noGrp="1" noChangeArrowheads="1"/>
          </p:cNvSpPr>
          <p:nvPr/>
        </p:nvSpPr>
        <p:spPr bwMode="auto">
          <a:xfrm>
            <a:off x="2" y="1"/>
            <a:ext cx="2939926" cy="49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44132" name="Rectangle 7"/>
          <p:cNvSpPr txBox="1">
            <a:spLocks noGrp="1" noChangeArrowheads="1"/>
          </p:cNvSpPr>
          <p:nvPr/>
        </p:nvSpPr>
        <p:spPr bwMode="auto">
          <a:xfrm>
            <a:off x="3843663"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5259967E-50EC-4BDC-8C0F-797B3A38FC06}" type="slidenum">
              <a:rPr lang="en-GB" altLang="en-US" sz="1300">
                <a:ea typeface="ＭＳ Ｐゴシック" charset="-128"/>
              </a:rPr>
              <a:pPr algn="r" eaLnBrk="1" hangingPunct="1"/>
              <a:t>152</a:t>
            </a:fld>
            <a:endParaRPr lang="en-GB" altLang="en-US" sz="1300">
              <a:ea typeface="ＭＳ Ｐゴシック" charset="-128"/>
            </a:endParaRPr>
          </a:p>
        </p:txBody>
      </p:sp>
      <p:sp>
        <p:nvSpPr>
          <p:cNvPr id="944133" name="Rectangle 2"/>
          <p:cNvSpPr>
            <a:spLocks noGrp="1" noRot="1" noChangeAspect="1" noChangeArrowheads="1" noTextEdit="1"/>
          </p:cNvSpPr>
          <p:nvPr>
            <p:ph type="sldImg"/>
          </p:nvPr>
        </p:nvSpPr>
        <p:spPr>
          <a:ln/>
        </p:spPr>
      </p:sp>
      <p:sp>
        <p:nvSpPr>
          <p:cNvPr id="94413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690780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AFF2CBD-11CF-490B-BD24-697FFF85DE93}" type="slidenum">
              <a:rPr lang="en-GB" altLang="en-US"/>
              <a:pPr/>
              <a:t>153</a:t>
            </a:fld>
            <a:endParaRPr lang="en-GB" altLang="en-US"/>
          </a:p>
        </p:txBody>
      </p:sp>
      <p:sp>
        <p:nvSpPr>
          <p:cNvPr id="39938" name="Rectangle 2"/>
          <p:cNvSpPr txBox="1">
            <a:spLocks noGrp="1" noChangeArrowheads="1"/>
          </p:cNvSpPr>
          <p:nvPr/>
        </p:nvSpPr>
        <p:spPr bwMode="auto">
          <a:xfrm>
            <a:off x="2" y="1"/>
            <a:ext cx="2939926" cy="49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4372" name="Rectangle 7"/>
          <p:cNvSpPr txBox="1">
            <a:spLocks noGrp="1" noChangeArrowheads="1"/>
          </p:cNvSpPr>
          <p:nvPr/>
        </p:nvSpPr>
        <p:spPr bwMode="auto">
          <a:xfrm>
            <a:off x="3843663"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E334B193-ADDC-4D1D-A8F1-CB66B41A1102}" type="slidenum">
              <a:rPr lang="en-GB" altLang="en-US" sz="1300">
                <a:ea typeface="ＭＳ Ｐゴシック" charset="-128"/>
              </a:rPr>
              <a:pPr algn="r" eaLnBrk="1" hangingPunct="1"/>
              <a:t>153</a:t>
            </a:fld>
            <a:endParaRPr lang="en-GB" altLang="en-US" sz="1300">
              <a:ea typeface="ＭＳ Ｐゴシック" charset="-128"/>
            </a:endParaRPr>
          </a:p>
        </p:txBody>
      </p:sp>
      <p:sp>
        <p:nvSpPr>
          <p:cNvPr id="954373" name="Rectangle 2"/>
          <p:cNvSpPr>
            <a:spLocks noGrp="1" noRot="1" noChangeAspect="1" noChangeArrowheads="1" noTextEdit="1"/>
          </p:cNvSpPr>
          <p:nvPr>
            <p:ph type="sldImg"/>
          </p:nvPr>
        </p:nvSpPr>
        <p:spPr>
          <a:ln/>
        </p:spPr>
      </p:sp>
      <p:sp>
        <p:nvSpPr>
          <p:cNvPr id="95437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106054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365B2C7-4768-4184-BF7F-97368656769F}" type="slidenum">
              <a:rPr lang="en-GB" altLang="en-US"/>
              <a:pPr/>
              <a:t>154</a:t>
            </a:fld>
            <a:endParaRPr lang="en-GB" altLang="en-US"/>
          </a:p>
        </p:txBody>
      </p:sp>
      <p:sp>
        <p:nvSpPr>
          <p:cNvPr id="39938" name="Rectangle 2"/>
          <p:cNvSpPr txBox="1">
            <a:spLocks noGrp="1" noChangeArrowheads="1"/>
          </p:cNvSpPr>
          <p:nvPr/>
        </p:nvSpPr>
        <p:spPr bwMode="auto">
          <a:xfrm>
            <a:off x="2" y="1"/>
            <a:ext cx="2939926" cy="49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8468" name="Rectangle 7"/>
          <p:cNvSpPr txBox="1">
            <a:spLocks noGrp="1" noChangeArrowheads="1"/>
          </p:cNvSpPr>
          <p:nvPr/>
        </p:nvSpPr>
        <p:spPr bwMode="auto">
          <a:xfrm>
            <a:off x="3843663" y="9430776"/>
            <a:ext cx="2939926" cy="497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D0F717BA-A0D5-41D0-BB8E-8BC9B3701D97}" type="slidenum">
              <a:rPr lang="en-GB" altLang="en-US" sz="1300">
                <a:ea typeface="ＭＳ Ｐゴシック" charset="-128"/>
              </a:rPr>
              <a:pPr algn="r" eaLnBrk="1" hangingPunct="1"/>
              <a:t>154</a:t>
            </a:fld>
            <a:endParaRPr lang="en-GB" altLang="en-US" sz="1300">
              <a:ea typeface="ＭＳ Ｐゴシック" charset="-128"/>
            </a:endParaRPr>
          </a:p>
        </p:txBody>
      </p:sp>
      <p:sp>
        <p:nvSpPr>
          <p:cNvPr id="958469" name="Rectangle 2"/>
          <p:cNvSpPr>
            <a:spLocks noGrp="1" noRot="1" noChangeAspect="1" noChangeArrowheads="1" noTextEdit="1"/>
          </p:cNvSpPr>
          <p:nvPr>
            <p:ph type="sldImg"/>
          </p:nvPr>
        </p:nvSpPr>
        <p:spPr>
          <a:ln/>
        </p:spPr>
      </p:sp>
      <p:sp>
        <p:nvSpPr>
          <p:cNvPr id="958470"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88569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22AD3-A6D4-8899-6D9E-B24A8B1FD5E9}"/>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438272CC-2FB4-8BC8-4ACE-CF848208CD46}"/>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87FE266A-D1B5-6428-B4CA-12E8C3C7937A}"/>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81EAA5C5-870F-CBEA-B019-4D07DB04C9E2}"/>
              </a:ext>
            </a:extLst>
          </p:cNvPr>
          <p:cNvSpPr>
            <a:spLocks noGrp="1" noChangeArrowheads="1"/>
          </p:cNvSpPr>
          <p:nvPr>
            <p:ph type="sldNum" sz="quarter" idx="5"/>
          </p:nvPr>
        </p:nvSpPr>
        <p:spPr>
          <a:ln/>
        </p:spPr>
        <p:txBody>
          <a:bodyPr/>
          <a:lstStyle/>
          <a:p>
            <a:fld id="{5AEBFE11-5342-470A-855B-2D8F4DEE07D2}" type="slidenum">
              <a:rPr lang="en-GB"/>
              <a:pPr/>
              <a:t>175</a:t>
            </a:fld>
            <a:endParaRPr lang="en-GB"/>
          </a:p>
        </p:txBody>
      </p:sp>
      <p:sp>
        <p:nvSpPr>
          <p:cNvPr id="119810" name="Rectangle 2">
            <a:extLst>
              <a:ext uri="{FF2B5EF4-FFF2-40B4-BE49-F238E27FC236}">
                <a16:creationId xmlns:a16="http://schemas.microsoft.com/office/drawing/2014/main" id="{A94E7560-8BB4-FF78-75EF-D714CF129BB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CB3EFF24-D7E2-90E4-5855-F3B12EFD9D36}"/>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8645722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877E1F11-FC43-4A74-8BD8-5E5153210808}" type="slidenum">
              <a:rPr lang="en-GB"/>
              <a:pPr/>
              <a:t>223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15096926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F9281-97E6-AB40-1242-8B6748CB8E78}"/>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74D78A45-5078-EAC5-C10D-31A8709EB5FB}"/>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DE622AED-1A89-4B70-CB28-A0284DC7DEA2}"/>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A704D43B-10B6-2E4E-39C9-955A3D716BF7}"/>
              </a:ext>
            </a:extLst>
          </p:cNvPr>
          <p:cNvSpPr>
            <a:spLocks noGrp="1" noChangeArrowheads="1"/>
          </p:cNvSpPr>
          <p:nvPr>
            <p:ph type="sldNum" sz="quarter" idx="5"/>
          </p:nvPr>
        </p:nvSpPr>
        <p:spPr>
          <a:ln/>
        </p:spPr>
        <p:txBody>
          <a:bodyPr/>
          <a:lstStyle/>
          <a:p>
            <a:fld id="{877E1F11-FC43-4A74-8BD8-5E5153210808}" type="slidenum">
              <a:rPr lang="en-GB"/>
              <a:pPr/>
              <a:t>277</a:t>
            </a:fld>
            <a:endParaRPr lang="en-GB"/>
          </a:p>
        </p:txBody>
      </p:sp>
      <p:sp>
        <p:nvSpPr>
          <p:cNvPr id="119810" name="Rectangle 2">
            <a:extLst>
              <a:ext uri="{FF2B5EF4-FFF2-40B4-BE49-F238E27FC236}">
                <a16:creationId xmlns:a16="http://schemas.microsoft.com/office/drawing/2014/main" id="{5CCA1133-36F2-5FFC-9605-4FBD42413B11}"/>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E0E58508-7B90-9B0E-903D-29E6A047BBFF}"/>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817439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hyperlink" Target="https://davidhume.org/teaching/" TargetMode="Externa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dirty="0"/>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dirty="0"/>
              <a:t>To maximise efficiency towards these aims, we will not here be looking deeply at the </a:t>
            </a:r>
            <a:r>
              <a:rPr lang="en-GB" sz="2500" i="1" dirty="0"/>
              <a:t>historical</a:t>
            </a:r>
            <a:r>
              <a:rPr lang="en-GB" sz="2500" dirty="0"/>
              <a:t> or </a:t>
            </a:r>
            <a:r>
              <a:rPr lang="en-GB" sz="2500" i="1" dirty="0"/>
              <a:t>biographical</a:t>
            </a:r>
            <a:r>
              <a:rPr lang="en-GB" sz="2500" dirty="0"/>
              <a:t> background of Hume’s ideas.  But for a personal view of these things, you might find it interesting to explore …</a:t>
            </a:r>
          </a:p>
          <a:p>
            <a:pPr lvl="1">
              <a:spcBef>
                <a:spcPts val="1200"/>
              </a:spcBef>
            </a:pPr>
            <a:r>
              <a:rPr lang="en-GB" sz="2300" dirty="0"/>
              <a:t>For historical context, see the General Philosophy lecture pages at </a:t>
            </a:r>
            <a:r>
              <a:rPr lang="en-GB" sz="2300" dirty="0">
                <a:hlinkClick r:id="rId2"/>
              </a:rPr>
              <a:t>https://www.millican.org/genphil.htm</a:t>
            </a:r>
            <a:r>
              <a:rPr lang="en-GB" sz="2300" dirty="0"/>
              <a:t> (e.g. 2018 Lectures 1 and 2, and Lecture 3 as far as  26).</a:t>
            </a:r>
          </a:p>
          <a:p>
            <a:pPr lvl="1">
              <a:spcBef>
                <a:spcPts val="1200"/>
              </a:spcBef>
            </a:pPr>
            <a:r>
              <a:rPr lang="en-GB" sz="2300" dirty="0"/>
              <a:t>For more systematic coverage and detail, see “Introduction” under “2007” at </a:t>
            </a:r>
            <a:r>
              <a:rPr lang="en-GB" sz="2300" dirty="0">
                <a:hlinkClick r:id="rId3"/>
              </a:rPr>
              <a:t>https://davidhume.org/scholarship/millican</a:t>
            </a:r>
            <a:r>
              <a:rPr lang="en-GB" sz="2300" dirty="0"/>
              <a:t>.</a:t>
            </a:r>
          </a:p>
          <a:p>
            <a:pPr lvl="1">
              <a:spcBef>
                <a:spcPts val="1200"/>
              </a:spcBef>
            </a:pPr>
            <a:r>
              <a:rPr lang="en-GB" sz="2300" dirty="0"/>
              <a:t>For biographical context, see Lecture 1 in the 2018 series at </a:t>
            </a:r>
            <a:r>
              <a:rPr lang="en-GB" sz="2300" dirty="0">
                <a:hlinkClick r:id="rId4"/>
              </a:rPr>
              <a:t>https://davidhume.org/teaching/lectures</a:t>
            </a:r>
            <a:r>
              <a:rPr lang="en-GB" sz="2300" dirty="0"/>
              <a:t>.</a:t>
            </a:r>
          </a:p>
          <a:p>
            <a:pPr lvl="1">
              <a:spcBef>
                <a:spcPts val="1200"/>
              </a:spcBef>
            </a:pPr>
            <a:r>
              <a:rPr lang="en-GB" sz="2300" dirty="0"/>
              <a:t>For biographical philosophy, see “Hume’s Chief Argument” under “2016” at </a:t>
            </a:r>
            <a:r>
              <a:rPr lang="en-GB" sz="2300" dirty="0">
                <a:hlinkClick r:id="rId5"/>
              </a:rPr>
              <a:t>https://davidhume.org/scholarship/millican</a:t>
            </a:r>
            <a:r>
              <a:rPr lang="en-GB" sz="2300" dirty="0"/>
              <a:t>.</a:t>
            </a:r>
          </a:p>
          <a:p>
            <a:pPr lvl="1">
              <a:spcBef>
                <a:spcPts val="1200"/>
              </a:spcBef>
            </a:pPr>
            <a:endParaRPr lang="en-GB" sz="2400" dirty="0"/>
          </a:p>
          <a:p>
            <a:pPr lvl="1"/>
            <a:endParaRPr lang="en-GB" sz="2400" dirty="0"/>
          </a:p>
          <a:p>
            <a:pPr marL="457200" lvl="1" indent="0">
              <a:buNone/>
            </a:pPr>
            <a:endParaRPr lang="en-GB" sz="2400" dirty="0"/>
          </a:p>
          <a:p>
            <a:pPr lvl="1"/>
            <a:endParaRPr lang="en-GB" sz="2400" dirty="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dirty="0"/>
              <a:t>Click on     to jump to a specific text reference (e.g. T 1.3.2.11, A 27, or E 4.13).</a:t>
            </a:r>
          </a:p>
          <a:p>
            <a:pPr>
              <a:spcBef>
                <a:spcPts val="1200"/>
              </a:spcBef>
            </a:pPr>
            <a:r>
              <a:rPr lang="en-GB" sz="2800" dirty="0"/>
              <a:t>Click on “Teaching Materials” to find links to:</a:t>
            </a:r>
          </a:p>
          <a:p>
            <a:pPr lvl="1"/>
            <a:r>
              <a:rPr lang="en-GB" sz="2500" dirty="0"/>
              <a:t>Previous lectures on Hume (2010, 2011, 2018) together with handouts (including for 2021).</a:t>
            </a:r>
          </a:p>
          <a:p>
            <a:pPr lvl="1"/>
            <a:r>
              <a:rPr lang="en-GB" sz="2500" dirty="0"/>
              <a:t>“Outline of </a:t>
            </a:r>
            <a:r>
              <a:rPr lang="en-GB" sz="2500" dirty="0" err="1"/>
              <a:t>Humean</a:t>
            </a:r>
            <a:r>
              <a:rPr lang="en-GB" sz="2500" dirty="0"/>
              <a:t> Texts”: annotated summaries of some of the most important sections of the </a:t>
            </a:r>
            <a:r>
              <a:rPr lang="en-GB" sz="2500" i="1" dirty="0"/>
              <a:t>Treatise</a:t>
            </a:r>
            <a:r>
              <a:rPr lang="en-GB" sz="2500" dirty="0"/>
              <a:t>, to aid comprehension and reference.</a:t>
            </a:r>
          </a:p>
          <a:p>
            <a:pPr lvl="1"/>
            <a:r>
              <a:rPr lang="en-GB" sz="2500" dirty="0"/>
              <a:t>“Analysis of Hume’s Sceptical Texts” – as above, but focusing on sceptical topics.</a:t>
            </a:r>
          </a:p>
          <a:p>
            <a:pPr lvl="1"/>
            <a:r>
              <a:rPr lang="en-GB" sz="2500" dirty="0"/>
              <a:t>“Notes on Particular Topics” – more opinionated discussions of other key topics.</a:t>
            </a:r>
          </a:p>
          <a:p>
            <a:pPr>
              <a:spcBef>
                <a:spcPts val="1200"/>
              </a:spcBef>
            </a:pPr>
            <a:r>
              <a:rPr lang="en-GB" sz="2800" dirty="0"/>
              <a:t>Click on “Scholarship” to find over 50 of my papers on Hume, and handouts from many talks.</a:t>
            </a:r>
          </a:p>
          <a:p>
            <a:endParaRPr lang="en-GB" sz="3000" dirty="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dirty="0"/>
              <a:t>There are also other difficulties:</a:t>
            </a:r>
          </a:p>
          <a:p>
            <a:pPr lvl="1" eaLnBrk="1" hangingPunct="1">
              <a:spcBef>
                <a:spcPts val="1200"/>
              </a:spcBef>
            </a:pPr>
            <a:r>
              <a:rPr lang="en-GB" sz="2600" dirty="0"/>
              <a:t>A fictional story can far be more “vivacious”, at least superficially, than a dull historical account (perhaps Hume realised this at </a:t>
            </a:r>
            <a:r>
              <a:rPr lang="en-GB" sz="2600" i="1" dirty="0"/>
              <a:t>T</a:t>
            </a:r>
            <a:r>
              <a:rPr lang="en-GB" sz="2600" dirty="0"/>
              <a:t> 1.3.10.10, added in 1740?).</a:t>
            </a:r>
          </a:p>
          <a:p>
            <a:pPr lvl="1" eaLnBrk="1" hangingPunct="1">
              <a:spcBef>
                <a:spcPts val="1200"/>
              </a:spcBef>
            </a:pPr>
            <a:r>
              <a:rPr lang="en-GB" sz="2600" dirty="0"/>
              <a:t>Is a change in “force and vivacity” really consistent with preserving the same idea?  Suppose our </a:t>
            </a:r>
            <a:r>
              <a:rPr lang="en-GB" sz="2600" i="1" dirty="0"/>
              <a:t>idea</a:t>
            </a:r>
            <a:r>
              <a:rPr lang="en-GB" sz="2600" dirty="0"/>
              <a:t> of a </a:t>
            </a:r>
            <a:r>
              <a:rPr lang="en-GB" sz="2600" i="1" dirty="0"/>
              <a:t>dull</a:t>
            </a:r>
            <a:r>
              <a:rPr lang="en-GB" sz="2600" dirty="0"/>
              <a:t> red door acquires more vivacity: couldn’t that become the </a:t>
            </a:r>
            <a:r>
              <a:rPr lang="en-GB" sz="2600" i="1" dirty="0"/>
              <a:t>idea</a:t>
            </a:r>
            <a:r>
              <a:rPr lang="en-GB" sz="2600" dirty="0"/>
              <a:t> of a </a:t>
            </a:r>
            <a:r>
              <a:rPr lang="en-GB" sz="2600" i="1" dirty="0"/>
              <a:t>bright</a:t>
            </a:r>
            <a:r>
              <a:rPr lang="en-GB" sz="2600" dirty="0"/>
              <a:t> red door, rather than </a:t>
            </a:r>
            <a:r>
              <a:rPr lang="en-GB" sz="2600" i="1" dirty="0"/>
              <a:t>belief</a:t>
            </a:r>
            <a:r>
              <a:rPr lang="en-GB" sz="2600" dirty="0"/>
              <a:t> in a dull red door?  How can we distinguish between these two outcomes?</a:t>
            </a:r>
          </a:p>
          <a:p>
            <a:pPr lvl="1" eaLnBrk="1" hangingPunct="1">
              <a:spcBef>
                <a:spcPts val="1200"/>
              </a:spcBef>
            </a:pPr>
            <a:r>
              <a:rPr lang="en-GB" sz="2600" dirty="0"/>
              <a:t>Coming to believe something looks more like a change of our </a:t>
            </a:r>
            <a:r>
              <a:rPr lang="en-GB" sz="2600" i="1" dirty="0"/>
              <a:t>attitude</a:t>
            </a:r>
            <a:r>
              <a:rPr lang="en-GB" sz="2600" dirty="0"/>
              <a:t> to an idea than like a change in the “force and vivacity” of the idea itself (recall the concern expressed in Lecture 1,  slide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dirty="0"/>
              <a:t>The fuller explanation just promised turns out to be a crude application of the Separability Principle to the standard (e.g. Descartes, Chambers) </a:t>
            </a:r>
            <a:r>
              <a:rPr lang="en-GB" sz="2600" dirty="0"/>
              <a:t>definition of a 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definition explains</a:t>
            </a:r>
            <a:br>
              <a:rPr lang="en-GB" sz="2300" dirty="0"/>
            </a:br>
            <a:r>
              <a:rPr lang="en-GB" sz="2300" dirty="0"/>
              <a:t>a substance.</a:t>
            </a:r>
            <a:r>
              <a:rPr lang="en-US" sz="2300" dirty="0"/>
              <a:t>”  (</a:t>
            </a:r>
            <a:r>
              <a:rPr lang="en-US" sz="2300" i="1" dirty="0"/>
              <a:t>T</a:t>
            </a:r>
            <a:r>
              <a:rPr lang="en-US" sz="2300" dirty="0"/>
              <a:t> 1.4.5.5)</a:t>
            </a:r>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a:t>
            </a:r>
            <a:r>
              <a:rPr lang="en-GB" sz="2700" i="1">
                <a:solidFill>
                  <a:srgbClr val="FF9999"/>
                </a:solidFill>
              </a:rPr>
              <a:t>reflection</a:t>
            </a:r>
            <a:r>
              <a:rPr lang="en-GB" sz="2700">
                <a:solidFill>
                  <a:srgbClr val="FF9999"/>
                </a:solidFill>
              </a:rPr>
              <a:t> </a:t>
            </a:r>
            <a:r>
              <a:rPr lang="en-GB" sz="2700"/>
              <a:t>such as passions and emotions (“</a:t>
            </a:r>
            <a:r>
              <a:rPr lang="en-GB" sz="2700" dirty="0"/>
              <a:t>secondary” impressions – see </a:t>
            </a:r>
            <a:r>
              <a:rPr lang="en-GB" sz="2700" i="1" dirty="0"/>
              <a:t>T</a:t>
            </a:r>
            <a:r>
              <a:rPr lang="en-GB" sz="2700" dirty="0"/>
              <a:t> 2.1.1.1 – that arise from the interplay </a:t>
            </a:r>
            <a:r>
              <a:rPr lang="en-GB" sz="2700"/>
              <a:t>of prior perceptions </a:t>
            </a:r>
            <a:r>
              <a:rPr lang="en-GB" sz="2700" dirty="0"/>
              <a:t>in </a:t>
            </a:r>
            <a:r>
              <a:rPr lang="en-GB" sz="2700"/>
              <a:t>our mind), </a:t>
            </a:r>
            <a:r>
              <a:rPr lang="en-GB" sz="2700" dirty="0"/>
              <a:t>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03940" cy="4968912"/>
          </a:xfrm>
        </p:spPr>
        <p:txBody>
          <a:bodyPr/>
          <a:lstStyle/>
          <a:p>
            <a:r>
              <a:rPr lang="en-GB" sz="2800" dirty="0"/>
              <a:t>imagination/reason (</a:t>
            </a:r>
            <a:r>
              <a:rPr lang="en-GB" sz="2800" i="1"/>
              <a:t>T</a:t>
            </a:r>
            <a:r>
              <a:rPr lang="en-GB" sz="2800"/>
              <a:t> 1.3.6.4, 1.4.2.2); imagin-ation/memory </a:t>
            </a:r>
            <a:r>
              <a:rPr lang="en-GB" sz="2800" dirty="0"/>
              <a:t>(</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Also animals may have different senses, and other things may exist that are inconceivable to us, such as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i="1" u="sng">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dirty="0">
                <a:cs typeface="Arial" charset="0"/>
              </a:rPr>
              <a:t>Lecture 1 distinguished between </a:t>
            </a:r>
            <a:r>
              <a:rPr lang="en-US" sz="2900" i="1" dirty="0">
                <a:cs typeface="Arial" charset="0"/>
              </a:rPr>
              <a:t>conceptual empiricism</a:t>
            </a:r>
            <a:r>
              <a:rPr lang="en-US" sz="2900" dirty="0">
                <a:cs typeface="Arial" charset="0"/>
              </a:rPr>
              <a:t> (</a:t>
            </a:r>
            <a:r>
              <a:rPr lang="en-US" sz="2900" i="1" dirty="0">
                <a:solidFill>
                  <a:srgbClr val="FF7C80"/>
                </a:solidFill>
                <a:cs typeface="Arial" charset="0"/>
              </a:rPr>
              <a:t>all ideas</a:t>
            </a:r>
            <a:r>
              <a:rPr lang="en-US" sz="2900" dirty="0">
                <a:solidFill>
                  <a:srgbClr val="FF7C80"/>
                </a:solidFill>
                <a:cs typeface="Arial" charset="0"/>
              </a:rPr>
              <a:t> </a:t>
            </a:r>
            <a:r>
              <a:rPr lang="en-US" sz="2900" dirty="0">
                <a:cs typeface="Arial" charset="0"/>
              </a:rPr>
              <a:t>are derived from </a:t>
            </a:r>
            <a:r>
              <a:rPr lang="en-US" sz="2900" dirty="0" err="1">
                <a:cs typeface="Arial" charset="0"/>
              </a:rPr>
              <a:t>experi-ence</a:t>
            </a:r>
            <a:r>
              <a:rPr lang="en-US" sz="2900" dirty="0">
                <a:cs typeface="Arial" charset="0"/>
              </a:rPr>
              <a:t>) and </a:t>
            </a:r>
            <a:r>
              <a:rPr lang="en-US" sz="2900" i="1" dirty="0">
                <a:cs typeface="Arial" charset="0"/>
              </a:rPr>
              <a:t>epistemological empiricism</a:t>
            </a:r>
            <a:r>
              <a:rPr lang="en-US" sz="2900" dirty="0">
                <a:cs typeface="Arial" charset="0"/>
              </a:rPr>
              <a:t> (roughly, </a:t>
            </a:r>
            <a:r>
              <a:rPr lang="en-US" sz="2900" i="1" dirty="0">
                <a:solidFill>
                  <a:srgbClr val="FF7C80"/>
                </a:solidFill>
                <a:cs typeface="Arial" charset="0"/>
              </a:rPr>
              <a:t>all knowledge </a:t>
            </a:r>
            <a:r>
              <a:rPr lang="en-US" sz="2900" dirty="0">
                <a:cs typeface="Arial" charset="0"/>
              </a:rPr>
              <a:t>is derived from experience).</a:t>
            </a:r>
          </a:p>
          <a:p>
            <a:pPr lvl="1">
              <a:spcBef>
                <a:spcPts val="1200"/>
              </a:spcBef>
            </a:pPr>
            <a:r>
              <a:rPr lang="en-US" sz="2600" dirty="0">
                <a:cs typeface="Arial" charset="0"/>
              </a:rPr>
              <a:t>Hume’s Fork expresses the latter, with a refinement: </a:t>
            </a:r>
            <a:r>
              <a:rPr lang="en-US" sz="2600" i="1" dirty="0">
                <a:solidFill>
                  <a:srgbClr val="FF7C80"/>
                </a:solidFill>
                <a:cs typeface="Arial" charset="0"/>
              </a:rPr>
              <a:t>all knowledge (or even evidence)</a:t>
            </a:r>
            <a:br>
              <a:rPr lang="en-US" sz="2600" i="1" dirty="0">
                <a:solidFill>
                  <a:srgbClr val="FF7C80"/>
                </a:solidFill>
                <a:cs typeface="Arial" charset="0"/>
              </a:rPr>
            </a:br>
            <a:r>
              <a:rPr lang="en-US" sz="2600" i="1" u="sng" dirty="0">
                <a:solidFill>
                  <a:srgbClr val="FF7C80"/>
                </a:solidFill>
                <a:cs typeface="Arial" charset="0"/>
              </a:rPr>
              <a:t>of matter of fact</a:t>
            </a:r>
            <a:r>
              <a:rPr lang="en-US" sz="2600" i="1" dirty="0">
                <a:solidFill>
                  <a:srgbClr val="FF7C80"/>
                </a:solidFill>
                <a:cs typeface="Arial" charset="0"/>
              </a:rPr>
              <a:t> </a:t>
            </a:r>
            <a:r>
              <a:rPr lang="en-US" sz="2600" i="1" dirty="0">
                <a:cs typeface="Arial" charset="0"/>
              </a:rPr>
              <a:t>is founded on experience</a:t>
            </a:r>
            <a:r>
              <a:rPr lang="en-US" sz="2600" dirty="0">
                <a:cs typeface="Arial" charset="0"/>
              </a:rPr>
              <a:t>.</a:t>
            </a:r>
          </a:p>
          <a:p>
            <a:pPr lvl="1">
              <a:spcBef>
                <a:spcPts val="1200"/>
              </a:spcBef>
            </a:pPr>
            <a:r>
              <a:rPr lang="en-US" sz="2600" dirty="0">
                <a:cs typeface="Arial" charset="0"/>
              </a:rPr>
              <a:t>This is entirely compatible with </a:t>
            </a:r>
            <a:r>
              <a:rPr lang="en-US" sz="2600" i="1" dirty="0">
                <a:cs typeface="Arial" charset="0"/>
              </a:rPr>
              <a:t>knowledge of relations of ideas</a:t>
            </a:r>
            <a:r>
              <a:rPr lang="en-US" sz="2600" dirty="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a:t>
            </a:r>
            <a:r>
              <a:rPr lang="en-US" sz="2400">
                <a:cs typeface="Arial" charset="0"/>
              </a:rPr>
              <a:t>(2017 – through the “Scholarship” link at </a:t>
            </a:r>
            <a:r>
              <a:rPr lang="en-US" sz="2400" u="sng">
                <a:cs typeface="Arial" charset="0"/>
              </a:rPr>
              <a:t>www.davidhume.org</a:t>
            </a:r>
            <a:r>
              <a:rPr lang="en-US" sz="2400">
                <a:cs typeface="Arial" charset="0"/>
              </a:rPr>
              <a:t>) </a:t>
            </a:r>
            <a:r>
              <a:rPr lang="en-US" sz="2400" dirty="0">
                <a:cs typeface="Arial" charset="0"/>
              </a:rPr>
              <a:t>argues that Hume’s Fork stands up surprisingly well to these and other </a:t>
            </a:r>
            <a:r>
              <a:rPr lang="en-US" sz="2400">
                <a:cs typeface="Arial" charset="0"/>
              </a:rPr>
              <a:t>challenges.</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Two Lockean Kinds of Reasoning</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Kinds of Reasoning and Evidence</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a:t>
            </a:r>
            <a:r>
              <a:rPr lang="en-GB" altLang="en-US" u="sng" dirty="0"/>
              <a:t>Kinds of Evidence</a:t>
            </a:r>
            <a:r>
              <a:rPr lang="en-GB" altLang="en-US" dirty="0"/>
              <a:t>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thousands of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sense), i.e. an argument in which the truth of the premise(s) </a:t>
            </a:r>
            <a:r>
              <a:rPr lang="en-GB" altLang="en-US" sz="2500" i="1" dirty="0"/>
              <a:t>logically guarantees</a:t>
            </a:r>
            <a:r>
              <a:rPr lang="en-GB" altLang="en-US" sz="2500" dirty="0"/>
              <a:t> the truth of the conclusion; in other words,</a:t>
            </a:r>
            <a:br>
              <a:rPr lang="en-GB" altLang="en-US" sz="2500" dirty="0"/>
            </a:br>
            <a:r>
              <a:rPr lang="en-GB" altLang="en-US" sz="2500" i="1" dirty="0">
                <a:solidFill>
                  <a:srgbClr val="92D050"/>
                </a:solidFill>
              </a:rPr>
              <a:t>it is not possible for the premises to be true and the conclusion to be false</a:t>
            </a:r>
            <a:r>
              <a:rPr lang="en-GB" altLang="en-US" sz="2500" i="1" dirty="0"/>
              <a:t> </a:t>
            </a:r>
            <a:r>
              <a:rPr lang="en-GB" altLang="en-US" sz="2500" dirty="0"/>
              <a:t>(at the same time).</a:t>
            </a:r>
          </a:p>
          <a:p>
            <a:pPr lvl="1">
              <a:spcBef>
                <a:spcPts val="1200"/>
              </a:spcBef>
              <a:defRPr/>
            </a:pPr>
            <a:r>
              <a:rPr lang="en-GB" altLang="en-US" sz="2300" dirty="0"/>
              <a:t>There is also a related (but non-</a:t>
            </a:r>
            <a:r>
              <a:rPr lang="en-GB" altLang="en-US" sz="2300" dirty="0" err="1"/>
              <a:t>Humean</a:t>
            </a:r>
            <a:r>
              <a:rPr lang="en-GB" altLang="en-US" sz="2300" dirty="0"/>
              <a:t>) </a:t>
            </a:r>
            <a:r>
              <a:rPr lang="en-GB" altLang="en-US" sz="2300" i="1" dirty="0"/>
              <a:t>formal</a:t>
            </a:r>
            <a:r>
              <a:rPr lang="en-GB" altLang="en-US" sz="2300" dirty="0"/>
              <a:t> notion, where 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past experience and observations</a:t>
            </a:r>
            <a:r>
              <a:rPr lang="en-GB" altLang="en-US" sz="2500" dirty="0"/>
              <a:t>.</a:t>
            </a:r>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birds are crows.</a:t>
            </a:r>
            <a:br>
              <a:rPr lang="en-GB" altLang="en-US" sz="2400"/>
            </a:br>
            <a:r>
              <a:rPr lang="en-GB" altLang="en-US" sz="2400"/>
              <a:t>		    </a:t>
            </a:r>
            <a:r>
              <a:rPr lang="en-GB" altLang="en-US" sz="2400" i="1"/>
              <a:t>P2</a:t>
            </a:r>
            <a:r>
              <a:rPr lang="en-GB" altLang="en-US" sz="2400"/>
              <a:t>	</a:t>
            </a:r>
            <a:r>
              <a:rPr lang="en-GB" altLang="en-US" sz="2400" u="sng"/>
              <a:t>All crows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birds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birds are black, because it has a premise </a:t>
            </a:r>
            <a:r>
              <a:rPr lang="en-GB" altLang="en-US" sz="2600" i="1"/>
              <a:t>P1</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passages may appear to imply that demonstrative arguments are possible only in mathematics, and hence must be </a:t>
            </a:r>
            <a:r>
              <a:rPr lang="en-GB" sz="2300" i="1"/>
              <a:t>a priori</a:t>
            </a:r>
            <a:r>
              <a:rPr lang="en-GB" sz="2300"/>
              <a:t>.  But Hume’s </a:t>
            </a:r>
            <a:r>
              <a:rPr lang="en-GB" sz="2300" dirty="0"/>
              <a:t>account of </a:t>
            </a:r>
            <a:r>
              <a:rPr lang="en-GB" sz="2300"/>
              <a:t>this limit (in both places) </a:t>
            </a:r>
            <a:r>
              <a:rPr lang="en-GB" sz="2300" dirty="0"/>
              <a:t>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dirty="0"/>
              <a:t>25,000 m/s</a:t>
            </a:r>
            <a:endParaRPr lang="en-US" dirty="0"/>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dirty="0"/>
              <a:t>4 m/s</a:t>
            </a:r>
            <a:endParaRPr lang="en-US" dirty="0"/>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188640"/>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§3(c)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224644"/>
            <a:ext cx="8399276" cy="6444716"/>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5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1200"/>
              </a:spcBef>
            </a:pPr>
            <a:r>
              <a:rPr lang="en-GB" sz="2500" dirty="0"/>
              <a:t>At </a:t>
            </a:r>
            <a:r>
              <a:rPr lang="en-GB" sz="2500" i="1" dirty="0"/>
              <a:t>T</a:t>
            </a:r>
            <a:r>
              <a:rPr lang="en-GB" sz="2500" dirty="0"/>
              <a:t> 1.3.2.13, Hume decides to search two “neighbouring fields” to find this element’s source:</a:t>
            </a:r>
          </a:p>
          <a:p>
            <a:pPr lvl="1">
              <a:spcBef>
                <a:spcPts val="1200"/>
              </a:spcBef>
            </a:pPr>
            <a:r>
              <a:rPr lang="en-GB" sz="2500" dirty="0"/>
              <a:t>First, </a:t>
            </a:r>
            <a:r>
              <a:rPr lang="en-GB" sz="2500"/>
              <a:t>he argues </a:t>
            </a:r>
            <a:r>
              <a:rPr lang="en-GB" sz="2500" dirty="0"/>
              <a:t>that </a:t>
            </a:r>
            <a:r>
              <a:rPr lang="en-GB" sz="2500"/>
              <a:t>the (almost universally accepted) Causal Maxim – </a:t>
            </a:r>
            <a:r>
              <a:rPr lang="en-GB" sz="2500" i="1">
                <a:solidFill>
                  <a:srgbClr val="FF7C80"/>
                </a:solidFill>
              </a:rPr>
              <a:t>whatever begins to exist must have a cause of existence</a:t>
            </a:r>
            <a:r>
              <a:rPr lang="en-GB" sz="2500"/>
              <a:t> – is </a:t>
            </a:r>
            <a:r>
              <a:rPr lang="en-GB" sz="2500" dirty="0"/>
              <a:t>neither intuitively nor demonstratively certain (</a:t>
            </a:r>
            <a:r>
              <a:rPr lang="en-GB" sz="2500" i="1"/>
              <a:t>T</a:t>
            </a:r>
            <a:r>
              <a:rPr lang="en-GB" sz="2500"/>
              <a:t> 1.3.3.1-8).</a:t>
            </a:r>
            <a:endParaRPr lang="en-GB" sz="2500" dirty="0"/>
          </a:p>
          <a:p>
            <a:pPr lvl="1">
              <a:spcBef>
                <a:spcPts val="1200"/>
              </a:spcBef>
            </a:pPr>
            <a:r>
              <a:rPr lang="en-GB" sz="2500"/>
              <a:t>Then he turns to consider why we ascribe necessity between particular causes and supposed effects, and why we make causal inferences </a:t>
            </a:r>
            <a:r>
              <a:rPr lang="en-GB" sz="2500" dirty="0"/>
              <a:t>(</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188640"/>
            <a:ext cx="8720522" cy="1278979"/>
          </a:xfrm>
        </p:spPr>
        <p:txBody>
          <a:bodyPr/>
          <a:lstStyle/>
          <a:p>
            <a:r>
              <a:rPr lang="en-GB" altLang="en-US"/>
              <a:t>Setting Out to Investigate Causal Inference and Belief</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539552" y="1808820"/>
            <a:ext cx="8244916" cy="4772955"/>
          </a:xfrm>
        </p:spPr>
        <p:txBody>
          <a:bodyPr/>
          <a:lstStyle/>
          <a:p>
            <a:r>
              <a:rPr lang="en-GB" altLang="en-US" sz="2800" i="1" dirty="0"/>
              <a:t>Treatise</a:t>
            </a:r>
            <a:r>
              <a:rPr lang="en-GB" altLang="en-US" sz="2800" dirty="0"/>
              <a:t> 1.3.4 argues that causal </a:t>
            </a:r>
            <a:r>
              <a:rPr lang="en-GB" altLang="en-US" sz="2800"/>
              <a:t>reasoning,</a:t>
            </a:r>
            <a:br>
              <a:rPr lang="en-GB" altLang="en-US" sz="2800"/>
            </a:br>
            <a:r>
              <a:rPr lang="en-GB" altLang="en-US" sz="2800"/>
              <a:t>if </a:t>
            </a:r>
            <a:r>
              <a:rPr lang="en-GB" altLang="en-US" sz="2800" dirty="0"/>
              <a:t>it is to result in real belief, must start from something perceived or remembered.</a:t>
            </a:r>
          </a:p>
          <a:p>
            <a:pPr>
              <a:spcBef>
                <a:spcPts val="1800"/>
              </a:spcBef>
            </a:pPr>
            <a:r>
              <a:rPr lang="en-GB" altLang="en-US" sz="2800" i="1" dirty="0"/>
              <a:t>T</a:t>
            </a:r>
            <a:r>
              <a:rPr lang="en-GB" altLang="en-US" sz="2800" dirty="0"/>
              <a:t> </a:t>
            </a:r>
            <a:r>
              <a:rPr lang="en-GB" altLang="en-US" sz="2800"/>
              <a:t>1.3.5.1 then sets </a:t>
            </a:r>
            <a:r>
              <a:rPr lang="en-GB" altLang="en-US" sz="2800" dirty="0"/>
              <a:t>out a corresponding agenda:</a:t>
            </a:r>
          </a:p>
          <a:p>
            <a:pPr lvl="1">
              <a:spcBef>
                <a:spcPts val="900"/>
              </a:spcBef>
              <a:buFontTx/>
              <a:buNone/>
            </a:pPr>
            <a:r>
              <a:rPr lang="en-GB" altLang="en-US" i="1" dirty="0"/>
              <a:t>	</a:t>
            </a:r>
            <a:r>
              <a:rPr lang="en-GB" altLang="en-US" sz="2500" dirty="0"/>
              <a:t>“Here therefore we have three things to </a:t>
            </a:r>
            <a:r>
              <a:rPr lang="en-GB" altLang="en-US" sz="2500"/>
              <a:t>explain, viz</a:t>
            </a:r>
            <a:r>
              <a:rPr lang="en-GB" altLang="en-US" sz="2500" dirty="0"/>
              <a:t>. </a:t>
            </a:r>
            <a:r>
              <a:rPr lang="en-GB" altLang="en-US" sz="2500" i="1" dirty="0"/>
              <a:t>First</a:t>
            </a:r>
            <a:r>
              <a:rPr lang="en-GB" altLang="en-US" sz="2500" dirty="0"/>
              <a:t>, The original </a:t>
            </a:r>
            <a:r>
              <a:rPr lang="en-GB" altLang="en-US" sz="2500"/>
              <a:t>impression.</a:t>
            </a:r>
            <a:br>
              <a:rPr lang="en-GB" altLang="en-US" sz="2500"/>
            </a:br>
            <a:r>
              <a:rPr lang="en-GB" altLang="en-US" sz="2500" i="1"/>
              <a:t>Secondly</a:t>
            </a:r>
            <a:r>
              <a:rPr lang="en-GB" altLang="en-US" sz="2500"/>
              <a:t>, The </a:t>
            </a:r>
            <a:r>
              <a:rPr lang="en-GB" altLang="en-US" sz="2500" dirty="0"/>
              <a:t>transition to the idea of the connected cause or effect </a:t>
            </a:r>
            <a:r>
              <a:rPr lang="en-GB" altLang="en-US" sz="2500" i="1" dirty="0">
                <a:solidFill>
                  <a:srgbClr val="FF9999"/>
                </a:solidFill>
              </a:rPr>
              <a:t>[i.e. causal inference ]</a:t>
            </a:r>
            <a:r>
              <a:rPr lang="en-GB" altLang="en-US" sz="2500" dirty="0"/>
              <a:t>.</a:t>
            </a:r>
            <a:br>
              <a:rPr lang="en-GB" altLang="en-US" sz="2500" dirty="0"/>
            </a:br>
            <a:r>
              <a:rPr lang="en-GB" altLang="en-US" sz="2500" i="1" dirty="0"/>
              <a:t>Thirdly</a:t>
            </a:r>
            <a:r>
              <a:rPr lang="en-GB" altLang="en-US" sz="2500" dirty="0"/>
              <a:t>, The nature and qualities of </a:t>
            </a:r>
            <a:r>
              <a:rPr lang="en-GB" altLang="en-US" sz="2500"/>
              <a:t>that idea</a:t>
            </a:r>
            <a:br>
              <a:rPr lang="en-GB" altLang="en-US" sz="2500"/>
            </a:br>
            <a:r>
              <a:rPr lang="en-GB" altLang="en-US" sz="2500" i="1">
                <a:solidFill>
                  <a:srgbClr val="FF9999"/>
                </a:solidFill>
              </a:rPr>
              <a:t>[</a:t>
            </a:r>
            <a:r>
              <a:rPr lang="en-GB" altLang="en-US" sz="2500" i="1" dirty="0">
                <a:solidFill>
                  <a:srgbClr val="FF9999"/>
                </a:solidFill>
              </a:rPr>
              <a:t>i.e. Hume’s theory of belief]</a:t>
            </a:r>
            <a:r>
              <a:rPr lang="en-GB" altLang="en-US" sz="2500"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52636"/>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(slide 50),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88DE0-6FCE-5A11-6453-18F59D49A8A9}"/>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7175E973-D6F7-A859-8C61-82E93C77B0A6}"/>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0C8EBB91-A6F5-EA1D-F8D5-898ACB5E12E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7183DD8-B3B7-FD61-DB8C-B58A16A7FE8B}"/>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55B66DB2-19BF-2640-277D-0024A6DBF52A}"/>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4</a:t>
            </a:r>
            <a:r>
              <a:rPr lang="en-GB" sz="3000" i="1">
                <a:solidFill>
                  <a:srgbClr val="FF7C80"/>
                </a:solidFill>
                <a:effectLst>
                  <a:outerShdw blurRad="38100" dist="38100" dir="2700000" algn="tl">
                    <a:srgbClr val="000000"/>
                  </a:outerShdw>
                </a:effectLst>
              </a:rPr>
              <a:t>. Hume’s Argument concerning Induction,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and More on Belief</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56246400"/>
      </p:ext>
    </p:extLst>
  </p:cSld>
  <p:clrMapOvr>
    <a:masterClrMapping/>
  </p:clrMapOvr>
  <p:transition spd="med">
    <p:cove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63815-AAEA-E249-8762-5FD4CD826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1B918-A796-3252-2B41-CA8AECE0FA5E}"/>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984FE5DA-D923-F63F-A5E3-32742AD363E3}"/>
              </a:ext>
            </a:extLst>
          </p:cNvPr>
          <p:cNvSpPr>
            <a:spLocks noGrp="1"/>
          </p:cNvSpPr>
          <p:nvPr>
            <p:ph idx="1"/>
          </p:nvPr>
        </p:nvSpPr>
        <p:spPr>
          <a:xfrm>
            <a:off x="251520" y="1196752"/>
            <a:ext cx="8604956" cy="5436604"/>
          </a:xfrm>
        </p:spPr>
        <p:txBody>
          <a:bodyPr/>
          <a:lstStyle/>
          <a:p>
            <a:r>
              <a:rPr lang="en-GB" sz="2600"/>
              <a:t>We reviewed Hume’s </a:t>
            </a:r>
            <a:r>
              <a:rPr lang="en-GB" sz="2600">
                <a:solidFill>
                  <a:srgbClr val="FF9999"/>
                </a:solidFill>
              </a:rPr>
              <a:t>faculty psychology</a:t>
            </a:r>
            <a:r>
              <a:rPr lang="en-GB" sz="2600"/>
              <a:t>.  We also discussed his </a:t>
            </a:r>
            <a:r>
              <a:rPr lang="en-GB" sz="2600">
                <a:solidFill>
                  <a:srgbClr val="FF9999"/>
                </a:solidFill>
              </a:rPr>
              <a:t>logical theory</a:t>
            </a:r>
            <a:r>
              <a:rPr lang="en-GB" sz="2600"/>
              <a:t>, based overtly on a (dubious) theory of relations in the </a:t>
            </a:r>
            <a:r>
              <a:rPr lang="en-GB" sz="2600" i="1"/>
              <a:t>Treatise</a:t>
            </a:r>
            <a:r>
              <a:rPr lang="en-GB" sz="2600"/>
              <a:t>, but more fundamentally on the Conceivability Principle, which grounds “Hume’s Fork” in the </a:t>
            </a:r>
            <a:r>
              <a:rPr lang="en-GB" sz="2600" i="1"/>
              <a:t>Enquiry</a:t>
            </a:r>
            <a:r>
              <a:rPr lang="en-GB" sz="2600"/>
              <a:t>.</a:t>
            </a:r>
          </a:p>
          <a:p>
            <a:pPr>
              <a:spcBef>
                <a:spcPts val="1200"/>
              </a:spcBef>
            </a:pPr>
            <a:r>
              <a:rPr lang="en-GB" sz="2600"/>
              <a:t>Hume inherits from Locke the distinction between </a:t>
            </a:r>
            <a:r>
              <a:rPr lang="en-GB" sz="2600" i="1"/>
              <a:t>demonstrative</a:t>
            </a:r>
            <a:r>
              <a:rPr lang="en-GB" sz="2600"/>
              <a:t> and </a:t>
            </a:r>
            <a:r>
              <a:rPr lang="en-GB" sz="2600" i="1"/>
              <a:t>probable</a:t>
            </a:r>
            <a:r>
              <a:rPr lang="en-GB" sz="2600"/>
              <a:t> reasoning, roughly equivalent to the modern distinction between (informally) </a:t>
            </a:r>
            <a:r>
              <a:rPr lang="en-GB" sz="2600" i="1"/>
              <a:t>deductive</a:t>
            </a:r>
            <a:r>
              <a:rPr lang="en-GB" sz="2600"/>
              <a:t> and </a:t>
            </a:r>
            <a:r>
              <a:rPr lang="en-GB" sz="2600" i="1"/>
              <a:t>inductive</a:t>
            </a:r>
            <a:r>
              <a:rPr lang="en-GB" sz="2600"/>
              <a:t> inferences.</a:t>
            </a:r>
          </a:p>
          <a:p>
            <a:pPr lvl="1"/>
            <a:r>
              <a:rPr lang="en-GB" sz="2400"/>
              <a:t>But Hume adapts this terminologically, by distinguishing between </a:t>
            </a:r>
            <a:r>
              <a:rPr lang="en-GB" sz="2400" i="1"/>
              <a:t>proofs</a:t>
            </a:r>
            <a:r>
              <a:rPr lang="en-GB" sz="2400"/>
              <a:t> and (mere) </a:t>
            </a:r>
            <a:r>
              <a:rPr lang="en-GB" sz="2400" i="1"/>
              <a:t>probabilities</a:t>
            </a:r>
            <a:r>
              <a:rPr lang="en-GB" sz="2400"/>
              <a:t>.</a:t>
            </a:r>
          </a:p>
          <a:p>
            <a:pPr lvl="1"/>
            <a:r>
              <a:rPr lang="en-GB" sz="2400"/>
              <a:t>And he coins a new term, “reasoning concerning matter of fact” for the broader category of inductive inference.</a:t>
            </a:r>
          </a:p>
        </p:txBody>
      </p:sp>
      <p:sp>
        <p:nvSpPr>
          <p:cNvPr id="4" name="Slide Number Placeholder 3">
            <a:extLst>
              <a:ext uri="{FF2B5EF4-FFF2-40B4-BE49-F238E27FC236}">
                <a16:creationId xmlns:a16="http://schemas.microsoft.com/office/drawing/2014/main" id="{6DEA372D-7159-E1ED-A031-EFB24C9B0AAB}"/>
              </a:ext>
            </a:extLst>
          </p:cNvPr>
          <p:cNvSpPr>
            <a:spLocks noGrp="1"/>
          </p:cNvSpPr>
          <p:nvPr>
            <p:ph type="sldNum" sz="quarter" idx="10"/>
          </p:nvPr>
        </p:nvSpPr>
        <p:spPr/>
        <p:txBody>
          <a:bodyPr/>
          <a:lstStyle/>
          <a:p>
            <a:fld id="{3616F46D-A470-4307-BD1A-3DE4FB9E5120}" type="slidenum">
              <a:rPr lang="en-US" smtClean="0"/>
              <a:pPr/>
              <a:t>134</a:t>
            </a:fld>
            <a:endParaRPr lang="en-US"/>
          </a:p>
        </p:txBody>
      </p:sp>
    </p:spTree>
    <p:extLst>
      <p:ext uri="{BB962C8B-B14F-4D97-AF65-F5344CB8AC3E}">
        <p14:creationId xmlns:p14="http://schemas.microsoft.com/office/powerpoint/2010/main" val="1803225587"/>
      </p:ext>
    </p:extLst>
  </p:cSld>
  <p:clrMapOvr>
    <a:masterClrMapping/>
  </p:clrMapOvr>
  <p:transition spd="med">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E57D4-5E0C-98C4-1188-4E4418E9865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86E60B73-FF7C-FA7D-9D92-FC4560CB2204}"/>
              </a:ext>
            </a:extLst>
          </p:cNvPr>
          <p:cNvSpPr>
            <a:spLocks noGrp="1" noChangeArrowheads="1"/>
          </p:cNvSpPr>
          <p:nvPr>
            <p:ph type="ctrTitle"/>
          </p:nvPr>
        </p:nvSpPr>
        <p:spPr>
          <a:xfrm>
            <a:off x="179388" y="296863"/>
            <a:ext cx="4608512" cy="6300787"/>
          </a:xfrm>
        </p:spPr>
        <p:txBody>
          <a:bodyPr/>
          <a:lstStyle/>
          <a:p>
            <a:r>
              <a:rPr lang="en-GB"/>
              <a:t>4(</a:t>
            </a:r>
            <a:r>
              <a:rPr lang="en-GB" dirty="0"/>
              <a:t>a</a:t>
            </a:r>
            <a:r>
              <a:rPr lang="en-GB"/>
              <a:t>)</a:t>
            </a:r>
            <a:br>
              <a:rPr lang="en-GB" dirty="0"/>
            </a:br>
            <a:br>
              <a:rPr lang="en-GB"/>
            </a:br>
            <a:r>
              <a:rPr lang="en-GB"/>
              <a:t>The Role of </a:t>
            </a:r>
            <a:r>
              <a:rPr lang="en-GB" i="1"/>
              <a:t>Treatise</a:t>
            </a:r>
            <a:r>
              <a:rPr lang="en-GB"/>
              <a:t> 1.3.6</a:t>
            </a:r>
            <a:endParaRPr lang="en-US" dirty="0"/>
          </a:p>
        </p:txBody>
      </p:sp>
      <p:pic>
        <p:nvPicPr>
          <p:cNvPr id="847875" name="Picture 3" descr="treatise1">
            <a:extLst>
              <a:ext uri="{FF2B5EF4-FFF2-40B4-BE49-F238E27FC236}">
                <a16:creationId xmlns:a16="http://schemas.microsoft.com/office/drawing/2014/main" id="{CC17F7F0-5A02-C792-B319-3897938B99E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746772543"/>
      </p:ext>
    </p:extLst>
  </p:cSld>
  <p:clrMapOvr>
    <a:masterClrMapping/>
  </p:clrMapOvr>
  <p:transition spd="med">
    <p:cove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348198D-E2E9-448B-A9C0-B402D45BC8E2}" type="slidenum">
              <a:rPr lang="en-US" altLang="en-US"/>
              <a:pPr/>
              <a:t>136</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136</a:t>
            </a:fld>
            <a:endParaRPr lang="en-US" altLang="en-US" sz="1600">
              <a:effectLst>
                <a:outerShdw blurRad="38100" dist="38100" dir="2700000" algn="tl">
                  <a:srgbClr val="000000"/>
                </a:outerShdw>
              </a:effectLst>
              <a:ea typeface="ＭＳ Ｐゴシック" charset="-128"/>
            </a:endParaRPr>
          </a:p>
        </p:txBody>
      </p:sp>
      <p:sp>
        <p:nvSpPr>
          <p:cNvPr id="844802" name="Rectangle 2"/>
          <p:cNvSpPr>
            <a:spLocks noGrp="1" noChangeArrowheads="1"/>
          </p:cNvSpPr>
          <p:nvPr>
            <p:ph type="title" idx="4294967295"/>
          </p:nvPr>
        </p:nvSpPr>
        <p:spPr>
          <a:xfrm>
            <a:off x="457200" y="188640"/>
            <a:ext cx="8229600" cy="1152128"/>
          </a:xfrm>
        </p:spPr>
        <p:txBody>
          <a:bodyPr/>
          <a:lstStyle/>
          <a:p>
            <a:r>
              <a:rPr lang="en-GB" altLang="en-US" sz="4000" i="1" dirty="0"/>
              <a:t>T</a:t>
            </a:r>
            <a:r>
              <a:rPr lang="en-GB" altLang="en-US" sz="4000" dirty="0"/>
              <a:t> 1.3.6: “Of the inference from the impression to the idea”</a:t>
            </a:r>
            <a:endParaRPr lang="en-US" altLang="en-US" sz="4000" dirty="0"/>
          </a:p>
        </p:txBody>
      </p:sp>
      <p:sp>
        <p:nvSpPr>
          <p:cNvPr id="844803" name="Rectangle 3"/>
          <p:cNvSpPr>
            <a:spLocks noGrp="1" noChangeArrowheads="1"/>
          </p:cNvSpPr>
          <p:nvPr>
            <p:ph type="body" idx="4294967295"/>
          </p:nvPr>
        </p:nvSpPr>
        <p:spPr>
          <a:xfrm>
            <a:off x="662880" y="1591964"/>
            <a:ext cx="8023920" cy="5005388"/>
          </a:xfrm>
        </p:spPr>
        <p:txBody>
          <a:bodyPr/>
          <a:lstStyle/>
          <a:p>
            <a:r>
              <a:rPr lang="en-GB" altLang="en-US" sz="2800" dirty="0"/>
              <a:t>This section contains the first presentation of Hume’s famous argument concerning causal reasoning (or “induction”), which apparently raises the notorious “problem of induction”.</a:t>
            </a:r>
          </a:p>
          <a:p>
            <a:r>
              <a:rPr lang="en-GB" altLang="en-US" sz="2800" dirty="0"/>
              <a:t>In context, however, this topic is reached as a “neighbouring </a:t>
            </a:r>
            <a:r>
              <a:rPr lang="en-GB" altLang="en-US" sz="2800"/>
              <a:t>field” (</a:t>
            </a:r>
            <a:r>
              <a:rPr lang="en-GB" altLang="en-US" sz="2800" i="1"/>
              <a:t>T</a:t>
            </a:r>
            <a:r>
              <a:rPr lang="en-GB" altLang="en-US" sz="2800"/>
              <a:t> 1.3.2.13 ) in the </a:t>
            </a:r>
            <a:r>
              <a:rPr lang="en-GB" altLang="en-US" sz="2800" dirty="0"/>
              <a:t>search for the origin of the idea of causal necessity, answering the question raised at </a:t>
            </a:r>
            <a:r>
              <a:rPr lang="en-GB" altLang="en-US" sz="2800" i="1" dirty="0"/>
              <a:t>T</a:t>
            </a:r>
            <a:r>
              <a:rPr lang="en-GB" altLang="en-US" sz="2800" dirty="0"/>
              <a:t> 1.3.3.9:</a:t>
            </a:r>
          </a:p>
          <a:p>
            <a:pPr marL="457200" lvl="1" indent="0">
              <a:buNone/>
            </a:pPr>
            <a:r>
              <a:rPr lang="en-GB" sz="2500" i="1" dirty="0">
                <a:solidFill>
                  <a:srgbClr val="FF9999"/>
                </a:solidFill>
              </a:rPr>
              <a:t>Why we conclude, that such particular causes must necessarily have such particular effects, and why we form an inference from one to another.</a:t>
            </a:r>
            <a:endParaRPr lang="en-GB" altLang="en-US" sz="2500" dirty="0"/>
          </a:p>
        </p:txBody>
      </p:sp>
    </p:spTree>
    <p:extLst>
      <p:ext uri="{BB962C8B-B14F-4D97-AF65-F5344CB8AC3E}">
        <p14:creationId xmlns:p14="http://schemas.microsoft.com/office/powerpoint/2010/main" val="3516290534"/>
      </p:ext>
    </p:extLst>
  </p:cSld>
  <p:clrMapOvr>
    <a:masterClrMapping/>
  </p:clrMapOvr>
  <p:transition spd="med">
    <p:cove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F799CE3-DC89-4B59-9E9E-974F3B0A3D3D}" type="slidenum">
              <a:rPr lang="en-US" altLang="en-US"/>
              <a:pPr/>
              <a:t>137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053678D-5BF4-4C92-BE2D-D60A41CE419A}" type="slidenum">
              <a:rPr lang="en-US" altLang="en-US" sz="1600">
                <a:effectLst>
                  <a:outerShdw blurRad="38100" dist="38100" dir="2700000" algn="tl">
                    <a:srgbClr val="000000"/>
                  </a:outerShdw>
                </a:effectLst>
                <a:ea typeface="ＭＳ Ｐゴシック" charset="-128"/>
              </a:rPr>
              <a:pPr eaLnBrk="1" hangingPunct="1"/>
              <a:t>137</a:t>
            </a:fld>
            <a:endParaRPr lang="en-US" altLang="en-US" sz="1600">
              <a:effectLst>
                <a:outerShdw blurRad="38100" dist="38100" dir="2700000" algn="tl">
                  <a:srgbClr val="000000"/>
                </a:outerShdw>
              </a:effectLst>
              <a:ea typeface="ＭＳ Ｐゴシック" charset="-128"/>
            </a:endParaRPr>
          </a:p>
        </p:txBody>
      </p:sp>
      <p:sp>
        <p:nvSpPr>
          <p:cNvPr id="876546" name="Rectangle 2"/>
          <p:cNvSpPr>
            <a:spLocks noGrp="1" noChangeArrowheads="1"/>
          </p:cNvSpPr>
          <p:nvPr>
            <p:ph type="title" idx="4294967295"/>
          </p:nvPr>
        </p:nvSpPr>
        <p:spPr>
          <a:xfrm>
            <a:off x="457200" y="80629"/>
            <a:ext cx="8229600" cy="864096"/>
          </a:xfrm>
        </p:spPr>
        <p:txBody>
          <a:bodyPr/>
          <a:lstStyle/>
          <a:p>
            <a:r>
              <a:rPr lang="en-GB" altLang="en-US" sz="4000" dirty="0"/>
              <a:t>Causal Inference Is Not </a:t>
            </a:r>
            <a:r>
              <a:rPr lang="en-GB" altLang="en-US" sz="4000"/>
              <a:t>A Priori </a:t>
            </a:r>
            <a:r>
              <a:rPr lang="en-GB" altLang="en-US" sz="4000" i="1"/>
              <a:t>(T)</a:t>
            </a:r>
            <a:endParaRPr lang="en-US" altLang="en-US" sz="4000" i="1" dirty="0"/>
          </a:p>
        </p:txBody>
      </p:sp>
      <p:sp>
        <p:nvSpPr>
          <p:cNvPr id="876547" name="Rectangle 3"/>
          <p:cNvSpPr>
            <a:spLocks noGrp="1" noChangeArrowheads="1"/>
          </p:cNvSpPr>
          <p:nvPr>
            <p:ph type="body" idx="4294967295"/>
          </p:nvPr>
        </p:nvSpPr>
        <p:spPr>
          <a:xfrm>
            <a:off x="720341" y="1160748"/>
            <a:ext cx="8028123" cy="5357428"/>
          </a:xfrm>
        </p:spPr>
        <p:txBody>
          <a:bodyPr/>
          <a:lstStyle/>
          <a:p>
            <a:r>
              <a:rPr lang="en-GB" altLang="en-US" sz="2700"/>
              <a:t>Hume </a:t>
            </a:r>
            <a:r>
              <a:rPr lang="en-GB" altLang="en-US" sz="2700" dirty="0"/>
              <a:t>starts by arguing that causal inference </a:t>
            </a:r>
            <a:r>
              <a:rPr lang="en-GB" altLang="en-US" sz="2700"/>
              <a:t>cannot be based only on surveying the objects concerned and contemplating our ideas of them, because we can clearly </a:t>
            </a:r>
            <a:r>
              <a:rPr lang="en-GB" altLang="en-US" sz="2700" i="1" dirty="0"/>
              <a:t>conceive</a:t>
            </a:r>
            <a:r>
              <a:rPr lang="en-GB" altLang="en-US" sz="2700" dirty="0"/>
              <a:t> of things coming out differently (</a:t>
            </a:r>
            <a:r>
              <a:rPr lang="en-GB" altLang="en-US" sz="2700" i="1" dirty="0"/>
              <a:t>T</a:t>
            </a:r>
            <a:r>
              <a:rPr lang="en-GB" altLang="en-US" sz="2700" dirty="0"/>
              <a:t> 1.3.6.1).</a:t>
            </a:r>
          </a:p>
          <a:p>
            <a:pPr lvl="1">
              <a:spcBef>
                <a:spcPts val="1200"/>
              </a:spcBef>
            </a:pPr>
            <a:r>
              <a:rPr lang="en-GB" altLang="en-US" sz="2500" dirty="0"/>
              <a:t>Here he evinces the [common, but debatable] assumption that </a:t>
            </a:r>
            <a:r>
              <a:rPr lang="en-GB" altLang="en-US" sz="2500" i="1" dirty="0">
                <a:solidFill>
                  <a:srgbClr val="FF9999"/>
                </a:solidFill>
              </a:rPr>
              <a:t>any a priori inference would have to yield </a:t>
            </a:r>
            <a:r>
              <a:rPr lang="en-GB" altLang="en-US" sz="2500" i="1">
                <a:solidFill>
                  <a:srgbClr val="FF9999"/>
                </a:solidFill>
              </a:rPr>
              <a:t>complete certainty</a:t>
            </a:r>
            <a:r>
              <a:rPr lang="en-GB" altLang="en-US" sz="2500"/>
              <a:t> (thus making other possibilities inconceivable).</a:t>
            </a:r>
            <a:endParaRPr lang="en-GB" altLang="en-US" sz="2500" dirty="0"/>
          </a:p>
          <a:p>
            <a:pPr marL="400050" lvl="1" indent="0">
              <a:spcBef>
                <a:spcPts val="2400"/>
              </a:spcBef>
              <a:buNone/>
            </a:pPr>
            <a:r>
              <a:rPr lang="en-GB" altLang="en-US" sz="2700" dirty="0"/>
              <a:t>“</a:t>
            </a:r>
            <a:r>
              <a:rPr lang="en-GB" altLang="en-US" sz="2700" dirty="0" err="1"/>
              <a:t>’Tis</a:t>
            </a:r>
            <a:r>
              <a:rPr lang="en-GB" altLang="en-US" sz="2700" dirty="0"/>
              <a:t> therefore by EXPERIENCE only, that we can infer the existence of one object from that of another” (</a:t>
            </a:r>
            <a:r>
              <a:rPr lang="en-GB" altLang="en-US" sz="2700" i="1" dirty="0"/>
              <a:t>T</a:t>
            </a:r>
            <a:r>
              <a:rPr lang="en-GB" altLang="en-US" sz="2700" dirty="0"/>
              <a:t> 1.3.6.2).</a:t>
            </a:r>
            <a:endParaRPr lang="en-US" altLang="en-US" sz="2700" dirty="0"/>
          </a:p>
        </p:txBody>
      </p:sp>
    </p:spTree>
    <p:extLst>
      <p:ext uri="{BB962C8B-B14F-4D97-AF65-F5344CB8AC3E}">
        <p14:creationId xmlns:p14="http://schemas.microsoft.com/office/powerpoint/2010/main" val="4219197825"/>
      </p:ext>
    </p:extLst>
  </p:cSld>
  <p:clrMapOvr>
    <a:masterClrMapping/>
  </p:clrMapOvr>
  <p:transition spd="med">
    <p:cover/>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3043BFA-A966-4742-B4B1-A01D47037FB3}" type="slidenum">
              <a:rPr lang="en-US" altLang="en-US"/>
              <a:pPr/>
              <a:t>138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138</a:t>
            </a:fld>
            <a:endParaRPr lang="en-US" altLang="en-US" sz="1600">
              <a:effectLst>
                <a:outerShdw blurRad="38100" dist="38100" dir="2700000" algn="tl">
                  <a:srgbClr val="000000"/>
                </a:outerShdw>
              </a:effectLst>
              <a:ea typeface="ＭＳ Ｐゴシック" charset="-128"/>
            </a:endParaRPr>
          </a:p>
        </p:txBody>
      </p:sp>
      <p:sp>
        <p:nvSpPr>
          <p:cNvPr id="877570" name="Rectangle 2"/>
          <p:cNvSpPr>
            <a:spLocks noGrp="1" noChangeArrowheads="1"/>
          </p:cNvSpPr>
          <p:nvPr>
            <p:ph type="title" idx="4294967295"/>
          </p:nvPr>
        </p:nvSpPr>
        <p:spPr>
          <a:xfrm>
            <a:off x="207963" y="80628"/>
            <a:ext cx="8742362" cy="901786"/>
          </a:xfrm>
        </p:spPr>
        <p:txBody>
          <a:bodyPr/>
          <a:lstStyle/>
          <a:p>
            <a:r>
              <a:rPr lang="en-GB" altLang="en-US" sz="4000"/>
              <a:t>Experience and Constant Conjunction</a:t>
            </a:r>
            <a:endParaRPr lang="en-US" altLang="en-US" sz="4000"/>
          </a:p>
        </p:txBody>
      </p:sp>
      <p:sp>
        <p:nvSpPr>
          <p:cNvPr id="877571" name="Rectangle 3"/>
          <p:cNvSpPr>
            <a:spLocks noGrp="1" noChangeArrowheads="1"/>
          </p:cNvSpPr>
          <p:nvPr>
            <p:ph type="body" idx="4294967295"/>
          </p:nvPr>
        </p:nvSpPr>
        <p:spPr>
          <a:xfrm>
            <a:off x="647564" y="1160748"/>
            <a:ext cx="8316467" cy="5472608"/>
          </a:xfrm>
        </p:spPr>
        <p:txBody>
          <a:bodyPr/>
          <a:lstStyle/>
          <a:p>
            <a:r>
              <a:rPr lang="en-GB" altLang="en-US" sz="2800"/>
              <a:t>The kind of experience on which causal inference is based is repeated patterns of one thing, </a:t>
            </a:r>
            <a:r>
              <a:rPr lang="en-GB" altLang="en-US" sz="2800" i="1"/>
              <a:t>A</a:t>
            </a:r>
            <a:r>
              <a:rPr lang="en-GB" altLang="en-US" sz="2800"/>
              <a:t>, followed by another, </a:t>
            </a:r>
            <a:r>
              <a:rPr lang="en-GB" altLang="en-US" sz="2800" i="1"/>
              <a:t>B</a:t>
            </a:r>
            <a:r>
              <a:rPr lang="en-GB" altLang="en-US" sz="2800"/>
              <a:t>:</a:t>
            </a:r>
          </a:p>
          <a:p>
            <a:pPr lvl="1">
              <a:spcBef>
                <a:spcPts val="1200"/>
              </a:spcBef>
              <a:buFontTx/>
              <a:buNone/>
            </a:pPr>
            <a:r>
              <a:rPr lang="en-GB" altLang="en-US"/>
              <a:t>	</a:t>
            </a:r>
            <a:r>
              <a:rPr lang="en-GB" altLang="en-US" sz="2600"/>
              <a:t>“Without any farther ceremony, we call the one </a:t>
            </a:r>
            <a:r>
              <a:rPr lang="en-GB" altLang="en-US" sz="2600" i="1"/>
              <a:t>cause</a:t>
            </a:r>
            <a:r>
              <a:rPr lang="en-GB" altLang="en-US" sz="2600"/>
              <a:t> and the other </a:t>
            </a:r>
            <a:r>
              <a:rPr lang="en-GB" altLang="en-US" sz="2600" i="1"/>
              <a:t>effect</a:t>
            </a:r>
            <a:r>
              <a:rPr lang="en-GB" altLang="en-US" sz="2600"/>
              <a:t>, and infer the existence of the one from that of the other.” (</a:t>
            </a:r>
            <a:r>
              <a:rPr lang="en-GB" altLang="en-US" sz="2600" i="1"/>
              <a:t>T</a:t>
            </a:r>
            <a:r>
              <a:rPr lang="en-GB" altLang="en-US" sz="2600"/>
              <a:t> 1.3.6.2)</a:t>
            </a:r>
          </a:p>
          <a:p>
            <a:pPr>
              <a:spcBef>
                <a:spcPts val="1800"/>
              </a:spcBef>
            </a:pPr>
            <a:r>
              <a:rPr lang="en-GB" altLang="en-US" sz="2800"/>
              <a:t>Hume now announces major progress in his search for the origin of the idea of necessary connexion, with a comment which clearly refers back to </a:t>
            </a:r>
            <a:r>
              <a:rPr lang="en-GB" altLang="en-US" sz="2800" i="1"/>
              <a:t>T</a:t>
            </a:r>
            <a:r>
              <a:rPr lang="en-GB" altLang="en-US" sz="2800"/>
              <a:t> 1.3.2.11, and is perhaps best understood by comparing the texts:</a:t>
            </a:r>
            <a:endParaRPr lang="en-GB" altLang="en-US" sz="2800" dirty="0"/>
          </a:p>
        </p:txBody>
      </p:sp>
    </p:spTree>
    <p:extLst>
      <p:ext uri="{BB962C8B-B14F-4D97-AF65-F5344CB8AC3E}">
        <p14:creationId xmlns:p14="http://schemas.microsoft.com/office/powerpoint/2010/main" val="631219192"/>
      </p:ext>
    </p:extLst>
  </p:cSld>
  <p:clrMapOvr>
    <a:masterClrMapping/>
  </p:clrMapOvr>
  <p:transition spd="med">
    <p:cove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C173-DB1B-32FA-93E1-209C48259C5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49FF499-BD98-9AB7-89F5-11E4B858A3A6}"/>
              </a:ext>
            </a:extLst>
          </p:cNvPr>
          <p:cNvSpPr>
            <a:spLocks noGrp="1"/>
          </p:cNvSpPr>
          <p:nvPr>
            <p:ph type="sldNum" sz="quarter" idx="10"/>
          </p:nvPr>
        </p:nvSpPr>
        <p:spPr/>
        <p:txBody>
          <a:bodyPr/>
          <a:lstStyle/>
          <a:p>
            <a:fld id="{D3043BFA-A966-4742-B4B1-A01D47037FB3}" type="slidenum">
              <a:rPr lang="en-US" altLang="en-US"/>
              <a:pPr/>
              <a:t>139</a:t>
            </a:fld>
            <a:endParaRPr lang="en-US" altLang="en-US"/>
          </a:p>
        </p:txBody>
      </p:sp>
      <p:sp>
        <p:nvSpPr>
          <p:cNvPr id="4" name="Slide Number Placeholder 3">
            <a:extLst>
              <a:ext uri="{FF2B5EF4-FFF2-40B4-BE49-F238E27FC236}">
                <a16:creationId xmlns:a16="http://schemas.microsoft.com/office/drawing/2014/main" id="{7796256D-1548-1EE4-0FAA-07EE8A5044F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139</a:t>
            </a:fld>
            <a:endParaRPr lang="en-US" altLang="en-US" sz="1600">
              <a:effectLst>
                <a:outerShdw blurRad="38100" dist="38100" dir="2700000" algn="tl">
                  <a:srgbClr val="000000"/>
                </a:outerShdw>
              </a:effectLst>
              <a:ea typeface="ＭＳ Ｐゴシック" charset="-128"/>
            </a:endParaRPr>
          </a:p>
        </p:txBody>
      </p:sp>
      <p:sp>
        <p:nvSpPr>
          <p:cNvPr id="877571" name="Rectangle 3">
            <a:extLst>
              <a:ext uri="{FF2B5EF4-FFF2-40B4-BE49-F238E27FC236}">
                <a16:creationId xmlns:a16="http://schemas.microsoft.com/office/drawing/2014/main" id="{2FD92DBD-F799-9B69-6A7E-73661F79B979}"/>
              </a:ext>
            </a:extLst>
          </p:cNvPr>
          <p:cNvSpPr>
            <a:spLocks noGrp="1" noChangeArrowheads="1"/>
          </p:cNvSpPr>
          <p:nvPr>
            <p:ph type="body" idx="4294967295"/>
          </p:nvPr>
        </p:nvSpPr>
        <p:spPr>
          <a:xfrm>
            <a:off x="359532" y="116632"/>
            <a:ext cx="8568952" cy="6444716"/>
          </a:xfrm>
        </p:spPr>
        <p:txBody>
          <a:bodyPr/>
          <a:lstStyle/>
          <a:p>
            <a:pPr>
              <a:spcBef>
                <a:spcPts val="900"/>
              </a:spcBef>
              <a:buNone/>
            </a:pPr>
            <a:r>
              <a:rPr lang="en-GB" altLang="en-US" sz="2800"/>
              <a:t>	</a:t>
            </a:r>
            <a:r>
              <a:rPr lang="en-GB" altLang="en-US" sz="2400"/>
              <a:t>“Shall we then rest contented with these two relations of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as affording a compleat idea of causation?  By no means.  An object may be contiguous and prior to another, without being consider’d as its cause.  There is a </a:t>
            </a:r>
            <a:r>
              <a:rPr lang="en-GB" altLang="en-US" sz="2400" cap="small">
                <a:solidFill>
                  <a:srgbClr val="FF7C80"/>
                </a:solidFill>
              </a:rPr>
              <a:t>necessary connexion</a:t>
            </a:r>
            <a:r>
              <a:rPr lang="en-GB" altLang="en-US" sz="2400"/>
              <a:t> to be taken into consid-eration; and that relation is of much greater importance, than any of the other two above-mention’d”  (</a:t>
            </a:r>
            <a:r>
              <a:rPr lang="en-GB" altLang="en-US" sz="2400" i="1"/>
              <a:t>T</a:t>
            </a:r>
            <a:r>
              <a:rPr lang="en-GB" altLang="en-US" sz="2400"/>
              <a:t> 1.3.2.11)</a:t>
            </a:r>
          </a:p>
          <a:p>
            <a:pPr>
              <a:spcBef>
                <a:spcPts val="1800"/>
              </a:spcBef>
              <a:buNone/>
            </a:pPr>
            <a:r>
              <a:rPr lang="en-GB" altLang="en-US" sz="2400"/>
              <a:t>	“Thus in advancing we have insensibly discover’d a new relation betwixt cause and effect, …  This relation is their </a:t>
            </a:r>
            <a:r>
              <a:rPr lang="en-GB" altLang="en-US" sz="2400" cap="small">
                <a:solidFill>
                  <a:srgbClr val="FF7C80"/>
                </a:solidFill>
              </a:rPr>
              <a:t>constant conjunction</a:t>
            </a:r>
            <a:r>
              <a:rPr lang="en-GB" altLang="en-US" sz="2400"/>
              <a:t>.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are not sufficient to make us pronounce any two objects to be cause and effect, </a:t>
            </a:r>
            <a:r>
              <a:rPr lang="en-GB" altLang="en-US" sz="2400">
                <a:solidFill>
                  <a:srgbClr val="00FFFF"/>
                </a:solidFill>
              </a:rPr>
              <a:t>unless we perceive that these two rela-tions are preserv’d in several instances</a:t>
            </a:r>
            <a:r>
              <a:rPr lang="en-GB" altLang="en-US" sz="2400"/>
              <a:t>.  We may now see the advantage of quitting the direct survey of [causation], in order to discover the nature of that </a:t>
            </a:r>
            <a:r>
              <a:rPr lang="en-GB" altLang="en-US" sz="2400" i="1"/>
              <a:t>necessary connexion</a:t>
            </a:r>
            <a:r>
              <a:rPr lang="en-GB" altLang="en-US" sz="2400"/>
              <a:t>, which makes so essential a part of it.”  (</a:t>
            </a:r>
            <a:r>
              <a:rPr lang="en-GB" altLang="en-US" sz="2400" i="1"/>
              <a:t>T</a:t>
            </a:r>
            <a:r>
              <a:rPr lang="en-GB" altLang="en-US" sz="2400"/>
              <a:t> 1.3.6.3)</a:t>
            </a:r>
          </a:p>
        </p:txBody>
      </p:sp>
    </p:spTree>
    <p:extLst>
      <p:ext uri="{BB962C8B-B14F-4D97-AF65-F5344CB8AC3E}">
        <p14:creationId xmlns:p14="http://schemas.microsoft.com/office/powerpoint/2010/main" val="570566299"/>
      </p:ext>
    </p:extLst>
  </p:cSld>
  <p:clrMapOvr>
    <a:masterClrMapping/>
  </p:clrMapOvr>
  <p:transition spd="med">
    <p:cove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8908B8-CE12-42C9-870C-5243D1608A30}" type="slidenum">
              <a:rPr lang="en-US" altLang="en-US"/>
              <a:pPr/>
              <a:t>140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A5A8139-702B-4FC6-AD6F-C7FF06339F3C}" type="slidenum">
              <a:rPr lang="en-US" altLang="en-US" sz="1600">
                <a:effectLst>
                  <a:outerShdw blurRad="38100" dist="38100" dir="2700000" algn="tl">
                    <a:srgbClr val="000000"/>
                  </a:outerShdw>
                </a:effectLst>
                <a:ea typeface="ＭＳ Ｐゴシック" charset="-128"/>
              </a:rPr>
              <a:pPr eaLnBrk="1" hangingPunct="1"/>
              <a:t>140</a:t>
            </a:fld>
            <a:endParaRPr lang="en-US" altLang="en-US" sz="1600">
              <a:effectLst>
                <a:outerShdw blurRad="38100" dist="38100" dir="2700000" algn="tl">
                  <a:srgbClr val="000000"/>
                </a:outerShdw>
              </a:effectLst>
              <a:ea typeface="ＭＳ Ｐゴシック" charset="-128"/>
            </a:endParaRPr>
          </a:p>
        </p:txBody>
      </p:sp>
      <p:sp>
        <p:nvSpPr>
          <p:cNvPr id="878595" name="Rectangle 3"/>
          <p:cNvSpPr>
            <a:spLocks noGrp="1" noChangeArrowheads="1"/>
          </p:cNvSpPr>
          <p:nvPr>
            <p:ph type="body" idx="4294967295"/>
          </p:nvPr>
        </p:nvSpPr>
        <p:spPr>
          <a:xfrm>
            <a:off x="359532" y="224644"/>
            <a:ext cx="8532947" cy="6393644"/>
          </a:xfrm>
        </p:spPr>
        <p:txBody>
          <a:bodyPr/>
          <a:lstStyle/>
          <a:p>
            <a:pPr>
              <a:spcBef>
                <a:spcPts val="1800"/>
              </a:spcBef>
            </a:pPr>
            <a:r>
              <a:rPr lang="en-GB" altLang="en-US" sz="2700"/>
              <a:t>So at </a:t>
            </a:r>
            <a:r>
              <a:rPr lang="en-GB" altLang="en-US" sz="2700" i="1"/>
              <a:t>T</a:t>
            </a:r>
            <a:r>
              <a:rPr lang="en-GB" altLang="en-US" sz="2700"/>
              <a:t> 1.3.2.11, Hume is saying that </a:t>
            </a:r>
            <a:r>
              <a:rPr lang="en-GB" altLang="en-US" sz="2700" i="1"/>
              <a:t>causation</a:t>
            </a:r>
            <a:r>
              <a:rPr lang="en-GB" altLang="en-US" sz="2700"/>
              <a:t> requires </a:t>
            </a:r>
            <a:r>
              <a:rPr lang="en-GB" altLang="en-US" sz="2700" i="1">
                <a:solidFill>
                  <a:srgbClr val="FF7C80"/>
                </a:solidFill>
              </a:rPr>
              <a:t>necessary connexion</a:t>
            </a:r>
            <a:r>
              <a:rPr lang="en-GB" altLang="en-US" sz="2700"/>
              <a:t> in addition to [single-case]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t>
            </a:r>
            <a:r>
              <a:rPr lang="en-GB" altLang="en-US" sz="2700" i="1"/>
              <a:t>T</a:t>
            </a:r>
            <a:r>
              <a:rPr lang="en-GB" altLang="en-US" sz="2700"/>
              <a:t> 1.3.6.3, he is saying that </a:t>
            </a:r>
            <a:r>
              <a:rPr lang="en-GB" altLang="en-US" sz="2700" i="1"/>
              <a:t>causation</a:t>
            </a:r>
            <a:r>
              <a:rPr lang="en-GB" altLang="en-US" sz="2700"/>
              <a:t> requires </a:t>
            </a:r>
            <a:r>
              <a:rPr lang="en-GB" altLang="en-US" sz="2700" i="1">
                <a:solidFill>
                  <a:srgbClr val="FF7C80"/>
                </a:solidFill>
              </a:rPr>
              <a:t>constant conjunction</a:t>
            </a:r>
            <a:r>
              <a:rPr lang="en-GB" altLang="en-US" sz="2700"/>
              <a:t> in addition – i.e. the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r>
            <a:r>
              <a:rPr lang="en-GB" altLang="en-US" sz="2700">
                <a:solidFill>
                  <a:srgbClr val="00FFFF"/>
                </a:solidFill>
              </a:rPr>
              <a:t>have to be </a:t>
            </a:r>
            <a:r>
              <a:rPr lang="en-GB" altLang="en-US" sz="2700" i="1">
                <a:solidFill>
                  <a:srgbClr val="00FFFF"/>
                </a:solidFill>
              </a:rPr>
              <a:t>repeated</a:t>
            </a:r>
            <a:r>
              <a:rPr lang="en-GB" altLang="en-US" sz="2700"/>
              <a:t>, rather than being single-case.</a:t>
            </a:r>
          </a:p>
          <a:p>
            <a:pPr>
              <a:spcBef>
                <a:spcPts val="1800"/>
              </a:spcBef>
            </a:pPr>
            <a:r>
              <a:rPr lang="en-GB" altLang="en-US" sz="2700"/>
              <a:t>How can mere repetition give rise to the new idea of necessary connexion?  Hume comments that this seems mysterious, but goes on to say (</a:t>
            </a:r>
            <a:r>
              <a:rPr lang="en-GB" altLang="en-US" sz="2700" i="1"/>
              <a:t>T</a:t>
            </a:r>
            <a:r>
              <a:rPr lang="en-GB" altLang="en-US" sz="2700"/>
              <a:t> 1.3.6.3):</a:t>
            </a:r>
          </a:p>
          <a:p>
            <a:pPr lvl="1">
              <a:spcBef>
                <a:spcPts val="1200"/>
              </a:spcBef>
              <a:buFontTx/>
              <a:buNone/>
            </a:pPr>
            <a:r>
              <a:rPr lang="en-GB" altLang="en-US" sz="2400"/>
              <a:t>	</a:t>
            </a:r>
            <a:r>
              <a:rPr lang="en-GB" altLang="en-US" sz="2500"/>
              <a:t>“Perhaps ’twill appear in the end, that the necessary connexion depends on the inference, instead of the inference’s depending on the necessary connexion”.</a:t>
            </a:r>
            <a:endParaRPr lang="en-US" altLang="en-US" sz="2500"/>
          </a:p>
          <a:p>
            <a:pPr lvl="1">
              <a:spcBef>
                <a:spcPts val="1800"/>
              </a:spcBef>
            </a:pPr>
            <a:r>
              <a:rPr lang="en-GB" altLang="en-US" sz="2500"/>
              <a:t>This anticipates </a:t>
            </a:r>
            <a:r>
              <a:rPr lang="en-GB" altLang="en-US" sz="2500" i="1"/>
              <a:t>T</a:t>
            </a:r>
            <a:r>
              <a:rPr lang="en-GB" altLang="en-US" sz="2500"/>
              <a:t> 1.3.14.20, where inference is what gives rise to</a:t>
            </a:r>
            <a:r>
              <a:rPr lang="en-GB" altLang="en-US" sz="2500" i="1"/>
              <a:t> the impression of necessary connexion</a:t>
            </a:r>
            <a:r>
              <a:rPr lang="en-GB" altLang="en-US" sz="2500"/>
              <a:t>.</a:t>
            </a:r>
            <a:endParaRPr lang="en-GB" altLang="en-US" sz="2500" dirty="0"/>
          </a:p>
        </p:txBody>
      </p:sp>
    </p:spTree>
    <p:extLst>
      <p:ext uri="{BB962C8B-B14F-4D97-AF65-F5344CB8AC3E}">
        <p14:creationId xmlns:p14="http://schemas.microsoft.com/office/powerpoint/2010/main" val="2649525377"/>
      </p:ext>
    </p:extLst>
  </p:cSld>
  <p:clrMapOvr>
    <a:masterClrMapping/>
  </p:clrMapOvr>
  <p:transition spd="med">
    <p:cove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3E7650A-5D5E-4A4E-B4B3-8AEB23C11BE0}" type="slidenum">
              <a:rPr lang="en-US" altLang="en-US"/>
              <a:pPr/>
              <a:t>141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C5119C67-BFCE-4E40-B592-FF755440BF98}" type="slidenum">
              <a:rPr lang="en-US" altLang="en-US" sz="1600">
                <a:effectLst>
                  <a:outerShdw blurRad="38100" dist="38100" dir="2700000" algn="tl">
                    <a:srgbClr val="000000"/>
                  </a:outerShdw>
                </a:effectLst>
                <a:ea typeface="ＭＳ Ｐゴシック" charset="-128"/>
              </a:rPr>
              <a:pPr eaLnBrk="1" hangingPunct="1"/>
              <a:t>141</a:t>
            </a:fld>
            <a:endParaRPr lang="en-US" altLang="en-US" sz="1600">
              <a:effectLst>
                <a:outerShdw blurRad="38100" dist="38100" dir="2700000" algn="tl">
                  <a:srgbClr val="000000"/>
                </a:outerShdw>
              </a:effectLst>
              <a:ea typeface="ＭＳ Ｐゴシック" charset="-128"/>
            </a:endParaRPr>
          </a:p>
        </p:txBody>
      </p:sp>
      <p:sp>
        <p:nvSpPr>
          <p:cNvPr id="881666" name="Rectangle 2"/>
          <p:cNvSpPr>
            <a:spLocks noGrp="1" noChangeArrowheads="1"/>
          </p:cNvSpPr>
          <p:nvPr>
            <p:ph type="title" idx="4294967295"/>
          </p:nvPr>
        </p:nvSpPr>
        <p:spPr>
          <a:xfrm>
            <a:off x="457200" y="97793"/>
            <a:ext cx="8229600" cy="738919"/>
          </a:xfrm>
        </p:spPr>
        <p:txBody>
          <a:bodyPr/>
          <a:lstStyle/>
          <a:p>
            <a:r>
              <a:rPr lang="en-GB" altLang="en-US" dirty="0"/>
              <a:t>A Question of Faculties</a:t>
            </a:r>
            <a:endParaRPr lang="en-US" altLang="en-US" dirty="0"/>
          </a:p>
        </p:txBody>
      </p:sp>
      <p:sp>
        <p:nvSpPr>
          <p:cNvPr id="881667" name="Rectangle 3"/>
          <p:cNvSpPr>
            <a:spLocks noGrp="1" noChangeArrowheads="1"/>
          </p:cNvSpPr>
          <p:nvPr>
            <p:ph type="body" idx="4294967295"/>
          </p:nvPr>
        </p:nvSpPr>
        <p:spPr>
          <a:xfrm>
            <a:off x="359532" y="1016732"/>
            <a:ext cx="8424936" cy="5577743"/>
          </a:xfrm>
        </p:spPr>
        <p:txBody>
          <a:bodyPr/>
          <a:lstStyle/>
          <a:p>
            <a:r>
              <a:rPr lang="en-GB" altLang="en-US" sz="2800" dirty="0"/>
              <a:t>Since causal reasoning from the impression of cause </a:t>
            </a:r>
            <a:r>
              <a:rPr lang="en-GB" altLang="en-US" sz="2800" i="1" dirty="0"/>
              <a:t>A</a:t>
            </a:r>
            <a:r>
              <a:rPr lang="en-GB" altLang="en-US" sz="2800" dirty="0"/>
              <a:t> to the idea of effect </a:t>
            </a:r>
            <a:r>
              <a:rPr lang="en-GB" altLang="en-US" sz="2800" i="1" dirty="0"/>
              <a:t>B</a:t>
            </a:r>
            <a:r>
              <a:rPr lang="en-GB" altLang="en-US" sz="2800" dirty="0"/>
              <a:t> is “founded on past </a:t>
            </a:r>
            <a:r>
              <a:rPr lang="en-GB" altLang="en-US" sz="2800" i="1" dirty="0"/>
              <a:t>experience</a:t>
            </a:r>
            <a:r>
              <a:rPr lang="en-GB" altLang="en-US" sz="2800" dirty="0"/>
              <a:t>, and on our remembrance of their </a:t>
            </a:r>
            <a:r>
              <a:rPr lang="en-GB" altLang="en-US" sz="2800" i="1" dirty="0"/>
              <a:t>constant conjunction</a:t>
            </a:r>
            <a:r>
              <a:rPr lang="en-GB" altLang="en-US" sz="2800" dirty="0"/>
              <a:t>” (</a:t>
            </a:r>
            <a:r>
              <a:rPr lang="en-GB" altLang="en-US" sz="2800" i="1" dirty="0"/>
              <a:t>T</a:t>
            </a:r>
            <a:r>
              <a:rPr lang="en-GB" altLang="en-US" sz="2800" dirty="0"/>
              <a:t> 1.3.6.4),</a:t>
            </a:r>
          </a:p>
          <a:p>
            <a:pPr lvl="1">
              <a:buFontTx/>
              <a:buNone/>
            </a:pPr>
            <a:r>
              <a:rPr lang="en-GB" altLang="en-US" dirty="0"/>
              <a:t>	</a:t>
            </a:r>
            <a:r>
              <a:rPr lang="en-GB" altLang="en-US" sz="2600" dirty="0"/>
              <a:t>“the next question is, whether experience prod-</a:t>
            </a:r>
            <a:r>
              <a:rPr lang="en-GB" altLang="en-US" sz="2600" dirty="0" err="1"/>
              <a:t>uces</a:t>
            </a:r>
            <a:r>
              <a:rPr lang="en-GB" altLang="en-US" sz="2600" dirty="0"/>
              <a:t> the idea [i.e. expectation of </a:t>
            </a:r>
            <a:r>
              <a:rPr lang="en-GB" altLang="en-US" sz="2600" i="1" dirty="0"/>
              <a:t>B</a:t>
            </a:r>
            <a:r>
              <a:rPr lang="en-GB" altLang="en-US" sz="2600" dirty="0"/>
              <a:t>] by means of the </a:t>
            </a:r>
            <a:r>
              <a:rPr lang="en-GB" altLang="en-US" sz="2600" dirty="0">
                <a:solidFill>
                  <a:srgbClr val="FF9999"/>
                </a:solidFill>
              </a:rPr>
              <a:t>understanding</a:t>
            </a:r>
            <a:r>
              <a:rPr lang="en-GB" altLang="en-US" sz="2600" dirty="0"/>
              <a:t> or </a:t>
            </a:r>
            <a:r>
              <a:rPr lang="en-GB" altLang="en-US" sz="2600" dirty="0">
                <a:solidFill>
                  <a:srgbClr val="FF9999"/>
                </a:solidFill>
              </a:rPr>
              <a:t>imagination</a:t>
            </a:r>
            <a:r>
              <a:rPr lang="en-GB" altLang="en-US" sz="2600" dirty="0"/>
              <a:t>; whether we are </a:t>
            </a:r>
            <a:r>
              <a:rPr lang="en-GB" altLang="en-US" sz="2600" dirty="0" err="1"/>
              <a:t>determin’d</a:t>
            </a:r>
            <a:r>
              <a:rPr lang="en-GB" altLang="en-US" sz="2600" dirty="0"/>
              <a:t> by </a:t>
            </a:r>
            <a:r>
              <a:rPr lang="en-GB" altLang="en-US" sz="2600" dirty="0">
                <a:solidFill>
                  <a:srgbClr val="FF9999"/>
                </a:solidFill>
              </a:rPr>
              <a:t>reason</a:t>
            </a:r>
            <a:r>
              <a:rPr lang="en-GB" altLang="en-US" sz="2600" dirty="0"/>
              <a:t> to make the transition, or by a certain </a:t>
            </a:r>
            <a:r>
              <a:rPr lang="en-GB" altLang="en-US" sz="2600" dirty="0">
                <a:solidFill>
                  <a:srgbClr val="FF9999"/>
                </a:solidFill>
              </a:rPr>
              <a:t>association and relation of perceptions</a:t>
            </a:r>
            <a:r>
              <a:rPr lang="en-GB" altLang="en-US" sz="2600" dirty="0"/>
              <a:t>?”</a:t>
            </a:r>
          </a:p>
          <a:p>
            <a:pPr>
              <a:spcBef>
                <a:spcPts val="1200"/>
              </a:spcBef>
            </a:pPr>
            <a:r>
              <a:rPr lang="en-GB" altLang="en-US" sz="2800"/>
              <a:t>Hume famously goes on to argue that reason </a:t>
            </a:r>
            <a:r>
              <a:rPr lang="en-GB" altLang="en-US" sz="2800" dirty="0"/>
              <a:t>(i.e. the understanding) cannot ground </a:t>
            </a:r>
            <a:r>
              <a:rPr lang="en-GB" altLang="en-US" sz="2800"/>
              <a:t>this inference, concluding that it must be due to the imagination.</a:t>
            </a:r>
            <a:endParaRPr lang="en-US" altLang="en-US" sz="2800" dirty="0"/>
          </a:p>
        </p:txBody>
      </p:sp>
    </p:spTree>
    <p:extLst>
      <p:ext uri="{BB962C8B-B14F-4D97-AF65-F5344CB8AC3E}">
        <p14:creationId xmlns:p14="http://schemas.microsoft.com/office/powerpoint/2010/main" val="1691206541"/>
      </p:ext>
    </p:extLst>
  </p:cSld>
  <p:clrMapOvr>
    <a:masterClrMapping/>
  </p:clrMapOvr>
  <p:transition spd="med">
    <p:cover/>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FE6A5AB-6AB1-4D93-943A-DE04B7C81F86}" type="slidenum">
              <a:rPr lang="en-US"/>
              <a:pPr/>
              <a:t>142</a:t>
            </a:fld>
            <a:endParaRPr lang="en-US"/>
          </a:p>
        </p:txBody>
      </p:sp>
      <p:sp>
        <p:nvSpPr>
          <p:cNvPr id="888834" name="Rectangle 2"/>
          <p:cNvSpPr>
            <a:spLocks noGrp="1" noChangeArrowheads="1"/>
          </p:cNvSpPr>
          <p:nvPr>
            <p:ph type="title"/>
          </p:nvPr>
        </p:nvSpPr>
        <p:spPr>
          <a:xfrm>
            <a:off x="457200" y="80628"/>
            <a:ext cx="8229600" cy="846931"/>
          </a:xfrm>
        </p:spPr>
        <p:txBody>
          <a:bodyPr/>
          <a:lstStyle/>
          <a:p>
            <a:pPr eaLnBrk="1" hangingPunct="1"/>
            <a:r>
              <a:rPr lang="en-GB"/>
              <a:t>Hume’s Alternative Explanation</a:t>
            </a:r>
            <a:endParaRPr lang="en-US"/>
          </a:p>
        </p:txBody>
      </p:sp>
      <p:sp>
        <p:nvSpPr>
          <p:cNvPr id="888835" name="Rectangle 3"/>
          <p:cNvSpPr>
            <a:spLocks noGrp="1" noChangeArrowheads="1"/>
          </p:cNvSpPr>
          <p:nvPr>
            <p:ph type="body" idx="1"/>
          </p:nvPr>
        </p:nvSpPr>
        <p:spPr>
          <a:xfrm>
            <a:off x="185675" y="1232756"/>
            <a:ext cx="8706805" cy="5156299"/>
          </a:xfrm>
        </p:spPr>
        <p:txBody>
          <a:bodyPr/>
          <a:lstStyle/>
          <a:p>
            <a:pPr eaLnBrk="1" hangingPunct="1"/>
            <a:r>
              <a:rPr lang="en-GB" sz="3000"/>
              <a:t>We’ll learn that neither demonstrative nor prob-able reason can ground </a:t>
            </a:r>
            <a:r>
              <a:rPr lang="en-GB" sz="3000" dirty="0"/>
              <a:t>inductive inference; so instead, it must arise from associative principles of </a:t>
            </a:r>
            <a:r>
              <a:rPr lang="en-GB" sz="3000"/>
              <a:t>the imagination [specifically, the principle which Hume later – at </a:t>
            </a:r>
            <a:r>
              <a:rPr lang="en-GB" sz="3000" i="1"/>
              <a:t>T</a:t>
            </a:r>
            <a:r>
              <a:rPr lang="en-GB" sz="3000"/>
              <a:t> 1.3.7.6 – calls </a:t>
            </a:r>
            <a:r>
              <a:rPr lang="en-GB" sz="3000" i="1"/>
              <a:t>custom</a:t>
            </a:r>
            <a:r>
              <a:rPr lang="en-GB" sz="3000"/>
              <a:t>]:</a:t>
            </a:r>
            <a:endParaRPr lang="en-GB" sz="3000" dirty="0"/>
          </a:p>
          <a:p>
            <a:pPr lvl="1" eaLnBrk="1" hangingPunct="1">
              <a:spcBef>
                <a:spcPts val="1200"/>
              </a:spcBef>
              <a:buFontTx/>
              <a:buNone/>
            </a:pPr>
            <a:r>
              <a:rPr lang="en-GB" dirty="0"/>
              <a:t>	“When the mind, therefore, passes from the idea or impression of one object [the cause </a:t>
            </a:r>
            <a:r>
              <a:rPr lang="en-GB" i="1" dirty="0"/>
              <a:t>A</a:t>
            </a:r>
            <a:r>
              <a:rPr lang="en-GB" dirty="0"/>
              <a:t>] to the idea or belief of another [the effect </a:t>
            </a:r>
            <a:r>
              <a:rPr lang="en-GB" i="1" dirty="0"/>
              <a:t>B</a:t>
            </a:r>
            <a:r>
              <a:rPr lang="en-GB" dirty="0"/>
              <a:t>], </a:t>
            </a:r>
            <a:r>
              <a:rPr lang="en-GB" dirty="0">
                <a:solidFill>
                  <a:srgbClr val="FF9999"/>
                </a:solidFill>
              </a:rPr>
              <a:t>it is not </a:t>
            </a:r>
            <a:r>
              <a:rPr lang="en-GB" dirty="0" err="1">
                <a:solidFill>
                  <a:srgbClr val="FF9999"/>
                </a:solidFill>
              </a:rPr>
              <a:t>determin’d</a:t>
            </a:r>
            <a:r>
              <a:rPr lang="en-GB" dirty="0">
                <a:solidFill>
                  <a:srgbClr val="FF9999"/>
                </a:solidFill>
              </a:rPr>
              <a:t> by reason</a:t>
            </a:r>
            <a:r>
              <a:rPr lang="en-GB" dirty="0"/>
              <a:t>, but by </a:t>
            </a:r>
            <a:r>
              <a:rPr lang="en-GB" dirty="0">
                <a:solidFill>
                  <a:srgbClr val="FF9999"/>
                </a:solidFill>
              </a:rPr>
              <a:t>certain principles, which associate together the ideas</a:t>
            </a:r>
            <a:r>
              <a:rPr lang="en-GB" dirty="0"/>
              <a:t> of these objects, and unite them in the </a:t>
            </a:r>
            <a:r>
              <a:rPr lang="en-GB"/>
              <a:t>imagination.”</a:t>
            </a:r>
            <a:br>
              <a:rPr lang="en-GB"/>
            </a:br>
            <a:r>
              <a:rPr lang="en-GB"/>
              <a:t>							(</a:t>
            </a:r>
            <a:r>
              <a:rPr lang="en-GB" i="1" dirty="0"/>
              <a:t>T</a:t>
            </a:r>
            <a:r>
              <a:rPr lang="en-GB" dirty="0"/>
              <a:t> 1.3.6.12)</a:t>
            </a:r>
            <a:endParaRPr lang="en-US" dirty="0"/>
          </a:p>
        </p:txBody>
      </p:sp>
    </p:spTree>
    <p:extLst>
      <p:ext uri="{BB962C8B-B14F-4D97-AF65-F5344CB8AC3E}">
        <p14:creationId xmlns:p14="http://schemas.microsoft.com/office/powerpoint/2010/main" val="800972725"/>
      </p:ext>
    </p:extLst>
  </p:cSld>
  <p:clrMapOvr>
    <a:masterClrMapping/>
  </p:clrMapOvr>
  <p:transition spd="med">
    <p:cover/>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4(</a:t>
            </a:r>
            <a:r>
              <a:rPr lang="en-GB" dirty="0"/>
              <a:t>b</a:t>
            </a:r>
            <a:r>
              <a:rPr lang="en-GB"/>
              <a:t>)</a:t>
            </a:r>
            <a:br>
              <a:rPr lang="en-GB" dirty="0"/>
            </a:br>
            <a:br>
              <a:rPr lang="en-GB"/>
            </a:br>
            <a:r>
              <a:rPr lang="en-GB"/>
              <a:t>The Argument Concerning Induction</a:t>
            </a:r>
            <a:br>
              <a:rPr lang="en-GB"/>
            </a:br>
            <a:r>
              <a:rPr lang="en-GB"/>
              <a:t>(</a:t>
            </a:r>
            <a:r>
              <a:rPr lang="en-GB" i="1"/>
              <a:t>T</a:t>
            </a:r>
            <a:r>
              <a:rPr lang="en-GB"/>
              <a:t>, </a:t>
            </a:r>
            <a:r>
              <a:rPr lang="en-GB" i="1"/>
              <a:t>A</a:t>
            </a:r>
            <a:r>
              <a:rPr lang="en-GB"/>
              <a:t>, and </a:t>
            </a:r>
            <a:r>
              <a:rPr lang="en-GB" i="1"/>
              <a:t>E</a:t>
            </a:r>
            <a:r>
              <a:rPr lang="en-GB"/>
              <a:t>)</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03239069"/>
      </p:ext>
    </p:extLst>
  </p:cSld>
  <p:clrMapOvr>
    <a:masterClrMapping/>
  </p:clrMapOvr>
  <p:transition spd="med">
    <p:cover/>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6B1BB5-79CD-4C14-92E5-21ACAFCB5F84}" type="slidenum">
              <a:rPr lang="en-US" altLang="en-US"/>
              <a:pPr/>
              <a:t>144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144</a:t>
            </a:fld>
            <a:endParaRPr lang="en-US" altLang="en-US" sz="1600">
              <a:effectLst>
                <a:outerShdw blurRad="38100" dist="38100" dir="2700000" algn="tl">
                  <a:srgbClr val="000000"/>
                </a:outerShdw>
              </a:effectLst>
              <a:ea typeface="ＭＳ Ｐゴシック" charset="-128"/>
            </a:endParaRPr>
          </a:p>
        </p:txBody>
      </p:sp>
      <p:sp>
        <p:nvSpPr>
          <p:cNvPr id="845826" name="Rectangle 2"/>
          <p:cNvSpPr>
            <a:spLocks noGrp="1" noChangeArrowheads="1"/>
          </p:cNvSpPr>
          <p:nvPr>
            <p:ph type="title" idx="4294967295"/>
          </p:nvPr>
        </p:nvSpPr>
        <p:spPr>
          <a:xfrm>
            <a:off x="193675" y="116632"/>
            <a:ext cx="8767763" cy="774923"/>
          </a:xfrm>
        </p:spPr>
        <p:txBody>
          <a:bodyPr/>
          <a:lstStyle/>
          <a:p>
            <a:r>
              <a:rPr lang="en-GB" altLang="en-US" dirty="0"/>
              <a:t>The Famous Argument (×3)</a:t>
            </a:r>
            <a:endParaRPr lang="en-US" altLang="en-US" dirty="0"/>
          </a:p>
        </p:txBody>
      </p:sp>
      <p:sp>
        <p:nvSpPr>
          <p:cNvPr id="845827" name="Rectangle 3"/>
          <p:cNvSpPr>
            <a:spLocks noGrp="1" noChangeArrowheads="1"/>
          </p:cNvSpPr>
          <p:nvPr>
            <p:ph type="body" idx="4294967295"/>
          </p:nvPr>
        </p:nvSpPr>
        <p:spPr>
          <a:xfrm>
            <a:off x="457200" y="1088740"/>
            <a:ext cx="8229600" cy="5480335"/>
          </a:xfrm>
        </p:spPr>
        <p:txBody>
          <a:bodyPr/>
          <a:lstStyle/>
          <a:p>
            <a:r>
              <a:rPr lang="en-GB" altLang="en-US" sz="2700" dirty="0"/>
              <a:t>In </a:t>
            </a:r>
            <a:r>
              <a:rPr lang="en-GB" altLang="en-US" sz="2700" i="1" dirty="0"/>
              <a:t>Treatise</a:t>
            </a:r>
            <a:r>
              <a:rPr lang="en-GB" altLang="en-US" sz="2700" dirty="0"/>
              <a:t> 1.3.6, Hume doesn’t seem fully to appreciate his new argument’s significance – it is mainly a staging post in his search for the origin and nature of our idea </a:t>
            </a:r>
            <a:r>
              <a:rPr lang="en-GB" altLang="en-US" sz="2700"/>
              <a:t>of causal necessity, </a:t>
            </a:r>
            <a:r>
              <a:rPr lang="en-GB" altLang="en-US" sz="2700" dirty="0"/>
              <a:t>and is not explicitly presented as sceptical in nature.</a:t>
            </a:r>
          </a:p>
          <a:p>
            <a:pPr>
              <a:spcBef>
                <a:spcPts val="1200"/>
              </a:spcBef>
            </a:pPr>
            <a:r>
              <a:rPr lang="en-GB" altLang="en-US" sz="2700" dirty="0"/>
              <a:t>In the </a:t>
            </a:r>
            <a:r>
              <a:rPr lang="en-GB" altLang="en-US" sz="2700" i="1" dirty="0"/>
              <a:t>Abstract</a:t>
            </a:r>
            <a:r>
              <a:rPr lang="en-GB" altLang="en-US" sz="2700" dirty="0"/>
              <a:t> of </a:t>
            </a:r>
            <a:r>
              <a:rPr lang="en-GB" altLang="en-US" sz="2700"/>
              <a:t>1740 its role is more general, and it takes </a:t>
            </a:r>
            <a:r>
              <a:rPr lang="en-GB" altLang="en-US" sz="2700" dirty="0"/>
              <a:t>a much more prominent position, as the centre-piece of Hume’s “Chief Argument”.</a:t>
            </a:r>
          </a:p>
          <a:p>
            <a:pPr>
              <a:spcBef>
                <a:spcPts val="1200"/>
              </a:spcBef>
            </a:pPr>
            <a:r>
              <a:rPr lang="en-GB" altLang="en-US" sz="2700" dirty="0"/>
              <a:t>The fullest and clearest version is in </a:t>
            </a:r>
            <a:r>
              <a:rPr lang="en-GB" altLang="en-US" sz="2700"/>
              <a:t>the </a:t>
            </a:r>
            <a:r>
              <a:rPr lang="en-GB" altLang="en-US" sz="2700" i="1"/>
              <a:t>Enquiry</a:t>
            </a:r>
            <a:r>
              <a:rPr lang="en-GB" altLang="en-US" sz="2700" dirty="0"/>
              <a:t>, Section 4, whose title acknowledges that it raises “Sceptical </a:t>
            </a:r>
            <a:r>
              <a:rPr lang="en-GB" altLang="en-US" sz="2700"/>
              <a:t>Doubts” (moreover the </a:t>
            </a:r>
            <a:r>
              <a:rPr lang="en-GB" altLang="en-US" sz="2700" i="1"/>
              <a:t>Enquiry</a:t>
            </a:r>
            <a:r>
              <a:rPr lang="en-GB" altLang="en-US" sz="2700"/>
              <a:t> had 11 editions, the </a:t>
            </a:r>
            <a:r>
              <a:rPr lang="en-GB" altLang="en-US" sz="2700" i="1"/>
              <a:t>Treatise</a:t>
            </a:r>
            <a:r>
              <a:rPr lang="en-GB" altLang="en-US" sz="2700"/>
              <a:t> and </a:t>
            </a:r>
            <a:r>
              <a:rPr lang="en-GB" altLang="en-US" sz="2700" i="1"/>
              <a:t>Abstract</a:t>
            </a:r>
            <a:r>
              <a:rPr lang="en-GB" altLang="en-US" sz="2700"/>
              <a:t> just one each).</a:t>
            </a:r>
            <a:endParaRPr lang="en-US" altLang="en-US" sz="2700" i="1" dirty="0"/>
          </a:p>
        </p:txBody>
      </p:sp>
    </p:spTree>
    <p:extLst>
      <p:ext uri="{BB962C8B-B14F-4D97-AF65-F5344CB8AC3E}">
        <p14:creationId xmlns:p14="http://schemas.microsoft.com/office/powerpoint/2010/main" val="2916852547"/>
      </p:ext>
    </p:extLst>
  </p:cSld>
  <p:clrMapOvr>
    <a:masterClrMapping/>
  </p:clrMapOvr>
  <p:transition spd="med">
    <p:cover/>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55B56-E6C0-B6DE-B681-C279A707734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883BF51-82FA-5719-5B90-B992B44820A3}"/>
              </a:ext>
            </a:extLst>
          </p:cNvPr>
          <p:cNvSpPr>
            <a:spLocks noGrp="1"/>
          </p:cNvSpPr>
          <p:nvPr>
            <p:ph type="sldNum" sz="quarter" idx="10"/>
          </p:nvPr>
        </p:nvSpPr>
        <p:spPr/>
        <p:txBody>
          <a:bodyPr/>
          <a:lstStyle/>
          <a:p>
            <a:fld id="{666B1BB5-79CD-4C14-92E5-21ACAFCB5F84}" type="slidenum">
              <a:rPr lang="en-US" altLang="en-US"/>
              <a:pPr/>
              <a:t>145</a:t>
            </a:fld>
            <a:endParaRPr lang="en-US" altLang="en-US"/>
          </a:p>
        </p:txBody>
      </p:sp>
      <p:sp>
        <p:nvSpPr>
          <p:cNvPr id="4" name="Slide Number Placeholder 3">
            <a:extLst>
              <a:ext uri="{FF2B5EF4-FFF2-40B4-BE49-F238E27FC236}">
                <a16:creationId xmlns:a16="http://schemas.microsoft.com/office/drawing/2014/main" id="{6045AD43-2483-CCDB-3C3A-BF02FB39998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145</a:t>
            </a:fld>
            <a:endParaRPr lang="en-US" altLang="en-US" sz="1600">
              <a:effectLst>
                <a:outerShdw blurRad="38100" dist="38100" dir="2700000" algn="tl">
                  <a:srgbClr val="000000"/>
                </a:outerShdw>
              </a:effectLst>
              <a:ea typeface="ＭＳ Ｐゴシック" charset="-128"/>
            </a:endParaRPr>
          </a:p>
        </p:txBody>
      </p:sp>
      <p:sp>
        <p:nvSpPr>
          <p:cNvPr id="845826" name="Rectangle 2">
            <a:extLst>
              <a:ext uri="{FF2B5EF4-FFF2-40B4-BE49-F238E27FC236}">
                <a16:creationId xmlns:a16="http://schemas.microsoft.com/office/drawing/2014/main" id="{4FD7B3A2-D412-7B96-9A62-1833759381FB}"/>
              </a:ext>
            </a:extLst>
          </p:cNvPr>
          <p:cNvSpPr>
            <a:spLocks noGrp="1" noChangeArrowheads="1"/>
          </p:cNvSpPr>
          <p:nvPr>
            <p:ph type="title" idx="4294967295"/>
          </p:nvPr>
        </p:nvSpPr>
        <p:spPr>
          <a:xfrm>
            <a:off x="193675" y="116632"/>
            <a:ext cx="8767763" cy="774923"/>
          </a:xfrm>
        </p:spPr>
        <p:txBody>
          <a:bodyPr/>
          <a:lstStyle/>
          <a:p>
            <a:r>
              <a:rPr lang="en-GB" altLang="en-US"/>
              <a:t>A Major Structural Change</a:t>
            </a:r>
            <a:endParaRPr lang="en-US" altLang="en-US" dirty="0"/>
          </a:p>
        </p:txBody>
      </p:sp>
      <p:sp>
        <p:nvSpPr>
          <p:cNvPr id="845827" name="Rectangle 3">
            <a:extLst>
              <a:ext uri="{FF2B5EF4-FFF2-40B4-BE49-F238E27FC236}">
                <a16:creationId xmlns:a16="http://schemas.microsoft.com/office/drawing/2014/main" id="{50B98135-BA70-95BB-8F41-02FDB4B523B9}"/>
              </a:ext>
            </a:extLst>
          </p:cNvPr>
          <p:cNvSpPr>
            <a:spLocks noGrp="1" noChangeArrowheads="1"/>
          </p:cNvSpPr>
          <p:nvPr>
            <p:ph type="body" idx="4294967295"/>
          </p:nvPr>
        </p:nvSpPr>
        <p:spPr>
          <a:xfrm>
            <a:off x="457200" y="1088740"/>
            <a:ext cx="8327268" cy="5544616"/>
          </a:xfrm>
        </p:spPr>
        <p:txBody>
          <a:bodyPr/>
          <a:lstStyle/>
          <a:p>
            <a:r>
              <a:rPr lang="en-GB" altLang="en-US" sz="2700"/>
              <a:t>In </a:t>
            </a:r>
            <a:r>
              <a:rPr lang="en-GB" altLang="en-US" sz="2700" i="1"/>
              <a:t>Treatise</a:t>
            </a:r>
            <a:r>
              <a:rPr lang="en-GB" altLang="en-US" sz="2700"/>
              <a:t> 1.3.6, “</a:t>
            </a:r>
            <a:r>
              <a:rPr lang="en-GB" altLang="en-US" sz="2700">
                <a:solidFill>
                  <a:srgbClr val="FF9999"/>
                </a:solidFill>
              </a:rPr>
              <a:t>Of the inference from the impression to the idea</a:t>
            </a:r>
            <a:r>
              <a:rPr lang="en-GB" altLang="en-US" sz="2700"/>
              <a:t>”, Hume focuses on a </a:t>
            </a:r>
            <a:r>
              <a:rPr lang="en-GB" altLang="en-US" sz="2700" i="1"/>
              <a:t>paradigm</a:t>
            </a:r>
            <a:r>
              <a:rPr lang="en-GB" altLang="en-US" sz="2700"/>
              <a:t> </a:t>
            </a:r>
            <a:r>
              <a:rPr lang="en-GB" altLang="en-US" sz="2700" i="1"/>
              <a:t>causal inference</a:t>
            </a:r>
            <a:r>
              <a:rPr lang="en-GB" altLang="en-US" sz="2700"/>
              <a:t>, where observation of </a:t>
            </a:r>
            <a:r>
              <a:rPr lang="en-GB" altLang="en-US" sz="2700" i="1"/>
              <a:t>A</a:t>
            </a:r>
            <a:r>
              <a:rPr lang="en-GB" altLang="en-US" sz="2700"/>
              <a:t> (the cause) leads to expectation of </a:t>
            </a:r>
            <a:r>
              <a:rPr lang="en-GB" altLang="en-US" sz="2700" i="1"/>
              <a:t>B</a:t>
            </a:r>
            <a:r>
              <a:rPr lang="en-GB" altLang="en-US" sz="2700"/>
              <a:t> (the effect).</a:t>
            </a:r>
          </a:p>
          <a:p>
            <a:pPr>
              <a:spcBef>
                <a:spcPts val="1200"/>
              </a:spcBef>
            </a:pPr>
            <a:r>
              <a:rPr lang="en-GB" altLang="en-US" sz="2700"/>
              <a:t>In </a:t>
            </a:r>
            <a:r>
              <a:rPr lang="en-GB" altLang="en-US" sz="2700" dirty="0"/>
              <a:t>the </a:t>
            </a:r>
            <a:r>
              <a:rPr lang="en-GB" altLang="en-US" sz="2700" i="1"/>
              <a:t>Abstract</a:t>
            </a:r>
            <a:r>
              <a:rPr lang="en-GB" altLang="en-US" sz="2700"/>
              <a:t> and </a:t>
            </a:r>
            <a:r>
              <a:rPr lang="en-GB" altLang="en-US" sz="2700" i="1"/>
              <a:t>Enquiry</a:t>
            </a:r>
            <a:r>
              <a:rPr lang="en-GB" altLang="en-US" sz="2700"/>
              <a:t>, Hume aims to reveal the basis of “</a:t>
            </a:r>
            <a:r>
              <a:rPr lang="en-GB" altLang="en-US" sz="2700">
                <a:solidFill>
                  <a:srgbClr val="FF9999"/>
                </a:solidFill>
              </a:rPr>
              <a:t>all reasonings concerning </a:t>
            </a:r>
            <a:r>
              <a:rPr lang="en-GB" altLang="en-US" sz="2700" i="1">
                <a:solidFill>
                  <a:srgbClr val="FF9999"/>
                </a:solidFill>
              </a:rPr>
              <a:t>matter of fact</a:t>
            </a:r>
            <a:r>
              <a:rPr lang="en-GB" altLang="en-US" sz="2700"/>
              <a:t>”, and starts by arguing that these “are founded on the relation of cause and effect” (</a:t>
            </a:r>
            <a:r>
              <a:rPr lang="en-GB" altLang="en-US" sz="2700" i="1"/>
              <a:t>A</a:t>
            </a:r>
            <a:r>
              <a:rPr lang="en-GB" altLang="en-US" sz="2700"/>
              <a:t> 8, </a:t>
            </a:r>
            <a:r>
              <a:rPr lang="en-GB" altLang="en-US" sz="2700" i="1"/>
              <a:t>E</a:t>
            </a:r>
            <a:r>
              <a:rPr lang="en-GB" altLang="en-US" sz="2700"/>
              <a:t> 4).</a:t>
            </a:r>
          </a:p>
          <a:p>
            <a:pPr lvl="1">
              <a:spcBef>
                <a:spcPts val="1200"/>
              </a:spcBef>
            </a:pPr>
            <a:r>
              <a:rPr lang="en-GB" altLang="en-US" sz="2300"/>
              <a:t>This significantly improves the argument, because now any conclusion drawn about causal inference automati-cally applies to all “reasoning concerning matter of fact”, i.e. all </a:t>
            </a:r>
            <a:r>
              <a:rPr lang="en-GB" altLang="en-US" sz="2300" i="1"/>
              <a:t>probable</a:t>
            </a:r>
            <a:r>
              <a:rPr lang="en-GB" altLang="en-US" sz="2300"/>
              <a:t> inference (in the broad Lockean sense).  Let’s call this “</a:t>
            </a:r>
            <a:r>
              <a:rPr lang="en-GB" altLang="en-US" sz="2300">
                <a:solidFill>
                  <a:srgbClr val="FF9999"/>
                </a:solidFill>
              </a:rPr>
              <a:t>factual inference</a:t>
            </a:r>
            <a:r>
              <a:rPr lang="en-GB" altLang="en-US" sz="2300"/>
              <a:t>” for short.</a:t>
            </a:r>
            <a:endParaRPr lang="en-US" altLang="en-US" sz="2300" dirty="0"/>
          </a:p>
        </p:txBody>
      </p:sp>
    </p:spTree>
    <p:extLst>
      <p:ext uri="{BB962C8B-B14F-4D97-AF65-F5344CB8AC3E}">
        <p14:creationId xmlns:p14="http://schemas.microsoft.com/office/powerpoint/2010/main" val="1284334186"/>
      </p:ext>
    </p:extLst>
  </p:cSld>
  <p:clrMapOvr>
    <a:masterClrMapping/>
  </p:clrMapOvr>
  <p:transition spd="med">
    <p:cove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870095E5-FC89-4CF8-9468-458F8BF23DFC}" type="slidenum">
              <a:rPr lang="en-US" altLang="en-US"/>
              <a:pPr/>
              <a:t>146</a:t>
            </a:fld>
            <a:endParaRPr lang="en-US" altLang="en-US"/>
          </a:p>
        </p:txBody>
      </p:sp>
      <p:sp>
        <p:nvSpPr>
          <p:cNvPr id="10"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B76ACDA-C4E9-4897-8787-839FA981DA5C}" type="slidenum">
              <a:rPr lang="en-US" altLang="en-US" sz="1600">
                <a:effectLst>
                  <a:outerShdw blurRad="38100" dist="38100" dir="2700000" algn="tl">
                    <a:srgbClr val="000000"/>
                  </a:outerShdw>
                </a:effectLst>
                <a:ea typeface="ＭＳ Ｐゴシック" charset="-128"/>
              </a:rPr>
              <a:pPr eaLnBrk="1" hangingPunct="1"/>
              <a:t>146</a:t>
            </a:fld>
            <a:endParaRPr lang="en-US" altLang="en-US" sz="1600">
              <a:effectLst>
                <a:outerShdw blurRad="38100" dist="38100" dir="2700000" algn="tl">
                  <a:srgbClr val="000000"/>
                </a:outerShdw>
              </a:effectLst>
              <a:ea typeface="ＭＳ Ｐゴシック" charset="-128"/>
            </a:endParaRPr>
          </a:p>
        </p:txBody>
      </p:sp>
      <p:sp>
        <p:nvSpPr>
          <p:cNvPr id="464899" name="Rectangle 3"/>
          <p:cNvSpPr>
            <a:spLocks noGrp="1" noChangeArrowheads="1"/>
          </p:cNvSpPr>
          <p:nvPr>
            <p:ph type="body" idx="4294967295"/>
          </p:nvPr>
        </p:nvSpPr>
        <p:spPr>
          <a:xfrm>
            <a:off x="323528" y="1283327"/>
            <a:ext cx="8507412" cy="5277812"/>
          </a:xfrm>
        </p:spPr>
        <p:txBody>
          <a:bodyPr/>
          <a:lstStyle/>
          <a:p>
            <a:r>
              <a:rPr lang="en-GB" altLang="en-US" sz="3000" dirty="0"/>
              <a:t>In </a:t>
            </a:r>
            <a:r>
              <a:rPr lang="en-GB" altLang="en-US" sz="3000"/>
              <a:t>the </a:t>
            </a:r>
            <a:r>
              <a:rPr lang="en-GB" altLang="en-US" sz="3000" i="1"/>
              <a:t>Abstract </a:t>
            </a:r>
            <a:r>
              <a:rPr lang="en-GB" altLang="en-US" sz="3000"/>
              <a:t>and </a:t>
            </a:r>
            <a:r>
              <a:rPr lang="en-GB" altLang="en-US" sz="3000" i="1"/>
              <a:t>Enquiry</a:t>
            </a:r>
            <a:r>
              <a:rPr lang="en-GB" altLang="en-US" sz="3000"/>
              <a:t>, </a:t>
            </a:r>
            <a:r>
              <a:rPr lang="en-GB" altLang="en-US" sz="3000" dirty="0"/>
              <a:t>Hume imagines Adam (or ourselves, prior to experience), trying to predict the result of a billiard-ball collision:</a:t>
            </a:r>
          </a:p>
        </p:txBody>
      </p:sp>
      <p:pic>
        <p:nvPicPr>
          <p:cNvPr id="990213" name="Picture 4" descr="adam"/>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6300" y="3249613"/>
            <a:ext cx="2597150" cy="306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4901" name="Rectangle 5"/>
          <p:cNvSpPr>
            <a:spLocks noChangeArrowheads="1"/>
          </p:cNvSpPr>
          <p:nvPr/>
        </p:nvSpPr>
        <p:spPr bwMode="auto">
          <a:xfrm>
            <a:off x="3653471" y="3141663"/>
            <a:ext cx="4950977" cy="4319587"/>
          </a:xfrm>
          <a:prstGeom prst="rect">
            <a:avLst/>
          </a:prstGeom>
          <a:noFill/>
          <a:ln w="9525">
            <a:noFill/>
            <a:miter lim="800000"/>
            <a:headEnd/>
            <a:tailEnd/>
          </a:ln>
          <a:effectLst/>
        </p:spPr>
        <p:txBody>
          <a:bodyPr/>
          <a:lstStyle>
            <a:lvl1pPr marL="24161750" indent="-24161750">
              <a:defRPr>
                <a:solidFill>
                  <a:schemeClr val="tx1"/>
                </a:solidFill>
                <a:latin typeface="Arial" charset="0"/>
              </a:defRPr>
            </a:lvl1pPr>
            <a:lvl2pPr marL="742950" indent="-285750">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marL="457200" lvl="1" indent="0" algn="ctr" eaLnBrk="1" hangingPunct="1">
              <a:spcBef>
                <a:spcPct val="20000"/>
              </a:spcBef>
            </a:pPr>
            <a:r>
              <a:rPr lang="en-GB" altLang="en-US" sz="2800" dirty="0">
                <a:effectLst>
                  <a:outerShdw blurRad="38100" dist="38100" dir="2700000" algn="tl">
                    <a:srgbClr val="000000"/>
                  </a:outerShdw>
                </a:effectLst>
                <a:ea typeface="ＭＳ Ｐゴシック" charset="-128"/>
              </a:rPr>
              <a:t>how could he possibly</a:t>
            </a:r>
            <a:br>
              <a:rPr lang="en-GB" altLang="en-US" sz="2800" dirty="0">
                <a:effectLst>
                  <a:outerShdw blurRad="38100" dist="38100" dir="2700000" algn="tl">
                    <a:srgbClr val="000000"/>
                  </a:outerShdw>
                </a:effectLst>
                <a:ea typeface="ＭＳ Ｐゴシック" charset="-128"/>
              </a:rPr>
            </a:br>
            <a:r>
              <a:rPr lang="en-GB" altLang="en-US" sz="2800" dirty="0">
                <a:effectLst>
                  <a:outerShdw blurRad="38100" dist="38100" dir="2700000" algn="tl">
                    <a:srgbClr val="000000"/>
                  </a:outerShdw>
                </a:effectLst>
                <a:ea typeface="ＭＳ Ｐゴシック" charset="-128"/>
              </a:rPr>
              <a:t>make any prediction at all in advance of experience?</a:t>
            </a:r>
            <a:endParaRPr lang="en-US" altLang="en-US" sz="2800" dirty="0">
              <a:effectLst>
                <a:outerShdw blurRad="38100" dist="38100" dir="2700000" algn="tl">
                  <a:srgbClr val="000000"/>
                </a:outerShdw>
              </a:effectLst>
              <a:ea typeface="ＭＳ Ｐゴシック" charset="-128"/>
            </a:endParaRPr>
          </a:p>
        </p:txBody>
      </p:sp>
      <p:grpSp>
        <p:nvGrpSpPr>
          <p:cNvPr id="990215" name="Group 6"/>
          <p:cNvGrpSpPr>
            <a:grpSpLocks noChangeAspect="1"/>
          </p:cNvGrpSpPr>
          <p:nvPr/>
        </p:nvGrpSpPr>
        <p:grpSpPr bwMode="auto">
          <a:xfrm>
            <a:off x="4090988" y="4819650"/>
            <a:ext cx="4584700" cy="1525588"/>
            <a:chOff x="839" y="2296"/>
            <a:chExt cx="4128" cy="1374"/>
          </a:xfrm>
        </p:grpSpPr>
        <p:pic>
          <p:nvPicPr>
            <p:cNvPr id="990216" name="Picture 7" descr="redbal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93" y="2296"/>
              <a:ext cx="1374" cy="1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90217" name="Picture 8" descr="yellowball"/>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9" y="2296"/>
              <a:ext cx="1386" cy="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0218" name="Line 9"/>
            <p:cNvSpPr>
              <a:spLocks noChangeAspect="1" noChangeShapeType="1"/>
            </p:cNvSpPr>
            <p:nvPr/>
          </p:nvSpPr>
          <p:spPr bwMode="auto">
            <a:xfrm>
              <a:off x="2245" y="2976"/>
              <a:ext cx="544" cy="0"/>
            </a:xfrm>
            <a:prstGeom prst="line">
              <a:avLst/>
            </a:prstGeom>
            <a:noFill/>
            <a:ln w="31750" cap="sq">
              <a:solidFill>
                <a:schemeClr val="tx1"/>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grpSp>
      <p:sp>
        <p:nvSpPr>
          <p:cNvPr id="3" name="Rectangle 2">
            <a:extLst>
              <a:ext uri="{FF2B5EF4-FFF2-40B4-BE49-F238E27FC236}">
                <a16:creationId xmlns:a16="http://schemas.microsoft.com/office/drawing/2014/main" id="{9BE2324C-50DA-1AED-5F4B-AA5C466EA428}"/>
              </a:ext>
            </a:extLst>
          </p:cNvPr>
          <p:cNvSpPr txBox="1">
            <a:spLocks noChangeArrowheads="1"/>
          </p:cNvSpPr>
          <p:nvPr/>
        </p:nvSpPr>
        <p:spPr bwMode="auto">
          <a:xfrm>
            <a:off x="0" y="92075"/>
            <a:ext cx="9144000" cy="8101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4000" kern="0"/>
              <a:t>Causal Inference Is Not A Priori (</a:t>
            </a:r>
            <a:r>
              <a:rPr lang="en-GB" altLang="en-US" sz="4000" i="1" kern="0"/>
              <a:t>A</a:t>
            </a:r>
            <a:r>
              <a:rPr lang="en-GB" altLang="en-US" sz="4000" kern="0"/>
              <a:t>,</a:t>
            </a:r>
            <a:r>
              <a:rPr lang="en-GB" altLang="en-US" sz="4000" i="1" kern="0"/>
              <a:t> E</a:t>
            </a:r>
            <a:r>
              <a:rPr lang="en-GB" altLang="en-US" sz="4000" kern="0"/>
              <a:t>)</a:t>
            </a:r>
            <a:endParaRPr lang="en-US" altLang="en-US" sz="4000" kern="0"/>
          </a:p>
        </p:txBody>
      </p:sp>
    </p:spTree>
    <p:extLst>
      <p:ext uri="{BB962C8B-B14F-4D97-AF65-F5344CB8AC3E}">
        <p14:creationId xmlns:p14="http://schemas.microsoft.com/office/powerpoint/2010/main" val="3918753993"/>
      </p:ext>
    </p:extLst>
  </p:cSld>
  <p:clrMapOvr>
    <a:masterClrMapping/>
  </p:clrMapOvr>
  <p:transition spd="med">
    <p:cove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7A00925-62C1-400B-A629-55E806D41499}" type="slidenum">
              <a:rPr lang="en-US" altLang="en-US"/>
              <a:pPr/>
              <a:t>147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6F900245-4DE9-41AF-A5D0-97873F0F59FE}" type="slidenum">
              <a:rPr lang="en-US" altLang="en-US" sz="1600">
                <a:effectLst>
                  <a:outerShdw blurRad="38100" dist="38100" dir="2700000" algn="tl">
                    <a:srgbClr val="000000"/>
                  </a:outerShdw>
                </a:effectLst>
                <a:ea typeface="ＭＳ Ｐゴシック" charset="-128"/>
              </a:rPr>
              <a:pPr eaLnBrk="1" hangingPunct="1"/>
              <a:t>147</a:t>
            </a:fld>
            <a:endParaRPr lang="en-US" altLang="en-US" sz="1600">
              <a:effectLst>
                <a:outerShdw blurRad="38100" dist="38100" dir="2700000" algn="tl">
                  <a:srgbClr val="000000"/>
                </a:outerShdw>
              </a:effectLst>
              <a:ea typeface="ＭＳ Ｐゴシック" charset="-128"/>
            </a:endParaRPr>
          </a:p>
        </p:txBody>
      </p:sp>
      <p:sp>
        <p:nvSpPr>
          <p:cNvPr id="877571" name="Rectangle 3"/>
          <p:cNvSpPr>
            <a:spLocks noGrp="1" noChangeArrowheads="1"/>
          </p:cNvSpPr>
          <p:nvPr>
            <p:ph type="body" idx="4294967295"/>
          </p:nvPr>
        </p:nvSpPr>
        <p:spPr>
          <a:xfrm>
            <a:off x="323528" y="224644"/>
            <a:ext cx="8568952" cy="6633356"/>
          </a:xfrm>
        </p:spPr>
        <p:txBody>
          <a:bodyPr/>
          <a:lstStyle/>
          <a:p>
            <a:r>
              <a:rPr lang="en-GB" altLang="en-US" sz="2800"/>
              <a:t>This again strengthens Hume’s argument, clarify-ing that he’s not relying on mere </a:t>
            </a:r>
            <a:r>
              <a:rPr lang="en-GB" altLang="en-US" sz="2800" i="1"/>
              <a:t>conceivability</a:t>
            </a:r>
            <a:r>
              <a:rPr lang="en-GB" altLang="en-US" sz="2800"/>
              <a:t> that an inference might fail, but emphasising (far more than </a:t>
            </a:r>
            <a:r>
              <a:rPr lang="en-GB" altLang="en-US" sz="2800" i="1"/>
              <a:t>T</a:t>
            </a:r>
            <a:r>
              <a:rPr lang="en-GB" altLang="en-US" sz="2800"/>
              <a:t> 1.3.6.1) the </a:t>
            </a:r>
            <a:r>
              <a:rPr lang="en-GB" altLang="en-US" sz="2800" i="1"/>
              <a:t>arbitrariness</a:t>
            </a:r>
            <a:r>
              <a:rPr lang="en-GB" altLang="en-US" sz="2800"/>
              <a:t> of any conclusion:</a:t>
            </a:r>
            <a:endParaRPr lang="en-GB" altLang="en-US" sz="2800" dirty="0"/>
          </a:p>
          <a:p>
            <a:pPr lvl="1">
              <a:spcBef>
                <a:spcPts val="1200"/>
              </a:spcBef>
              <a:buFontTx/>
              <a:buNone/>
            </a:pPr>
            <a:r>
              <a:rPr lang="en-GB" altLang="en-US" sz="2400"/>
              <a:t>	“The mind can always </a:t>
            </a:r>
            <a:r>
              <a:rPr lang="en-GB" altLang="en-US" sz="2400" i="1"/>
              <a:t>conceive</a:t>
            </a:r>
            <a:r>
              <a:rPr lang="en-GB" altLang="en-US" sz="2400"/>
              <a:t> any effect to follow from any cause, and indeed any event to follow upon another: whatever we </a:t>
            </a:r>
            <a:r>
              <a:rPr lang="en-GB" altLang="en-US" sz="2400" i="1"/>
              <a:t>conceive</a:t>
            </a:r>
            <a:r>
              <a:rPr lang="en-GB" altLang="en-US" sz="2400"/>
              <a:t> is possible, at least in a metaphysical sense”  (</a:t>
            </a:r>
            <a:r>
              <a:rPr lang="en-GB" altLang="en-US" sz="2400" i="1"/>
              <a:t>A</a:t>
            </a:r>
            <a:r>
              <a:rPr lang="en-GB" altLang="en-US" sz="2400"/>
              <a:t> 11)</a:t>
            </a:r>
          </a:p>
          <a:p>
            <a:pPr lvl="1">
              <a:spcBef>
                <a:spcPts val="1200"/>
              </a:spcBef>
              <a:buFontTx/>
              <a:buNone/>
            </a:pPr>
            <a:r>
              <a:rPr lang="en-GB" altLang="en-US" sz="2400"/>
              <a:t>	“Were any object presented to us, and were we required to pronounce concerning the effect, which will result from it, without consulting past observation; after what manner, I beseech you, must the mind proceed in this operation?  It must invent or imagine some event, which it ascribes to the object as its effect; and it is plain that this invention must be entirely </a:t>
            </a:r>
            <a:r>
              <a:rPr lang="en-GB" altLang="en-US" sz="2400">
                <a:solidFill>
                  <a:srgbClr val="FF9999"/>
                </a:solidFill>
              </a:rPr>
              <a:t>arbitrary</a:t>
            </a:r>
            <a:r>
              <a:rPr lang="en-GB" altLang="en-US" sz="2400"/>
              <a:t>.  …” (</a:t>
            </a:r>
            <a:r>
              <a:rPr lang="en-GB" altLang="en-US" sz="2400" i="1"/>
              <a:t>E</a:t>
            </a:r>
            <a:r>
              <a:rPr lang="en-GB" altLang="en-US" sz="2400"/>
              <a:t> 4.9)</a:t>
            </a:r>
            <a:endParaRPr lang="en-GB" altLang="en-US" sz="2400" dirty="0"/>
          </a:p>
        </p:txBody>
      </p:sp>
    </p:spTree>
    <p:extLst>
      <p:ext uri="{BB962C8B-B14F-4D97-AF65-F5344CB8AC3E}">
        <p14:creationId xmlns:p14="http://schemas.microsoft.com/office/powerpoint/2010/main" val="4029448907"/>
      </p:ext>
    </p:extLst>
  </p:cSld>
  <p:clrMapOvr>
    <a:masterClrMapping/>
  </p:clrMapOvr>
  <p:transition spd="med">
    <p:cover/>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12ADDCC-640C-4710-B521-5F8F304EEA98}" type="slidenum">
              <a:rPr lang="en-US" altLang="en-US"/>
              <a:pPr/>
              <a:t>148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77058CF4-2325-4FF3-BC42-E524ED1892B2}" type="slidenum">
              <a:rPr lang="en-US" altLang="en-US" sz="1600">
                <a:effectLst>
                  <a:outerShdw blurRad="38100" dist="38100" dir="2700000" algn="tl">
                    <a:srgbClr val="000000"/>
                  </a:outerShdw>
                </a:effectLst>
                <a:ea typeface="ＭＳ Ｐゴシック" charset="-128"/>
              </a:rPr>
              <a:pPr eaLnBrk="1" hangingPunct="1"/>
              <a:t>148</a:t>
            </a:fld>
            <a:endParaRPr lang="en-US" altLang="en-US" sz="1600">
              <a:effectLst>
                <a:outerShdw blurRad="38100" dist="38100" dir="2700000" algn="tl">
                  <a:srgbClr val="000000"/>
                </a:outerShdw>
              </a:effectLst>
              <a:ea typeface="ＭＳ Ｐゴシック" charset="-128"/>
            </a:endParaRPr>
          </a:p>
        </p:txBody>
      </p:sp>
      <p:sp>
        <p:nvSpPr>
          <p:cNvPr id="467970" name="Rectangle 2"/>
          <p:cNvSpPr>
            <a:spLocks noGrp="1" noChangeArrowheads="1"/>
          </p:cNvSpPr>
          <p:nvPr>
            <p:ph type="title" idx="4294967295"/>
          </p:nvPr>
        </p:nvSpPr>
        <p:spPr>
          <a:xfrm>
            <a:off x="457200" y="277813"/>
            <a:ext cx="8229600" cy="810927"/>
          </a:xfrm>
        </p:spPr>
        <p:txBody>
          <a:bodyPr/>
          <a:lstStyle/>
          <a:p>
            <a:pPr>
              <a:defRPr/>
            </a:pPr>
            <a:r>
              <a:rPr lang="en-GB" dirty="0">
                <a:latin typeface="+mj-lt"/>
                <a:ea typeface="+mj-ea"/>
                <a:cs typeface="+mj-cs"/>
              </a:rPr>
              <a:t>The Need for Extrapolation</a:t>
            </a:r>
          </a:p>
        </p:txBody>
      </p:sp>
      <p:sp>
        <p:nvSpPr>
          <p:cNvPr id="467971" name="Rectangle 3"/>
          <p:cNvSpPr>
            <a:spLocks noGrp="1" noChangeArrowheads="1"/>
          </p:cNvSpPr>
          <p:nvPr>
            <p:ph type="body" idx="4294967295"/>
          </p:nvPr>
        </p:nvSpPr>
        <p:spPr>
          <a:xfrm>
            <a:off x="518864" y="1376772"/>
            <a:ext cx="8229600" cy="5068441"/>
          </a:xfrm>
        </p:spPr>
        <p:txBody>
          <a:bodyPr/>
          <a:lstStyle/>
          <a:p>
            <a:r>
              <a:rPr lang="en-GB" altLang="en-US" sz="2800"/>
              <a:t>So all </a:t>
            </a:r>
            <a:r>
              <a:rPr lang="en-GB" altLang="en-US" sz="2800" dirty="0"/>
              <a:t>inference to matters of fact beyond what we perceive or </a:t>
            </a:r>
            <a:r>
              <a:rPr lang="en-GB" altLang="en-US" sz="2800"/>
              <a:t>remember is </a:t>
            </a:r>
            <a:r>
              <a:rPr lang="en-GB" altLang="en-US" sz="2800" dirty="0"/>
              <a:t>based on causation, </a:t>
            </a:r>
            <a:r>
              <a:rPr lang="en-GB" altLang="en-US" sz="2800"/>
              <a:t>and our </a:t>
            </a:r>
            <a:r>
              <a:rPr lang="en-GB" altLang="en-US" sz="2800" dirty="0"/>
              <a:t>knowledge of </a:t>
            </a:r>
            <a:r>
              <a:rPr lang="en-GB" altLang="en-US" sz="2800"/>
              <a:t>causal relations (since it cannot be </a:t>
            </a:r>
            <a:r>
              <a:rPr lang="en-GB" altLang="en-US" sz="2800" i="1"/>
              <a:t>a priori</a:t>
            </a:r>
            <a:r>
              <a:rPr lang="en-GB" altLang="en-US" sz="2800"/>
              <a:t>) must come </a:t>
            </a:r>
            <a:r>
              <a:rPr lang="en-GB" altLang="en-US" sz="2800" dirty="0"/>
              <a:t>from experience.</a:t>
            </a:r>
          </a:p>
          <a:p>
            <a:r>
              <a:rPr lang="en-GB" altLang="en-US" sz="2800">
                <a:solidFill>
                  <a:srgbClr val="FF7C80"/>
                </a:solidFill>
              </a:rPr>
              <a:t>But learning </a:t>
            </a:r>
            <a:r>
              <a:rPr lang="en-GB" altLang="en-US" sz="2800" dirty="0">
                <a:solidFill>
                  <a:srgbClr val="FF7C80"/>
                </a:solidFill>
              </a:rPr>
              <a:t>from </a:t>
            </a:r>
            <a:r>
              <a:rPr lang="en-GB" altLang="en-US" sz="2800">
                <a:solidFill>
                  <a:srgbClr val="FF7C80"/>
                </a:solidFill>
              </a:rPr>
              <a:t>experience clearly takes </a:t>
            </a:r>
            <a:r>
              <a:rPr lang="en-GB" altLang="en-US" sz="2800" dirty="0">
                <a:solidFill>
                  <a:srgbClr val="FF7C80"/>
                </a:solidFill>
              </a:rPr>
              <a:t>for granted that observed phenomena </a:t>
            </a:r>
            <a:r>
              <a:rPr lang="en-GB" altLang="en-US" sz="2800">
                <a:solidFill>
                  <a:srgbClr val="FF7C80"/>
                </a:solidFill>
              </a:rPr>
              <a:t>provide a (positive) guide </a:t>
            </a:r>
            <a:r>
              <a:rPr lang="en-GB" altLang="en-US" sz="2800" dirty="0">
                <a:solidFill>
                  <a:srgbClr val="FF7C80"/>
                </a:solidFill>
              </a:rPr>
              <a:t>to unobserved phenomena</a:t>
            </a:r>
            <a:r>
              <a:rPr lang="en-GB" altLang="en-US" sz="2800" dirty="0"/>
              <a:t>.</a:t>
            </a:r>
          </a:p>
          <a:p>
            <a:r>
              <a:rPr lang="en-GB" altLang="en-US" sz="2800"/>
              <a:t>So we have to be able to </a:t>
            </a:r>
            <a:r>
              <a:rPr lang="en-GB" altLang="en-US" sz="2800" i="1" dirty="0"/>
              <a:t>extrapolate</a:t>
            </a:r>
            <a:r>
              <a:rPr lang="en-GB" altLang="en-US" sz="2800" dirty="0"/>
              <a:t> </a:t>
            </a:r>
            <a:r>
              <a:rPr lang="en-GB" altLang="en-US" sz="2800"/>
              <a:t>from observed to unobserved </a:t>
            </a:r>
            <a:r>
              <a:rPr lang="en-GB" altLang="en-US" sz="2800" dirty="0"/>
              <a:t>on the assumption that they resemble</a:t>
            </a:r>
            <a:r>
              <a:rPr lang="en-GB" altLang="en-US" sz="2800"/>
              <a:t>.  Indeed this is what we do all the time, but is there </a:t>
            </a:r>
            <a:r>
              <a:rPr lang="en-GB" altLang="en-US" sz="2800" dirty="0"/>
              <a:t>a </a:t>
            </a:r>
            <a:r>
              <a:rPr lang="en-GB" altLang="en-US" sz="2800" i="1" dirty="0"/>
              <a:t>rational</a:t>
            </a:r>
            <a:r>
              <a:rPr lang="en-GB" altLang="en-US" sz="2800" dirty="0"/>
              <a:t> basis for doing so?</a:t>
            </a:r>
          </a:p>
        </p:txBody>
      </p:sp>
    </p:spTree>
    <p:extLst>
      <p:ext uri="{BB962C8B-B14F-4D97-AF65-F5344CB8AC3E}">
        <p14:creationId xmlns:p14="http://schemas.microsoft.com/office/powerpoint/2010/main" val="3310882387"/>
      </p:ext>
    </p:extLst>
  </p:cSld>
  <p:clrMapOvr>
    <a:masterClrMapping/>
  </p:clrMapOvr>
  <p:transition spd="med">
    <p:cover/>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1219B8B-F49B-4EAC-8492-55ACDAD7BF75}" type="slidenum">
              <a:rPr lang="en-US" altLang="en-US"/>
              <a:pPr/>
              <a:t>149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93AB9F1-FFB4-42BC-8EA1-503DF64DFB29}" type="slidenum">
              <a:rPr lang="en-US" altLang="en-US" sz="1600">
                <a:effectLst>
                  <a:outerShdw blurRad="38100" dist="38100" dir="2700000" algn="tl">
                    <a:srgbClr val="000000"/>
                  </a:outerShdw>
                </a:effectLst>
                <a:ea typeface="ＭＳ Ｐゴシック" charset="-128"/>
              </a:rPr>
              <a:pPr eaLnBrk="1" hangingPunct="1"/>
              <a:t>149</a:t>
            </a:fld>
            <a:endParaRPr lang="en-US" altLang="en-US" sz="1600">
              <a:effectLst>
                <a:outerShdw blurRad="38100" dist="38100" dir="2700000" algn="tl">
                  <a:srgbClr val="000000"/>
                </a:outerShdw>
              </a:effectLst>
              <a:ea typeface="ＭＳ Ｐゴシック" charset="-128"/>
            </a:endParaRPr>
          </a:p>
        </p:txBody>
      </p:sp>
      <p:sp>
        <p:nvSpPr>
          <p:cNvPr id="880642" name="Rectangle 2"/>
          <p:cNvSpPr>
            <a:spLocks noGrp="1" noChangeArrowheads="1"/>
          </p:cNvSpPr>
          <p:nvPr>
            <p:ph type="title" idx="4294967295"/>
          </p:nvPr>
        </p:nvSpPr>
        <p:spPr>
          <a:xfrm>
            <a:off x="457200" y="277813"/>
            <a:ext cx="8229600" cy="702915"/>
          </a:xfrm>
        </p:spPr>
        <p:txBody>
          <a:bodyPr/>
          <a:lstStyle/>
          <a:p>
            <a:r>
              <a:rPr lang="en-GB" altLang="en-US" dirty="0"/>
              <a:t>UP:  The Uniformity Principle</a:t>
            </a:r>
          </a:p>
        </p:txBody>
      </p:sp>
      <p:sp>
        <p:nvSpPr>
          <p:cNvPr id="880643" name="Rectangle 3"/>
          <p:cNvSpPr>
            <a:spLocks noGrp="1" noChangeArrowheads="1"/>
          </p:cNvSpPr>
          <p:nvPr>
            <p:ph type="body" idx="4294967295"/>
          </p:nvPr>
        </p:nvSpPr>
        <p:spPr>
          <a:xfrm>
            <a:off x="245367" y="1268760"/>
            <a:ext cx="8647113" cy="5400600"/>
          </a:xfrm>
        </p:spPr>
        <p:txBody>
          <a:bodyPr/>
          <a:lstStyle/>
          <a:p>
            <a:r>
              <a:rPr lang="en-GB" altLang="en-US" dirty="0"/>
              <a:t>Hume then focuses on the principle (UP) presupposed by such extrapolation:</a:t>
            </a:r>
          </a:p>
          <a:p>
            <a:pPr lvl="1">
              <a:spcBef>
                <a:spcPts val="1200"/>
              </a:spcBef>
            </a:pPr>
            <a:r>
              <a:rPr lang="en-GB" altLang="en-US" sz="2600" dirty="0"/>
              <a:t>“If reason </a:t>
            </a:r>
            <a:r>
              <a:rPr lang="en-GB" altLang="en-US" sz="2600" dirty="0" err="1"/>
              <a:t>determin’d</a:t>
            </a:r>
            <a:r>
              <a:rPr lang="en-GB" altLang="en-US" sz="2600" dirty="0"/>
              <a:t> us, it </a:t>
            </a:r>
            <a:r>
              <a:rPr lang="en-GB" altLang="en-US" sz="2600" dirty="0" err="1"/>
              <a:t>wou’d</a:t>
            </a:r>
            <a:r>
              <a:rPr lang="en-GB" altLang="en-US" sz="2600" dirty="0"/>
              <a:t> proceed upon that principle, </a:t>
            </a:r>
            <a:r>
              <a:rPr lang="en-GB" altLang="en-US" sz="2600" i="1" dirty="0">
                <a:solidFill>
                  <a:srgbClr val="FF9999"/>
                </a:solidFill>
              </a:rPr>
              <a:t>that instances of which we have had no experience, must resemble those of which we have had experience, and that the course of nature continues always uniformly the same</a:t>
            </a:r>
            <a:r>
              <a:rPr lang="en-GB" altLang="en-US" sz="2600" dirty="0"/>
              <a:t>.” (</a:t>
            </a:r>
            <a:r>
              <a:rPr lang="en-GB" altLang="en-US" sz="2600" i="1" dirty="0"/>
              <a:t>T</a:t>
            </a:r>
            <a:r>
              <a:rPr lang="en-GB" altLang="en-US" sz="2600" dirty="0"/>
              <a:t> 1.3.6.4)</a:t>
            </a:r>
          </a:p>
          <a:p>
            <a:pPr lvl="1">
              <a:spcBef>
                <a:spcPts val="1200"/>
              </a:spcBef>
            </a:pPr>
            <a:r>
              <a:rPr lang="en-GB" altLang="en-US" sz="2600" dirty="0"/>
              <a:t>This seems </a:t>
            </a:r>
            <a:r>
              <a:rPr lang="en-GB" altLang="en-US" sz="2600" i="1" dirty="0"/>
              <a:t>conditional</a:t>
            </a:r>
            <a:r>
              <a:rPr lang="en-GB" altLang="en-US" sz="2600" dirty="0"/>
              <a:t>:  </a:t>
            </a:r>
            <a:r>
              <a:rPr lang="en-GB" altLang="en-US" sz="2600" i="1" dirty="0"/>
              <a:t>IF</a:t>
            </a:r>
            <a:r>
              <a:rPr lang="en-GB" altLang="en-US" sz="2600" dirty="0"/>
              <a:t> reason is involved, </a:t>
            </a:r>
            <a:r>
              <a:rPr lang="en-GB" altLang="en-US" sz="2600" i="1" dirty="0"/>
              <a:t>THEN</a:t>
            </a:r>
            <a:r>
              <a:rPr lang="en-GB" altLang="en-US" sz="2600" dirty="0"/>
              <a:t> the inference must be based on this principle.</a:t>
            </a:r>
          </a:p>
          <a:p>
            <a:pPr lvl="1">
              <a:spcBef>
                <a:spcPts val="1200"/>
              </a:spcBef>
            </a:pPr>
            <a:r>
              <a:rPr lang="en-GB" altLang="en-US" sz="2600" dirty="0"/>
              <a:t>Elsewhere, it’s unconditional: “probability </a:t>
            </a:r>
            <a:r>
              <a:rPr lang="en-GB" altLang="en-US" sz="2600" i="1" dirty="0">
                <a:solidFill>
                  <a:srgbClr val="FF9999"/>
                </a:solidFill>
              </a:rPr>
              <a:t>is</a:t>
            </a:r>
            <a:r>
              <a:rPr lang="en-GB" altLang="en-US" sz="2600" dirty="0"/>
              <a:t> founded on the presumption of a resemblance …” (</a:t>
            </a:r>
            <a:r>
              <a:rPr lang="en-GB" altLang="en-US" sz="2600" i="1" dirty="0"/>
              <a:t>T</a:t>
            </a:r>
            <a:r>
              <a:rPr lang="en-GB" altLang="en-US" sz="2600" dirty="0"/>
              <a:t> 1.3.6.7)</a:t>
            </a:r>
          </a:p>
        </p:txBody>
      </p:sp>
    </p:spTree>
    <p:extLst>
      <p:ext uri="{BB962C8B-B14F-4D97-AF65-F5344CB8AC3E}">
        <p14:creationId xmlns:p14="http://schemas.microsoft.com/office/powerpoint/2010/main" val="3058111937"/>
      </p:ext>
    </p:extLst>
  </p:cSld>
  <p:clrMapOvr>
    <a:masterClrMapping/>
  </p:clrMapOvr>
  <p:transition spd="med">
    <p:cover/>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BF6B305-0815-4B26-ADA7-92E301580324}" type="slidenum">
              <a:rPr lang="en-US" altLang="en-US"/>
              <a:pPr/>
              <a:t>150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69553D2-9BAA-4A60-821A-486484CDCE1A}" type="slidenum">
              <a:rPr lang="en-US" altLang="en-US" sz="1600">
                <a:effectLst>
                  <a:outerShdw blurRad="38100" dist="38100" dir="2700000" algn="tl">
                    <a:srgbClr val="000000"/>
                  </a:outerShdw>
                </a:effectLst>
                <a:ea typeface="ＭＳ Ｐゴシック" charset="-128"/>
              </a:rPr>
              <a:pPr eaLnBrk="1" hangingPunct="1"/>
              <a:t>150</a:t>
            </a:fld>
            <a:endParaRPr lang="en-US" altLang="en-US" sz="1600">
              <a:effectLst>
                <a:outerShdw blurRad="38100" dist="38100" dir="2700000" algn="tl">
                  <a:srgbClr val="000000"/>
                </a:outerShdw>
              </a:effectLst>
              <a:ea typeface="ＭＳ Ｐゴシック" charset="-128"/>
            </a:endParaRPr>
          </a:p>
        </p:txBody>
      </p:sp>
      <p:sp>
        <p:nvSpPr>
          <p:cNvPr id="882690" name="Rectangle 2"/>
          <p:cNvSpPr>
            <a:spLocks noGrp="1" noChangeArrowheads="1"/>
          </p:cNvSpPr>
          <p:nvPr>
            <p:ph type="title" idx="4294967295"/>
          </p:nvPr>
        </p:nvSpPr>
        <p:spPr>
          <a:xfrm>
            <a:off x="457200" y="116632"/>
            <a:ext cx="8229600" cy="702915"/>
          </a:xfrm>
        </p:spPr>
        <p:txBody>
          <a:bodyPr/>
          <a:lstStyle/>
          <a:p>
            <a:r>
              <a:rPr lang="en-GB" altLang="en-US" dirty="0"/>
              <a:t>UP in the </a:t>
            </a:r>
            <a:r>
              <a:rPr lang="en-GB" altLang="en-US" i="1" dirty="0"/>
              <a:t>Enquiry</a:t>
            </a:r>
            <a:endParaRPr lang="en-GB" altLang="en-US" dirty="0"/>
          </a:p>
        </p:txBody>
      </p:sp>
      <p:sp>
        <p:nvSpPr>
          <p:cNvPr id="882691" name="Rectangle 3"/>
          <p:cNvSpPr>
            <a:spLocks noGrp="1" noChangeArrowheads="1"/>
          </p:cNvSpPr>
          <p:nvPr>
            <p:ph type="body" idx="4294967295"/>
          </p:nvPr>
        </p:nvSpPr>
        <p:spPr>
          <a:xfrm>
            <a:off x="359159" y="1196752"/>
            <a:ext cx="8569325" cy="5472608"/>
          </a:xfrm>
        </p:spPr>
        <p:txBody>
          <a:bodyPr/>
          <a:lstStyle/>
          <a:p>
            <a:r>
              <a:rPr lang="en-GB" altLang="en-US" dirty="0"/>
              <a:t>In the </a:t>
            </a:r>
            <a:r>
              <a:rPr lang="en-GB" altLang="en-US" i="1" dirty="0"/>
              <a:t>Enquiry</a:t>
            </a:r>
            <a:r>
              <a:rPr lang="en-GB" altLang="en-US" dirty="0"/>
              <a:t> UP is less explicitly stated:</a:t>
            </a:r>
          </a:p>
          <a:p>
            <a:pPr lvl="1">
              <a:spcBef>
                <a:spcPts val="1200"/>
              </a:spcBef>
            </a:pPr>
            <a:r>
              <a:rPr lang="en-GB" altLang="en-US" sz="2600"/>
              <a:t>We “put trust in past experience, and make it the standard of our future judgment … </a:t>
            </a:r>
            <a:r>
              <a:rPr lang="en-GB" altLang="en-US" sz="2600">
                <a:solidFill>
                  <a:srgbClr val="FF9999"/>
                </a:solidFill>
              </a:rPr>
              <a:t>all</a:t>
            </a:r>
            <a:r>
              <a:rPr lang="en-GB" altLang="en-US" sz="2600"/>
              <a:t> </a:t>
            </a:r>
            <a:r>
              <a:rPr lang="en-GB" altLang="en-US" sz="2600" dirty="0"/>
              <a:t>our experimental [experiential] conclusions </a:t>
            </a:r>
            <a:r>
              <a:rPr lang="en-GB" altLang="en-US" sz="2600" dirty="0">
                <a:solidFill>
                  <a:srgbClr val="FF9999"/>
                </a:solidFill>
              </a:rPr>
              <a:t>proceed upon the supposition, that the future will be conformable to the past</a:t>
            </a:r>
            <a:r>
              <a:rPr lang="en-GB" altLang="en-US" sz="2600" dirty="0"/>
              <a:t>”.  (</a:t>
            </a:r>
            <a:r>
              <a:rPr lang="en-GB" altLang="en-US" sz="2600" i="1" dirty="0"/>
              <a:t>E</a:t>
            </a:r>
            <a:r>
              <a:rPr lang="en-GB" altLang="en-US" sz="2600" dirty="0"/>
              <a:t> 4.19)</a:t>
            </a:r>
          </a:p>
          <a:p>
            <a:pPr lvl="1">
              <a:spcBef>
                <a:spcPts val="1200"/>
              </a:spcBef>
            </a:pPr>
            <a:r>
              <a:rPr lang="en-GB" altLang="en-US" sz="2600"/>
              <a:t>There’s no </a:t>
            </a:r>
            <a:r>
              <a:rPr lang="en-GB" altLang="en-US" sz="2600" dirty="0"/>
              <a:t>suggestion of conditionality </a:t>
            </a:r>
            <a:r>
              <a:rPr lang="en-GB" altLang="en-US" sz="2600"/>
              <a:t>here (nor at </a:t>
            </a:r>
            <a:r>
              <a:rPr lang="en-GB" altLang="en-US" sz="2600" i="1" dirty="0"/>
              <a:t>E</a:t>
            </a:r>
            <a:r>
              <a:rPr lang="en-GB" altLang="en-US" sz="2600" dirty="0"/>
              <a:t> 5.2: “in </a:t>
            </a:r>
            <a:r>
              <a:rPr lang="en-GB" altLang="en-US" sz="2600" i="1" dirty="0">
                <a:solidFill>
                  <a:srgbClr val="FF9999"/>
                </a:solidFill>
              </a:rPr>
              <a:t>all</a:t>
            </a:r>
            <a:r>
              <a:rPr lang="en-GB" altLang="en-US" sz="2600" dirty="0"/>
              <a:t> </a:t>
            </a:r>
            <a:r>
              <a:rPr lang="en-GB" altLang="en-US" sz="2600" dirty="0" err="1"/>
              <a:t>reasonings</a:t>
            </a:r>
            <a:r>
              <a:rPr lang="en-GB" altLang="en-US" sz="2600" dirty="0"/>
              <a:t> from experience, </a:t>
            </a:r>
            <a:r>
              <a:rPr lang="en-GB" altLang="en-US" sz="2600" i="1" dirty="0">
                <a:solidFill>
                  <a:srgbClr val="FF9999"/>
                </a:solidFill>
              </a:rPr>
              <a:t>there is a step taken by the mind</a:t>
            </a:r>
            <a:r>
              <a:rPr lang="en-GB" altLang="en-US" sz="2600" i="1" dirty="0"/>
              <a:t>”</a:t>
            </a:r>
            <a:r>
              <a:rPr lang="en-GB" altLang="en-US" sz="2600" dirty="0"/>
              <a:t> corresponding to UP).</a:t>
            </a:r>
          </a:p>
          <a:p>
            <a:pPr lvl="1">
              <a:spcBef>
                <a:spcPts val="1200"/>
              </a:spcBef>
            </a:pPr>
            <a:r>
              <a:rPr lang="en-GB" altLang="en-US" sz="2600"/>
              <a:t>It’s vaguer than the original </a:t>
            </a:r>
            <a:r>
              <a:rPr lang="en-GB" altLang="en-US" sz="2600" i="1" dirty="0"/>
              <a:t>Treatise</a:t>
            </a:r>
            <a:r>
              <a:rPr lang="en-GB" altLang="en-US" sz="2600" dirty="0"/>
              <a:t> UP, and so more plausible: we expect the future to “</a:t>
            </a:r>
            <a:r>
              <a:rPr lang="en-GB" altLang="en-US" sz="2600"/>
              <a:t>resemble” (</a:t>
            </a:r>
            <a:r>
              <a:rPr lang="en-GB" altLang="en-US" sz="2600" i="1" dirty="0"/>
              <a:t>E</a:t>
            </a:r>
            <a:r>
              <a:rPr lang="en-GB" altLang="en-US" sz="2600" dirty="0"/>
              <a:t> 4.21) the past, but </a:t>
            </a:r>
            <a:r>
              <a:rPr lang="en-GB" altLang="en-US" sz="2600"/>
              <a:t>not to copy it exactly</a:t>
            </a:r>
            <a:r>
              <a:rPr lang="en-GB" altLang="en-US" sz="2600" dirty="0"/>
              <a:t>.</a:t>
            </a:r>
          </a:p>
        </p:txBody>
      </p:sp>
    </p:spTree>
    <p:extLst>
      <p:ext uri="{BB962C8B-B14F-4D97-AF65-F5344CB8AC3E}">
        <p14:creationId xmlns:p14="http://schemas.microsoft.com/office/powerpoint/2010/main" val="2062662260"/>
      </p:ext>
    </p:extLst>
  </p:cSld>
  <p:clrMapOvr>
    <a:masterClrMapping/>
  </p:clrMapOvr>
  <p:transition spd="med">
    <p:cove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32321-9E12-49BC-B1FA-8C5935399DA9}" type="slidenum">
              <a:rPr lang="en-US" altLang="en-US"/>
              <a:pPr/>
              <a:t>151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2C361F3-75EC-4CCA-B0D9-14BE99A50E78}" type="slidenum">
              <a:rPr lang="en-US" altLang="en-US" sz="1600">
                <a:effectLst>
                  <a:outerShdw blurRad="38100" dist="38100" dir="2700000" algn="tl">
                    <a:srgbClr val="000000"/>
                  </a:outerShdw>
                </a:effectLst>
                <a:ea typeface="ＭＳ Ｐゴシック" charset="-128"/>
              </a:rPr>
              <a:pPr eaLnBrk="1" hangingPunct="1"/>
              <a:t>151</a:t>
            </a:fld>
            <a:endParaRPr lang="en-US" altLang="en-US" sz="1600">
              <a:effectLst>
                <a:outerShdw blurRad="38100" dist="38100" dir="2700000" algn="tl">
                  <a:srgbClr val="000000"/>
                </a:outerShdw>
              </a:effectLst>
              <a:ea typeface="ＭＳ Ｐゴシック" charset="-128"/>
            </a:endParaRPr>
          </a:p>
        </p:txBody>
      </p:sp>
      <p:sp>
        <p:nvSpPr>
          <p:cNvPr id="883714" name="Rectangle 2"/>
          <p:cNvSpPr>
            <a:spLocks noGrp="1" noChangeArrowheads="1"/>
          </p:cNvSpPr>
          <p:nvPr>
            <p:ph type="title" idx="4294967295"/>
          </p:nvPr>
        </p:nvSpPr>
        <p:spPr>
          <a:xfrm>
            <a:off x="457200" y="277813"/>
            <a:ext cx="8229600" cy="774923"/>
          </a:xfrm>
        </p:spPr>
        <p:txBody>
          <a:bodyPr/>
          <a:lstStyle/>
          <a:p>
            <a:pPr>
              <a:defRPr/>
            </a:pPr>
            <a:r>
              <a:rPr lang="en-GB" sz="4000" dirty="0">
                <a:latin typeface="+mj-lt"/>
                <a:ea typeface="+mj-ea"/>
                <a:cs typeface="+mj-cs"/>
              </a:rPr>
              <a:t>The Role of the Uniformity Principle</a:t>
            </a:r>
          </a:p>
        </p:txBody>
      </p:sp>
      <p:sp>
        <p:nvSpPr>
          <p:cNvPr id="883715" name="Rectangle 3"/>
          <p:cNvSpPr>
            <a:spLocks noGrp="1" noChangeArrowheads="1"/>
          </p:cNvSpPr>
          <p:nvPr>
            <p:ph type="body" idx="4294967295"/>
          </p:nvPr>
        </p:nvSpPr>
        <p:spPr>
          <a:xfrm>
            <a:off x="431540" y="1340768"/>
            <a:ext cx="8399276" cy="5328592"/>
          </a:xfrm>
        </p:spPr>
        <p:txBody>
          <a:bodyPr/>
          <a:lstStyle/>
          <a:p>
            <a:r>
              <a:rPr lang="en-GB" altLang="en-US" sz="2800" dirty="0"/>
              <a:t>Hume need not be suggesting that we think of UP </a:t>
            </a:r>
            <a:r>
              <a:rPr lang="en-GB" altLang="en-US" sz="2800" i="1" dirty="0"/>
              <a:t>explicitly</a:t>
            </a:r>
            <a:r>
              <a:rPr lang="en-GB" altLang="en-US" sz="2800" dirty="0"/>
              <a:t> when making inductive inferences (and </a:t>
            </a:r>
            <a:r>
              <a:rPr lang="en-GB" altLang="en-US" sz="2800" i="1" dirty="0"/>
              <a:t>T</a:t>
            </a:r>
            <a:r>
              <a:rPr lang="en-GB" altLang="en-US" sz="2800" dirty="0"/>
              <a:t> 1.3.8.13 says we mostly don’t: </a:t>
            </a:r>
            <a:r>
              <a:rPr lang="en-GB" altLang="en-US" sz="2800" i="1" dirty="0"/>
              <a:t>such inferences are typically immediate and unreflective</a:t>
            </a:r>
            <a:r>
              <a:rPr lang="en-GB" altLang="en-US" sz="2800" dirty="0"/>
              <a:t>).</a:t>
            </a:r>
          </a:p>
          <a:p>
            <a:pPr>
              <a:spcBef>
                <a:spcPts val="1800"/>
              </a:spcBef>
            </a:pPr>
            <a:r>
              <a:rPr lang="en-GB" altLang="en-US" sz="2800" dirty="0"/>
              <a:t>Rather, in making an inductive inference, we </a:t>
            </a:r>
            <a:r>
              <a:rPr lang="en-GB" altLang="en-US" sz="2800" i="1" dirty="0"/>
              <a:t>manifest</a:t>
            </a:r>
            <a:r>
              <a:rPr lang="en-GB" altLang="en-US" sz="2800" dirty="0"/>
              <a:t> the assumption of UP:</a:t>
            </a:r>
          </a:p>
          <a:p>
            <a:pPr lvl="1">
              <a:spcBef>
                <a:spcPts val="1200"/>
              </a:spcBef>
            </a:pPr>
            <a:r>
              <a:rPr lang="en-GB" altLang="en-US" sz="2600" dirty="0"/>
              <a:t>Inferring from observed to unobserved is </a:t>
            </a:r>
            <a:r>
              <a:rPr lang="en-GB" altLang="en-US" sz="2600" i="1" dirty="0"/>
              <a:t>ipso facto</a:t>
            </a:r>
            <a:r>
              <a:rPr lang="en-GB" altLang="en-US" sz="2600" dirty="0"/>
              <a:t> treating “the past [as a] rule for the future” (</a:t>
            </a:r>
            <a:r>
              <a:rPr lang="en-GB" altLang="en-US" sz="2600" i="1" dirty="0"/>
              <a:t>E</a:t>
            </a:r>
            <a:r>
              <a:rPr lang="en-GB" altLang="en-US" sz="2600" dirty="0"/>
              <a:t> 4.21)</a:t>
            </a:r>
          </a:p>
          <a:p>
            <a:pPr lvl="1">
              <a:spcBef>
                <a:spcPts val="1200"/>
              </a:spcBef>
            </a:pPr>
            <a:r>
              <a:rPr lang="en-GB" altLang="en-US" sz="2600" dirty="0"/>
              <a:t>Hence the question arises: </a:t>
            </a:r>
            <a:r>
              <a:rPr lang="en-GB" altLang="en-US" sz="2600" i="1" dirty="0">
                <a:solidFill>
                  <a:srgbClr val="FF9999"/>
                </a:solidFill>
              </a:rPr>
              <a:t>can this assumption of UP be founded </a:t>
            </a:r>
            <a:r>
              <a:rPr lang="en-GB" altLang="en-US" sz="2600" i="1">
                <a:solidFill>
                  <a:srgbClr val="FF9999"/>
                </a:solidFill>
              </a:rPr>
              <a:t>on reason</a:t>
            </a:r>
            <a:r>
              <a:rPr lang="en-GB" altLang="en-US" sz="2600"/>
              <a:t> (and if not, what is the alternative </a:t>
            </a:r>
            <a:r>
              <a:rPr lang="en-GB" altLang="en-US" sz="2600" dirty="0"/>
              <a:t>explanation for why </a:t>
            </a:r>
            <a:r>
              <a:rPr lang="en-GB" altLang="en-US" sz="2600"/>
              <a:t>we assume it)?</a:t>
            </a:r>
            <a:endParaRPr lang="en-GB" altLang="en-US" sz="2600" dirty="0"/>
          </a:p>
        </p:txBody>
      </p:sp>
    </p:spTree>
    <p:extLst>
      <p:ext uri="{BB962C8B-B14F-4D97-AF65-F5344CB8AC3E}">
        <p14:creationId xmlns:p14="http://schemas.microsoft.com/office/powerpoint/2010/main" val="2386162301"/>
      </p:ext>
    </p:extLst>
  </p:cSld>
  <p:clrMapOvr>
    <a:masterClrMapping/>
  </p:clrMapOvr>
  <p:transition spd="med">
    <p:cove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9569C30-5662-4C32-9D99-B572FAA7211E}" type="slidenum">
              <a:rPr lang="en-US" altLang="en-US"/>
              <a:pPr/>
              <a:t>152</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EB45F076-29D3-40A2-9C78-59BB9DF087CD}" type="slidenum">
              <a:rPr lang="en-US" altLang="en-US" sz="1600">
                <a:effectLst>
                  <a:outerShdw blurRad="38100" dist="38100" dir="2700000" algn="tl">
                    <a:srgbClr val="000000"/>
                  </a:outerShdw>
                </a:effectLst>
                <a:ea typeface="ＭＳ Ｐゴシック" charset="-128"/>
              </a:rPr>
              <a:pPr eaLnBrk="1" hangingPunct="1"/>
              <a:t>152</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287524" y="277813"/>
            <a:ext cx="8604956" cy="702915"/>
          </a:xfrm>
        </p:spPr>
        <p:txBody>
          <a:bodyPr/>
          <a:lstStyle/>
          <a:p>
            <a:r>
              <a:rPr lang="en-GB" altLang="en-US" sz="4000" dirty="0"/>
              <a:t>Can UP be Founded on </a:t>
            </a:r>
            <a:r>
              <a:rPr lang="en-GB" altLang="en-US" sz="4000" i="1" dirty="0"/>
              <a:t>Argument</a:t>
            </a:r>
            <a:r>
              <a:rPr lang="en-GB" altLang="en-US" sz="4000" dirty="0"/>
              <a:t>?</a:t>
            </a:r>
            <a:endParaRPr lang="en-US" altLang="en-US" sz="4000" dirty="0"/>
          </a:p>
        </p:txBody>
      </p:sp>
      <p:sp>
        <p:nvSpPr>
          <p:cNvPr id="848899" name="Rectangle 3"/>
          <p:cNvSpPr>
            <a:spLocks noGrp="1" noChangeArrowheads="1"/>
          </p:cNvSpPr>
          <p:nvPr>
            <p:ph type="body" idx="4294967295"/>
          </p:nvPr>
        </p:nvSpPr>
        <p:spPr>
          <a:xfrm>
            <a:off x="518864" y="1268760"/>
            <a:ext cx="8229600" cy="5400600"/>
          </a:xfrm>
        </p:spPr>
        <p:txBody>
          <a:bodyPr/>
          <a:lstStyle/>
          <a:p>
            <a:r>
              <a:rPr lang="en-GB" altLang="en-US" sz="3000" dirty="0"/>
              <a:t>After stating UP in the </a:t>
            </a:r>
            <a:r>
              <a:rPr lang="en-GB" altLang="en-US" sz="3000" i="1" dirty="0"/>
              <a:t>Treatise</a:t>
            </a:r>
            <a:r>
              <a:rPr lang="en-GB" altLang="en-US" sz="3000" dirty="0"/>
              <a:t>, Hume immediately continues:</a:t>
            </a:r>
          </a:p>
          <a:p>
            <a:pPr lvl="1">
              <a:spcBef>
                <a:spcPts val="1200"/>
              </a:spcBef>
              <a:buFontTx/>
              <a:buNone/>
            </a:pPr>
            <a:r>
              <a:rPr lang="en-GB" altLang="en-US" dirty="0"/>
              <a:t>	</a:t>
            </a:r>
            <a:r>
              <a:rPr lang="en-GB" altLang="en-US" sz="2600" dirty="0"/>
              <a:t>“In order therefore to clear up this matter, let us consider all the arguments, upon which such a proposition may be </a:t>
            </a:r>
            <a:r>
              <a:rPr lang="en-GB" altLang="en-US" sz="2600" dirty="0" err="1"/>
              <a:t>suppos’d</a:t>
            </a:r>
            <a:r>
              <a:rPr lang="en-GB" altLang="en-US" sz="2600" dirty="0"/>
              <a:t> to be founded; and as these must be </a:t>
            </a:r>
            <a:r>
              <a:rPr lang="en-GB" altLang="en-US" sz="2600" dirty="0" err="1"/>
              <a:t>deriv’d</a:t>
            </a:r>
            <a:r>
              <a:rPr lang="en-GB" altLang="en-US" sz="2600" dirty="0"/>
              <a:t> either from </a:t>
            </a:r>
            <a:r>
              <a:rPr lang="en-GB" altLang="en-US" sz="2600" i="1" dirty="0">
                <a:solidFill>
                  <a:srgbClr val="FF9999"/>
                </a:solidFill>
              </a:rPr>
              <a:t>knowledge</a:t>
            </a:r>
            <a:r>
              <a:rPr lang="en-GB" altLang="en-US" sz="2600" dirty="0"/>
              <a:t> or </a:t>
            </a:r>
            <a:r>
              <a:rPr lang="en-GB" altLang="en-US" sz="2600" i="1" dirty="0">
                <a:solidFill>
                  <a:srgbClr val="FF9999"/>
                </a:solidFill>
              </a:rPr>
              <a:t>probability</a:t>
            </a:r>
            <a:r>
              <a:rPr lang="en-GB" altLang="en-US" sz="2600" dirty="0"/>
              <a:t>, let us cast our eye on each of these degrees of evidence, and see whether they afford any just conclusion of this nature.”  (</a:t>
            </a:r>
            <a:r>
              <a:rPr lang="en-GB" altLang="en-US" sz="2600" i="1" dirty="0"/>
              <a:t>T</a:t>
            </a:r>
            <a:r>
              <a:rPr lang="en-GB" altLang="en-US" sz="2600" dirty="0"/>
              <a:t> 1.3.6.4)</a:t>
            </a:r>
          </a:p>
          <a:p>
            <a:pPr>
              <a:spcBef>
                <a:spcPts val="1800"/>
              </a:spcBef>
            </a:pPr>
            <a:r>
              <a:rPr lang="en-US" altLang="en-US" sz="3000" dirty="0"/>
              <a:t>By </a:t>
            </a:r>
            <a:r>
              <a:rPr lang="en-US" altLang="en-US" sz="3000" i="1" dirty="0">
                <a:solidFill>
                  <a:srgbClr val="FF9999"/>
                </a:solidFill>
              </a:rPr>
              <a:t>knowledge</a:t>
            </a:r>
            <a:r>
              <a:rPr lang="en-US" altLang="en-US" sz="3000" dirty="0"/>
              <a:t>, Hume means </a:t>
            </a:r>
            <a:r>
              <a:rPr lang="en-US" altLang="en-US" sz="3000" i="1" dirty="0">
                <a:solidFill>
                  <a:srgbClr val="FF9999"/>
                </a:solidFill>
              </a:rPr>
              <a:t>demonstration</a:t>
            </a:r>
            <a:r>
              <a:rPr lang="en-US" altLang="en-US" sz="3000" dirty="0"/>
              <a:t>, as becomes evident in the next sentence.</a:t>
            </a:r>
          </a:p>
        </p:txBody>
      </p:sp>
    </p:spTree>
    <p:extLst>
      <p:ext uri="{BB962C8B-B14F-4D97-AF65-F5344CB8AC3E}">
        <p14:creationId xmlns:p14="http://schemas.microsoft.com/office/powerpoint/2010/main" val="853567889"/>
      </p:ext>
    </p:extLst>
  </p:cSld>
  <p:clrMapOvr>
    <a:masterClrMapping/>
  </p:clrMapOvr>
  <p:transition spd="med">
    <p:cove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B7DAC9E-902C-4FE9-8359-1A1B782A7DF5}" type="slidenum">
              <a:rPr lang="en-US" altLang="en-US"/>
              <a:pPr/>
              <a:t>153</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C5F76EF-19ED-4AE9-8F1B-30DC205FBA26}" type="slidenum">
              <a:rPr lang="en-US" altLang="en-US" sz="1600">
                <a:effectLst>
                  <a:outerShdw blurRad="38100" dist="38100" dir="2700000" algn="tl">
                    <a:srgbClr val="000000"/>
                  </a:outerShdw>
                </a:effectLst>
                <a:ea typeface="ＭＳ Ｐゴシック" charset="-128"/>
              </a:rPr>
              <a:pPr eaLnBrk="1" hangingPunct="1"/>
              <a:t>153</a:t>
            </a:fld>
            <a:endParaRPr lang="en-US" altLang="en-US" sz="1600">
              <a:effectLst>
                <a:outerShdw blurRad="38100" dist="38100" dir="2700000" algn="tl">
                  <a:srgbClr val="000000"/>
                </a:outerShdw>
              </a:effectLst>
              <a:ea typeface="ＭＳ Ｐゴシック" charset="-128"/>
            </a:endParaRPr>
          </a:p>
        </p:txBody>
      </p:sp>
      <p:sp>
        <p:nvSpPr>
          <p:cNvPr id="848899" name="Rectangle 3"/>
          <p:cNvSpPr>
            <a:spLocks noGrp="1" noChangeArrowheads="1"/>
          </p:cNvSpPr>
          <p:nvPr>
            <p:ph type="body" idx="4294967295"/>
          </p:nvPr>
        </p:nvSpPr>
        <p:spPr>
          <a:xfrm>
            <a:off x="457200" y="404813"/>
            <a:ext cx="8435280" cy="6300787"/>
          </a:xfrm>
        </p:spPr>
        <p:txBody>
          <a:bodyPr/>
          <a:lstStyle/>
          <a:p>
            <a:r>
              <a:rPr lang="en-GB" altLang="en-US" sz="3000" dirty="0"/>
              <a:t>Both forms of argument for UP are ruled out, </a:t>
            </a:r>
            <a:r>
              <a:rPr lang="en-GB" altLang="en-US" sz="3000" i="1" dirty="0">
                <a:solidFill>
                  <a:srgbClr val="FF9999"/>
                </a:solidFill>
              </a:rPr>
              <a:t>demonstration</a:t>
            </a:r>
            <a:r>
              <a:rPr lang="en-GB" altLang="en-US" sz="3000" dirty="0"/>
              <a:t> by the Conceivability Principle:</a:t>
            </a:r>
          </a:p>
          <a:p>
            <a:pPr lvl="1">
              <a:buFontTx/>
              <a:buNone/>
            </a:pPr>
            <a:r>
              <a:rPr lang="en-GB" altLang="en-US" sz="2500" dirty="0"/>
              <a:t>	“We can at least conceive a change in the course of nature; which … proves, that such a change is not absolutely impossible [and thus yields] a refutation of any pretended demonstration against it.”  (</a:t>
            </a:r>
            <a:r>
              <a:rPr lang="en-GB" altLang="en-US" sz="2500" i="1" dirty="0"/>
              <a:t>T</a:t>
            </a:r>
            <a:r>
              <a:rPr lang="en-GB" altLang="en-US" sz="2500" dirty="0"/>
              <a:t> 1.3.6.5)</a:t>
            </a:r>
          </a:p>
          <a:p>
            <a:pPr>
              <a:spcBef>
                <a:spcPts val="1200"/>
              </a:spcBef>
            </a:pPr>
            <a:r>
              <a:rPr lang="en-US" altLang="en-US" sz="3000" dirty="0"/>
              <a:t>And </a:t>
            </a:r>
            <a:r>
              <a:rPr lang="en-US" altLang="en-US" sz="3000" i="1" dirty="0">
                <a:solidFill>
                  <a:srgbClr val="FF9999"/>
                </a:solidFill>
              </a:rPr>
              <a:t>probable</a:t>
            </a:r>
            <a:r>
              <a:rPr lang="en-US" altLang="en-US" sz="3000" dirty="0"/>
              <a:t> argument by circularity:</a:t>
            </a:r>
          </a:p>
          <a:p>
            <a:pPr lvl="1">
              <a:buFontTx/>
              <a:buNone/>
            </a:pPr>
            <a:r>
              <a:rPr lang="en-GB" altLang="en-US" dirty="0"/>
              <a:t>	</a:t>
            </a:r>
            <a:r>
              <a:rPr lang="en-GB" altLang="en-US" sz="2500" dirty="0"/>
              <a:t>“probability … is founded on the presumption of a resemblance betwixt [observed and unobserved]; and therefore ’tis impossible this presumption can arise from probability.”  (</a:t>
            </a:r>
            <a:r>
              <a:rPr lang="en-GB" altLang="en-US" sz="2500" i="1" dirty="0"/>
              <a:t>T</a:t>
            </a:r>
            <a:r>
              <a:rPr lang="en-GB" altLang="en-US" sz="2500" dirty="0"/>
              <a:t> 1.3.6.7)</a:t>
            </a:r>
          </a:p>
          <a:p>
            <a:pPr lvl="1">
              <a:spcBef>
                <a:spcPct val="50000"/>
              </a:spcBef>
              <a:buFontTx/>
              <a:buNone/>
            </a:pPr>
            <a:r>
              <a:rPr lang="en-US" altLang="en-US" sz="2500" dirty="0"/>
              <a:t>	(At </a:t>
            </a:r>
            <a:r>
              <a:rPr lang="en-US" altLang="en-US" sz="2500" i="1" dirty="0"/>
              <a:t>T</a:t>
            </a:r>
            <a:r>
              <a:rPr lang="en-US" altLang="en-US" sz="2500" dirty="0"/>
              <a:t> 1.3.6.6-7 Hume needs the lemma that probable inference is causal and hence dependent on UP: diagram below shows duplication in </a:t>
            </a:r>
            <a:r>
              <a:rPr lang="en-US" altLang="en-US" sz="2500" i="1" dirty="0"/>
              <a:t>Treatise</a:t>
            </a:r>
            <a:r>
              <a:rPr lang="en-US" altLang="en-US" sz="2500" dirty="0"/>
              <a:t> version)</a:t>
            </a:r>
          </a:p>
        </p:txBody>
      </p:sp>
    </p:spTree>
    <p:extLst>
      <p:ext uri="{BB962C8B-B14F-4D97-AF65-F5344CB8AC3E}">
        <p14:creationId xmlns:p14="http://schemas.microsoft.com/office/powerpoint/2010/main" val="1051906337"/>
      </p:ext>
    </p:extLst>
  </p:cSld>
  <p:clrMapOvr>
    <a:masterClrMapping/>
  </p:clrMapOvr>
  <p:transition spd="med">
    <p:cove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F5FA909-F5B7-4F71-9400-489BFC53FD33}" type="slidenum">
              <a:rPr lang="en-US" altLang="en-US"/>
              <a:pPr/>
              <a:t>154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8520D288-A6E2-49D3-A39C-69878DCD6DBD}" type="slidenum">
              <a:rPr lang="en-US" altLang="en-US" sz="1600">
                <a:effectLst>
                  <a:outerShdw blurRad="38100" dist="38100" dir="2700000" algn="tl">
                    <a:srgbClr val="000000"/>
                  </a:outerShdw>
                </a:effectLst>
                <a:ea typeface="ＭＳ Ｐゴシック" charset="-128"/>
              </a:rPr>
              <a:pPr eaLnBrk="1" hangingPunct="1"/>
              <a:t>154</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457200" y="116632"/>
            <a:ext cx="8229600" cy="864096"/>
          </a:xfrm>
        </p:spPr>
        <p:txBody>
          <a:bodyPr/>
          <a:lstStyle/>
          <a:p>
            <a:r>
              <a:rPr lang="en-GB" altLang="en-US"/>
              <a:t>The </a:t>
            </a:r>
            <a:r>
              <a:rPr lang="en-GB" altLang="en-US" i="1"/>
              <a:t>Enquiry</a:t>
            </a:r>
            <a:r>
              <a:rPr lang="en-GB" altLang="en-US"/>
              <a:t> is More Thorough</a:t>
            </a:r>
            <a:endParaRPr lang="en-US" altLang="en-US" dirty="0"/>
          </a:p>
        </p:txBody>
      </p:sp>
      <p:sp>
        <p:nvSpPr>
          <p:cNvPr id="848899" name="Rectangle 3"/>
          <p:cNvSpPr>
            <a:spLocks noGrp="1" noChangeArrowheads="1"/>
          </p:cNvSpPr>
          <p:nvPr>
            <p:ph type="body" idx="4294967295"/>
          </p:nvPr>
        </p:nvSpPr>
        <p:spPr>
          <a:xfrm>
            <a:off x="457200" y="1268760"/>
            <a:ext cx="8229600" cy="5255865"/>
          </a:xfrm>
        </p:spPr>
        <p:txBody>
          <a:bodyPr/>
          <a:lstStyle/>
          <a:p>
            <a:r>
              <a:rPr lang="en-GB" altLang="en-US" sz="2800" dirty="0"/>
              <a:t>At </a:t>
            </a:r>
            <a:r>
              <a:rPr lang="en-GB" altLang="en-US" sz="2800" i="1"/>
              <a:t>T</a:t>
            </a:r>
            <a:r>
              <a:rPr lang="en-GB" altLang="en-US" sz="2800"/>
              <a:t> 1.3.6.4 and </a:t>
            </a:r>
            <a:r>
              <a:rPr lang="en-GB" altLang="en-US" sz="2800" i="1"/>
              <a:t>A</a:t>
            </a:r>
            <a:r>
              <a:rPr lang="en-GB" altLang="en-US" sz="2800"/>
              <a:t> 14, </a:t>
            </a:r>
            <a:r>
              <a:rPr lang="en-GB" altLang="en-US" sz="2800" dirty="0"/>
              <a:t>Hume assumes </a:t>
            </a:r>
            <a:r>
              <a:rPr lang="en-GB" altLang="en-US" sz="2800"/>
              <a:t>that  </a:t>
            </a:r>
            <a:r>
              <a:rPr lang="en-GB" altLang="en-US" sz="2800" i="1">
                <a:solidFill>
                  <a:srgbClr val="FF9999"/>
                </a:solidFill>
              </a:rPr>
              <a:t>demonstration</a:t>
            </a:r>
            <a:r>
              <a:rPr lang="en-GB" altLang="en-US" sz="2800"/>
              <a:t> </a:t>
            </a:r>
            <a:r>
              <a:rPr lang="en-GB" altLang="en-US" sz="2800" dirty="0"/>
              <a:t>and </a:t>
            </a:r>
            <a:r>
              <a:rPr lang="en-GB" altLang="en-US" sz="2800" i="1" dirty="0">
                <a:solidFill>
                  <a:srgbClr val="FF9999"/>
                </a:solidFill>
              </a:rPr>
              <a:t>probable inference</a:t>
            </a:r>
            <a:r>
              <a:rPr lang="en-GB" altLang="en-US" sz="2800" dirty="0"/>
              <a:t> are the only possible foundations for UP.  In the </a:t>
            </a:r>
            <a:r>
              <a:rPr lang="en-GB" altLang="en-US" sz="2800" i="1" dirty="0"/>
              <a:t>Enquiry</a:t>
            </a:r>
            <a:r>
              <a:rPr lang="en-GB" altLang="en-US" sz="2800" dirty="0"/>
              <a:t>, he first rules out </a:t>
            </a:r>
            <a:r>
              <a:rPr lang="en-GB" altLang="en-US" sz="2800" i="1" dirty="0">
                <a:solidFill>
                  <a:srgbClr val="FF9999"/>
                </a:solidFill>
              </a:rPr>
              <a:t>sensation</a:t>
            </a:r>
            <a:r>
              <a:rPr lang="en-GB" altLang="en-US" sz="2800" dirty="0"/>
              <a:t> and </a:t>
            </a:r>
            <a:r>
              <a:rPr lang="en-GB" altLang="en-US" sz="2800" i="1" dirty="0">
                <a:solidFill>
                  <a:srgbClr val="FF9999"/>
                </a:solidFill>
              </a:rPr>
              <a:t>intuition</a:t>
            </a:r>
            <a:r>
              <a:rPr lang="en-GB" altLang="en-US" sz="2800" dirty="0"/>
              <a:t>:</a:t>
            </a:r>
          </a:p>
          <a:p>
            <a:pPr lvl="1">
              <a:spcBef>
                <a:spcPts val="1800"/>
              </a:spcBef>
              <a:buFontTx/>
              <a:buNone/>
            </a:pPr>
            <a:r>
              <a:rPr lang="en-GB" altLang="en-US" dirty="0"/>
              <a:t>	</a:t>
            </a:r>
            <a:r>
              <a:rPr lang="en-GB" altLang="en-US" sz="2600" dirty="0"/>
              <a:t>“there is no known connexion between the sensible qualities and the secret powers; and consequently, … the mind is not led to form such a conclusion concerning their constant and regular conjunction, by any thing which it knows of their nature.”  (</a:t>
            </a:r>
            <a:r>
              <a:rPr lang="en-GB" altLang="en-US" sz="2600" i="1" dirty="0"/>
              <a:t>E</a:t>
            </a:r>
            <a:r>
              <a:rPr lang="en-GB" altLang="en-US" sz="2600" dirty="0"/>
              <a:t> 4.16)</a:t>
            </a:r>
          </a:p>
          <a:p>
            <a:pPr lvl="1">
              <a:spcBef>
                <a:spcPts val="1800"/>
              </a:spcBef>
              <a:buFontTx/>
              <a:buNone/>
            </a:pPr>
            <a:r>
              <a:rPr lang="en-GB" altLang="en-US" sz="2600" dirty="0"/>
              <a:t>	“The connexion … is not intuitive.” (</a:t>
            </a:r>
            <a:r>
              <a:rPr lang="en-GB" altLang="en-US" sz="2600" i="1" dirty="0"/>
              <a:t>E</a:t>
            </a:r>
            <a:r>
              <a:rPr lang="en-GB" altLang="en-US" sz="2600" dirty="0"/>
              <a:t> 4.16)</a:t>
            </a:r>
          </a:p>
        </p:txBody>
      </p:sp>
    </p:spTree>
    <p:extLst>
      <p:ext uri="{BB962C8B-B14F-4D97-AF65-F5344CB8AC3E}">
        <p14:creationId xmlns:p14="http://schemas.microsoft.com/office/powerpoint/2010/main" val="3372526943"/>
      </p:ext>
    </p:extLst>
  </p:cSld>
  <p:clrMapOvr>
    <a:masterClrMapping/>
  </p:clrMapOvr>
  <p:transition spd="med">
    <p:cover/>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p:cNvSpPr>
            <a:spLocks noGrp="1"/>
          </p:cNvSpPr>
          <p:nvPr>
            <p:ph type="sldNum" sz="quarter" idx="10"/>
          </p:nvPr>
        </p:nvSpPr>
        <p:spPr/>
        <p:txBody>
          <a:bodyPr/>
          <a:lstStyle/>
          <a:p>
            <a:fld id="{E2E24229-2FE2-4DA1-B509-F44F361BE0CF}" type="slidenum">
              <a:rPr lang="en-US" altLang="en-US"/>
              <a:pPr/>
              <a:t>155</a:t>
            </a:fld>
            <a:endParaRPr lang="en-US" altLang="en-US"/>
          </a:p>
        </p:txBody>
      </p:sp>
      <p:sp>
        <p:nvSpPr>
          <p:cNvPr id="5"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42F0DEE-563C-416C-B58A-D366AEA0DF67}" type="slidenum">
              <a:rPr lang="en-US" altLang="en-US" sz="1600">
                <a:effectLst>
                  <a:outerShdw blurRad="38100" dist="38100" dir="2700000" algn="tl">
                    <a:srgbClr val="000000"/>
                  </a:outerShdw>
                </a:effectLst>
                <a:ea typeface="ＭＳ Ｐゴシック" charset="-128"/>
              </a:rPr>
              <a:pPr eaLnBrk="1" hangingPunct="1"/>
              <a:t>155</a:t>
            </a:fld>
            <a:endParaRPr lang="en-US" altLang="en-US" sz="1600">
              <a:effectLst>
                <a:outerShdw blurRad="38100" dist="38100" dir="2700000" algn="tl">
                  <a:srgbClr val="000000"/>
                </a:outerShdw>
              </a:effectLst>
              <a:ea typeface="ＭＳ Ｐゴシック" charset="-128"/>
            </a:endParaRPr>
          </a:p>
        </p:txBody>
      </p:sp>
      <p:sp>
        <p:nvSpPr>
          <p:cNvPr id="851970" name="Rectangle 2"/>
          <p:cNvSpPr>
            <a:spLocks noGrp="1" noChangeArrowheads="1"/>
          </p:cNvSpPr>
          <p:nvPr>
            <p:ph type="title" idx="4294967295"/>
          </p:nvPr>
        </p:nvSpPr>
        <p:spPr>
          <a:xfrm>
            <a:off x="228600" y="277813"/>
            <a:ext cx="8686800" cy="1143000"/>
          </a:xfrm>
        </p:spPr>
        <p:txBody>
          <a:bodyPr/>
          <a:lstStyle/>
          <a:p>
            <a:r>
              <a:rPr lang="en-GB" altLang="en-US" dirty="0"/>
              <a:t>Argument Summary</a:t>
            </a:r>
          </a:p>
        </p:txBody>
      </p:sp>
      <p:sp>
        <p:nvSpPr>
          <p:cNvPr id="851971" name="Rectangle 3"/>
          <p:cNvSpPr>
            <a:spLocks noGrp="1" noChangeArrowheads="1"/>
          </p:cNvSpPr>
          <p:nvPr>
            <p:ph type="body" idx="4294967295"/>
          </p:nvPr>
        </p:nvSpPr>
        <p:spPr>
          <a:xfrm>
            <a:off x="457200" y="1600200"/>
            <a:ext cx="8229600" cy="4889500"/>
          </a:xfrm>
        </p:spPr>
        <p:txBody>
          <a:bodyPr/>
          <a:lstStyle/>
          <a:p>
            <a:r>
              <a:rPr lang="en-GB" altLang="en-US" dirty="0"/>
              <a:t>The logical structure of the argument can be represented in outline using the “founded on” relation (FO), together with:</a:t>
            </a:r>
            <a:br>
              <a:rPr lang="en-GB" altLang="en-US" dirty="0"/>
            </a:br>
            <a:endParaRPr lang="en-GB" altLang="en-US" dirty="0"/>
          </a:p>
          <a:p>
            <a:pPr lvl="1">
              <a:buFontTx/>
              <a:buNone/>
            </a:pPr>
            <a:r>
              <a:rPr lang="en-GB" altLang="en-US" sz="2600"/>
              <a:t>p  </a:t>
            </a:r>
            <a:r>
              <a:rPr lang="en-GB" altLang="en-US" sz="2600">
                <a:solidFill>
                  <a:srgbClr val="FF7C80"/>
                </a:solidFill>
              </a:rPr>
              <a:t>Probable</a:t>
            </a:r>
            <a:r>
              <a:rPr lang="en-GB" altLang="en-US" sz="2600"/>
              <a:t>/factual inference to the unobserved</a:t>
            </a:r>
            <a:endParaRPr lang="en-GB" altLang="en-US" sz="2600" dirty="0"/>
          </a:p>
          <a:p>
            <a:pPr lvl="1">
              <a:buFontTx/>
              <a:buNone/>
            </a:pPr>
            <a:r>
              <a:rPr lang="en-GB" altLang="en-US" sz="2600" dirty="0"/>
              <a:t>c  </a:t>
            </a:r>
            <a:r>
              <a:rPr lang="en-GB" altLang="en-US" sz="2600" dirty="0">
                <a:solidFill>
                  <a:srgbClr val="FF7C80"/>
                </a:solidFill>
              </a:rPr>
              <a:t>Causal</a:t>
            </a:r>
            <a:r>
              <a:rPr lang="en-GB" altLang="en-US" sz="2600" dirty="0"/>
              <a:t> reasoning</a:t>
            </a:r>
          </a:p>
          <a:p>
            <a:pPr lvl="1">
              <a:buFontTx/>
              <a:buNone/>
            </a:pPr>
            <a:r>
              <a:rPr lang="en-GB" altLang="en-US" sz="2600" dirty="0"/>
              <a:t>e  (Reasoning from) </a:t>
            </a:r>
            <a:r>
              <a:rPr lang="en-GB" altLang="en-US" sz="2600" dirty="0">
                <a:solidFill>
                  <a:srgbClr val="FF7C80"/>
                </a:solidFill>
              </a:rPr>
              <a:t>Experience</a:t>
            </a:r>
          </a:p>
          <a:p>
            <a:pPr lvl="1">
              <a:buFontTx/>
              <a:buNone/>
            </a:pPr>
            <a:r>
              <a:rPr lang="en-GB" altLang="en-US" sz="2600" dirty="0"/>
              <a:t>u  </a:t>
            </a:r>
            <a:r>
              <a:rPr lang="en-GB" altLang="en-US" sz="2600" dirty="0">
                <a:solidFill>
                  <a:srgbClr val="FF7C80"/>
                </a:solidFill>
              </a:rPr>
              <a:t>Uniformity</a:t>
            </a:r>
            <a:r>
              <a:rPr lang="en-GB" altLang="en-US" sz="2600" dirty="0"/>
              <a:t> Principle</a:t>
            </a:r>
          </a:p>
          <a:p>
            <a:pPr lvl="1">
              <a:buFontTx/>
              <a:buNone/>
            </a:pPr>
            <a:r>
              <a:rPr lang="en-GB" altLang="en-US" sz="2600" dirty="0"/>
              <a:t>R  </a:t>
            </a:r>
            <a:r>
              <a:rPr lang="en-GB" altLang="en-US" sz="2600" dirty="0">
                <a:solidFill>
                  <a:srgbClr val="FF7C80"/>
                </a:solidFill>
              </a:rPr>
              <a:t>Reason</a:t>
            </a:r>
          </a:p>
        </p:txBody>
      </p:sp>
      <p:sp>
        <p:nvSpPr>
          <p:cNvPr id="851972" name="Rectangle 4"/>
          <p:cNvSpPr>
            <a:spLocks noChangeArrowheads="1"/>
          </p:cNvSpPr>
          <p:nvPr/>
        </p:nvSpPr>
        <p:spPr bwMode="auto">
          <a:xfrm>
            <a:off x="5430838" y="4583113"/>
            <a:ext cx="3427412" cy="1763712"/>
          </a:xfrm>
          <a:prstGeom prst="rect">
            <a:avLst/>
          </a:prstGeom>
          <a:noFill/>
          <a:ln w="9525">
            <a:noFill/>
            <a:miter lim="800000"/>
            <a:headEnd/>
            <a:tailEnd/>
          </a:ln>
          <a:effectLst/>
        </p:spPr>
        <p:txBody>
          <a:bodyPr/>
          <a:lstStyle/>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d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Demonstration</a:t>
            </a:r>
          </a:p>
          <a:p>
            <a:pPr marL="742950" lvl="1" indent="-285750" eaLnBrk="1" hangingPunct="1">
              <a:spcBef>
                <a:spcPct val="20000"/>
              </a:spcBef>
              <a:defRPr/>
            </a:pPr>
            <a:r>
              <a:rPr lang="en-GB" sz="1200" dirty="0">
                <a:effectLst>
                  <a:outerShdw blurRad="38100" dist="38100" dir="2700000" algn="tl">
                    <a:srgbClr val="000000"/>
                  </a:outerShdw>
                </a:effectLst>
                <a:ea typeface="ＭＳ Ｐゴシック" charset="-128"/>
                <a:cs typeface="ＭＳ Ｐゴシック" charset="-128"/>
              </a:rPr>
              <a:t> </a:t>
            </a:r>
            <a:r>
              <a:rPr lang="en-GB" sz="2600" dirty="0" err="1">
                <a:effectLst>
                  <a:outerShdw blurRad="38100" dist="38100" dir="2700000" algn="tl">
                    <a:srgbClr val="000000"/>
                  </a:outerShdw>
                </a:effectLst>
                <a:ea typeface="ＭＳ Ｐゴシック" charset="-128"/>
                <a:cs typeface="ＭＳ Ｐゴシック" charset="-128"/>
              </a:rPr>
              <a:t>i</a:t>
            </a:r>
            <a:r>
              <a:rPr lang="en-GB" sz="2600" dirty="0">
                <a:effectLst>
                  <a:outerShdw blurRad="38100" dist="38100" dir="2700000" algn="tl">
                    <a:srgbClr val="000000"/>
                  </a:outerShdw>
                </a:effectLst>
                <a:ea typeface="ＭＳ Ｐゴシック" charset="-128"/>
                <a:cs typeface="ＭＳ Ｐゴシック" charset="-128"/>
              </a:rPr>
              <a:t>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Intuition</a:t>
            </a:r>
          </a:p>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s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Sensation</a:t>
            </a:r>
          </a:p>
        </p:txBody>
      </p:sp>
    </p:spTree>
    <p:extLst>
      <p:ext uri="{BB962C8B-B14F-4D97-AF65-F5344CB8AC3E}">
        <p14:creationId xmlns:p14="http://schemas.microsoft.com/office/powerpoint/2010/main" val="2811146377"/>
      </p:ext>
    </p:extLst>
  </p:cSld>
  <p:clrMapOvr>
    <a:masterClrMapping/>
  </p:clrMapOvr>
  <p:transition spd="med">
    <p:cover/>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
          <p:cNvGrpSpPr>
            <a:grpSpLocks/>
          </p:cNvGrpSpPr>
          <p:nvPr/>
        </p:nvGrpSpPr>
        <p:grpSpPr bwMode="auto">
          <a:xfrm>
            <a:off x="1187624" y="656692"/>
            <a:ext cx="6099179" cy="5472113"/>
            <a:chOff x="1125" y="210"/>
            <a:chExt cx="3842" cy="3765"/>
          </a:xfrm>
        </p:grpSpPr>
        <p:sp>
          <p:nvSpPr>
            <p:cNvPr id="948231" name="Line 6"/>
            <p:cNvSpPr>
              <a:spLocks noChangeShapeType="1"/>
            </p:cNvSpPr>
            <p:nvPr/>
          </p:nvSpPr>
          <p:spPr bwMode="auto">
            <a:xfrm>
              <a:off x="2255" y="3777"/>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300"/>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300"/>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4" name="Text Box 19"/>
            <p:cNvSpPr txBox="1">
              <a:spLocks noChangeArrowheads="1"/>
            </p:cNvSpPr>
            <p:nvPr/>
          </p:nvSpPr>
          <p:spPr bwMode="auto">
            <a:xfrm>
              <a:off x="3837" y="1572"/>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u,d</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p,c</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0" name="Line 25"/>
            <p:cNvSpPr>
              <a:spLocks noChangeShapeType="1"/>
            </p:cNvSpPr>
            <p:nvPr/>
          </p:nvSpPr>
          <p:spPr bwMode="auto">
            <a:xfrm>
              <a:off x="2255" y="3777"/>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u,p</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53" y="1967"/>
              <a:ext cx="0" cy="200"/>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43" name="Slide Number Placeholder 1"/>
          <p:cNvSpPr>
            <a:spLocks noGrp="1"/>
          </p:cNvSpPr>
          <p:nvPr>
            <p:ph type="sldNum" sz="quarter" idx="10"/>
          </p:nvPr>
        </p:nvSpPr>
        <p:spPr/>
        <p:txBody>
          <a:bodyPr/>
          <a:lstStyle/>
          <a:p>
            <a:fld id="{A6282BFB-8E52-4039-8BA3-CBE2A550EE06}" type="slidenum">
              <a:rPr lang="en-US" altLang="en-US"/>
              <a:pPr/>
              <a:t>156</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156</a:t>
            </a:fld>
            <a:endParaRPr lang="en-US" altLang="en-US" sz="1600">
              <a:effectLst>
                <a:outerShdw blurRad="38100" dist="38100" dir="2700000" algn="tl">
                  <a:srgbClr val="000000"/>
                </a:outerShdw>
              </a:effectLst>
              <a:ea typeface="ＭＳ Ｐゴシック" charset="-128"/>
            </a:endParaRPr>
          </a:p>
        </p:txBody>
      </p:sp>
      <p:sp>
        <p:nvSpPr>
          <p:cNvPr id="853031" name="Rectangle 39"/>
          <p:cNvSpPr>
            <a:spLocks noGrp="1" noChangeArrowheads="1"/>
          </p:cNvSpPr>
          <p:nvPr>
            <p:ph type="title" idx="4294967295"/>
          </p:nvPr>
        </p:nvSpPr>
        <p:spPr>
          <a:xfrm>
            <a:off x="4140200" y="277813"/>
            <a:ext cx="4546600" cy="1350987"/>
          </a:xfrm>
        </p:spPr>
        <p:txBody>
          <a:bodyPr/>
          <a:lstStyle/>
          <a:p>
            <a:pPr algn="r"/>
            <a:r>
              <a:rPr lang="en-GB" altLang="en-US" sz="4000" dirty="0"/>
              <a:t>Hume’s Argument in the </a:t>
            </a:r>
            <a:r>
              <a:rPr lang="en-GB" altLang="en-US" sz="4000" i="1" dirty="0"/>
              <a:t>Treatise</a:t>
            </a:r>
            <a:endParaRPr lang="en-GB" altLang="en-US" sz="4000" dirty="0"/>
          </a:p>
        </p:txBody>
      </p:sp>
      <p:sp>
        <p:nvSpPr>
          <p:cNvPr id="44" name="Line 7"/>
          <p:cNvSpPr>
            <a:spLocks noChangeShapeType="1"/>
          </p:cNvSpPr>
          <p:nvPr/>
        </p:nvSpPr>
        <p:spPr bwMode="auto">
          <a:xfrm>
            <a:off x="5149329" y="2960948"/>
            <a:ext cx="3587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45" name="Line 26"/>
          <p:cNvSpPr>
            <a:spLocks noChangeShapeType="1"/>
          </p:cNvSpPr>
          <p:nvPr/>
        </p:nvSpPr>
        <p:spPr bwMode="auto">
          <a:xfrm>
            <a:off x="5149329" y="2960948"/>
            <a:ext cx="271463"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3" name="Text Box 21"/>
          <p:cNvSpPr txBox="1">
            <a:spLocks noChangeArrowheads="1"/>
          </p:cNvSpPr>
          <p:nvPr/>
        </p:nvSpPr>
        <p:spPr bwMode="auto">
          <a:xfrm>
            <a:off x="3318185" y="5537759"/>
            <a:ext cx="1793875" cy="591541"/>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84" name="Line 13"/>
          <p:cNvSpPr>
            <a:spLocks noChangeShapeType="1"/>
          </p:cNvSpPr>
          <p:nvPr/>
        </p:nvSpPr>
        <p:spPr bwMode="auto">
          <a:xfrm>
            <a:off x="2987824" y="5157907"/>
            <a:ext cx="358775" cy="39532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85" name="Line 14"/>
          <p:cNvSpPr>
            <a:spLocks noChangeShapeType="1"/>
          </p:cNvSpPr>
          <p:nvPr/>
        </p:nvSpPr>
        <p:spPr bwMode="auto">
          <a:xfrm>
            <a:off x="2987824" y="5157907"/>
            <a:ext cx="265113" cy="2906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7" name="Line 30"/>
          <p:cNvSpPr>
            <a:spLocks noChangeShapeType="1"/>
          </p:cNvSpPr>
          <p:nvPr/>
        </p:nvSpPr>
        <p:spPr bwMode="auto">
          <a:xfrm>
            <a:off x="4247964" y="5121903"/>
            <a:ext cx="0" cy="395329"/>
          </a:xfrm>
          <a:prstGeom prst="line">
            <a:avLst/>
          </a:prstGeom>
          <a:noFill/>
          <a:ln w="28575">
            <a:solidFill>
              <a:schemeClr val="tx1"/>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8" name="Line 31"/>
          <p:cNvSpPr>
            <a:spLocks noChangeShapeType="1"/>
          </p:cNvSpPr>
          <p:nvPr/>
        </p:nvSpPr>
        <p:spPr bwMode="auto">
          <a:xfrm>
            <a:off x="4247964" y="5121188"/>
            <a:ext cx="0" cy="290683"/>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9" name="Line 30"/>
          <p:cNvSpPr>
            <a:spLocks noChangeShapeType="1"/>
          </p:cNvSpPr>
          <p:nvPr/>
        </p:nvSpPr>
        <p:spPr bwMode="auto">
          <a:xfrm>
            <a:off x="4247964" y="4221803"/>
            <a:ext cx="0" cy="395329"/>
          </a:xfrm>
          <a:prstGeom prst="line">
            <a:avLst/>
          </a:prstGeom>
          <a:noFill/>
          <a:ln w="28575">
            <a:solidFill>
              <a:srgbClr val="00FF00"/>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0" name="Line 31"/>
          <p:cNvSpPr>
            <a:spLocks noChangeShapeType="1"/>
          </p:cNvSpPr>
          <p:nvPr/>
        </p:nvSpPr>
        <p:spPr bwMode="auto">
          <a:xfrm>
            <a:off x="4247964" y="4185084"/>
            <a:ext cx="0" cy="290683"/>
          </a:xfrm>
          <a:prstGeom prst="line">
            <a:avLst/>
          </a:prstGeom>
          <a:noFill/>
          <a:ln w="28575">
            <a:solidFill>
              <a:srgbClr val="00FF00"/>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1" name="Rectangle 41"/>
          <p:cNvSpPr>
            <a:spLocks noChangeArrowheads="1"/>
          </p:cNvSpPr>
          <p:nvPr/>
        </p:nvSpPr>
        <p:spPr bwMode="auto">
          <a:xfrm>
            <a:off x="5544108" y="3465004"/>
            <a:ext cx="3132348" cy="2916324"/>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duplication of three stages, and conclusion focusing on causal “inference from impression to idea” rather than all probable inference</a:t>
            </a:r>
          </a:p>
        </p:txBody>
      </p:sp>
    </p:spTree>
    <p:extLst>
      <p:ext uri="{BB962C8B-B14F-4D97-AF65-F5344CB8AC3E}">
        <p14:creationId xmlns:p14="http://schemas.microsoft.com/office/powerpoint/2010/main" val="3494208558"/>
      </p:ext>
    </p:extLst>
  </p:cSld>
  <p:clrMapOvr>
    <a:masterClrMapping/>
  </p:clrMapOvr>
  <p:transition spd="med">
    <p:cover/>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lide Number Placeholder 1"/>
          <p:cNvSpPr>
            <a:spLocks noGrp="1"/>
          </p:cNvSpPr>
          <p:nvPr>
            <p:ph type="sldNum" sz="quarter" idx="10"/>
          </p:nvPr>
        </p:nvSpPr>
        <p:spPr/>
        <p:txBody>
          <a:bodyPr/>
          <a:lstStyle/>
          <a:p>
            <a:fld id="{A6282BFB-8E52-4039-8BA3-CBE2A550EE06}" type="slidenum">
              <a:rPr lang="en-US" altLang="en-US"/>
              <a:pPr/>
              <a:t>157</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157</a:t>
            </a:fld>
            <a:endParaRPr lang="en-US" altLang="en-US" sz="1600">
              <a:effectLst>
                <a:outerShdw blurRad="38100" dist="38100" dir="2700000" algn="tl">
                  <a:srgbClr val="000000"/>
                </a:outerShdw>
              </a:effectLst>
              <a:ea typeface="ＭＳ Ｐゴシック" charset="-128"/>
            </a:endParaRPr>
          </a:p>
        </p:txBody>
      </p:sp>
      <p:sp>
        <p:nvSpPr>
          <p:cNvPr id="948227" name="AutoShape 2"/>
          <p:cNvSpPr>
            <a:spLocks noChangeArrowheads="1"/>
          </p:cNvSpPr>
          <p:nvPr/>
        </p:nvSpPr>
        <p:spPr bwMode="auto">
          <a:xfrm>
            <a:off x="190817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8" name="AutoShape 3"/>
          <p:cNvSpPr>
            <a:spLocks noChangeArrowheads="1"/>
          </p:cNvSpPr>
          <p:nvPr/>
        </p:nvSpPr>
        <p:spPr bwMode="auto">
          <a:xfrm>
            <a:off x="863600"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9" name="AutoShape 4"/>
          <p:cNvSpPr>
            <a:spLocks noChangeArrowheads="1"/>
          </p:cNvSpPr>
          <p:nvPr/>
        </p:nvSpPr>
        <p:spPr bwMode="auto">
          <a:xfrm>
            <a:off x="136842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grpSp>
        <p:nvGrpSpPr>
          <p:cNvPr id="948230" name="Group 5"/>
          <p:cNvGrpSpPr>
            <a:grpSpLocks/>
          </p:cNvGrpSpPr>
          <p:nvPr/>
        </p:nvGrpSpPr>
        <p:grpSpPr bwMode="auto">
          <a:xfrm>
            <a:off x="1187450" y="657225"/>
            <a:ext cx="6099175" cy="5472113"/>
            <a:chOff x="1125" y="210"/>
            <a:chExt cx="3842" cy="3765"/>
          </a:xfrm>
        </p:grpSpPr>
        <p:sp>
          <p:nvSpPr>
            <p:cNvPr id="948231" name="Line 6"/>
            <p:cNvSpPr>
              <a:spLocks noChangeShapeType="1"/>
            </p:cNvSpPr>
            <p:nvPr/>
          </p:nvSpPr>
          <p:spPr bwMode="auto">
            <a:xfrm>
              <a:off x="2255" y="3135"/>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98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98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6" name="Line 11"/>
            <p:cNvSpPr>
              <a:spLocks noChangeShapeType="1"/>
            </p:cNvSpPr>
            <p:nvPr/>
          </p:nvSpPr>
          <p:spPr bwMode="auto">
            <a:xfrm flipV="1">
              <a:off x="3611"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7" name="Line 12"/>
            <p:cNvSpPr>
              <a:spLocks noChangeShapeType="1"/>
            </p:cNvSpPr>
            <p:nvPr/>
          </p:nvSpPr>
          <p:spPr bwMode="auto">
            <a:xfrm flipV="1">
              <a:off x="3611" y="2750"/>
              <a:ext cx="154" cy="185"/>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0" name="Line 15"/>
            <p:cNvSpPr>
              <a:spLocks noChangeShapeType="1"/>
            </p:cNvSpPr>
            <p:nvPr/>
          </p:nvSpPr>
          <p:spPr bwMode="auto">
            <a:xfrm flipV="1">
              <a:off x="2255" y="3317"/>
              <a:ext cx="226" cy="25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41" name="Line 16"/>
            <p:cNvSpPr>
              <a:spLocks noChangeShapeType="1"/>
            </p:cNvSpPr>
            <p:nvPr/>
          </p:nvSpPr>
          <p:spPr bwMode="auto">
            <a:xfrm flipV="1">
              <a:off x="2255" y="3385"/>
              <a:ext cx="165" cy="1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FO(c,e)</a:t>
              </a:r>
              <a:endParaRPr lang="en-GB" altLang="en-US" sz="240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FO(p,u)</a:t>
              </a:r>
              <a:endParaRPr lang="en-GB" altLang="en-US" sz="2400">
                <a:solidFill>
                  <a:srgbClr val="000000"/>
                </a:solidFill>
                <a:ea typeface="ＭＳ Ｐゴシック" charset="-128"/>
              </a:endParaRPr>
            </a:p>
          </p:txBody>
        </p:sp>
        <p:sp>
          <p:nvSpPr>
            <p:cNvPr id="948244" name="Text Box 19"/>
            <p:cNvSpPr txBox="1">
              <a:spLocks noChangeArrowheads="1"/>
            </p:cNvSpPr>
            <p:nvPr/>
          </p:nvSpPr>
          <p:spPr bwMode="auto">
            <a:xfrm>
              <a:off x="3837"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¬FO(p,R)</a:t>
              </a:r>
              <a:endParaRPr lang="en-GB" altLang="en-US" sz="240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FO(e,u)</a:t>
              </a:r>
              <a:endParaRPr lang="en-GB" altLang="en-US" sz="240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u,s</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¬FO(u,d)</a:t>
              </a:r>
              <a:endParaRPr lang="en-GB" altLang="en-US" sz="240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¬FO(u,R)</a:t>
              </a:r>
              <a:endParaRPr lang="en-GB" altLang="en-US" sz="240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¬FO(u,i)</a:t>
              </a:r>
              <a:endParaRPr lang="en-GB" altLang="en-US" sz="2400">
                <a:solidFill>
                  <a:srgbClr val="000000"/>
                </a:solidFill>
                <a:ea typeface="ＭＳ Ｐゴシック" charset="-128"/>
              </a:endParaRPr>
            </a:p>
          </p:txBody>
        </p:sp>
        <p:sp>
          <p:nvSpPr>
            <p:cNvPr id="948250" name="Line 25"/>
            <p:cNvSpPr>
              <a:spLocks noChangeShapeType="1"/>
            </p:cNvSpPr>
            <p:nvPr/>
          </p:nvSpPr>
          <p:spPr bwMode="auto">
            <a:xfrm>
              <a:off x="2255" y="3135"/>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¬FO(u,p)</a:t>
              </a:r>
              <a:endParaRPr lang="en-GB" altLang="en-US" sz="240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rgbClr val="00FF00"/>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47" y="1983"/>
              <a:ext cx="0" cy="200"/>
            </a:xfrm>
            <a:prstGeom prst="line">
              <a:avLst/>
            </a:prstGeom>
            <a:noFill/>
            <a:ln w="28575">
              <a:solidFill>
                <a:srgbClr val="00FF00"/>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5" name="Line 30"/>
            <p:cNvSpPr>
              <a:spLocks noChangeShapeType="1"/>
            </p:cNvSpPr>
            <p:nvPr/>
          </p:nvSpPr>
          <p:spPr bwMode="auto">
            <a:xfrm>
              <a:off x="3047" y="266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6" name="Line 31"/>
            <p:cNvSpPr>
              <a:spLocks noChangeShapeType="1"/>
            </p:cNvSpPr>
            <p:nvPr/>
          </p:nvSpPr>
          <p:spPr bwMode="auto">
            <a:xfrm>
              <a:off x="3047" y="2663"/>
              <a:ext cx="0"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FO(p,c)</a:t>
              </a:r>
              <a:endParaRPr lang="en-GB" altLang="en-US" sz="240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FO(p,e)</a:t>
              </a:r>
              <a:endParaRPr lang="en-GB" altLang="en-US" sz="240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0" name="Line 35"/>
            <p:cNvSpPr>
              <a:spLocks noChangeShapeType="1"/>
            </p:cNvSpPr>
            <p:nvPr/>
          </p:nvSpPr>
          <p:spPr bwMode="auto">
            <a:xfrm>
              <a:off x="3047" y="1299"/>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1" name="Line 36"/>
            <p:cNvSpPr>
              <a:spLocks noChangeShapeType="1"/>
            </p:cNvSpPr>
            <p:nvPr/>
          </p:nvSpPr>
          <p:spPr bwMode="auto">
            <a:xfrm>
              <a:off x="3047" y="1299"/>
              <a:ext cx="0" cy="20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948265" name="Line 40"/>
          <p:cNvSpPr>
            <a:spLocks noChangeShapeType="1"/>
          </p:cNvSpPr>
          <p:nvPr/>
        </p:nvSpPr>
        <p:spPr bwMode="auto">
          <a:xfrm flipH="1" flipV="1">
            <a:off x="3347863" y="5625244"/>
            <a:ext cx="2124237" cy="0"/>
          </a:xfrm>
          <a:prstGeom prst="line">
            <a:avLst/>
          </a:prstGeom>
          <a:noFill/>
          <a:ln w="38100" cap="sq">
            <a:solidFill>
              <a:srgbClr val="6699FF"/>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sp>
        <p:nvSpPr>
          <p:cNvPr id="44" name="Rectangle 39"/>
          <p:cNvSpPr txBox="1">
            <a:spLocks noChangeArrowheads="1"/>
          </p:cNvSpPr>
          <p:nvPr/>
        </p:nvSpPr>
        <p:spPr bwMode="auto">
          <a:xfrm>
            <a:off x="4140200" y="277813"/>
            <a:ext cx="4546600" cy="13509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Hume’s Argument in the </a:t>
            </a:r>
            <a:r>
              <a:rPr kumimoji="0" lang="en-GB" altLang="en-US" sz="4000" b="0" i="1"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Enquiry</a:t>
            </a:r>
            <a:endPar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
        <p:nvSpPr>
          <p:cNvPr id="45" name="Rectangle 41"/>
          <p:cNvSpPr>
            <a:spLocks noChangeArrowheads="1"/>
          </p:cNvSpPr>
          <p:nvPr/>
        </p:nvSpPr>
        <p:spPr bwMode="auto">
          <a:xfrm>
            <a:off x="5436096" y="4581128"/>
            <a:ext cx="3456384" cy="2052228"/>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that intuition and sensation are ruled out as a basis for UP (along with demonstration and probable reasoning)</a:t>
            </a:r>
          </a:p>
        </p:txBody>
      </p:sp>
    </p:spTree>
    <p:extLst>
      <p:ext uri="{BB962C8B-B14F-4D97-AF65-F5344CB8AC3E}">
        <p14:creationId xmlns:p14="http://schemas.microsoft.com/office/powerpoint/2010/main" val="1833369182"/>
      </p:ext>
    </p:extLst>
  </p:cSld>
  <p:clrMapOvr>
    <a:masterClrMapping/>
  </p:clrMapOvr>
  <p:transition spd="med">
    <p:cover/>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2A32A6-5C57-44D9-9396-ADC9A9B574F4}"/>
              </a:ext>
            </a:extLst>
          </p:cNvPr>
          <p:cNvSpPr>
            <a:spLocks noGrp="1"/>
          </p:cNvSpPr>
          <p:nvPr>
            <p:ph type="sldNum" sz="quarter" idx="10"/>
          </p:nvPr>
        </p:nvSpPr>
        <p:spPr/>
        <p:txBody>
          <a:bodyPr/>
          <a:lstStyle/>
          <a:p>
            <a:fld id="{C3714EA6-606C-41F0-AB77-A3D4EEAD7B4A}" type="slidenum">
              <a:rPr lang="en-US" altLang="en-US"/>
              <a:pPr/>
              <a:t>158</a:t>
            </a:fld>
            <a:endParaRPr lang="en-US" altLang="en-US"/>
          </a:p>
        </p:txBody>
      </p:sp>
      <p:sp>
        <p:nvSpPr>
          <p:cNvPr id="672770" name="Rectangle 2">
            <a:extLst>
              <a:ext uri="{FF2B5EF4-FFF2-40B4-BE49-F238E27FC236}">
                <a16:creationId xmlns:a16="http://schemas.microsoft.com/office/drawing/2014/main" id="{C8545F25-EFAD-4306-A482-AEC2737D06E1}"/>
              </a:ext>
            </a:extLst>
          </p:cNvPr>
          <p:cNvSpPr>
            <a:spLocks noGrp="1" noChangeArrowheads="1"/>
          </p:cNvSpPr>
          <p:nvPr>
            <p:ph type="title"/>
          </p:nvPr>
        </p:nvSpPr>
        <p:spPr>
          <a:xfrm>
            <a:off x="179512" y="152636"/>
            <a:ext cx="8748972" cy="774923"/>
          </a:xfrm>
        </p:spPr>
        <p:txBody>
          <a:bodyPr/>
          <a:lstStyle/>
          <a:p>
            <a:r>
              <a:rPr lang="en-GB" altLang="en-US"/>
              <a:t>“Sceptical Doubts …” (</a:t>
            </a:r>
            <a:r>
              <a:rPr lang="en-GB" altLang="en-US" i="1"/>
              <a:t>Enquiry</a:t>
            </a:r>
            <a:r>
              <a:rPr lang="en-GB" altLang="en-US"/>
              <a:t> 4)</a:t>
            </a:r>
          </a:p>
        </p:txBody>
      </p:sp>
      <p:sp>
        <p:nvSpPr>
          <p:cNvPr id="672771" name="Rectangle 3">
            <a:extLst>
              <a:ext uri="{FF2B5EF4-FFF2-40B4-BE49-F238E27FC236}">
                <a16:creationId xmlns:a16="http://schemas.microsoft.com/office/drawing/2014/main" id="{EB640B07-F5AE-47C1-B399-EDDDD89CF040}"/>
              </a:ext>
            </a:extLst>
          </p:cNvPr>
          <p:cNvSpPr>
            <a:spLocks noGrp="1" noChangeArrowheads="1"/>
          </p:cNvSpPr>
          <p:nvPr>
            <p:ph type="body" idx="1"/>
          </p:nvPr>
        </p:nvSpPr>
        <p:spPr>
          <a:xfrm>
            <a:off x="683567" y="1160748"/>
            <a:ext cx="7992119" cy="5472608"/>
          </a:xfrm>
        </p:spPr>
        <p:txBody>
          <a:bodyPr/>
          <a:lstStyle/>
          <a:p>
            <a:r>
              <a:rPr lang="en-GB" altLang="en-US" sz="2800"/>
              <a:t>Recall Hume’s 1745 statement (slide 116):</a:t>
            </a:r>
          </a:p>
          <a:p>
            <a:pPr marL="857250" lvl="2" indent="0">
              <a:buNone/>
            </a:pPr>
            <a:r>
              <a:rPr lang="en-GB" altLang="en-US" sz="2600"/>
              <a:t>“It is common for Philosophers to distinguish the Kinds of Evidence into </a:t>
            </a:r>
            <a:r>
              <a:rPr lang="en-GB" altLang="en-US" sz="2600" i="1">
                <a:solidFill>
                  <a:srgbClr val="FF9999"/>
                </a:solidFill>
              </a:rPr>
              <a:t>intuitive</a:t>
            </a:r>
            <a:r>
              <a:rPr lang="en-GB" altLang="en-US" sz="2600"/>
              <a:t>, </a:t>
            </a:r>
            <a:r>
              <a:rPr lang="en-GB" altLang="en-US" sz="2600" i="1">
                <a:solidFill>
                  <a:srgbClr val="FF9999"/>
                </a:solidFill>
              </a:rPr>
              <a:t>demonstrative</a:t>
            </a:r>
            <a:r>
              <a:rPr lang="en-GB" altLang="en-US" sz="2600"/>
              <a:t>, </a:t>
            </a:r>
            <a:r>
              <a:rPr lang="en-GB" altLang="en-US" sz="2600" i="1">
                <a:solidFill>
                  <a:srgbClr val="FF9999"/>
                </a:solidFill>
              </a:rPr>
              <a:t>sensible</a:t>
            </a:r>
            <a:r>
              <a:rPr lang="en-GB" altLang="en-US" sz="2600"/>
              <a:t>, </a:t>
            </a:r>
            <a:r>
              <a:rPr lang="en-GB" altLang="en-US" sz="2600" i="1"/>
              <a:t>and </a:t>
            </a:r>
            <a:r>
              <a:rPr lang="en-GB" altLang="en-US" sz="2600" i="1">
                <a:solidFill>
                  <a:srgbClr val="FF9999"/>
                </a:solidFill>
              </a:rPr>
              <a:t>moral</a:t>
            </a:r>
            <a:r>
              <a:rPr lang="en-GB" altLang="en-US" sz="2600" i="1"/>
              <a:t>”</a:t>
            </a:r>
            <a:r>
              <a:rPr lang="en-GB" altLang="en-US" sz="2600"/>
              <a:t>.</a:t>
            </a:r>
          </a:p>
          <a:p>
            <a:pPr>
              <a:spcBef>
                <a:spcPts val="1800"/>
              </a:spcBef>
            </a:pPr>
            <a:r>
              <a:rPr lang="en-GB" altLang="en-US" sz="2800"/>
              <a:t>His argument in the </a:t>
            </a:r>
            <a:r>
              <a:rPr lang="en-GB" altLang="en-US" sz="2800" i="1"/>
              <a:t>Enquiry</a:t>
            </a:r>
            <a:r>
              <a:rPr lang="en-GB" altLang="en-US" sz="2800"/>
              <a:t>:</a:t>
            </a:r>
          </a:p>
          <a:p>
            <a:pPr lvl="1">
              <a:spcBef>
                <a:spcPts val="900"/>
              </a:spcBef>
            </a:pPr>
            <a:r>
              <a:rPr lang="en-GB" altLang="en-US" sz="2500"/>
              <a:t>Starts by showing that all factual inference is founded on the Uniformity Principle;</a:t>
            </a:r>
          </a:p>
          <a:p>
            <a:pPr lvl="1">
              <a:spcBef>
                <a:spcPts val="900"/>
              </a:spcBef>
            </a:pPr>
            <a:r>
              <a:rPr lang="en-GB" altLang="en-US" sz="2500"/>
              <a:t>Then goes on to undermine all four possible evidential foundations for UP;</a:t>
            </a:r>
          </a:p>
          <a:p>
            <a:pPr lvl="1">
              <a:spcBef>
                <a:spcPts val="900"/>
              </a:spcBef>
            </a:pPr>
            <a:r>
              <a:rPr lang="en-GB" altLang="en-US" sz="2500"/>
              <a:t>This looks very much like a sceptical strategy, as the title of the section suggests (in contrast to the </a:t>
            </a:r>
            <a:r>
              <a:rPr lang="en-GB" altLang="en-US" sz="2500" i="1"/>
              <a:t>Treatise</a:t>
            </a:r>
            <a:r>
              <a:rPr lang="en-GB" altLang="en-US" sz="2500"/>
              <a:t>, which evinces no such intent).</a:t>
            </a:r>
          </a:p>
        </p:txBody>
      </p:sp>
    </p:spTree>
    <p:extLst>
      <p:ext uri="{BB962C8B-B14F-4D97-AF65-F5344CB8AC3E}">
        <p14:creationId xmlns:p14="http://schemas.microsoft.com/office/powerpoint/2010/main" val="1135656169"/>
      </p:ext>
    </p:extLst>
  </p:cSld>
  <p:clrMapOvr>
    <a:masterClrMapping/>
  </p:clrMapOvr>
  <p:transition spd="med">
    <p:cove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A3585D9-926B-4219-97C8-BE3A9D8B08C6}" type="slidenum">
              <a:rPr lang="en-US" altLang="en-US"/>
              <a:pPr/>
              <a:t>159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12E3618F-7ED2-4BB5-A273-F895C869CACB}" type="slidenum">
              <a:rPr lang="en-US" altLang="en-US" sz="1600">
                <a:effectLst>
                  <a:outerShdw blurRad="38100" dist="38100" dir="2700000" algn="tl">
                    <a:srgbClr val="000000"/>
                  </a:outerShdw>
                </a:effectLst>
                <a:ea typeface="ＭＳ Ｐゴシック" charset="-128"/>
              </a:rPr>
              <a:pPr eaLnBrk="1" hangingPunct="1"/>
              <a:t>159</a:t>
            </a:fld>
            <a:endParaRPr lang="en-US" altLang="en-US" sz="1600">
              <a:effectLst>
                <a:outerShdw blurRad="38100" dist="38100" dir="2700000" algn="tl">
                  <a:srgbClr val="000000"/>
                </a:outerShdw>
              </a:effectLst>
              <a:ea typeface="ＭＳ Ｐゴシック" charset="-128"/>
            </a:endParaRPr>
          </a:p>
        </p:txBody>
      </p:sp>
      <p:sp>
        <p:nvSpPr>
          <p:cNvPr id="886786" name="Rectangle 2"/>
          <p:cNvSpPr>
            <a:spLocks noGrp="1" noChangeArrowheads="1"/>
          </p:cNvSpPr>
          <p:nvPr>
            <p:ph type="title" idx="4294967295"/>
          </p:nvPr>
        </p:nvSpPr>
        <p:spPr>
          <a:xfrm>
            <a:off x="457200" y="260648"/>
            <a:ext cx="8229600" cy="702915"/>
          </a:xfrm>
        </p:spPr>
        <p:txBody>
          <a:bodyPr/>
          <a:lstStyle/>
          <a:p>
            <a:r>
              <a:rPr lang="en-GB" altLang="en-US" dirty="0"/>
              <a:t>The “Sceptical” Conclusion</a:t>
            </a:r>
            <a:endParaRPr lang="en-US" altLang="en-US" dirty="0"/>
          </a:p>
        </p:txBody>
      </p:sp>
      <p:sp>
        <p:nvSpPr>
          <p:cNvPr id="886787" name="Rectangle 3"/>
          <p:cNvSpPr>
            <a:spLocks noGrp="1" noChangeArrowheads="1"/>
          </p:cNvSpPr>
          <p:nvPr>
            <p:ph type="body" idx="4294967295"/>
          </p:nvPr>
        </p:nvSpPr>
        <p:spPr>
          <a:xfrm>
            <a:off x="108012" y="1268760"/>
            <a:ext cx="8748464" cy="5436604"/>
          </a:xfrm>
        </p:spPr>
        <p:txBody>
          <a:bodyPr/>
          <a:lstStyle/>
          <a:p>
            <a:pPr lvl="1">
              <a:buFontTx/>
              <a:buNone/>
            </a:pPr>
            <a:r>
              <a:rPr lang="en-GB" altLang="en-US" sz="2400" dirty="0"/>
              <a:t>	“even after experience has </a:t>
            </a:r>
            <a:r>
              <a:rPr lang="en-GB" altLang="en-US" sz="2400" dirty="0" err="1"/>
              <a:t>inform’d</a:t>
            </a:r>
            <a:r>
              <a:rPr lang="en-GB" altLang="en-US" sz="2400" dirty="0"/>
              <a:t> us of [causal]</a:t>
            </a:r>
            <a:r>
              <a:rPr lang="en-GB" altLang="en-US" sz="2400" i="1" dirty="0"/>
              <a:t> constant conjunction</a:t>
            </a:r>
            <a:r>
              <a:rPr lang="en-GB" altLang="en-US" sz="2400" dirty="0"/>
              <a:t>, ’tis impossible for us to satisfy ourselves by our reason, why we </a:t>
            </a:r>
            <a:r>
              <a:rPr lang="en-GB" altLang="en-US" sz="2400" dirty="0" err="1"/>
              <a:t>shou’d</a:t>
            </a:r>
            <a:r>
              <a:rPr lang="en-GB" altLang="en-US" sz="2400" dirty="0"/>
              <a:t> extend that experience beyond those particular instances, which have fallen under our observation.”  (</a:t>
            </a:r>
            <a:r>
              <a:rPr lang="en-GB" altLang="en-US" sz="2400" i="1" dirty="0"/>
              <a:t>T</a:t>
            </a:r>
            <a:r>
              <a:rPr lang="en-GB" altLang="en-US" sz="2400" dirty="0"/>
              <a:t> 1.3.6.11, cf. 1.3.12.20)</a:t>
            </a:r>
          </a:p>
          <a:p>
            <a:pPr lvl="1">
              <a:spcBef>
                <a:spcPts val="1800"/>
              </a:spcBef>
              <a:buFontTx/>
              <a:buNone/>
            </a:pPr>
            <a:r>
              <a:rPr lang="en-GB" altLang="en-US" sz="2400" dirty="0"/>
              <a:t>	“even after we have experience of the operations of cause and effect, our conclusions from that experience are </a:t>
            </a:r>
            <a:r>
              <a:rPr lang="en-GB" altLang="en-US" sz="2400" i="1" dirty="0"/>
              <a:t>not</a:t>
            </a:r>
            <a:r>
              <a:rPr lang="en-GB" altLang="en-US" sz="2400" dirty="0"/>
              <a:t> founded on reasoning, or any process of the understanding” (</a:t>
            </a:r>
            <a:r>
              <a:rPr lang="en-GB" altLang="en-US" sz="2400" i="1" dirty="0"/>
              <a:t>E</a:t>
            </a:r>
            <a:r>
              <a:rPr lang="en-GB" altLang="en-US" sz="2400" dirty="0"/>
              <a:t> 4.15)</a:t>
            </a:r>
          </a:p>
          <a:p>
            <a:pPr lvl="1">
              <a:spcBef>
                <a:spcPts val="1800"/>
              </a:spcBef>
              <a:buFontTx/>
              <a:buNone/>
            </a:pPr>
            <a:r>
              <a:rPr lang="en-GB" altLang="en-US" sz="2400" dirty="0"/>
              <a:t>	“in all </a:t>
            </a:r>
            <a:r>
              <a:rPr lang="en-GB" altLang="en-US" sz="2400" dirty="0" err="1"/>
              <a:t>reasonings</a:t>
            </a:r>
            <a:r>
              <a:rPr lang="en-GB" altLang="en-US" sz="2400" dirty="0"/>
              <a:t> from experience, there is a step taken by the mind, which is not supported by any argument or process of the understanding” (</a:t>
            </a:r>
            <a:r>
              <a:rPr lang="en-GB" altLang="en-US" sz="2400" i="1" dirty="0"/>
              <a:t>E</a:t>
            </a:r>
            <a:r>
              <a:rPr lang="en-GB" altLang="en-US" sz="2400" dirty="0"/>
              <a:t> 5.2)</a:t>
            </a:r>
            <a:endParaRPr lang="en-US" altLang="en-US" sz="2400" dirty="0"/>
          </a:p>
        </p:txBody>
      </p:sp>
    </p:spTree>
    <p:extLst>
      <p:ext uri="{BB962C8B-B14F-4D97-AF65-F5344CB8AC3E}">
        <p14:creationId xmlns:p14="http://schemas.microsoft.com/office/powerpoint/2010/main" val="3566915250"/>
      </p:ext>
    </p:extLst>
  </p:cSld>
  <p:clrMapOvr>
    <a:masterClrMapping/>
  </p:clrMapOvr>
  <p:transition spd="med">
    <p:cove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160</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dirty="0"/>
              <a:t>Epistemology, or Cognitive Science?</a:t>
            </a:r>
          </a:p>
        </p:txBody>
      </p:sp>
      <p:sp>
        <p:nvSpPr>
          <p:cNvPr id="854019" name="Rectangle 3"/>
          <p:cNvSpPr>
            <a:spLocks noGrp="1" noChangeArrowheads="1"/>
          </p:cNvSpPr>
          <p:nvPr>
            <p:ph type="body" idx="4294967295"/>
          </p:nvPr>
        </p:nvSpPr>
        <p:spPr>
          <a:xfrm>
            <a:off x="395537" y="1160749"/>
            <a:ext cx="8640960" cy="5605176"/>
          </a:xfrm>
        </p:spPr>
        <p:txBody>
          <a:bodyPr/>
          <a:lstStyle/>
          <a:p>
            <a:pPr>
              <a:spcBef>
                <a:spcPct val="40000"/>
              </a:spcBef>
            </a:pPr>
            <a:r>
              <a:rPr lang="en-GB" sz="2800"/>
              <a:t>Does Hume view </a:t>
            </a:r>
            <a:r>
              <a:rPr lang="en-GB" sz="2800" dirty="0"/>
              <a:t>his discussion of induction, and its upshot, as being </a:t>
            </a:r>
            <a:r>
              <a:rPr lang="en-GB" sz="2800" i="1" dirty="0"/>
              <a:t>epistemological</a:t>
            </a:r>
            <a:r>
              <a:rPr lang="en-GB" sz="2800" dirty="0"/>
              <a:t> (</a:t>
            </a:r>
            <a:r>
              <a:rPr lang="en-GB" sz="2800"/>
              <a:t>concerning the possibility of good reasons for inductive belief</a:t>
            </a:r>
            <a:r>
              <a:rPr lang="en-GB" sz="2800" dirty="0"/>
              <a:t>) or </a:t>
            </a:r>
            <a:r>
              <a:rPr lang="en-GB" sz="2800" i="1" dirty="0"/>
              <a:t>psychological</a:t>
            </a:r>
            <a:r>
              <a:rPr lang="en-GB" sz="2800" dirty="0"/>
              <a:t> (concerning how our mind </a:t>
            </a:r>
            <a:r>
              <a:rPr lang="en-GB" sz="2800"/>
              <a:t>works)?</a:t>
            </a:r>
            <a:endParaRPr lang="en-GB" sz="2800" dirty="0"/>
          </a:p>
          <a:p>
            <a:pPr>
              <a:spcBef>
                <a:spcPct val="40000"/>
              </a:spcBef>
            </a:pPr>
            <a:r>
              <a:rPr lang="en-GB" sz="2800" dirty="0"/>
              <a:t>The plausible answer here is: </a:t>
            </a:r>
            <a:r>
              <a:rPr lang="en-GB" sz="2800" i="1" dirty="0"/>
              <a:t>“both!”:</a:t>
            </a:r>
          </a:p>
          <a:p>
            <a:pPr lvl="1">
              <a:spcBef>
                <a:spcPct val="40000"/>
              </a:spcBef>
            </a:pPr>
            <a:r>
              <a:rPr lang="en-GB" sz="2500"/>
              <a:t>Hume does indeed draw </a:t>
            </a:r>
            <a:r>
              <a:rPr lang="en-GB" sz="2500" dirty="0"/>
              <a:t>conclusions about how our mind works in making </a:t>
            </a:r>
            <a:r>
              <a:rPr lang="en-GB" sz="2500"/>
              <a:t>inductive inferences.</a:t>
            </a:r>
            <a:endParaRPr lang="en-GB" sz="2500" dirty="0"/>
          </a:p>
          <a:p>
            <a:pPr lvl="1">
              <a:spcBef>
                <a:spcPct val="40000"/>
              </a:spcBef>
            </a:pPr>
            <a:r>
              <a:rPr lang="en-GB" sz="2500" dirty="0"/>
              <a:t>But his </a:t>
            </a:r>
            <a:r>
              <a:rPr lang="en-GB" sz="2500"/>
              <a:t>argument proceeds </a:t>
            </a:r>
            <a:r>
              <a:rPr lang="en-GB" sz="2500" dirty="0"/>
              <a:t>by </a:t>
            </a:r>
            <a:r>
              <a:rPr lang="en-GB" sz="2500" i="1" u="sng" dirty="0"/>
              <a:t>ruling out</a:t>
            </a:r>
            <a:r>
              <a:rPr lang="en-GB" sz="2500" dirty="0"/>
              <a:t> the competing hypothesis that we suppose continuing uniformity on the basis of having good evidence for it</a:t>
            </a:r>
            <a:r>
              <a:rPr lang="en-GB" sz="2500"/>
              <a:t>.  It shows that </a:t>
            </a:r>
            <a:r>
              <a:rPr lang="en-GB" sz="2500" i="1">
                <a:solidFill>
                  <a:srgbClr val="FF9999"/>
                </a:solidFill>
              </a:rPr>
              <a:t>we do not in fact </a:t>
            </a:r>
            <a:r>
              <a:rPr lang="en-GB" sz="2500">
                <a:solidFill>
                  <a:srgbClr val="FF9999"/>
                </a:solidFill>
              </a:rPr>
              <a:t>base our inferences on “reason”, because </a:t>
            </a:r>
            <a:r>
              <a:rPr lang="en-GB" sz="2500" i="1">
                <a:solidFill>
                  <a:srgbClr val="FF9999"/>
                </a:solidFill>
              </a:rPr>
              <a:t>it would be impossible for us to do so</a:t>
            </a:r>
            <a:r>
              <a:rPr lang="en-GB" sz="2500"/>
              <a:t>.</a:t>
            </a:r>
            <a:endParaRPr lang="en-GB" sz="2500" dirty="0"/>
          </a:p>
        </p:txBody>
      </p:sp>
    </p:spTree>
    <p:extLst>
      <p:ext uri="{BB962C8B-B14F-4D97-AF65-F5344CB8AC3E}">
        <p14:creationId xmlns:p14="http://schemas.microsoft.com/office/powerpoint/2010/main" val="410054623"/>
      </p:ext>
    </p:extLst>
  </p:cSld>
  <p:clrMapOvr>
    <a:masterClrMapping/>
  </p:clrMapOvr>
  <p:transition spd="med">
    <p:cover/>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161</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a:t>But Is Hume Himself Sceptical?</a:t>
            </a:r>
            <a:endParaRPr lang="en-GB" sz="4000" dirty="0"/>
          </a:p>
        </p:txBody>
      </p:sp>
      <p:sp>
        <p:nvSpPr>
          <p:cNvPr id="854019" name="Rectangle 3"/>
          <p:cNvSpPr>
            <a:spLocks noGrp="1" noChangeArrowheads="1"/>
          </p:cNvSpPr>
          <p:nvPr>
            <p:ph type="body" idx="4294967295"/>
          </p:nvPr>
        </p:nvSpPr>
        <p:spPr>
          <a:xfrm>
            <a:off x="611560" y="1124744"/>
            <a:ext cx="8136904" cy="5508611"/>
          </a:xfrm>
        </p:spPr>
        <p:txBody>
          <a:bodyPr/>
          <a:lstStyle/>
          <a:p>
            <a:pPr>
              <a:spcBef>
                <a:spcPct val="40000"/>
              </a:spcBef>
            </a:pPr>
            <a:r>
              <a:rPr lang="en-GB" sz="2800"/>
              <a:t>In the final section of the </a:t>
            </a:r>
            <a:r>
              <a:rPr lang="en-GB" sz="2800" i="1"/>
              <a:t>Enquiry</a:t>
            </a:r>
            <a:r>
              <a:rPr lang="en-GB" sz="2800"/>
              <a:t>, Hume revisits his argument of Section 4, apparently putting it in the mouth of “the sceptic”:</a:t>
            </a:r>
          </a:p>
          <a:p>
            <a:pPr marL="857250" lvl="2" indent="0">
              <a:spcBef>
                <a:spcPct val="40000"/>
              </a:spcBef>
              <a:buNone/>
            </a:pPr>
            <a:r>
              <a:rPr lang="en-US" sz="2600"/>
              <a:t>“The sceptic … seems to have ample matter of triumph; while he justly insists … that we have no argument to convince us</a:t>
            </a:r>
            <a:r>
              <a:rPr lang="en-GB" sz="2600"/>
              <a:t>” of UP  (</a:t>
            </a:r>
            <a:r>
              <a:rPr lang="en-GB" sz="2600" i="1"/>
              <a:t>E</a:t>
            </a:r>
            <a:r>
              <a:rPr lang="en-GB" sz="2600"/>
              <a:t> 12.22)</a:t>
            </a:r>
            <a:endParaRPr lang="en-GB" sz="2600" dirty="0"/>
          </a:p>
          <a:p>
            <a:pPr>
              <a:spcBef>
                <a:spcPct val="40000"/>
              </a:spcBef>
            </a:pPr>
            <a:r>
              <a:rPr lang="en-GB" sz="2800"/>
              <a:t>Hume then (at </a:t>
            </a:r>
            <a:r>
              <a:rPr lang="en-GB" sz="2800" i="1"/>
              <a:t>E</a:t>
            </a:r>
            <a:r>
              <a:rPr lang="en-GB" sz="2800"/>
              <a:t> 12.23) goes on to </a:t>
            </a:r>
            <a:r>
              <a:rPr lang="en-GB" sz="2800" i="1"/>
              <a:t>answer</a:t>
            </a:r>
            <a:r>
              <a:rPr lang="en-GB" sz="2800"/>
              <a:t> the sceptic, suggesting that his extreme doubts are pointless, and ultimately advocating (in the final Part 3 of Section 12) a form of “mitigated scepticism” which looks rather like scientifically informed common sense.</a:t>
            </a:r>
            <a:endParaRPr lang="en-GB" sz="2800" dirty="0"/>
          </a:p>
        </p:txBody>
      </p:sp>
    </p:spTree>
    <p:extLst>
      <p:ext uri="{BB962C8B-B14F-4D97-AF65-F5344CB8AC3E}">
        <p14:creationId xmlns:p14="http://schemas.microsoft.com/office/powerpoint/2010/main" val="3046977919"/>
      </p:ext>
    </p:extLst>
  </p:cSld>
  <p:clrMapOvr>
    <a:masterClrMapping/>
  </p:clrMapOvr>
  <p:transition spd="med">
    <p:cove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162</a:t>
            </a:fld>
            <a:endParaRPr lang="en-US" sz="1600">
              <a:effectLst>
                <a:outerShdw blurRad="38100" dist="38100" dir="2700000" algn="tl">
                  <a:srgbClr val="000000"/>
                </a:outerShdw>
              </a:effectLst>
              <a:ea typeface="ＭＳ Ｐゴシック" charset="-128"/>
            </a:endParaRPr>
          </a:p>
        </p:txBody>
      </p:sp>
      <p:sp>
        <p:nvSpPr>
          <p:cNvPr id="854019" name="Rectangle 3"/>
          <p:cNvSpPr>
            <a:spLocks noGrp="1" noChangeArrowheads="1"/>
          </p:cNvSpPr>
          <p:nvPr>
            <p:ph type="body" idx="4294967295"/>
          </p:nvPr>
        </p:nvSpPr>
        <p:spPr>
          <a:xfrm>
            <a:off x="647564" y="260648"/>
            <a:ext cx="8172908" cy="6372707"/>
          </a:xfrm>
        </p:spPr>
        <p:txBody>
          <a:bodyPr/>
          <a:lstStyle/>
          <a:p>
            <a:pPr>
              <a:spcBef>
                <a:spcPct val="40000"/>
              </a:spcBef>
            </a:pPr>
            <a:r>
              <a:rPr lang="en-GB" sz="2800"/>
              <a:t>Summarising “the sceptic’s” argument:</a:t>
            </a:r>
          </a:p>
          <a:p>
            <a:pPr marL="914400" lvl="1" indent="-457200">
              <a:spcBef>
                <a:spcPct val="40000"/>
              </a:spcBef>
              <a:buFont typeface="+mj-lt"/>
              <a:buAutoNum type="arabicPeriod"/>
            </a:pPr>
            <a:r>
              <a:rPr lang="en-GB" sz="2600"/>
              <a:t>All inference to the unobserved depends on UP.</a:t>
            </a:r>
          </a:p>
          <a:p>
            <a:pPr marL="914400" lvl="1" indent="-457200">
              <a:spcBef>
                <a:spcPct val="40000"/>
              </a:spcBef>
              <a:buFont typeface="+mj-lt"/>
              <a:buAutoNum type="arabicPeriod"/>
            </a:pPr>
            <a:r>
              <a:rPr lang="en-GB" sz="2600"/>
              <a:t>UP cannot be given any independent</a:t>
            </a:r>
            <a:br>
              <a:rPr lang="en-GB" sz="2600"/>
            </a:br>
            <a:r>
              <a:rPr lang="en-GB" sz="2600"/>
              <a:t>(e.g. non-circular) epistemological foundation.</a:t>
            </a:r>
          </a:p>
          <a:p>
            <a:pPr lvl="1">
              <a:spcBef>
                <a:spcPct val="40000"/>
              </a:spcBef>
              <a:buFont typeface="Times New Roman" panose="02020603050405020304" pitchFamily="18" charset="0"/>
              <a:buChar char="⸫"/>
            </a:pPr>
            <a:r>
              <a:rPr lang="en-GB" sz="2600"/>
              <a:t>	We should give up inference to the unobserved.</a:t>
            </a:r>
            <a:endParaRPr lang="en-GB" sz="3000"/>
          </a:p>
          <a:p>
            <a:pPr>
              <a:spcBef>
                <a:spcPts val="1800"/>
              </a:spcBef>
            </a:pPr>
            <a:r>
              <a:rPr lang="en-GB" sz="2800"/>
              <a:t>This way of arguing emphasises the sceptical premise 2, but Hume’s response to “the sceptic” implicitly emphasises instead premise 1:</a:t>
            </a:r>
          </a:p>
          <a:p>
            <a:pPr marL="914400" lvl="1" indent="-457200">
              <a:spcBef>
                <a:spcPct val="40000"/>
              </a:spcBef>
              <a:buFont typeface="+mj-lt"/>
              <a:buAutoNum type="arabicPeriod"/>
            </a:pPr>
            <a:r>
              <a:rPr lang="en-GB" sz="2600"/>
              <a:t>All inference to the unobserved depends on UP.</a:t>
            </a:r>
          </a:p>
          <a:p>
            <a:pPr lvl="1">
              <a:spcBef>
                <a:spcPct val="40000"/>
              </a:spcBef>
              <a:buFont typeface="Times New Roman" panose="02020603050405020304" pitchFamily="18" charset="0"/>
              <a:buChar char="⸫"/>
            </a:pPr>
            <a:r>
              <a:rPr lang="en-GB" sz="2600"/>
              <a:t>	We should take UP for granted.</a:t>
            </a:r>
          </a:p>
          <a:p>
            <a:pPr>
              <a:spcBef>
                <a:spcPts val="1800"/>
              </a:spcBef>
            </a:pPr>
            <a:r>
              <a:rPr lang="en-GB" sz="3000"/>
              <a:t>We shall be saying more about Hume’s attitude to scepticism in due course …</a:t>
            </a:r>
            <a:endParaRPr lang="en-GB" sz="2600"/>
          </a:p>
        </p:txBody>
      </p:sp>
    </p:spTree>
    <p:extLst>
      <p:ext uri="{BB962C8B-B14F-4D97-AF65-F5344CB8AC3E}">
        <p14:creationId xmlns:p14="http://schemas.microsoft.com/office/powerpoint/2010/main" val="3044779729"/>
      </p:ext>
    </p:extLst>
  </p:cSld>
  <p:clrMapOvr>
    <a:masterClrMapping/>
  </p:clrMapOvr>
  <p:transition spd="med">
    <p:cove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0D29-54E4-2BEA-E924-332CCB8F937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2C1EA81F-2B7A-E330-F2DE-4B81DCF2E990}"/>
              </a:ext>
            </a:extLst>
          </p:cNvPr>
          <p:cNvSpPr>
            <a:spLocks noGrp="1" noChangeArrowheads="1"/>
          </p:cNvSpPr>
          <p:nvPr>
            <p:ph type="ctrTitle"/>
          </p:nvPr>
        </p:nvSpPr>
        <p:spPr>
          <a:xfrm>
            <a:off x="179388" y="296863"/>
            <a:ext cx="4608512" cy="6300787"/>
          </a:xfrm>
        </p:spPr>
        <p:txBody>
          <a:bodyPr/>
          <a:lstStyle/>
          <a:p>
            <a:r>
              <a:rPr lang="en-GB"/>
              <a:t>4(</a:t>
            </a:r>
            <a:r>
              <a:rPr lang="en-GB" dirty="0"/>
              <a:t>c</a:t>
            </a:r>
            <a:r>
              <a:rPr lang="en-GB"/>
              <a:t>)</a:t>
            </a:r>
            <a:br>
              <a:rPr lang="en-GB" dirty="0"/>
            </a:br>
            <a:br>
              <a:rPr lang="en-GB"/>
            </a:br>
            <a:r>
              <a:rPr lang="en-GB"/>
              <a:t>More on Belief, Association, and Probability</a:t>
            </a:r>
            <a:endParaRPr lang="en-US" dirty="0"/>
          </a:p>
        </p:txBody>
      </p:sp>
      <p:pic>
        <p:nvPicPr>
          <p:cNvPr id="847875" name="Picture 3" descr="treatise1">
            <a:extLst>
              <a:ext uri="{FF2B5EF4-FFF2-40B4-BE49-F238E27FC236}">
                <a16:creationId xmlns:a16="http://schemas.microsoft.com/office/drawing/2014/main" id="{0740F1F1-D9B8-4936-F44F-F46FE2615492}"/>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70763998"/>
      </p:ext>
    </p:extLst>
  </p:cSld>
  <p:clrMapOvr>
    <a:masterClrMapping/>
  </p:clrMapOvr>
  <p:transition spd="med">
    <p:cove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3F027-F2B8-0FEE-71E3-4291D3C3CAB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1CD75DC-EC43-C8BA-D91A-C885D706E570}"/>
              </a:ext>
            </a:extLst>
          </p:cNvPr>
          <p:cNvSpPr>
            <a:spLocks noGrp="1"/>
          </p:cNvSpPr>
          <p:nvPr>
            <p:ph type="sldNum" sz="quarter" idx="10"/>
          </p:nvPr>
        </p:nvSpPr>
        <p:spPr/>
        <p:txBody>
          <a:bodyPr/>
          <a:lstStyle/>
          <a:p>
            <a:fld id="{74385EA9-12FC-43D2-82E1-6B1A505B1B2F}" type="slidenum">
              <a:rPr lang="en-US"/>
              <a:pPr/>
              <a:t>164</a:t>
            </a:fld>
            <a:endParaRPr lang="en-US"/>
          </a:p>
        </p:txBody>
      </p:sp>
      <p:sp>
        <p:nvSpPr>
          <p:cNvPr id="4" name="Slide Number Placeholder 3">
            <a:extLst>
              <a:ext uri="{FF2B5EF4-FFF2-40B4-BE49-F238E27FC236}">
                <a16:creationId xmlns:a16="http://schemas.microsoft.com/office/drawing/2014/main" id="{D5E388D3-C1D5-B3A1-85EC-F15C677ACC3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164</a:t>
            </a:fld>
            <a:endParaRPr lang="en-US" sz="1600">
              <a:effectLst>
                <a:outerShdw blurRad="38100" dist="38100" dir="2700000" algn="tl">
                  <a:srgbClr val="000000"/>
                </a:outerShdw>
              </a:effectLst>
              <a:ea typeface="ＭＳ Ｐゴシック" charset="-128"/>
            </a:endParaRPr>
          </a:p>
        </p:txBody>
      </p:sp>
      <p:sp>
        <p:nvSpPr>
          <p:cNvPr id="854018" name="Rectangle 2">
            <a:extLst>
              <a:ext uri="{FF2B5EF4-FFF2-40B4-BE49-F238E27FC236}">
                <a16:creationId xmlns:a16="http://schemas.microsoft.com/office/drawing/2014/main" id="{8E17C228-B7D0-6B58-5CEF-F830F0861099}"/>
              </a:ext>
            </a:extLst>
          </p:cNvPr>
          <p:cNvSpPr>
            <a:spLocks noGrp="1" noChangeArrowheads="1"/>
          </p:cNvSpPr>
          <p:nvPr>
            <p:ph type="title" idx="4294967295"/>
          </p:nvPr>
        </p:nvSpPr>
        <p:spPr>
          <a:xfrm>
            <a:off x="143508" y="80628"/>
            <a:ext cx="8892988" cy="738919"/>
          </a:xfrm>
        </p:spPr>
        <p:txBody>
          <a:bodyPr/>
          <a:lstStyle/>
          <a:p>
            <a:r>
              <a:rPr lang="en-GB" sz="4000"/>
              <a:t>Custom and Belief</a:t>
            </a:r>
            <a:endParaRPr lang="en-GB" sz="4000" dirty="0"/>
          </a:p>
        </p:txBody>
      </p:sp>
      <p:sp>
        <p:nvSpPr>
          <p:cNvPr id="854019" name="Rectangle 3">
            <a:extLst>
              <a:ext uri="{FF2B5EF4-FFF2-40B4-BE49-F238E27FC236}">
                <a16:creationId xmlns:a16="http://schemas.microsoft.com/office/drawing/2014/main" id="{63F33410-1619-38B8-628D-7C7DF9D7B535}"/>
              </a:ext>
            </a:extLst>
          </p:cNvPr>
          <p:cNvSpPr>
            <a:spLocks noGrp="1" noChangeArrowheads="1"/>
          </p:cNvSpPr>
          <p:nvPr>
            <p:ph type="body" idx="4294967295"/>
          </p:nvPr>
        </p:nvSpPr>
        <p:spPr>
          <a:xfrm>
            <a:off x="611560" y="980728"/>
            <a:ext cx="8280920" cy="5580619"/>
          </a:xfrm>
        </p:spPr>
        <p:txBody>
          <a:bodyPr/>
          <a:lstStyle/>
          <a:p>
            <a:pPr>
              <a:spcBef>
                <a:spcPct val="40000"/>
              </a:spcBef>
            </a:pPr>
            <a:r>
              <a:rPr lang="en-GB" sz="2700" dirty="0"/>
              <a:t>We have already seen (in Lecture 2) some of how Hume proceeds after </a:t>
            </a:r>
            <a:r>
              <a:rPr lang="en-GB" sz="2700" i="1" dirty="0"/>
              <a:t>Treatise</a:t>
            </a:r>
            <a:r>
              <a:rPr lang="en-GB" sz="2700" dirty="0"/>
              <a:t> 1.3.6, having identified </a:t>
            </a:r>
            <a:r>
              <a:rPr lang="en-GB" sz="2700" i="1" dirty="0"/>
              <a:t>custom</a:t>
            </a:r>
            <a:r>
              <a:rPr lang="en-GB" sz="2700" dirty="0"/>
              <a:t> as the crucial mechanism that determines our belief in the unobserved.</a:t>
            </a:r>
          </a:p>
          <a:p>
            <a:pPr lvl="1">
              <a:spcBef>
                <a:spcPct val="40000"/>
              </a:spcBef>
            </a:pPr>
            <a:r>
              <a:rPr lang="en-GB" sz="2500" dirty="0"/>
              <a:t>Paradigmatically, having seen </a:t>
            </a:r>
            <a:r>
              <a:rPr lang="en-GB" sz="2500" i="1" dirty="0"/>
              <a:t>A</a:t>
            </a:r>
            <a:r>
              <a:rPr lang="en-GB" sz="2500" dirty="0"/>
              <a:t> followed by </a:t>
            </a:r>
            <a:r>
              <a:rPr lang="en-GB" sz="2500" i="1" dirty="0"/>
              <a:t>B</a:t>
            </a:r>
            <a:r>
              <a:rPr lang="en-GB" sz="2500" dirty="0"/>
              <a:t> repeatedly, when we next see </a:t>
            </a:r>
            <a:r>
              <a:rPr lang="en-GB" sz="2500" i="1" dirty="0"/>
              <a:t>A</a:t>
            </a:r>
            <a:r>
              <a:rPr lang="en-GB" sz="2500" dirty="0"/>
              <a:t>, we automatically expect </a:t>
            </a:r>
            <a:r>
              <a:rPr lang="en-GB" sz="2500" i="1" dirty="0"/>
              <a:t>B</a:t>
            </a:r>
            <a:r>
              <a:rPr lang="en-GB" sz="2500" dirty="0"/>
              <a:t>.  The </a:t>
            </a:r>
            <a:r>
              <a:rPr lang="en-GB" sz="2500" i="1" dirty="0"/>
              <a:t>force and vivacity</a:t>
            </a:r>
            <a:r>
              <a:rPr lang="en-GB" sz="2500" dirty="0"/>
              <a:t> of the </a:t>
            </a:r>
            <a:r>
              <a:rPr lang="en-GB" sz="2500" i="1" dirty="0"/>
              <a:t>impression </a:t>
            </a:r>
            <a:r>
              <a:rPr lang="en-GB" sz="2500" dirty="0"/>
              <a:t>of </a:t>
            </a:r>
            <a:r>
              <a:rPr lang="en-GB" sz="2500" i="1" dirty="0"/>
              <a:t>A</a:t>
            </a:r>
            <a:r>
              <a:rPr lang="en-GB" sz="2500" dirty="0"/>
              <a:t> is communicated through the customary </a:t>
            </a:r>
            <a:r>
              <a:rPr lang="en-GB" sz="2500" dirty="0" err="1"/>
              <a:t>assoc-iational</a:t>
            </a:r>
            <a:r>
              <a:rPr lang="en-GB" sz="2500" dirty="0"/>
              <a:t> link from </a:t>
            </a:r>
            <a:r>
              <a:rPr lang="en-GB" sz="2500" i="1" dirty="0"/>
              <a:t>A</a:t>
            </a:r>
            <a:r>
              <a:rPr lang="en-GB" sz="2500" dirty="0"/>
              <a:t> to </a:t>
            </a:r>
            <a:r>
              <a:rPr lang="en-GB" sz="2500" i="1" dirty="0"/>
              <a:t>B</a:t>
            </a:r>
            <a:r>
              <a:rPr lang="en-GB" sz="2500" dirty="0"/>
              <a:t>, thus changing our idea of </a:t>
            </a:r>
            <a:r>
              <a:rPr lang="en-GB" sz="2500" i="1" dirty="0"/>
              <a:t>B</a:t>
            </a:r>
            <a:r>
              <a:rPr lang="en-GB" sz="2500" dirty="0"/>
              <a:t> into a </a:t>
            </a:r>
            <a:r>
              <a:rPr lang="en-GB" sz="2500" i="1" dirty="0"/>
              <a:t>lively idea</a:t>
            </a:r>
            <a:r>
              <a:rPr lang="en-GB" sz="2500" dirty="0"/>
              <a:t> (i.e. a belief that </a:t>
            </a:r>
            <a:r>
              <a:rPr lang="en-GB" sz="2500" i="1" dirty="0"/>
              <a:t>B</a:t>
            </a:r>
            <a:r>
              <a:rPr lang="en-GB" sz="2500" dirty="0"/>
              <a:t> will occur). </a:t>
            </a:r>
          </a:p>
          <a:p>
            <a:pPr>
              <a:spcBef>
                <a:spcPct val="40000"/>
              </a:spcBef>
            </a:pPr>
            <a:r>
              <a:rPr lang="en-GB" sz="2700" i="1" dirty="0"/>
              <a:t>T</a:t>
            </a:r>
            <a:r>
              <a:rPr lang="en-GB" sz="2700" dirty="0"/>
              <a:t> 1.3.7.5 defines belief accordingly, after which Section 1.3.8 discusses “the causes of belief”, and presents Hume’s hydraulic theory (slides 50-52).</a:t>
            </a:r>
            <a:endParaRPr lang="en-GB" sz="2500" dirty="0"/>
          </a:p>
        </p:txBody>
      </p:sp>
    </p:spTree>
    <p:extLst>
      <p:ext uri="{BB962C8B-B14F-4D97-AF65-F5344CB8AC3E}">
        <p14:creationId xmlns:p14="http://schemas.microsoft.com/office/powerpoint/2010/main" val="1967639119"/>
      </p:ext>
    </p:extLst>
  </p:cSld>
  <p:clrMapOvr>
    <a:masterClrMapping/>
  </p:clrMapOvr>
  <p:transition spd="med">
    <p:cove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293D714-CC65-4ED5-ABF2-2F37B490839A}" type="slidenum">
              <a:rPr lang="en-US"/>
              <a:pPr/>
              <a:t>165</a:t>
            </a:fld>
            <a:endParaRPr lang="en-US"/>
          </a:p>
        </p:txBody>
      </p:sp>
      <p:sp>
        <p:nvSpPr>
          <p:cNvPr id="901123" name="Rectangle 3"/>
          <p:cNvSpPr>
            <a:spLocks noGrp="1" noChangeArrowheads="1"/>
          </p:cNvSpPr>
          <p:nvPr>
            <p:ph type="body" idx="1"/>
          </p:nvPr>
        </p:nvSpPr>
        <p:spPr>
          <a:xfrm>
            <a:off x="251520" y="188640"/>
            <a:ext cx="8712968" cy="6444716"/>
          </a:xfrm>
        </p:spPr>
        <p:txBody>
          <a:bodyPr/>
          <a:lstStyle/>
          <a:p>
            <a:pPr eaLnBrk="1" hangingPunct="1"/>
            <a:r>
              <a:rPr lang="en-GB" sz="2700"/>
              <a:t>In the </a:t>
            </a:r>
            <a:r>
              <a:rPr lang="en-GB" sz="2700" i="1"/>
              <a:t>Treatise</a:t>
            </a:r>
            <a:r>
              <a:rPr lang="en-GB" sz="2700"/>
              <a:t>, Hume expresses the upshot of his theory in terms that are (misleadingly) hyperbolic:</a:t>
            </a:r>
          </a:p>
          <a:p>
            <a:pPr lvl="1" eaLnBrk="1" hangingPunct="1">
              <a:spcBef>
                <a:spcPts val="1200"/>
              </a:spcBef>
              <a:buFontTx/>
              <a:buNone/>
            </a:pPr>
            <a:r>
              <a:rPr lang="en-GB" sz="2500"/>
              <a:t>	</a:t>
            </a:r>
            <a:r>
              <a:rPr lang="en-GB" sz="2400"/>
              <a:t>“Thus all probable reasoning is nothing but a species of sensation.  ...  When I am convinc’d of any principle, ’tis only an idea, which strikes more strongly upon me.  When I give the preference to one set of arguments above another, I do nothing but decide from my feeling concerning the superiority of their influence.”  (</a:t>
            </a:r>
            <a:r>
              <a:rPr lang="en-GB" sz="2400" i="1"/>
              <a:t>T</a:t>
            </a:r>
            <a:r>
              <a:rPr lang="en-GB" sz="2400"/>
              <a:t> 1.3.8.12)</a:t>
            </a:r>
          </a:p>
          <a:p>
            <a:pPr eaLnBrk="1" hangingPunct="1">
              <a:spcBef>
                <a:spcPts val="1800"/>
              </a:spcBef>
            </a:pPr>
            <a:r>
              <a:rPr lang="en-GB" sz="2700"/>
              <a:t>The </a:t>
            </a:r>
            <a:r>
              <a:rPr lang="en-GB" sz="2700" i="1"/>
              <a:t>Enquiry </a:t>
            </a:r>
            <a:r>
              <a:rPr lang="en-GB" sz="2700"/>
              <a:t>also stresses that belief is involuntary:</a:t>
            </a:r>
            <a:endParaRPr lang="en-GB" sz="2700" dirty="0"/>
          </a:p>
          <a:p>
            <a:pPr lvl="1" eaLnBrk="1" hangingPunct="1">
              <a:spcBef>
                <a:spcPts val="1200"/>
              </a:spcBef>
              <a:buFontTx/>
              <a:buNone/>
            </a:pPr>
            <a:r>
              <a:rPr lang="en-GB" sz="2400"/>
              <a:t>	</a:t>
            </a:r>
            <a:r>
              <a:rPr lang="en-US" sz="2400"/>
              <a:t>“</a:t>
            </a:r>
            <a:r>
              <a:rPr lang="en-GB" sz="2400" dirty="0"/>
              <a:t>belief is the necessary result of placing the mind in such circumstances.  It is an operation of the soul, when we are so situated, as unavoidable as to feel the passion of love, when we </a:t>
            </a:r>
            <a:r>
              <a:rPr lang="en-GB" sz="2400"/>
              <a:t>receive benefits; …  All these operations are a species of natural instincts, which no reasoning … is able, either to produce, or to prevent.” </a:t>
            </a:r>
            <a:r>
              <a:rPr lang="en-GB" sz="2400" dirty="0"/>
              <a:t>(</a:t>
            </a:r>
            <a:r>
              <a:rPr lang="en-GB" sz="2400" i="1" dirty="0"/>
              <a:t>E</a:t>
            </a:r>
            <a:r>
              <a:rPr lang="en-GB" sz="2400" dirty="0"/>
              <a:t> 5.8)</a:t>
            </a:r>
            <a:endParaRPr lang="en-US" sz="2400" dirty="0"/>
          </a:p>
        </p:txBody>
      </p:sp>
    </p:spTree>
    <p:extLst>
      <p:ext uri="{BB962C8B-B14F-4D97-AF65-F5344CB8AC3E}">
        <p14:creationId xmlns:p14="http://schemas.microsoft.com/office/powerpoint/2010/main" val="4209208652"/>
      </p:ext>
    </p:extLst>
  </p:cSld>
  <p:clrMapOvr>
    <a:masterClrMapping/>
  </p:clrMapOvr>
  <p:transition spd="med">
    <p:cove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636"/>
            <a:ext cx="8229600" cy="756084"/>
          </a:xfrm>
        </p:spPr>
        <p:txBody>
          <a:bodyPr/>
          <a:lstStyle/>
          <a:p>
            <a:r>
              <a:rPr lang="en-GB" sz="4000"/>
              <a:t>A Puzzle in </a:t>
            </a:r>
            <a:r>
              <a:rPr lang="en-GB" sz="4000" i="1"/>
              <a:t>Treatise</a:t>
            </a:r>
            <a:r>
              <a:rPr lang="en-GB" sz="4000"/>
              <a:t> 1.3.9</a:t>
            </a:r>
            <a:endParaRPr lang="en-GB" sz="4000" i="1" dirty="0"/>
          </a:p>
        </p:txBody>
      </p:sp>
      <p:sp>
        <p:nvSpPr>
          <p:cNvPr id="3" name="Content Placeholder 2"/>
          <p:cNvSpPr>
            <a:spLocks noGrp="1"/>
          </p:cNvSpPr>
          <p:nvPr>
            <p:ph idx="1"/>
          </p:nvPr>
        </p:nvSpPr>
        <p:spPr>
          <a:xfrm>
            <a:off x="503548" y="1160748"/>
            <a:ext cx="8388932" cy="5436604"/>
          </a:xfrm>
        </p:spPr>
        <p:txBody>
          <a:bodyPr/>
          <a:lstStyle/>
          <a:p>
            <a:r>
              <a:rPr lang="en-GB" sz="2700"/>
              <a:t>At </a:t>
            </a:r>
            <a:r>
              <a:rPr lang="en-GB" sz="2700" i="1"/>
              <a:t>T</a:t>
            </a:r>
            <a:r>
              <a:rPr lang="en-GB" sz="2700"/>
              <a:t> 1.3.9.2, Hume notes that </a:t>
            </a:r>
            <a:r>
              <a:rPr lang="en-GB" sz="2700" i="1" dirty="0"/>
              <a:t>causation</a:t>
            </a:r>
            <a:r>
              <a:rPr lang="en-GB" sz="2700" dirty="0"/>
              <a:t> is not the only associative relation that conveys force </a:t>
            </a:r>
            <a:r>
              <a:rPr lang="en-GB" sz="2700"/>
              <a:t>and viv-acity </a:t>
            </a:r>
            <a:r>
              <a:rPr lang="en-GB" sz="2700" dirty="0"/>
              <a:t>to a related idea: </a:t>
            </a:r>
            <a:r>
              <a:rPr lang="en-GB" sz="2700" i="1" dirty="0"/>
              <a:t>resemblance</a:t>
            </a:r>
            <a:r>
              <a:rPr lang="en-GB" sz="2700" dirty="0"/>
              <a:t> </a:t>
            </a:r>
            <a:r>
              <a:rPr lang="en-GB" sz="2700"/>
              <a:t>and </a:t>
            </a:r>
            <a:r>
              <a:rPr lang="en-GB" sz="2700" i="1"/>
              <a:t>contiguity</a:t>
            </a:r>
            <a:r>
              <a:rPr lang="en-GB" sz="2700"/>
              <a:t> do so too </a:t>
            </a:r>
            <a:r>
              <a:rPr lang="en-GB" sz="2700" dirty="0"/>
              <a:t>(cf. </a:t>
            </a:r>
            <a:r>
              <a:rPr lang="en-GB" sz="2700" i="1" dirty="0"/>
              <a:t>T</a:t>
            </a:r>
            <a:r>
              <a:rPr lang="en-GB" sz="2700" dirty="0"/>
              <a:t> 1.1.4.1</a:t>
            </a:r>
            <a:r>
              <a:rPr lang="en-GB" sz="2700"/>
              <a:t>).  And he asks why only </a:t>
            </a:r>
            <a:r>
              <a:rPr lang="en-GB" sz="2700" i="1"/>
              <a:t>causation</a:t>
            </a:r>
            <a:r>
              <a:rPr lang="en-GB" sz="2700"/>
              <a:t> – of the three – generates </a:t>
            </a:r>
            <a:r>
              <a:rPr lang="en-GB" sz="2700" i="1"/>
              <a:t>belief</a:t>
            </a:r>
            <a:r>
              <a:rPr lang="en-GB" sz="2700"/>
              <a:t>.</a:t>
            </a:r>
            <a:endParaRPr lang="en-GB" sz="2700" dirty="0"/>
          </a:p>
          <a:p>
            <a:pPr>
              <a:spcBef>
                <a:spcPts val="1800"/>
              </a:spcBef>
            </a:pPr>
            <a:r>
              <a:rPr lang="en-GB" sz="2700" dirty="0"/>
              <a:t>Hume proposes a neat associative answer:</a:t>
            </a:r>
          </a:p>
          <a:p>
            <a:pPr lvl="1">
              <a:spcBef>
                <a:spcPts val="1200"/>
              </a:spcBef>
            </a:pPr>
            <a:r>
              <a:rPr lang="en-GB" sz="2500" dirty="0"/>
              <a:t>§3-4: causal inference enables us to construct a </a:t>
            </a:r>
            <a:r>
              <a:rPr lang="en-GB" sz="2500" i="1" dirty="0"/>
              <a:t>system of realities</a:t>
            </a:r>
            <a:r>
              <a:rPr lang="en-GB" sz="2500" dirty="0"/>
              <a:t> that we combine with the realities that we perceive or remember.</a:t>
            </a:r>
          </a:p>
          <a:p>
            <a:pPr lvl="1">
              <a:spcBef>
                <a:spcPts val="1200"/>
              </a:spcBef>
            </a:pPr>
            <a:r>
              <a:rPr lang="en-GB" sz="2500" dirty="0"/>
              <a:t>§6-7: </a:t>
            </a:r>
            <a:r>
              <a:rPr lang="en-GB" sz="2500" i="1" dirty="0"/>
              <a:t>resemblance</a:t>
            </a:r>
            <a:r>
              <a:rPr lang="en-GB" sz="2500" dirty="0"/>
              <a:t> and </a:t>
            </a:r>
            <a:r>
              <a:rPr lang="en-GB" sz="2500" i="1" dirty="0"/>
              <a:t>contiguity</a:t>
            </a:r>
            <a:r>
              <a:rPr lang="en-GB" sz="2500" dirty="0"/>
              <a:t> lead our minds capriciously in various directions; causation presents objects that “are fixt and unalterable” (quotes follow).</a:t>
            </a:r>
          </a:p>
          <a:p>
            <a:endParaRPr lang="en-GB" sz="27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166</a:t>
            </a:fld>
            <a:endParaRPr lang="en-US"/>
          </a:p>
        </p:txBody>
      </p:sp>
    </p:spTree>
    <p:extLst>
      <p:ext uri="{BB962C8B-B14F-4D97-AF65-F5344CB8AC3E}">
        <p14:creationId xmlns:p14="http://schemas.microsoft.com/office/powerpoint/2010/main" val="1989001775"/>
      </p:ext>
    </p:extLst>
  </p:cSld>
  <p:clrMapOvr>
    <a:masterClrMapping/>
  </p:clrMapOvr>
  <p:transition spd="med">
    <p:cove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52636"/>
            <a:ext cx="8604956" cy="6300700"/>
          </a:xfrm>
        </p:spPr>
        <p:txBody>
          <a:bodyPr/>
          <a:lstStyle/>
          <a:p>
            <a:pPr>
              <a:buNone/>
            </a:pPr>
            <a:r>
              <a:rPr lang="en-GB" sz="2300" dirty="0"/>
              <a:t>	“There is no manner of necessity for the mind to feign any </a:t>
            </a:r>
            <a:r>
              <a:rPr lang="en-GB" sz="2300" i="1" dirty="0">
                <a:solidFill>
                  <a:srgbClr val="FF7C80"/>
                </a:solidFill>
              </a:rPr>
              <a:t>resembling</a:t>
            </a:r>
            <a:r>
              <a:rPr lang="en-GB" sz="2300" dirty="0"/>
              <a:t> and </a:t>
            </a:r>
            <a:r>
              <a:rPr lang="en-GB" sz="2300" i="1" dirty="0">
                <a:solidFill>
                  <a:srgbClr val="FF7C80"/>
                </a:solidFill>
              </a:rPr>
              <a:t>contiguous</a:t>
            </a:r>
            <a:r>
              <a:rPr lang="en-GB" sz="2300" dirty="0"/>
              <a:t> objects; and if </a:t>
            </a:r>
            <a:r>
              <a:rPr lang="en-GB" sz="2300"/>
              <a:t>it [does], </a:t>
            </a:r>
            <a:r>
              <a:rPr lang="en-GB" sz="2300" dirty="0"/>
              <a:t>there is as little necessity for it always to confine itself to the same</a:t>
            </a:r>
            <a:r>
              <a:rPr lang="en-GB" sz="2300"/>
              <a:t>, …  [N]othing </a:t>
            </a:r>
            <a:r>
              <a:rPr lang="en-GB" sz="2300" dirty="0"/>
              <a:t>but pure </a:t>
            </a:r>
            <a:r>
              <a:rPr lang="en-GB" sz="2300" i="1" dirty="0"/>
              <a:t>caprice</a:t>
            </a:r>
            <a:r>
              <a:rPr lang="en-GB" sz="2300" dirty="0"/>
              <a:t> can determine the mind to form it; and that principle being fluctuating and uncertain</a:t>
            </a:r>
            <a:r>
              <a:rPr lang="en-GB" sz="2300"/>
              <a:t>, … it [cannot] </a:t>
            </a:r>
            <a:r>
              <a:rPr lang="en-GB" sz="2300" dirty="0"/>
              <a:t>operate </a:t>
            </a:r>
            <a:r>
              <a:rPr lang="en-GB" sz="2300"/>
              <a:t>with … </a:t>
            </a:r>
            <a:r>
              <a:rPr lang="en-GB" sz="2300" dirty="0"/>
              <a:t>force </a:t>
            </a:r>
            <a:r>
              <a:rPr lang="en-GB" sz="2300"/>
              <a:t>and constancy</a:t>
            </a:r>
            <a:r>
              <a:rPr lang="en-GB" sz="2300" dirty="0"/>
              <a:t>.  The mind </a:t>
            </a:r>
            <a:r>
              <a:rPr lang="en-GB" sz="2300" dirty="0" err="1"/>
              <a:t>forsees</a:t>
            </a:r>
            <a:r>
              <a:rPr lang="en-GB" sz="2300" dirty="0"/>
              <a:t> and anticipates the change; </a:t>
            </a:r>
            <a:r>
              <a:rPr lang="en-GB" sz="2300"/>
              <a:t>and … </a:t>
            </a:r>
            <a:r>
              <a:rPr lang="en-GB" sz="2300" dirty="0"/>
              <a:t>feels the looseness of its actions, and the weak hold it has of its objects.”  (</a:t>
            </a:r>
            <a:r>
              <a:rPr lang="en-GB" sz="2300" i="1" dirty="0"/>
              <a:t>T</a:t>
            </a:r>
            <a:r>
              <a:rPr lang="en-GB" sz="2300" dirty="0"/>
              <a:t> </a:t>
            </a:r>
            <a:r>
              <a:rPr lang="en-GB" sz="2300"/>
              <a:t>1.3.9.6)</a:t>
            </a:r>
          </a:p>
          <a:p>
            <a:pPr>
              <a:spcBef>
                <a:spcPts val="1800"/>
              </a:spcBef>
              <a:buNone/>
            </a:pPr>
            <a:r>
              <a:rPr lang="en-GB" sz="2300"/>
              <a:t>	The relation of </a:t>
            </a:r>
            <a:r>
              <a:rPr lang="en-GB" sz="2300" i="1">
                <a:solidFill>
                  <a:srgbClr val="FF7C80"/>
                </a:solidFill>
              </a:rPr>
              <a:t>cause and effect </a:t>
            </a:r>
            <a:r>
              <a:rPr lang="en-GB" sz="2300"/>
              <a:t>has all the opposite advant-ages.  The objects it presents are fixt and unalterable.  The impressions of the memory never change in any considerable degree; and each impression [of a cause] draws along with it a precise idea [of the effect], which takes its place in the imagin-ation, as something solid and real, certain and invariable.  The thought is always determin’d to pass from the impression to the idea, and from that particular impression to that particular idea, without any choice or hesitation.”  (</a:t>
            </a:r>
            <a:r>
              <a:rPr lang="en-GB" sz="2300" i="1"/>
              <a:t>T</a:t>
            </a:r>
            <a:r>
              <a:rPr lang="en-GB" sz="2300"/>
              <a:t> 1.3.9.7)</a:t>
            </a:r>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167</a:t>
            </a:fld>
            <a:endParaRPr lang="en-US"/>
          </a:p>
        </p:txBody>
      </p:sp>
    </p:spTree>
    <p:extLst>
      <p:ext uri="{BB962C8B-B14F-4D97-AF65-F5344CB8AC3E}">
        <p14:creationId xmlns:p14="http://schemas.microsoft.com/office/powerpoint/2010/main" val="3862364323"/>
      </p:ext>
    </p:extLst>
  </p:cSld>
  <p:clrMapOvr>
    <a:masterClrMapping/>
  </p:clrMapOvr>
  <p:transition spd="med">
    <p:cove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810927"/>
          </a:xfrm>
        </p:spPr>
        <p:txBody>
          <a:bodyPr/>
          <a:lstStyle/>
          <a:p>
            <a:r>
              <a:rPr lang="en-GB" dirty="0"/>
              <a:t>Religion and the Imagination</a:t>
            </a:r>
          </a:p>
        </p:txBody>
      </p:sp>
      <p:sp>
        <p:nvSpPr>
          <p:cNvPr id="3" name="Content Placeholder 2"/>
          <p:cNvSpPr>
            <a:spLocks noGrp="1"/>
          </p:cNvSpPr>
          <p:nvPr>
            <p:ph idx="1"/>
          </p:nvPr>
        </p:nvSpPr>
        <p:spPr>
          <a:xfrm>
            <a:off x="817240" y="1052736"/>
            <a:ext cx="7895220" cy="5616624"/>
          </a:xfrm>
        </p:spPr>
        <p:txBody>
          <a:bodyPr/>
          <a:lstStyle/>
          <a:p>
            <a:r>
              <a:rPr lang="en-GB" sz="2200" i="1" dirty="0"/>
              <a:t>T</a:t>
            </a:r>
            <a:r>
              <a:rPr lang="en-GB" sz="2200" dirty="0"/>
              <a:t> 1.3.8.4  The “mummeries” of Roman Catholicism enhance belief in saints (etc.) by perception of statues and associational </a:t>
            </a:r>
            <a:r>
              <a:rPr lang="en-GB" sz="2200" i="1" dirty="0"/>
              <a:t>resemblance</a:t>
            </a:r>
            <a:r>
              <a:rPr lang="en-GB" sz="2200" dirty="0"/>
              <a:t>.</a:t>
            </a:r>
          </a:p>
          <a:p>
            <a:r>
              <a:rPr lang="en-GB" sz="2200" i="1" dirty="0"/>
              <a:t>T</a:t>
            </a:r>
            <a:r>
              <a:rPr lang="en-GB" sz="2200" dirty="0"/>
              <a:t> 1.3.8.6  Relics have a similar effect, associated to saints through </a:t>
            </a:r>
            <a:r>
              <a:rPr lang="en-GB" sz="2200" i="1" dirty="0"/>
              <a:t>causation</a:t>
            </a:r>
            <a:r>
              <a:rPr lang="en-GB" sz="2200" dirty="0"/>
              <a:t>.</a:t>
            </a:r>
          </a:p>
          <a:p>
            <a:r>
              <a:rPr lang="en-GB" sz="2200" i="1" dirty="0"/>
              <a:t>T</a:t>
            </a:r>
            <a:r>
              <a:rPr lang="en-GB" sz="2200" dirty="0"/>
              <a:t> 1.3.9.9  </a:t>
            </a:r>
            <a:r>
              <a:rPr lang="en-GB" sz="2200" i="1" dirty="0"/>
              <a:t>Contiguity</a:t>
            </a:r>
            <a:r>
              <a:rPr lang="en-GB" sz="2200" dirty="0"/>
              <a:t> enhances the belief of pilgrims to Mecca or the Holy Land.</a:t>
            </a:r>
          </a:p>
          <a:p>
            <a:r>
              <a:rPr lang="en-GB" sz="2200" i="1" dirty="0"/>
              <a:t>T</a:t>
            </a:r>
            <a:r>
              <a:rPr lang="en-GB" sz="2200" dirty="0"/>
              <a:t> 1.3.9.12  </a:t>
            </a:r>
            <a:r>
              <a:rPr lang="en-GB" sz="2200" i="1" dirty="0"/>
              <a:t>Credulity</a:t>
            </a:r>
            <a:r>
              <a:rPr lang="en-GB" sz="2200" dirty="0"/>
              <a:t> of others’ testimony is based in custom (cf. </a:t>
            </a:r>
            <a:r>
              <a:rPr lang="en-GB" sz="2200" i="1" dirty="0"/>
              <a:t>Enquiry</a:t>
            </a:r>
            <a:r>
              <a:rPr lang="en-GB" sz="2200" dirty="0"/>
              <a:t> 10, “Of Miracles”).</a:t>
            </a:r>
          </a:p>
          <a:p>
            <a:r>
              <a:rPr lang="en-GB" sz="2200" i="1" dirty="0"/>
              <a:t>T</a:t>
            </a:r>
            <a:r>
              <a:rPr lang="en-GB" sz="2200" dirty="0"/>
              <a:t> 1.3.9.13-15  Lack of </a:t>
            </a:r>
            <a:r>
              <a:rPr lang="en-GB" sz="2200" i="1" dirty="0"/>
              <a:t>resemblance</a:t>
            </a:r>
            <a:r>
              <a:rPr lang="en-GB" sz="2200" dirty="0"/>
              <a:t> undermines belief in the afterlife; “in matters of religion men take </a:t>
            </a:r>
            <a:r>
              <a:rPr lang="en-GB" sz="2200"/>
              <a:t>a pleasure </a:t>
            </a:r>
            <a:r>
              <a:rPr lang="en-GB" sz="2200" dirty="0"/>
              <a:t>in being </a:t>
            </a:r>
            <a:r>
              <a:rPr lang="en-GB" sz="2200" dirty="0" err="1"/>
              <a:t>terrify’d</a:t>
            </a:r>
            <a:r>
              <a:rPr lang="en-GB" sz="2200" dirty="0"/>
              <a:t>”, showing it’s not really </a:t>
            </a:r>
            <a:r>
              <a:rPr lang="en-GB" sz="2200"/>
              <a:t>believed.</a:t>
            </a:r>
          </a:p>
          <a:p>
            <a:r>
              <a:rPr lang="en-GB" sz="2200" i="1"/>
              <a:t>T</a:t>
            </a:r>
            <a:r>
              <a:rPr lang="en-GB" sz="2200"/>
              <a:t> 1.3.9.16-19  </a:t>
            </a:r>
            <a:r>
              <a:rPr lang="en-GB" sz="2200" i="1"/>
              <a:t>Custom</a:t>
            </a:r>
            <a:r>
              <a:rPr lang="en-GB" sz="2200"/>
              <a:t> can create beliefs by “education”</a:t>
            </a:r>
            <a:br>
              <a:rPr lang="en-GB" sz="2200"/>
            </a:br>
            <a:r>
              <a:rPr lang="en-GB" sz="2200"/>
              <a:t>(i.e. repetitive indoctrination).  “As liars, by the frequent repetition of their lies, come at last to remember them”.</a:t>
            </a:r>
            <a:endParaRPr lang="en-GB" sz="2200" i="1" dirty="0"/>
          </a:p>
          <a:p>
            <a:endParaRPr lang="en-GB" sz="22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168</a:t>
            </a:fld>
            <a:endParaRPr lang="en-US"/>
          </a:p>
        </p:txBody>
      </p:sp>
    </p:spTree>
    <p:extLst>
      <p:ext uri="{BB962C8B-B14F-4D97-AF65-F5344CB8AC3E}">
        <p14:creationId xmlns:p14="http://schemas.microsoft.com/office/powerpoint/2010/main" val="3809379752"/>
      </p:ext>
    </p:extLst>
  </p:cSld>
  <p:clrMapOvr>
    <a:masterClrMapping/>
  </p:clrMapOvr>
  <p:transition spd="med">
    <p:cove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FC654-00A1-619E-BEE0-255EB386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30359-E8EF-18A7-5810-CFA3EA325DD4}"/>
              </a:ext>
            </a:extLst>
          </p:cNvPr>
          <p:cNvSpPr>
            <a:spLocks noGrp="1"/>
          </p:cNvSpPr>
          <p:nvPr>
            <p:ph type="title"/>
          </p:nvPr>
        </p:nvSpPr>
        <p:spPr>
          <a:xfrm>
            <a:off x="143508" y="188640"/>
            <a:ext cx="8856984" cy="659519"/>
          </a:xfrm>
        </p:spPr>
        <p:txBody>
          <a:bodyPr/>
          <a:lstStyle/>
          <a:p>
            <a:r>
              <a:rPr lang="en-GB" sz="4200" i="1"/>
              <a:t>T</a:t>
            </a:r>
            <a:r>
              <a:rPr lang="en-GB" sz="4200"/>
              <a:t> 1.3.10: “Of the Influence of Belief”</a:t>
            </a:r>
            <a:endParaRPr lang="en-GB" sz="4200" i="1" dirty="0"/>
          </a:p>
        </p:txBody>
      </p:sp>
      <p:sp>
        <p:nvSpPr>
          <p:cNvPr id="3" name="Content Placeholder 2">
            <a:extLst>
              <a:ext uri="{FF2B5EF4-FFF2-40B4-BE49-F238E27FC236}">
                <a16:creationId xmlns:a16="http://schemas.microsoft.com/office/drawing/2014/main" id="{E217534C-6455-568A-A1AE-C87482491226}"/>
              </a:ext>
            </a:extLst>
          </p:cNvPr>
          <p:cNvSpPr>
            <a:spLocks noGrp="1"/>
          </p:cNvSpPr>
          <p:nvPr>
            <p:ph idx="1"/>
          </p:nvPr>
        </p:nvSpPr>
        <p:spPr>
          <a:xfrm>
            <a:off x="709228" y="1088740"/>
            <a:ext cx="8039236" cy="5328592"/>
          </a:xfrm>
        </p:spPr>
        <p:txBody>
          <a:bodyPr/>
          <a:lstStyle/>
          <a:p>
            <a:r>
              <a:rPr lang="en-GB" sz="2400"/>
              <a:t>§3:  A belief (unlike “an idle fiction”) has a strong influence on our passions and actions, like that of an impression, which corroborates Hume’s claim that belief is characterised by greater force and vivacity.</a:t>
            </a:r>
            <a:endParaRPr lang="en-GB" sz="2400" dirty="0"/>
          </a:p>
          <a:p>
            <a:pPr>
              <a:spcBef>
                <a:spcPts val="1200"/>
              </a:spcBef>
            </a:pPr>
            <a:r>
              <a:rPr lang="en-GB" sz="2400"/>
              <a:t>§4:  This also explains why the passions often enhance our beliefs (e.g. people are more likely to believe “quacks” if they present their claims dramatically).</a:t>
            </a:r>
          </a:p>
          <a:p>
            <a:pPr>
              <a:spcBef>
                <a:spcPts val="1200"/>
              </a:spcBef>
            </a:pPr>
            <a:r>
              <a:rPr lang="en-GB" sz="2400"/>
              <a:t>§§5-7:  Poets give their work “an air of truth”, and make reference to familiar myths “to produce a more easy reception in the imagination”.  Vividness is “convey’d, as by so many pipes or canals”, to related ideas.</a:t>
            </a:r>
          </a:p>
          <a:p>
            <a:pPr>
              <a:spcBef>
                <a:spcPts val="1200"/>
              </a:spcBef>
            </a:pPr>
            <a:r>
              <a:rPr lang="en-GB" sz="2400"/>
              <a:t>§11-12:  </a:t>
            </a:r>
            <a:r>
              <a:rPr lang="en-GB" sz="2400" i="1"/>
              <a:t>General rules</a:t>
            </a:r>
            <a:r>
              <a:rPr lang="en-GB" sz="2400"/>
              <a:t> can help to prevent our credulity being carried away by lively eloquence.  [Added 1740]</a:t>
            </a:r>
            <a:endParaRPr lang="en-GB" sz="2400" i="1" dirty="0"/>
          </a:p>
        </p:txBody>
      </p:sp>
      <p:sp>
        <p:nvSpPr>
          <p:cNvPr id="4" name="Slide Number Placeholder 3">
            <a:extLst>
              <a:ext uri="{FF2B5EF4-FFF2-40B4-BE49-F238E27FC236}">
                <a16:creationId xmlns:a16="http://schemas.microsoft.com/office/drawing/2014/main" id="{1106B7D4-CD8A-83C2-3CDF-68CDB3A9B8E8}"/>
              </a:ext>
            </a:extLst>
          </p:cNvPr>
          <p:cNvSpPr>
            <a:spLocks noGrp="1"/>
          </p:cNvSpPr>
          <p:nvPr>
            <p:ph type="sldNum" sz="quarter" idx="10"/>
          </p:nvPr>
        </p:nvSpPr>
        <p:spPr/>
        <p:txBody>
          <a:bodyPr/>
          <a:lstStyle/>
          <a:p>
            <a:fld id="{A10A50DE-8775-498A-B5F5-974B635EB245}" type="slidenum">
              <a:rPr lang="en-US" smtClean="0"/>
              <a:pPr/>
              <a:t>169</a:t>
            </a:fld>
            <a:endParaRPr lang="en-US"/>
          </a:p>
        </p:txBody>
      </p:sp>
    </p:spTree>
    <p:extLst>
      <p:ext uri="{BB962C8B-B14F-4D97-AF65-F5344CB8AC3E}">
        <p14:creationId xmlns:p14="http://schemas.microsoft.com/office/powerpoint/2010/main" val="2652687606"/>
      </p:ext>
    </p:extLst>
  </p:cSld>
  <p:clrMapOvr>
    <a:masterClrMapping/>
  </p:clrMapOvr>
  <p:transition spd="med">
    <p:cove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524" y="188640"/>
            <a:ext cx="8640960" cy="810927"/>
          </a:xfrm>
        </p:spPr>
        <p:txBody>
          <a:bodyPr/>
          <a:lstStyle/>
          <a:p>
            <a:r>
              <a:rPr lang="en-GB" i="1" dirty="0"/>
              <a:t>T</a:t>
            </a:r>
            <a:r>
              <a:rPr lang="en-GB" dirty="0"/>
              <a:t> 1.3.11: “Probability of Chances”</a:t>
            </a:r>
            <a:endParaRPr lang="en-GB" i="1" dirty="0"/>
          </a:p>
        </p:txBody>
      </p:sp>
      <p:sp>
        <p:nvSpPr>
          <p:cNvPr id="3" name="Content Placeholder 2"/>
          <p:cNvSpPr>
            <a:spLocks noGrp="1"/>
          </p:cNvSpPr>
          <p:nvPr>
            <p:ph idx="1"/>
          </p:nvPr>
        </p:nvSpPr>
        <p:spPr>
          <a:xfrm>
            <a:off x="565212" y="1376772"/>
            <a:ext cx="8003232" cy="5076564"/>
          </a:xfrm>
        </p:spPr>
        <p:txBody>
          <a:bodyPr/>
          <a:lstStyle/>
          <a:p>
            <a:r>
              <a:rPr lang="en-GB" sz="2500" i="1" dirty="0"/>
              <a:t>§</a:t>
            </a:r>
            <a:r>
              <a:rPr lang="en-GB" sz="2500" dirty="0"/>
              <a:t>2:  Locke divides “human reason into </a:t>
            </a:r>
            <a:r>
              <a:rPr lang="en-GB" sz="2500" i="1" dirty="0" err="1"/>
              <a:t>knowedge</a:t>
            </a:r>
            <a:r>
              <a:rPr lang="en-GB" sz="2500" dirty="0"/>
              <a:t> and </a:t>
            </a:r>
            <a:r>
              <a:rPr lang="en-GB" sz="2500" i="1" dirty="0"/>
              <a:t>probability</a:t>
            </a:r>
            <a:r>
              <a:rPr lang="en-GB" sz="2500" dirty="0"/>
              <a:t>”.  But “One </a:t>
            </a:r>
            <a:r>
              <a:rPr lang="en-GB" sz="2500" dirty="0" err="1"/>
              <a:t>wou’d</a:t>
            </a:r>
            <a:r>
              <a:rPr lang="en-GB" sz="2500" dirty="0"/>
              <a:t> appear ridiculous, who </a:t>
            </a:r>
            <a:r>
              <a:rPr lang="en-GB" sz="2500" dirty="0" err="1"/>
              <a:t>wou’d</a:t>
            </a:r>
            <a:r>
              <a:rPr lang="en-GB" sz="2500" dirty="0"/>
              <a:t> say, that ’tis only probable the sun will rise to-morrow, or that all men must dye”.  So it fits better with common language if we talk of “probability” only in cases of genuine uncertainty (e.g. where the evidence is mixed), and use the word “proof” to talk of “those arguments, which are </a:t>
            </a:r>
            <a:r>
              <a:rPr lang="en-GB" sz="2500" dirty="0" err="1"/>
              <a:t>deriv’d</a:t>
            </a:r>
            <a:r>
              <a:rPr lang="en-GB" sz="2500" dirty="0"/>
              <a:t> from the relation of cause and effect, and which are entirely free from doubt and uncertainty”.</a:t>
            </a:r>
          </a:p>
          <a:p>
            <a:pPr>
              <a:spcBef>
                <a:spcPts val="1200"/>
              </a:spcBef>
            </a:pPr>
            <a:r>
              <a:rPr lang="en-GB" sz="2500" i="1" dirty="0"/>
              <a:t>§</a:t>
            </a:r>
            <a:r>
              <a:rPr lang="en-GB" sz="2500" dirty="0"/>
              <a:t>§9-13:  Gives the most detailed account of Hume’s hydraulic theory of </a:t>
            </a:r>
            <a:r>
              <a:rPr lang="en-GB" sz="2500"/>
              <a:t>probabilistic judgment</a:t>
            </a:r>
            <a:r>
              <a:rPr lang="en-GB" sz="2500" dirty="0"/>
              <a:t>.</a:t>
            </a:r>
            <a:endParaRPr lang="en-GB" sz="25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170</a:t>
            </a:fld>
            <a:endParaRPr lang="en-US"/>
          </a:p>
        </p:txBody>
      </p:sp>
    </p:spTree>
    <p:extLst>
      <p:ext uri="{BB962C8B-B14F-4D97-AF65-F5344CB8AC3E}">
        <p14:creationId xmlns:p14="http://schemas.microsoft.com/office/powerpoint/2010/main" val="43338927"/>
      </p:ext>
    </p:extLst>
  </p:cSld>
  <p:clrMapOvr>
    <a:masterClrMapping/>
  </p:clrMapOvr>
  <p:transition spd="med">
    <p:cover/>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88640"/>
            <a:ext cx="8640960" cy="666911"/>
          </a:xfrm>
        </p:spPr>
        <p:txBody>
          <a:bodyPr/>
          <a:lstStyle/>
          <a:p>
            <a:r>
              <a:rPr lang="en-GB" i="1" dirty="0"/>
              <a:t>T</a:t>
            </a:r>
            <a:r>
              <a:rPr lang="en-GB" dirty="0"/>
              <a:t> 1.3.12: “Probability of Causes”</a:t>
            </a:r>
            <a:endParaRPr lang="en-GB" i="1" dirty="0"/>
          </a:p>
        </p:txBody>
      </p:sp>
      <p:sp>
        <p:nvSpPr>
          <p:cNvPr id="3" name="Content Placeholder 2"/>
          <p:cNvSpPr>
            <a:spLocks noGrp="1"/>
          </p:cNvSpPr>
          <p:nvPr>
            <p:ph idx="1"/>
          </p:nvPr>
        </p:nvSpPr>
        <p:spPr>
          <a:xfrm>
            <a:off x="637989" y="1124744"/>
            <a:ext cx="8182483" cy="5472608"/>
          </a:xfrm>
        </p:spPr>
        <p:txBody>
          <a:bodyPr/>
          <a:lstStyle/>
          <a:p>
            <a:r>
              <a:rPr lang="en-GB" sz="2400" dirty="0"/>
              <a:t>§1:  “what the vulgar call chance is nothing but a secret and </a:t>
            </a:r>
            <a:r>
              <a:rPr lang="en-GB" sz="2400" dirty="0" err="1"/>
              <a:t>conceal’d</a:t>
            </a:r>
            <a:r>
              <a:rPr lang="en-GB" sz="2400" dirty="0"/>
              <a:t> cause”.  </a:t>
            </a:r>
            <a:r>
              <a:rPr lang="en-GB" sz="2400" i="1" dirty="0">
                <a:solidFill>
                  <a:srgbClr val="FF9999"/>
                </a:solidFill>
              </a:rPr>
              <a:t>Hume is a determinist.</a:t>
            </a:r>
            <a:endParaRPr lang="en-GB" sz="2400" dirty="0"/>
          </a:p>
          <a:p>
            <a:pPr>
              <a:spcBef>
                <a:spcPts val="1200"/>
              </a:spcBef>
            </a:pPr>
            <a:r>
              <a:rPr lang="en-GB" sz="2400" dirty="0"/>
              <a:t>§2:  </a:t>
            </a:r>
            <a:r>
              <a:rPr lang="en-GB" sz="2400"/>
              <a:t>Probable judgment </a:t>
            </a:r>
            <a:r>
              <a:rPr lang="en-GB" sz="2400" dirty="0"/>
              <a:t>is derived from custom, i.e. “the association of ideas to a present impression</a:t>
            </a:r>
            <a:r>
              <a:rPr lang="en-GB" sz="2400"/>
              <a:t>”.  In cases where </a:t>
            </a:r>
            <a:r>
              <a:rPr lang="en-GB" sz="2400" i="1"/>
              <a:t>A</a:t>
            </a:r>
            <a:r>
              <a:rPr lang="en-GB" sz="2400"/>
              <a:t> is always followed by </a:t>
            </a:r>
            <a:r>
              <a:rPr lang="en-GB" sz="2400" i="1"/>
              <a:t>B</a:t>
            </a:r>
            <a:r>
              <a:rPr lang="en-GB" sz="2400"/>
              <a:t>, strength </a:t>
            </a:r>
            <a:r>
              <a:rPr lang="en-GB" sz="2400" dirty="0"/>
              <a:t>of association builds </a:t>
            </a:r>
            <a:r>
              <a:rPr lang="en-GB" sz="2400"/>
              <a:t>up gradually as more instances are observed.</a:t>
            </a:r>
            <a:endParaRPr lang="en-GB" sz="2400" dirty="0"/>
          </a:p>
          <a:p>
            <a:pPr>
              <a:spcBef>
                <a:spcPts val="1200"/>
              </a:spcBef>
            </a:pPr>
            <a:r>
              <a:rPr lang="en-GB" sz="2400" dirty="0"/>
              <a:t>§§8-12:  The hydraulic theory again – after inconstant experience, the force and vivacity of our inductive expectation (on seeing </a:t>
            </a:r>
            <a:r>
              <a:rPr lang="en-GB" sz="2400" i="1" dirty="0"/>
              <a:t>A</a:t>
            </a:r>
            <a:r>
              <a:rPr lang="en-GB" sz="2400" dirty="0"/>
              <a:t>) is divided between the ideas of the various experienced effects (</a:t>
            </a:r>
            <a:r>
              <a:rPr lang="en-GB" sz="2400" i="1" dirty="0"/>
              <a:t>B</a:t>
            </a:r>
            <a:r>
              <a:rPr lang="en-GB" sz="2400" dirty="0"/>
              <a:t>, </a:t>
            </a:r>
            <a:r>
              <a:rPr lang="en-GB" sz="2400" i="1" dirty="0"/>
              <a:t>C</a:t>
            </a:r>
            <a:r>
              <a:rPr lang="en-GB" sz="2400" dirty="0"/>
              <a:t>, </a:t>
            </a:r>
            <a:r>
              <a:rPr lang="en-GB" sz="2400" i="1" dirty="0"/>
              <a:t>D</a:t>
            </a:r>
            <a:r>
              <a:rPr lang="en-GB" sz="2400" dirty="0"/>
              <a:t> etc.) in proportion to their past observed frequencies.</a:t>
            </a:r>
          </a:p>
          <a:p>
            <a:pPr>
              <a:spcBef>
                <a:spcPts val="1200"/>
              </a:spcBef>
            </a:pPr>
            <a:r>
              <a:rPr lang="en-GB" sz="2400" dirty="0"/>
              <a:t>§25:  Reasoning from </a:t>
            </a:r>
            <a:r>
              <a:rPr lang="en-GB" sz="2400" i="1" dirty="0"/>
              <a:t>analogy</a:t>
            </a:r>
            <a:r>
              <a:rPr lang="en-GB" sz="2400" dirty="0"/>
              <a:t> involves weakening of </a:t>
            </a:r>
            <a:r>
              <a:rPr lang="en-GB" sz="2400" i="1" dirty="0"/>
              <a:t>resemblance</a:t>
            </a:r>
            <a:r>
              <a:rPr lang="en-GB" sz="2400" dirty="0"/>
              <a:t> (rather than of the </a:t>
            </a:r>
            <a:r>
              <a:rPr lang="en-GB" sz="2400" i="1" dirty="0"/>
              <a:t>union</a:t>
            </a:r>
            <a:r>
              <a:rPr lang="en-GB" sz="2400" dirty="0"/>
              <a:t>, i.e. constancy).</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171</a:t>
            </a:fld>
            <a:endParaRPr lang="en-US"/>
          </a:p>
        </p:txBody>
      </p:sp>
    </p:spTree>
    <p:extLst>
      <p:ext uri="{BB962C8B-B14F-4D97-AF65-F5344CB8AC3E}">
        <p14:creationId xmlns:p14="http://schemas.microsoft.com/office/powerpoint/2010/main" val="3446837139"/>
      </p:ext>
    </p:extLst>
  </p:cSld>
  <p:clrMapOvr>
    <a:masterClrMapping/>
  </p:clrMapOvr>
  <p:transition spd="med">
    <p:cover/>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87524" y="224644"/>
            <a:ext cx="8532948" cy="6408712"/>
          </a:xfrm>
        </p:spPr>
        <p:txBody>
          <a:bodyPr/>
          <a:lstStyle/>
          <a:p>
            <a:r>
              <a:rPr lang="en-GB" sz="3000" dirty="0"/>
              <a:t>If people find this theory hard to accept ...</a:t>
            </a:r>
          </a:p>
          <a:p>
            <a:pPr lvl="1">
              <a:spcBef>
                <a:spcPts val="1200"/>
              </a:spcBef>
              <a:buNone/>
            </a:pPr>
            <a:r>
              <a:rPr lang="en-GB" sz="2600" dirty="0"/>
              <a:t>	</a:t>
            </a:r>
            <a:r>
              <a:rPr lang="en-GB" sz="2300" dirty="0"/>
              <a:t>“Let men be once fully </a:t>
            </a:r>
            <a:r>
              <a:rPr lang="en-GB" sz="2300" dirty="0" err="1"/>
              <a:t>perswaded</a:t>
            </a:r>
            <a:r>
              <a:rPr lang="en-GB" sz="2300" dirty="0"/>
              <a:t> of these two principles, </a:t>
            </a:r>
            <a:r>
              <a:rPr lang="en-GB" sz="2300" i="1" dirty="0">
                <a:solidFill>
                  <a:srgbClr val="FF9999"/>
                </a:solidFill>
              </a:rPr>
              <a:t>That there is nothing in any object, </a:t>
            </a:r>
            <a:r>
              <a:rPr lang="en-GB" sz="2300" i="1" dirty="0" err="1">
                <a:solidFill>
                  <a:srgbClr val="FF9999"/>
                </a:solidFill>
              </a:rPr>
              <a:t>consider’d</a:t>
            </a:r>
            <a:r>
              <a:rPr lang="en-GB" sz="2300" i="1" dirty="0">
                <a:solidFill>
                  <a:srgbClr val="FF9999"/>
                </a:solidFill>
              </a:rPr>
              <a:t> in itself, which can afford us a reason for drawing a conclusion beyond it</a:t>
            </a:r>
            <a:r>
              <a:rPr lang="en-GB" sz="2300" dirty="0"/>
              <a:t>; and, </a:t>
            </a:r>
            <a:r>
              <a:rPr lang="en-GB" sz="2300" i="1" dirty="0">
                <a:solidFill>
                  <a:srgbClr val="FF9999"/>
                </a:solidFill>
              </a:rPr>
              <a:t>That even after the observation of the frequent or constant conjunction of objects, we have no reason to draw any inference concerning any object beyond those of which we have had experience</a:t>
            </a:r>
            <a:r>
              <a:rPr lang="en-GB" sz="2300" i="1" dirty="0"/>
              <a:t>;</a:t>
            </a:r>
            <a:r>
              <a:rPr lang="en-GB" sz="2300" dirty="0"/>
              <a:t> I say, let men be once fully </a:t>
            </a:r>
            <a:r>
              <a:rPr lang="en-GB" sz="2300" dirty="0" err="1"/>
              <a:t>convinc’d</a:t>
            </a:r>
            <a:r>
              <a:rPr lang="en-GB" sz="2300" dirty="0"/>
              <a:t> of these two principles, and this will throw them so loose from all common systems, that they will make no difficulty of receiving any, which may appear the most extraordinary.”  (</a:t>
            </a:r>
            <a:r>
              <a:rPr lang="en-GB" sz="2300" i="1" dirty="0"/>
              <a:t>T</a:t>
            </a:r>
            <a:r>
              <a:rPr lang="en-GB" sz="2300" dirty="0"/>
              <a:t> 1.3.12.20)</a:t>
            </a:r>
          </a:p>
          <a:p>
            <a:pPr>
              <a:spcBef>
                <a:spcPts val="1800"/>
              </a:spcBef>
            </a:pPr>
            <a:r>
              <a:rPr lang="en-GB" sz="2800"/>
              <a:t>This may suggest that Hume has belatedly </a:t>
            </a:r>
            <a:r>
              <a:rPr lang="en-GB" sz="2800" dirty="0"/>
              <a:t>noticed </a:t>
            </a:r>
            <a:r>
              <a:rPr lang="en-GB" sz="2800"/>
              <a:t>the potentially dramatic </a:t>
            </a:r>
            <a:r>
              <a:rPr lang="en-GB" sz="2800" dirty="0"/>
              <a:t>sceptical impact of his argument concerning induction!</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172</a:t>
            </a:fld>
            <a:endParaRPr lang="en-US"/>
          </a:p>
        </p:txBody>
      </p:sp>
    </p:spTree>
    <p:extLst>
      <p:ext uri="{BB962C8B-B14F-4D97-AF65-F5344CB8AC3E}">
        <p14:creationId xmlns:p14="http://schemas.microsoft.com/office/powerpoint/2010/main" val="3411361331"/>
      </p:ext>
    </p:extLst>
  </p:cSld>
  <p:clrMapOvr>
    <a:masterClrMapping/>
  </p:clrMapOvr>
  <p:transition spd="med">
    <p:cover/>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516" y="188640"/>
            <a:ext cx="8712968" cy="774923"/>
          </a:xfrm>
        </p:spPr>
        <p:txBody>
          <a:bodyPr/>
          <a:lstStyle/>
          <a:p>
            <a:r>
              <a:rPr lang="en-GB" dirty="0"/>
              <a:t>Science: Seeking Hidden Causes</a:t>
            </a:r>
          </a:p>
        </p:txBody>
      </p:sp>
      <p:sp>
        <p:nvSpPr>
          <p:cNvPr id="3" name="Content Placeholder 2"/>
          <p:cNvSpPr>
            <a:spLocks noGrp="1"/>
          </p:cNvSpPr>
          <p:nvPr>
            <p:ph idx="1"/>
          </p:nvPr>
        </p:nvSpPr>
        <p:spPr>
          <a:xfrm>
            <a:off x="251520" y="1196752"/>
            <a:ext cx="8568952" cy="5472608"/>
          </a:xfrm>
        </p:spPr>
        <p:txBody>
          <a:bodyPr/>
          <a:lstStyle/>
          <a:p>
            <a:pPr>
              <a:buNone/>
            </a:pPr>
            <a:r>
              <a:rPr lang="en-GB" sz="2100" dirty="0"/>
              <a:t>	“The vulgar ... attribute the uncertainty of events to such an uncertainty in the causes, as makes them often fail of their usual influence, ...  But philosophers observing, that almost in every part of nature there is </a:t>
            </a:r>
            <a:r>
              <a:rPr lang="en-GB" sz="2100" dirty="0" err="1"/>
              <a:t>contain’d</a:t>
            </a:r>
            <a:r>
              <a:rPr lang="en-GB" sz="2100" dirty="0"/>
              <a:t> a vast variety of springs and principles, which are hid, by reason of their minuteness or remoteness, find that ’tis at least possible the contrariety of events may not proceed from any contingency in the cause, but from the secret operation of contrary causes.  This possibility is converted into certainty by farther observation, when they remark, that upon an exact scrutiny, a contrariety of effects always betrays a contrariety of causes, and proceeds from their mutual hindrance and opposition. ...  </a:t>
            </a:r>
            <a:r>
              <a:rPr lang="en-GB" sz="2100" dirty="0">
                <a:solidFill>
                  <a:srgbClr val="FF9999"/>
                </a:solidFill>
              </a:rPr>
              <a:t>From the observation of several parallel instances, philosophers form a maxim, that the connexion betwixt all causes and effects is equally necessary, and that its seeming uncertainty in some instances proceeds from the secret opposition of contrary causes</a:t>
            </a:r>
            <a:r>
              <a:rPr lang="en-GB" sz="2100" dirty="0"/>
              <a:t>.”</a:t>
            </a:r>
          </a:p>
          <a:p>
            <a:pPr>
              <a:spcBef>
                <a:spcPts val="1200"/>
              </a:spcBef>
              <a:buNone/>
            </a:pPr>
            <a:r>
              <a:rPr lang="en-GB" sz="2100" dirty="0"/>
              <a:t>					(</a:t>
            </a:r>
            <a:r>
              <a:rPr lang="en-GB" sz="2100" i="1" dirty="0"/>
              <a:t>T</a:t>
            </a:r>
            <a:r>
              <a:rPr lang="en-GB" sz="2100" dirty="0"/>
              <a:t> 1.3.12.5; </a:t>
            </a:r>
            <a:r>
              <a:rPr lang="en-GB" sz="2100" i="1" dirty="0"/>
              <a:t>E</a:t>
            </a:r>
            <a:r>
              <a:rPr lang="en-GB" sz="2100" dirty="0"/>
              <a:t> 8.13 is almost </a:t>
            </a:r>
            <a:r>
              <a:rPr lang="en-GB" sz="2100" i="1" dirty="0"/>
              <a:t>verbatim</a:t>
            </a:r>
            <a:r>
              <a:rPr lang="en-GB" sz="2100" dirty="0"/>
              <a:t>)</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173</a:t>
            </a:fld>
            <a:endParaRPr lang="en-US"/>
          </a:p>
        </p:txBody>
      </p:sp>
    </p:spTree>
    <p:extLst>
      <p:ext uri="{BB962C8B-B14F-4D97-AF65-F5344CB8AC3E}">
        <p14:creationId xmlns:p14="http://schemas.microsoft.com/office/powerpoint/2010/main" val="3309693436"/>
      </p:ext>
    </p:extLst>
  </p:cSld>
  <p:clrMapOvr>
    <a:masterClrMapping/>
  </p:clrMapOvr>
  <p:transition spd="med">
    <p:cover/>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02915"/>
          </a:xfrm>
        </p:spPr>
        <p:txBody>
          <a:bodyPr/>
          <a:lstStyle/>
          <a:p>
            <a:r>
              <a:rPr lang="en-GB" sz="4000" i="1" dirty="0"/>
              <a:t>T</a:t>
            </a:r>
            <a:r>
              <a:rPr lang="en-GB" sz="4000" dirty="0"/>
              <a:t> 1.3.13: “</a:t>
            </a:r>
            <a:r>
              <a:rPr lang="en-GB" sz="4000" dirty="0" err="1"/>
              <a:t>Unphilosophical</a:t>
            </a:r>
            <a:r>
              <a:rPr lang="en-GB" sz="4000" dirty="0"/>
              <a:t> Probability”</a:t>
            </a:r>
            <a:endParaRPr lang="en-GB" sz="4000" i="1" dirty="0"/>
          </a:p>
        </p:txBody>
      </p:sp>
      <p:sp>
        <p:nvSpPr>
          <p:cNvPr id="3" name="Content Placeholder 2"/>
          <p:cNvSpPr>
            <a:spLocks noGrp="1"/>
          </p:cNvSpPr>
          <p:nvPr>
            <p:ph idx="1"/>
          </p:nvPr>
        </p:nvSpPr>
        <p:spPr>
          <a:xfrm>
            <a:off x="359532" y="1124744"/>
            <a:ext cx="8388932" cy="5508612"/>
          </a:xfrm>
        </p:spPr>
        <p:txBody>
          <a:bodyPr/>
          <a:lstStyle/>
          <a:p>
            <a:r>
              <a:rPr lang="en-GB" sz="2600" dirty="0"/>
              <a:t>Some types of reasoning from “the same principles” (i.e. custom) are viewed with less respect:</a:t>
            </a:r>
          </a:p>
          <a:p>
            <a:pPr lvl="1">
              <a:spcBef>
                <a:spcPts val="1200"/>
              </a:spcBef>
            </a:pPr>
            <a:r>
              <a:rPr lang="en-GB" sz="2200" dirty="0"/>
              <a:t>§§1-2:  Giving recent instances (which can be either observed </a:t>
            </a:r>
            <a:r>
              <a:rPr lang="en-GB" sz="2200" i="1" dirty="0"/>
              <a:t>causes </a:t>
            </a:r>
            <a:r>
              <a:rPr lang="en-GB" sz="2200" dirty="0"/>
              <a:t>[1] or </a:t>
            </a:r>
            <a:r>
              <a:rPr lang="en-GB" sz="2200" i="1" dirty="0"/>
              <a:t>effects </a:t>
            </a:r>
            <a:r>
              <a:rPr lang="en-GB" sz="2200" dirty="0"/>
              <a:t>[2]) more weight than remote instances, because they are more vivid in the memory;</a:t>
            </a:r>
          </a:p>
          <a:p>
            <a:pPr lvl="1">
              <a:spcBef>
                <a:spcPts val="800"/>
              </a:spcBef>
            </a:pPr>
            <a:r>
              <a:rPr lang="en-GB" sz="2200" dirty="0"/>
              <a:t>§3:  Fading of conviction through lengthy reasoning;</a:t>
            </a:r>
          </a:p>
          <a:p>
            <a:pPr lvl="1">
              <a:spcBef>
                <a:spcPts val="800"/>
              </a:spcBef>
            </a:pPr>
            <a:r>
              <a:rPr lang="en-GB" sz="2200" dirty="0"/>
              <a:t>§7: </a:t>
            </a:r>
            <a:r>
              <a:rPr lang="en-GB" sz="2200" dirty="0">
                <a:solidFill>
                  <a:srgbClr val="FF9999"/>
                </a:solidFill>
              </a:rPr>
              <a:t>“General rules” leading to </a:t>
            </a:r>
            <a:r>
              <a:rPr lang="en-GB" sz="2200" cap="small" dirty="0">
                <a:solidFill>
                  <a:srgbClr val="FF9999"/>
                </a:solidFill>
              </a:rPr>
              <a:t>prejudice</a:t>
            </a:r>
            <a:r>
              <a:rPr lang="en-GB" sz="2200" dirty="0"/>
              <a:t>, e.g. continuing to believe “An </a:t>
            </a:r>
            <a:r>
              <a:rPr lang="en-GB" sz="2200" i="1" dirty="0"/>
              <a:t>Irishman</a:t>
            </a:r>
            <a:r>
              <a:rPr lang="en-GB" sz="2200" dirty="0"/>
              <a:t> cannot have wit, and a </a:t>
            </a:r>
            <a:r>
              <a:rPr lang="en-GB" sz="2200" i="1" dirty="0"/>
              <a:t>Frenchman</a:t>
            </a:r>
            <a:r>
              <a:rPr lang="en-GB" sz="2200" dirty="0"/>
              <a:t> cannot have solidity”, even given clear counterexamples.</a:t>
            </a:r>
          </a:p>
          <a:p>
            <a:pPr lvl="1">
              <a:spcBef>
                <a:spcPts val="800"/>
              </a:spcBef>
            </a:pPr>
            <a:r>
              <a:rPr lang="en-GB" sz="2200" dirty="0"/>
              <a:t>§§9-12:  </a:t>
            </a:r>
            <a:r>
              <a:rPr lang="en-GB" sz="2200" dirty="0">
                <a:solidFill>
                  <a:srgbClr val="FF9999"/>
                </a:solidFill>
              </a:rPr>
              <a:t>We can avoid such prejudice by using higher-level </a:t>
            </a:r>
            <a:r>
              <a:rPr lang="en-GB" sz="2200" i="1" dirty="0">
                <a:solidFill>
                  <a:srgbClr val="FF9999"/>
                </a:solidFill>
              </a:rPr>
              <a:t>general rules</a:t>
            </a:r>
            <a:r>
              <a:rPr lang="en-GB" sz="2200" dirty="0">
                <a:solidFill>
                  <a:srgbClr val="FF9999"/>
                </a:solidFill>
              </a:rPr>
              <a:t> </a:t>
            </a:r>
            <a:r>
              <a:rPr lang="en-GB" sz="2200" dirty="0"/>
              <a:t>(which are “</a:t>
            </a:r>
            <a:r>
              <a:rPr lang="en-GB" sz="2200" dirty="0">
                <a:solidFill>
                  <a:srgbClr val="FF9999"/>
                </a:solidFill>
              </a:rPr>
              <a:t>attributed to our judgment; as being more extensive and constant</a:t>
            </a:r>
            <a:r>
              <a:rPr lang="en-GB" sz="2200" dirty="0"/>
              <a:t>”) to counter our prejudices (which are attributed “</a:t>
            </a:r>
            <a:r>
              <a:rPr lang="en-GB" sz="2200" dirty="0">
                <a:solidFill>
                  <a:srgbClr val="FF9999"/>
                </a:solidFill>
              </a:rPr>
              <a:t>to the imagination; as being more capricious and uncertain</a:t>
            </a:r>
            <a:r>
              <a:rPr lang="en-GB" sz="2200" dirty="0"/>
              <a:t>”, </a:t>
            </a:r>
            <a:r>
              <a:rPr lang="en-GB" sz="2200" i="1" dirty="0"/>
              <a:t>T</a:t>
            </a:r>
            <a:r>
              <a:rPr lang="en-GB" sz="2200" dirty="0"/>
              <a:t> 1.3.13.11).</a:t>
            </a:r>
          </a:p>
          <a:p>
            <a:pPr lvl="1"/>
            <a:endParaRPr lang="en-GB" sz="2300" dirty="0"/>
          </a:p>
          <a:p>
            <a:pPr lvl="1"/>
            <a:endParaRPr lang="en-GB" sz="2300" dirty="0"/>
          </a:p>
          <a:p>
            <a:pPr lvl="1"/>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174</a:t>
            </a:fld>
            <a:endParaRPr lang="en-US"/>
          </a:p>
        </p:txBody>
      </p:sp>
    </p:spTree>
    <p:extLst>
      <p:ext uri="{BB962C8B-B14F-4D97-AF65-F5344CB8AC3E}">
        <p14:creationId xmlns:p14="http://schemas.microsoft.com/office/powerpoint/2010/main" val="1918994305"/>
      </p:ext>
    </p:extLst>
  </p:cSld>
  <p:clrMapOvr>
    <a:masterClrMapping/>
  </p:clrMapOvr>
  <p:transition spd="med">
    <p:cover/>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49373-84F1-9A50-9575-647210F1B722}"/>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86A217CE-D762-DF5A-B15E-F2071B40A6BA}"/>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77C8B796-6859-BE50-507D-670FBB8F666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C4E8B99B-B184-E9EF-3191-1CFF8CCCC5AC}"/>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7BF4F7B-6C12-61BF-5408-EC523547C004}"/>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5</a:t>
            </a:r>
            <a:r>
              <a:rPr lang="en-GB" sz="3000" i="1">
                <a:solidFill>
                  <a:srgbClr val="FF7C80"/>
                </a:solidFill>
                <a:effectLst>
                  <a:outerShdw blurRad="38100" dist="38100" dir="2700000" algn="tl">
                    <a:srgbClr val="000000"/>
                  </a:outerShdw>
                </a:effectLst>
              </a:rPr>
              <a:t>. Hume’s Theory of Causation</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3530887176"/>
      </p:ext>
    </p:extLst>
  </p:cSld>
  <p:clrMapOvr>
    <a:masterClrMapping/>
  </p:clrMapOvr>
  <p:transition spd="med">
    <p:cover/>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87E5-A340-F892-BA3F-77E3219EE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DA8D23-BA9A-9CB5-A085-A92AE104B297}"/>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C1714F37-3E6F-3196-725C-A6C9E60387A1}"/>
              </a:ext>
            </a:extLst>
          </p:cNvPr>
          <p:cNvSpPr>
            <a:spLocks noGrp="1"/>
          </p:cNvSpPr>
          <p:nvPr>
            <p:ph idx="1"/>
          </p:nvPr>
        </p:nvSpPr>
        <p:spPr>
          <a:xfrm>
            <a:off x="251520" y="1160748"/>
            <a:ext cx="8640960" cy="5436604"/>
          </a:xfrm>
        </p:spPr>
        <p:txBody>
          <a:bodyPr/>
          <a:lstStyle/>
          <a:p>
            <a:r>
              <a:rPr lang="en-GB" sz="2700"/>
              <a:t>We discussed in detail Hume’s argument concerning induction, from both </a:t>
            </a:r>
            <a:r>
              <a:rPr lang="en-GB" sz="2700" i="1"/>
              <a:t>Treatise</a:t>
            </a:r>
            <a:r>
              <a:rPr lang="en-GB" sz="2700"/>
              <a:t> 1.3.6 and </a:t>
            </a:r>
            <a:r>
              <a:rPr lang="en-GB" sz="2700" i="1"/>
              <a:t>Enquiry</a:t>
            </a:r>
            <a:r>
              <a:rPr lang="en-GB" sz="2700"/>
              <a:t> 4.</a:t>
            </a:r>
          </a:p>
          <a:p>
            <a:pPr lvl="1">
              <a:spcBef>
                <a:spcPts val="900"/>
              </a:spcBef>
            </a:pPr>
            <a:r>
              <a:rPr lang="en-GB" sz="2300"/>
              <a:t>The </a:t>
            </a:r>
            <a:r>
              <a:rPr lang="en-GB" sz="2300" i="1"/>
              <a:t>Treatise</a:t>
            </a:r>
            <a:r>
              <a:rPr lang="en-GB" sz="2300"/>
              <a:t> argument starts from his search for the impression of necessary connexion (since </a:t>
            </a:r>
            <a:r>
              <a:rPr lang="en-GB" sz="2300" i="1"/>
              <a:t>T</a:t>
            </a:r>
            <a:r>
              <a:rPr lang="en-GB" sz="2300"/>
              <a:t> 1.3.2.12).</a:t>
            </a:r>
          </a:p>
          <a:p>
            <a:pPr lvl="1">
              <a:spcBef>
                <a:spcPts val="900"/>
              </a:spcBef>
            </a:pPr>
            <a:r>
              <a:rPr lang="en-GB" sz="2300"/>
              <a:t>Causal relations are not </a:t>
            </a:r>
            <a:r>
              <a:rPr lang="en-GB" sz="2300" i="1"/>
              <a:t>a priori</a:t>
            </a:r>
            <a:r>
              <a:rPr lang="en-GB" sz="2300"/>
              <a:t>, but learned through exper-ience of </a:t>
            </a:r>
            <a:r>
              <a:rPr lang="en-GB" sz="2300" i="1">
                <a:solidFill>
                  <a:srgbClr val="FF7C80"/>
                </a:solidFill>
              </a:rPr>
              <a:t>constant conjunction</a:t>
            </a:r>
            <a:r>
              <a:rPr lang="en-GB" sz="2300"/>
              <a:t> (1.3.6.1-3).  This, apparently, becomes the third component (with </a:t>
            </a:r>
            <a:r>
              <a:rPr lang="en-GB" sz="2300" i="1">
                <a:solidFill>
                  <a:srgbClr val="FF7C80"/>
                </a:solidFill>
              </a:rPr>
              <a:t>contiguity</a:t>
            </a:r>
            <a:r>
              <a:rPr lang="en-GB" sz="2300"/>
              <a:t> and </a:t>
            </a:r>
            <a:r>
              <a:rPr lang="en-GB" sz="2300" i="1">
                <a:solidFill>
                  <a:srgbClr val="FF7C80"/>
                </a:solidFill>
              </a:rPr>
              <a:t>succes-sion</a:t>
            </a:r>
            <a:r>
              <a:rPr lang="en-GB" sz="2300"/>
              <a:t>) of the philosophical relation of causation (1.3.6.16).  </a:t>
            </a:r>
          </a:p>
          <a:p>
            <a:pPr lvl="1">
              <a:spcBef>
                <a:spcPts val="900"/>
              </a:spcBef>
            </a:pPr>
            <a:r>
              <a:rPr lang="en-GB" sz="2300"/>
              <a:t>Hume argues that induction takes for granted a principle of uniformity (UP) which cannot be “founded on” reason, but is instead due to </a:t>
            </a:r>
            <a:r>
              <a:rPr lang="en-GB" sz="2300" i="1">
                <a:solidFill>
                  <a:srgbClr val="FF7C80"/>
                </a:solidFill>
              </a:rPr>
              <a:t>custom</a:t>
            </a:r>
            <a:r>
              <a:rPr lang="en-GB" sz="2300"/>
              <a:t>, an operation of </a:t>
            </a:r>
            <a:r>
              <a:rPr lang="en-GB" sz="2300" i="1"/>
              <a:t>the imagination</a:t>
            </a:r>
            <a:r>
              <a:rPr lang="en-GB" sz="2300"/>
              <a:t>.</a:t>
            </a:r>
          </a:p>
          <a:p>
            <a:pPr lvl="1">
              <a:spcBef>
                <a:spcPts val="900"/>
              </a:spcBef>
            </a:pPr>
            <a:r>
              <a:rPr lang="en-GB" sz="2300"/>
              <a:t>The </a:t>
            </a:r>
            <a:r>
              <a:rPr lang="en-GB" sz="2300" i="1"/>
              <a:t>Enquiry</a:t>
            </a:r>
            <a:r>
              <a:rPr lang="en-GB" sz="2300"/>
              <a:t> (but not the </a:t>
            </a:r>
            <a:r>
              <a:rPr lang="en-GB" sz="2300" i="1"/>
              <a:t>Treatise</a:t>
            </a:r>
            <a:r>
              <a:rPr lang="en-GB" sz="2300"/>
              <a:t>) presents this argument as sceptical, though Hume offers an answer (</a:t>
            </a:r>
            <a:r>
              <a:rPr lang="en-GB" sz="2300" i="1"/>
              <a:t>E</a:t>
            </a:r>
            <a:r>
              <a:rPr lang="en-GB" sz="2300"/>
              <a:t> 12.22-23).</a:t>
            </a:r>
          </a:p>
        </p:txBody>
      </p:sp>
      <p:sp>
        <p:nvSpPr>
          <p:cNvPr id="4" name="Slide Number Placeholder 3">
            <a:extLst>
              <a:ext uri="{FF2B5EF4-FFF2-40B4-BE49-F238E27FC236}">
                <a16:creationId xmlns:a16="http://schemas.microsoft.com/office/drawing/2014/main" id="{5616723D-A8B0-03F6-65A0-5FF166F22BDA}"/>
              </a:ext>
            </a:extLst>
          </p:cNvPr>
          <p:cNvSpPr>
            <a:spLocks noGrp="1"/>
          </p:cNvSpPr>
          <p:nvPr>
            <p:ph type="sldNum" sz="quarter" idx="10"/>
          </p:nvPr>
        </p:nvSpPr>
        <p:spPr/>
        <p:txBody>
          <a:bodyPr/>
          <a:lstStyle/>
          <a:p>
            <a:fld id="{3616F46D-A470-4307-BD1A-3DE4FB9E5120}" type="slidenum">
              <a:rPr lang="en-US" smtClean="0"/>
              <a:pPr/>
              <a:t>176</a:t>
            </a:fld>
            <a:endParaRPr lang="en-US"/>
          </a:p>
        </p:txBody>
      </p:sp>
    </p:spTree>
    <p:extLst>
      <p:ext uri="{BB962C8B-B14F-4D97-AF65-F5344CB8AC3E}">
        <p14:creationId xmlns:p14="http://schemas.microsoft.com/office/powerpoint/2010/main" val="2658590030"/>
      </p:ext>
    </p:extLst>
  </p:cSld>
  <p:clrMapOvr>
    <a:masterClrMapping/>
  </p:clrMapOvr>
  <p:transition spd="med">
    <p:cover/>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1F260-8405-1F9E-052B-1334050DE5C1}"/>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66663C16-F3F9-56D1-CBB2-4BE785EC7276}"/>
              </a:ext>
            </a:extLst>
          </p:cNvPr>
          <p:cNvSpPr>
            <a:spLocks noGrp="1" noChangeArrowheads="1"/>
          </p:cNvSpPr>
          <p:nvPr>
            <p:ph type="ctrTitle"/>
          </p:nvPr>
        </p:nvSpPr>
        <p:spPr>
          <a:xfrm>
            <a:off x="179388" y="296863"/>
            <a:ext cx="4608512" cy="6300787"/>
          </a:xfrm>
        </p:spPr>
        <p:txBody>
          <a:bodyPr/>
          <a:lstStyle/>
          <a:p>
            <a:r>
              <a:rPr lang="en-GB"/>
              <a:t>5(</a:t>
            </a:r>
            <a:r>
              <a:rPr lang="en-GB" dirty="0"/>
              <a:t>a</a:t>
            </a:r>
            <a:r>
              <a:rPr lang="en-GB"/>
              <a:t>)</a:t>
            </a:r>
            <a:br>
              <a:rPr lang="en-GB" dirty="0"/>
            </a:br>
            <a:br>
              <a:rPr lang="en-GB"/>
            </a:br>
            <a:r>
              <a:rPr lang="en-GB" sz="4600"/>
              <a:t>The Argument of </a:t>
            </a:r>
            <a:r>
              <a:rPr lang="en-GB" sz="4600" i="1"/>
              <a:t>Treatise</a:t>
            </a:r>
            <a:r>
              <a:rPr lang="en-GB" sz="4600"/>
              <a:t> 1.3.14 and </a:t>
            </a:r>
            <a:r>
              <a:rPr lang="en-GB" sz="4600" i="1"/>
              <a:t>Enquiry</a:t>
            </a:r>
            <a:r>
              <a:rPr lang="en-GB" sz="4600"/>
              <a:t> 7</a:t>
            </a:r>
            <a:r>
              <a:rPr lang="en-GB" sz="4600" i="1"/>
              <a:t> </a:t>
            </a:r>
            <a:endParaRPr lang="en-US" sz="4600" dirty="0"/>
          </a:p>
        </p:txBody>
      </p:sp>
      <p:pic>
        <p:nvPicPr>
          <p:cNvPr id="847875" name="Picture 3" descr="treatise1">
            <a:extLst>
              <a:ext uri="{FF2B5EF4-FFF2-40B4-BE49-F238E27FC236}">
                <a16:creationId xmlns:a16="http://schemas.microsoft.com/office/drawing/2014/main" id="{9F6B94FF-F220-CD25-D451-8F611D0A15A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669600159"/>
      </p:ext>
    </p:extLst>
  </p:cSld>
  <p:clrMapOvr>
    <a:masterClrMapping/>
  </p:clrMapOvr>
  <p:transition spd="med">
    <p:cover/>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423E2-8860-BEC1-3989-BFA605F76E53}"/>
              </a:ext>
            </a:extLst>
          </p:cNvPr>
          <p:cNvSpPr>
            <a:spLocks noGrp="1"/>
          </p:cNvSpPr>
          <p:nvPr>
            <p:ph type="title"/>
          </p:nvPr>
        </p:nvSpPr>
        <p:spPr>
          <a:xfrm>
            <a:off x="107504" y="152636"/>
            <a:ext cx="8892988" cy="810927"/>
          </a:xfrm>
        </p:spPr>
        <p:txBody>
          <a:bodyPr/>
          <a:lstStyle/>
          <a:p>
            <a:r>
              <a:rPr lang="en-GB" sz="4200"/>
              <a:t>The </a:t>
            </a:r>
            <a:r>
              <a:rPr lang="en-GB" sz="4200" i="1"/>
              <a:t>Treatise</a:t>
            </a:r>
            <a:r>
              <a:rPr lang="en-GB" sz="4200"/>
              <a:t> and </a:t>
            </a:r>
            <a:r>
              <a:rPr lang="en-GB" sz="4200" i="1"/>
              <a:t>Enquiry</a:t>
            </a:r>
            <a:r>
              <a:rPr lang="en-GB" sz="4200"/>
              <a:t> Versions</a:t>
            </a:r>
          </a:p>
        </p:txBody>
      </p:sp>
      <p:sp>
        <p:nvSpPr>
          <p:cNvPr id="3" name="Content Placeholder 2">
            <a:extLst>
              <a:ext uri="{FF2B5EF4-FFF2-40B4-BE49-F238E27FC236}">
                <a16:creationId xmlns:a16="http://schemas.microsoft.com/office/drawing/2014/main" id="{C769B77D-6D10-B876-4824-83F27C0210D1}"/>
              </a:ext>
            </a:extLst>
          </p:cNvPr>
          <p:cNvSpPr>
            <a:spLocks noGrp="1"/>
          </p:cNvSpPr>
          <p:nvPr>
            <p:ph idx="1"/>
          </p:nvPr>
        </p:nvSpPr>
        <p:spPr>
          <a:xfrm>
            <a:off x="698884" y="1268759"/>
            <a:ext cx="8121588" cy="5497165"/>
          </a:xfrm>
        </p:spPr>
        <p:txBody>
          <a:bodyPr/>
          <a:lstStyle/>
          <a:p>
            <a:r>
              <a:rPr lang="en-GB" sz="2700" i="1"/>
              <a:t>Treatise</a:t>
            </a:r>
            <a:r>
              <a:rPr lang="en-GB" sz="2700"/>
              <a:t> 1.3.14 and </a:t>
            </a:r>
            <a:r>
              <a:rPr lang="en-GB" sz="2700" i="1"/>
              <a:t>Enquiry</a:t>
            </a:r>
            <a:r>
              <a:rPr lang="en-GB" sz="2700"/>
              <a:t> 7 are both entitled “Of the Idea of Necessary Connexion”, and their overall purpose is the same: to hunt down the </a:t>
            </a:r>
            <a:r>
              <a:rPr lang="en-GB" sz="2700" i="1"/>
              <a:t>impression</a:t>
            </a:r>
            <a:r>
              <a:rPr lang="en-GB" sz="2700"/>
              <a:t> from which the </a:t>
            </a:r>
            <a:r>
              <a:rPr lang="en-GB" sz="2700" i="1"/>
              <a:t>idea</a:t>
            </a:r>
            <a:r>
              <a:rPr lang="en-GB" sz="2700"/>
              <a:t> of necessary connexion is derived (see </a:t>
            </a:r>
            <a:r>
              <a:rPr lang="en-GB" sz="2700" i="1"/>
              <a:t>T</a:t>
            </a:r>
            <a:r>
              <a:rPr lang="en-GB" sz="2700"/>
              <a:t> 1.3.14.1, </a:t>
            </a:r>
            <a:r>
              <a:rPr lang="en-GB" sz="2700" i="1"/>
              <a:t>E</a:t>
            </a:r>
            <a:r>
              <a:rPr lang="en-GB" sz="2700"/>
              <a:t> 7.5).</a:t>
            </a:r>
          </a:p>
          <a:p>
            <a:r>
              <a:rPr lang="en-GB" sz="2700"/>
              <a:t> Hume’s presentation is progressively refined:</a:t>
            </a:r>
          </a:p>
          <a:p>
            <a:pPr lvl="1"/>
            <a:r>
              <a:rPr lang="en-GB" sz="2400"/>
              <a:t>The 1740 </a:t>
            </a:r>
            <a:r>
              <a:rPr lang="en-GB" sz="2400" i="1"/>
              <a:t>Appendix</a:t>
            </a:r>
            <a:r>
              <a:rPr lang="en-GB" sz="2400"/>
              <a:t> adds paragraph </a:t>
            </a:r>
            <a:r>
              <a:rPr lang="en-GB" sz="2400" i="1"/>
              <a:t>T</a:t>
            </a:r>
            <a:r>
              <a:rPr lang="en-GB" sz="2400"/>
              <a:t> 1.3.14.12, arguing that we cannot “feel an energy, or power, in our own mind” – this is later expanded to </a:t>
            </a:r>
            <a:r>
              <a:rPr lang="en-GB" sz="2400" i="1"/>
              <a:t>E </a:t>
            </a:r>
            <a:r>
              <a:rPr lang="en-GB" sz="2400"/>
              <a:t>7.9-20!</a:t>
            </a:r>
          </a:p>
          <a:p>
            <a:pPr lvl="1"/>
            <a:r>
              <a:rPr lang="en-GB" sz="2400"/>
              <a:t>As with induction and free will, the </a:t>
            </a:r>
            <a:r>
              <a:rPr lang="en-GB" sz="2400" i="1"/>
              <a:t>Enquiry</a:t>
            </a:r>
            <a:r>
              <a:rPr lang="en-GB" sz="2400"/>
              <a:t> version is significantly more polished – and no less extensive – than the </a:t>
            </a:r>
            <a:r>
              <a:rPr lang="en-GB" sz="2400" i="1"/>
              <a:t>Treatise</a:t>
            </a:r>
            <a:r>
              <a:rPr lang="en-GB" sz="2400"/>
              <a:t> version.  Hence it makes sense to accord most authority to that later version.</a:t>
            </a:r>
          </a:p>
        </p:txBody>
      </p:sp>
      <p:sp>
        <p:nvSpPr>
          <p:cNvPr id="4" name="Slide Number Placeholder 3">
            <a:extLst>
              <a:ext uri="{FF2B5EF4-FFF2-40B4-BE49-F238E27FC236}">
                <a16:creationId xmlns:a16="http://schemas.microsoft.com/office/drawing/2014/main" id="{E70D8785-C8FB-A2A7-C195-BF89C2F01099}"/>
              </a:ext>
            </a:extLst>
          </p:cNvPr>
          <p:cNvSpPr>
            <a:spLocks noGrp="1"/>
          </p:cNvSpPr>
          <p:nvPr>
            <p:ph type="sldNum" sz="quarter" idx="10"/>
          </p:nvPr>
        </p:nvSpPr>
        <p:spPr/>
        <p:txBody>
          <a:bodyPr/>
          <a:lstStyle/>
          <a:p>
            <a:fld id="{FFD1EE05-59BE-439B-B8B7-F61DC751609B}" type="slidenum">
              <a:rPr lang="en-US" smtClean="0"/>
              <a:pPr/>
              <a:t>178</a:t>
            </a:fld>
            <a:endParaRPr lang="en-US"/>
          </a:p>
        </p:txBody>
      </p:sp>
    </p:spTree>
    <p:extLst>
      <p:ext uri="{BB962C8B-B14F-4D97-AF65-F5344CB8AC3E}">
        <p14:creationId xmlns:p14="http://schemas.microsoft.com/office/powerpoint/2010/main" val="964485614"/>
      </p:ext>
    </p:extLst>
  </p:cSld>
  <p:clrMapOvr>
    <a:masterClrMapping/>
  </p:clrMapOvr>
  <p:transition spd="med">
    <p:cover/>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736D-308E-BF79-8993-AC58DD71142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909ABF3-2A9A-ACA2-CFCA-A115458FDBA9}"/>
              </a:ext>
            </a:extLst>
          </p:cNvPr>
          <p:cNvSpPr>
            <a:spLocks noGrp="1"/>
          </p:cNvSpPr>
          <p:nvPr>
            <p:ph type="sldNum" sz="quarter" idx="10"/>
          </p:nvPr>
        </p:nvSpPr>
        <p:spPr/>
        <p:txBody>
          <a:bodyPr/>
          <a:lstStyle/>
          <a:p>
            <a:fld id="{EC6EE38D-FF9C-4D9D-98F0-D38B22BFA0BB}" type="slidenum">
              <a:rPr lang="en-US"/>
              <a:pPr/>
              <a:t>179</a:t>
            </a:fld>
            <a:endParaRPr lang="en-US"/>
          </a:p>
        </p:txBody>
      </p:sp>
      <p:sp>
        <p:nvSpPr>
          <p:cNvPr id="4" name="Slide Number Placeholder 3">
            <a:extLst>
              <a:ext uri="{FF2B5EF4-FFF2-40B4-BE49-F238E27FC236}">
                <a16:creationId xmlns:a16="http://schemas.microsoft.com/office/drawing/2014/main" id="{382C0CD3-123D-00A7-756F-05F24D9E4D3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179</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EFB98E46-BAA3-7878-1677-576B7B82F8C4}"/>
              </a:ext>
            </a:extLst>
          </p:cNvPr>
          <p:cNvSpPr>
            <a:spLocks noGrp="1" noChangeArrowheads="1"/>
          </p:cNvSpPr>
          <p:nvPr>
            <p:ph type="title" idx="4294967295"/>
          </p:nvPr>
        </p:nvSpPr>
        <p:spPr>
          <a:xfrm>
            <a:off x="457200" y="116632"/>
            <a:ext cx="8229600" cy="846931"/>
          </a:xfrm>
        </p:spPr>
        <p:txBody>
          <a:bodyPr/>
          <a:lstStyle/>
          <a:p>
            <a:pPr>
              <a:defRPr/>
            </a:pPr>
            <a:r>
              <a:rPr lang="en-GB" sz="4000" dirty="0"/>
              <a:t>Applying t</a:t>
            </a:r>
            <a:r>
              <a:rPr lang="en-GB" sz="4000" dirty="0">
                <a:latin typeface="+mj-lt"/>
                <a:ea typeface="+mj-ea"/>
                <a:cs typeface="+mj-cs"/>
              </a:rPr>
              <a:t>he Copy Principle</a:t>
            </a:r>
          </a:p>
        </p:txBody>
      </p:sp>
      <p:sp>
        <p:nvSpPr>
          <p:cNvPr id="905219" name="Rectangle 3">
            <a:extLst>
              <a:ext uri="{FF2B5EF4-FFF2-40B4-BE49-F238E27FC236}">
                <a16:creationId xmlns:a16="http://schemas.microsoft.com/office/drawing/2014/main" id="{D88DFB18-D6C1-96A0-860E-BC0E25025739}"/>
              </a:ext>
            </a:extLst>
          </p:cNvPr>
          <p:cNvSpPr>
            <a:spLocks noGrp="1" noChangeArrowheads="1"/>
          </p:cNvSpPr>
          <p:nvPr>
            <p:ph type="body" idx="4294967295"/>
          </p:nvPr>
        </p:nvSpPr>
        <p:spPr>
          <a:xfrm>
            <a:off x="576325" y="1196752"/>
            <a:ext cx="8316155" cy="5184305"/>
          </a:xfrm>
        </p:spPr>
        <p:txBody>
          <a:bodyPr/>
          <a:lstStyle/>
          <a:p>
            <a:r>
              <a:rPr lang="en-GB" sz="2800" dirty="0"/>
              <a:t>Hume’s </a:t>
            </a:r>
            <a:r>
              <a:rPr lang="en-GB" sz="2800" i="1" dirty="0"/>
              <a:t>Copy Principle </a:t>
            </a:r>
            <a:r>
              <a:rPr lang="en-GB" sz="2800" dirty="0"/>
              <a:t>(</a:t>
            </a:r>
            <a:r>
              <a:rPr lang="en-GB" sz="2800" i="1"/>
              <a:t>T</a:t>
            </a:r>
            <a:r>
              <a:rPr lang="en-GB" sz="2800"/>
              <a:t> 1.1.1.7, </a:t>
            </a:r>
            <a:r>
              <a:rPr lang="en-GB" sz="2800" i="1"/>
              <a:t>E</a:t>
            </a:r>
            <a:r>
              <a:rPr lang="en-GB" sz="2800"/>
              <a:t> 2.5) is </a:t>
            </a:r>
            <a:r>
              <a:rPr lang="en-GB" sz="2800" dirty="0"/>
              <a:t>that all simple ideas are </a:t>
            </a:r>
            <a:r>
              <a:rPr lang="en-GB" sz="2800"/>
              <a:t>copied from (or “are deriv’d from” and “exactly represent”) impressions.</a:t>
            </a:r>
          </a:p>
          <a:p>
            <a:pPr>
              <a:spcBef>
                <a:spcPts val="1200"/>
              </a:spcBef>
            </a:pPr>
            <a:r>
              <a:rPr lang="en-GB" sz="2800"/>
              <a:t>The </a:t>
            </a:r>
            <a:r>
              <a:rPr lang="en-GB" sz="2800" dirty="0"/>
              <a:t>principle provides “a new microscope”</a:t>
            </a:r>
            <a:br>
              <a:rPr lang="en-GB" sz="2800" dirty="0"/>
            </a:br>
            <a:r>
              <a:rPr lang="en-GB" sz="2800" dirty="0"/>
              <a:t>(</a:t>
            </a:r>
            <a:r>
              <a:rPr lang="en-GB" sz="2800" i="1" dirty="0"/>
              <a:t>E</a:t>
            </a:r>
            <a:r>
              <a:rPr lang="en-GB" sz="2800" dirty="0"/>
              <a:t> 7.4) for investigating the nature of ideas, by finding the corresponding impressions.</a:t>
            </a:r>
          </a:p>
          <a:p>
            <a:pPr>
              <a:spcBef>
                <a:spcPts val="1200"/>
              </a:spcBef>
            </a:pPr>
            <a:r>
              <a:rPr lang="en-GB" sz="2800"/>
              <a:t>In “Of the Idea of Necessary Connexion” (both versions) Hume repeatedly refers or alludes to this principle – see </a:t>
            </a:r>
            <a:r>
              <a:rPr lang="en-GB" sz="2800" i="1"/>
              <a:t>T</a:t>
            </a:r>
            <a:r>
              <a:rPr lang="en-GB" sz="2800"/>
              <a:t> 1.3.14.1, 4, 6, 10, 11, 12, 16, 20, 22; and </a:t>
            </a:r>
            <a:r>
              <a:rPr lang="en-GB" sz="2800" i="1"/>
              <a:t>E</a:t>
            </a:r>
            <a:r>
              <a:rPr lang="en-GB" sz="2800"/>
              <a:t> 7.4, 9, 15, 26, 28, 30.</a:t>
            </a:r>
            <a:endParaRPr lang="en-GB" sz="2800" dirty="0"/>
          </a:p>
          <a:p>
            <a:pPr>
              <a:spcBef>
                <a:spcPts val="1200"/>
              </a:spcBef>
            </a:pPr>
            <a:r>
              <a:rPr lang="en-GB" sz="2800" dirty="0"/>
              <a:t>1.3.14.1 summarises the argument to come …</a:t>
            </a:r>
          </a:p>
        </p:txBody>
      </p:sp>
    </p:spTree>
    <p:extLst>
      <p:ext uri="{BB962C8B-B14F-4D97-AF65-F5344CB8AC3E}">
        <p14:creationId xmlns:p14="http://schemas.microsoft.com/office/powerpoint/2010/main" val="1220910992"/>
      </p:ext>
    </p:extLst>
  </p:cSld>
  <p:clrMapOvr>
    <a:masterClrMapping/>
  </p:clrMapOvr>
  <p:transition spd="med">
    <p:cover/>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C6EE38D-FF9C-4D9D-98F0-D38B22BFA0BB}" type="slidenum">
              <a:rPr lang="en-US"/>
              <a:pPr/>
              <a:t>180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180</a:t>
            </a:fld>
            <a:endParaRPr lang="en-US" sz="1600">
              <a:effectLst>
                <a:outerShdw blurRad="38100" dist="38100" dir="2700000" algn="tl">
                  <a:srgbClr val="000000"/>
                </a:outerShdw>
              </a:effectLst>
              <a:ea typeface="ＭＳ Ｐゴシック" charset="-128"/>
            </a:endParaRPr>
          </a:p>
        </p:txBody>
      </p:sp>
      <p:sp>
        <p:nvSpPr>
          <p:cNvPr id="905219" name="Rectangle 3"/>
          <p:cNvSpPr>
            <a:spLocks noGrp="1" noChangeArrowheads="1"/>
          </p:cNvSpPr>
          <p:nvPr>
            <p:ph type="body" idx="4294967295"/>
          </p:nvPr>
        </p:nvSpPr>
        <p:spPr>
          <a:xfrm>
            <a:off x="359532" y="404664"/>
            <a:ext cx="8604956" cy="6264425"/>
          </a:xfrm>
        </p:spPr>
        <p:txBody>
          <a:bodyPr/>
          <a:lstStyle/>
          <a:p>
            <a:pPr marL="0" indent="0">
              <a:buNone/>
            </a:pPr>
            <a:r>
              <a:rPr lang="en-GB" sz="1900" dirty="0">
                <a:effectLst/>
              </a:rPr>
              <a:t>“</a:t>
            </a:r>
            <a:r>
              <a:rPr lang="en-GB" sz="1900" i="1" dirty="0">
                <a:effectLst/>
              </a:rPr>
              <a:t>What is our idea of necessity, when we say that two objects are necessarily connected together</a:t>
            </a:r>
            <a:r>
              <a:rPr lang="en-GB" sz="1900" dirty="0">
                <a:effectLst/>
              </a:rPr>
              <a:t>.  … as we have no idea, that is not </a:t>
            </a:r>
            <a:r>
              <a:rPr lang="en-GB" sz="1900" dirty="0" err="1">
                <a:effectLst/>
              </a:rPr>
              <a:t>deriv’d</a:t>
            </a:r>
            <a:r>
              <a:rPr lang="en-GB" sz="1900" dirty="0">
                <a:effectLst/>
              </a:rPr>
              <a:t> from an impression, we must find some impression, that gives rise to this idea of necessity, if we assert we have really such an idea.  … </a:t>
            </a:r>
            <a:r>
              <a:rPr lang="en-GB" sz="1900" dirty="0">
                <a:solidFill>
                  <a:srgbClr val="92D050"/>
                </a:solidFill>
                <a:effectLst/>
              </a:rPr>
              <a:t>finding that necessity is … always </a:t>
            </a:r>
            <a:r>
              <a:rPr lang="en-GB" sz="1900" dirty="0" err="1">
                <a:solidFill>
                  <a:srgbClr val="92D050"/>
                </a:solidFill>
                <a:effectLst/>
              </a:rPr>
              <a:t>ascrib’d</a:t>
            </a:r>
            <a:r>
              <a:rPr lang="en-GB" sz="1900" dirty="0">
                <a:solidFill>
                  <a:srgbClr val="92D050"/>
                </a:solidFill>
                <a:effectLst/>
              </a:rPr>
              <a:t> to causes and effects, I turn my eye to two objects </a:t>
            </a:r>
            <a:r>
              <a:rPr lang="en-GB" sz="1900" dirty="0" err="1">
                <a:solidFill>
                  <a:srgbClr val="92D050"/>
                </a:solidFill>
                <a:effectLst/>
              </a:rPr>
              <a:t>suppos’d</a:t>
            </a:r>
            <a:r>
              <a:rPr lang="en-GB" sz="1900" dirty="0">
                <a:solidFill>
                  <a:srgbClr val="92D050"/>
                </a:solidFill>
                <a:effectLst/>
              </a:rPr>
              <a:t> to be </a:t>
            </a:r>
            <a:r>
              <a:rPr lang="en-GB" sz="1900" dirty="0" err="1">
                <a:solidFill>
                  <a:srgbClr val="92D050"/>
                </a:solidFill>
                <a:effectLst/>
              </a:rPr>
              <a:t>plac’d</a:t>
            </a:r>
            <a:r>
              <a:rPr lang="en-GB" sz="1900" dirty="0">
                <a:solidFill>
                  <a:srgbClr val="92D050"/>
                </a:solidFill>
                <a:effectLst/>
              </a:rPr>
              <a:t> in that relation; …  I immediately perceive, that they are </a:t>
            </a:r>
            <a:r>
              <a:rPr lang="en-GB" sz="1900" i="1" dirty="0">
                <a:solidFill>
                  <a:srgbClr val="92D050"/>
                </a:solidFill>
                <a:effectLst/>
              </a:rPr>
              <a:t>contiguous</a:t>
            </a:r>
            <a:r>
              <a:rPr lang="en-GB" sz="1900" dirty="0">
                <a:solidFill>
                  <a:srgbClr val="92D050"/>
                </a:solidFill>
                <a:effectLst/>
              </a:rPr>
              <a:t> in time and place, and that the object we call cause </a:t>
            </a:r>
            <a:r>
              <a:rPr lang="en-GB" sz="1900" i="1" dirty="0">
                <a:solidFill>
                  <a:srgbClr val="92D050"/>
                </a:solidFill>
                <a:effectLst/>
              </a:rPr>
              <a:t>precedes</a:t>
            </a:r>
            <a:r>
              <a:rPr lang="en-GB" sz="1900" dirty="0">
                <a:solidFill>
                  <a:srgbClr val="92D050"/>
                </a:solidFill>
                <a:effectLst/>
              </a:rPr>
              <a:t> the other we call effect.  In no one instance can I go any farther</a:t>
            </a:r>
            <a:r>
              <a:rPr lang="en-GB" sz="1900" dirty="0">
                <a:effectLst/>
              </a:rPr>
              <a:t>, nor is it possible for me to discover any third relation betwixt these objects.  </a:t>
            </a:r>
            <a:r>
              <a:rPr lang="en-GB" sz="1900" dirty="0">
                <a:solidFill>
                  <a:srgbClr val="92D050"/>
                </a:solidFill>
                <a:effectLst/>
              </a:rPr>
              <a:t>I therefore enlarge my view to comprehend several instances</a:t>
            </a:r>
            <a:r>
              <a:rPr lang="en-GB" sz="1900" dirty="0">
                <a:effectLst/>
              </a:rPr>
              <a:t>; where I find like objects always existing in like relations of contiguity and succession.  At first sight this seems to serve but little to my purpose.  The reflection on several instances only repeats the same objects; and therefore can never give rise to a new </a:t>
            </a:r>
            <a:r>
              <a:rPr lang="en-GB" sz="1900">
                <a:effectLst/>
              </a:rPr>
              <a:t>idea.  But upon </a:t>
            </a:r>
            <a:r>
              <a:rPr lang="en-GB" sz="1900" dirty="0">
                <a:effectLst/>
              </a:rPr>
              <a:t>farther enquiry </a:t>
            </a:r>
            <a:r>
              <a:rPr lang="en-GB" sz="1900" dirty="0">
                <a:solidFill>
                  <a:srgbClr val="FF7C80"/>
                </a:solidFill>
                <a:effectLst/>
              </a:rPr>
              <a:t>I find, that the repetition is not in every particular the same, but produces a new impression, and by that means the idea, which I at present examine</a:t>
            </a:r>
            <a:r>
              <a:rPr lang="en-GB" sz="1900" dirty="0">
                <a:effectLst/>
              </a:rPr>
              <a:t>.  For after a frequent repetition, I find, that upon the appearance of one of the objects, the mind is </a:t>
            </a:r>
            <a:r>
              <a:rPr lang="en-GB" sz="1900" i="1" dirty="0" err="1">
                <a:effectLst/>
              </a:rPr>
              <a:t>determin’d</a:t>
            </a:r>
            <a:r>
              <a:rPr lang="en-GB" sz="1900" dirty="0">
                <a:effectLst/>
              </a:rPr>
              <a:t> by custom to consider its usual attendant, and to consider it in a stronger light upon account of its relation to the first object.  </a:t>
            </a:r>
            <a:r>
              <a:rPr lang="en-GB" sz="1900" dirty="0" err="1">
                <a:solidFill>
                  <a:srgbClr val="FF7C80"/>
                </a:solidFill>
                <a:effectLst/>
              </a:rPr>
              <a:t>’Tis</a:t>
            </a:r>
            <a:r>
              <a:rPr lang="en-GB" sz="1900" dirty="0">
                <a:solidFill>
                  <a:srgbClr val="FF7C80"/>
                </a:solidFill>
                <a:effectLst/>
              </a:rPr>
              <a:t> this impression, then, or </a:t>
            </a:r>
            <a:r>
              <a:rPr lang="en-GB" sz="1900" i="1" dirty="0">
                <a:solidFill>
                  <a:srgbClr val="FF7C80"/>
                </a:solidFill>
                <a:effectLst/>
              </a:rPr>
              <a:t>determination</a:t>
            </a:r>
            <a:r>
              <a:rPr lang="en-GB" sz="1900" dirty="0">
                <a:solidFill>
                  <a:srgbClr val="FF7C80"/>
                </a:solidFill>
                <a:effectLst/>
              </a:rPr>
              <a:t>, which affords me the idea of necessity</a:t>
            </a:r>
            <a:r>
              <a:rPr lang="en-GB" sz="1900" dirty="0">
                <a:effectLst/>
              </a:rPr>
              <a:t>.”</a:t>
            </a:r>
          </a:p>
          <a:p>
            <a:pPr marL="0" indent="0">
              <a:buNone/>
            </a:pPr>
            <a:r>
              <a:rPr lang="en-GB" sz="1900" dirty="0">
                <a:effectLst/>
              </a:rPr>
              <a:t>							(</a:t>
            </a:r>
            <a:r>
              <a:rPr lang="en-GB" sz="1900" i="1" dirty="0">
                <a:effectLst/>
              </a:rPr>
              <a:t>T </a:t>
            </a:r>
            <a:r>
              <a:rPr lang="en-GB" sz="1900" dirty="0">
                <a:effectLst/>
              </a:rPr>
              <a:t>1.3.14.1)</a:t>
            </a:r>
          </a:p>
          <a:p>
            <a:endParaRPr lang="en-GB" sz="1900" dirty="0"/>
          </a:p>
        </p:txBody>
      </p:sp>
    </p:spTree>
    <p:extLst>
      <p:ext uri="{BB962C8B-B14F-4D97-AF65-F5344CB8AC3E}">
        <p14:creationId xmlns:p14="http://schemas.microsoft.com/office/powerpoint/2010/main" val="2581777190"/>
      </p:ext>
    </p:extLst>
  </p:cSld>
  <p:clrMapOvr>
    <a:masterClrMapping/>
  </p:clrMapOvr>
  <p:transition spd="med">
    <p:cover/>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FDEE6-DA6A-5269-E8F2-C34CC40D138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6457C63-4AAC-F305-7232-B395F0F804D9}"/>
              </a:ext>
            </a:extLst>
          </p:cNvPr>
          <p:cNvSpPr>
            <a:spLocks noGrp="1"/>
          </p:cNvSpPr>
          <p:nvPr>
            <p:ph type="sldNum" sz="quarter" idx="10"/>
          </p:nvPr>
        </p:nvSpPr>
        <p:spPr/>
        <p:txBody>
          <a:bodyPr/>
          <a:lstStyle/>
          <a:p>
            <a:fld id="{EC6EE38D-FF9C-4D9D-98F0-D38B22BFA0BB}" type="slidenum">
              <a:rPr lang="en-US"/>
              <a:pPr/>
              <a:t>181</a:t>
            </a:fld>
            <a:endParaRPr lang="en-US"/>
          </a:p>
        </p:txBody>
      </p:sp>
      <p:sp>
        <p:nvSpPr>
          <p:cNvPr id="4" name="Slide Number Placeholder 3">
            <a:extLst>
              <a:ext uri="{FF2B5EF4-FFF2-40B4-BE49-F238E27FC236}">
                <a16:creationId xmlns:a16="http://schemas.microsoft.com/office/drawing/2014/main" id="{38F8CFDB-3EC5-F64B-1061-B8673D752C3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181</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F98F1435-7FF5-3707-6C7D-A9083E34FD13}"/>
              </a:ext>
            </a:extLst>
          </p:cNvPr>
          <p:cNvSpPr>
            <a:spLocks noGrp="1" noChangeArrowheads="1"/>
          </p:cNvSpPr>
          <p:nvPr>
            <p:ph type="title" idx="4294967295"/>
          </p:nvPr>
        </p:nvSpPr>
        <p:spPr>
          <a:xfrm>
            <a:off x="457200" y="116632"/>
            <a:ext cx="8229600" cy="846931"/>
          </a:xfrm>
        </p:spPr>
        <p:txBody>
          <a:bodyPr/>
          <a:lstStyle/>
          <a:p>
            <a:pPr>
              <a:defRPr/>
            </a:pPr>
            <a:r>
              <a:rPr lang="en-GB" sz="4000">
                <a:latin typeface="+mj-lt"/>
                <a:ea typeface="+mj-ea"/>
                <a:cs typeface="+mj-cs"/>
              </a:rPr>
              <a:t>The Structure of the Argument</a:t>
            </a:r>
            <a:endParaRPr lang="en-GB" sz="4000" dirty="0">
              <a:latin typeface="+mj-lt"/>
              <a:ea typeface="+mj-ea"/>
              <a:cs typeface="+mj-cs"/>
            </a:endParaRPr>
          </a:p>
        </p:txBody>
      </p:sp>
      <p:sp>
        <p:nvSpPr>
          <p:cNvPr id="905219" name="Rectangle 3">
            <a:extLst>
              <a:ext uri="{FF2B5EF4-FFF2-40B4-BE49-F238E27FC236}">
                <a16:creationId xmlns:a16="http://schemas.microsoft.com/office/drawing/2014/main" id="{52C7F8BC-219D-59D4-3DE4-5B3D987580B0}"/>
              </a:ext>
            </a:extLst>
          </p:cNvPr>
          <p:cNvSpPr>
            <a:spLocks noGrp="1" noChangeArrowheads="1"/>
          </p:cNvSpPr>
          <p:nvPr>
            <p:ph type="body" idx="4294967295"/>
          </p:nvPr>
        </p:nvSpPr>
        <p:spPr>
          <a:xfrm>
            <a:off x="457200" y="1196752"/>
            <a:ext cx="8435281" cy="5328592"/>
          </a:xfrm>
        </p:spPr>
        <p:txBody>
          <a:bodyPr/>
          <a:lstStyle/>
          <a:p>
            <a:pPr marL="514350" indent="-514350">
              <a:buFont typeface="+mj-lt"/>
              <a:buAutoNum type="arabicPeriod"/>
            </a:pPr>
            <a:r>
              <a:rPr lang="en-GB" sz="2500"/>
              <a:t>Causes are </a:t>
            </a:r>
            <a:r>
              <a:rPr lang="en-GB" sz="2500" i="1"/>
              <a:t>contiguous</a:t>
            </a:r>
            <a:r>
              <a:rPr lang="en-GB" sz="2500"/>
              <a:t> to their effects, and </a:t>
            </a:r>
            <a:r>
              <a:rPr lang="en-GB" sz="2500" i="1"/>
              <a:t>prior</a:t>
            </a:r>
            <a:r>
              <a:rPr lang="en-GB" sz="2500"/>
              <a:t> – but </a:t>
            </a:r>
            <a:r>
              <a:rPr lang="en-GB" sz="2500" i="1"/>
              <a:t>necessary connexion</a:t>
            </a:r>
            <a:r>
              <a:rPr lang="en-GB" sz="2500"/>
              <a:t> is also essential</a:t>
            </a:r>
            <a:r>
              <a:rPr lang="en-GB" sz="2500" i="1"/>
              <a:t> </a:t>
            </a:r>
            <a:r>
              <a:rPr lang="en-GB" sz="2500"/>
              <a:t>(</a:t>
            </a:r>
            <a:r>
              <a:rPr lang="en-GB" sz="2500" i="1"/>
              <a:t>T</a:t>
            </a:r>
            <a:r>
              <a:rPr lang="en-GB" sz="2500"/>
              <a:t> 1.3.2.11).</a:t>
            </a:r>
          </a:p>
          <a:p>
            <a:pPr marL="514350" indent="-514350">
              <a:buFont typeface="+mj-lt"/>
              <a:buAutoNum type="arabicPeriod"/>
            </a:pPr>
            <a:r>
              <a:rPr lang="en-GB" sz="2500"/>
              <a:t>We accordingly aim to understand this idea of </a:t>
            </a:r>
            <a:r>
              <a:rPr lang="en-GB" sz="2500" i="1"/>
              <a:t>power</a:t>
            </a:r>
            <a:r>
              <a:rPr lang="en-GB" sz="2500"/>
              <a:t>, </a:t>
            </a:r>
            <a:r>
              <a:rPr lang="en-GB" sz="2500" i="1"/>
              <a:t>force</a:t>
            </a:r>
            <a:r>
              <a:rPr lang="en-GB" sz="2500"/>
              <a:t>, or </a:t>
            </a:r>
            <a:r>
              <a:rPr lang="en-GB" sz="2500" i="1"/>
              <a:t>necessary connexion</a:t>
            </a:r>
            <a:r>
              <a:rPr lang="en-GB" sz="2500"/>
              <a:t> (</a:t>
            </a:r>
            <a:r>
              <a:rPr lang="en-GB" sz="2500" i="1"/>
              <a:t>T</a:t>
            </a:r>
            <a:r>
              <a:rPr lang="en-GB" sz="2500"/>
              <a:t> 1.3.14.4, </a:t>
            </a:r>
            <a:r>
              <a:rPr lang="en-GB" sz="2500" i="1"/>
              <a:t>E</a:t>
            </a:r>
            <a:r>
              <a:rPr lang="en-GB" sz="2500"/>
              <a:t> 7.3).</a:t>
            </a:r>
          </a:p>
          <a:p>
            <a:pPr marL="514350" indent="-514350">
              <a:buFont typeface="+mj-lt"/>
              <a:buAutoNum type="arabicPeriod"/>
            </a:pPr>
            <a:r>
              <a:rPr lang="en-GB" sz="2500"/>
              <a:t>To do so, we need to find the </a:t>
            </a:r>
            <a:r>
              <a:rPr lang="en-GB" sz="2500" i="1"/>
              <a:t>impression</a:t>
            </a:r>
            <a:r>
              <a:rPr lang="en-GB" sz="2500"/>
              <a:t> from which that idea is copied (</a:t>
            </a:r>
            <a:r>
              <a:rPr lang="en-GB" sz="2500" i="1"/>
              <a:t>T</a:t>
            </a:r>
            <a:r>
              <a:rPr lang="en-GB" sz="2500"/>
              <a:t> 1.3.14.6, </a:t>
            </a:r>
            <a:r>
              <a:rPr lang="en-GB" sz="2500" i="1"/>
              <a:t>E</a:t>
            </a:r>
            <a:r>
              <a:rPr lang="en-GB" sz="2500"/>
              <a:t> 7.5).</a:t>
            </a:r>
          </a:p>
          <a:p>
            <a:pPr marL="514350" indent="-514350">
              <a:buFont typeface="+mj-lt"/>
              <a:buAutoNum type="arabicPeriod"/>
            </a:pPr>
            <a:r>
              <a:rPr lang="en-GB" sz="2500"/>
              <a:t>We cannot acquire an impression of power by observ-ing the interaction of bodies (</a:t>
            </a:r>
            <a:r>
              <a:rPr lang="en-GB" sz="2500" i="1"/>
              <a:t>T</a:t>
            </a:r>
            <a:r>
              <a:rPr lang="en-GB" sz="2500"/>
              <a:t> 1.3.14.7-11, </a:t>
            </a:r>
            <a:r>
              <a:rPr lang="en-GB" sz="2500" i="1"/>
              <a:t>E</a:t>
            </a:r>
            <a:r>
              <a:rPr lang="en-GB" sz="2500"/>
              <a:t> 7.6-8).</a:t>
            </a:r>
          </a:p>
          <a:p>
            <a:pPr marL="514350" indent="-514350">
              <a:buFont typeface="+mj-lt"/>
              <a:buAutoNum type="arabicPeriod"/>
            </a:pPr>
            <a:r>
              <a:rPr lang="en-GB" sz="2500"/>
              <a:t>Nor do we get an internal impression of the power of our own minds, e.g. our will (</a:t>
            </a:r>
            <a:r>
              <a:rPr lang="en-GB" sz="2500" i="1"/>
              <a:t>T</a:t>
            </a:r>
            <a:r>
              <a:rPr lang="en-GB" sz="2500"/>
              <a:t> 1.3.14.12, </a:t>
            </a:r>
            <a:r>
              <a:rPr lang="en-GB" sz="2500" i="1"/>
              <a:t>E</a:t>
            </a:r>
            <a:r>
              <a:rPr lang="en-GB" sz="2500"/>
              <a:t> 7.9-20).</a:t>
            </a:r>
          </a:p>
          <a:p>
            <a:pPr marL="514350" indent="-514350">
              <a:buFont typeface="+mj-lt"/>
              <a:buAutoNum type="arabicPeriod"/>
            </a:pPr>
            <a:r>
              <a:rPr lang="en-GB" sz="2500"/>
              <a:t>Nor can we acquire a </a:t>
            </a:r>
            <a:r>
              <a:rPr lang="en-GB" sz="2500" i="1"/>
              <a:t>general idea</a:t>
            </a:r>
            <a:r>
              <a:rPr lang="en-GB" sz="2500"/>
              <a:t> of power without first having an idea of a </a:t>
            </a:r>
            <a:r>
              <a:rPr lang="en-GB" sz="2500" i="1"/>
              <a:t>particular</a:t>
            </a:r>
            <a:r>
              <a:rPr lang="en-GB" sz="2500"/>
              <a:t> power (</a:t>
            </a:r>
            <a:r>
              <a:rPr lang="en-GB" sz="2500" i="1"/>
              <a:t>T</a:t>
            </a:r>
            <a:r>
              <a:rPr lang="en-GB" sz="2500"/>
              <a:t> 1.3.14.13).</a:t>
            </a:r>
            <a:endParaRPr lang="en-GB" sz="2500" dirty="0"/>
          </a:p>
        </p:txBody>
      </p:sp>
    </p:spTree>
    <p:extLst>
      <p:ext uri="{BB962C8B-B14F-4D97-AF65-F5344CB8AC3E}">
        <p14:creationId xmlns:p14="http://schemas.microsoft.com/office/powerpoint/2010/main" val="4164010482"/>
      </p:ext>
    </p:extLst>
  </p:cSld>
  <p:clrMapOvr>
    <a:masterClrMapping/>
  </p:clrMapOvr>
  <p:transition spd="med">
    <p:cover/>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EC4-3D41-EEF8-28DE-846C5F50963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B41F22BE-7BE6-83CA-33F9-225222EEC1A4}"/>
              </a:ext>
            </a:extLst>
          </p:cNvPr>
          <p:cNvSpPr>
            <a:spLocks noGrp="1"/>
          </p:cNvSpPr>
          <p:nvPr>
            <p:ph type="sldNum" sz="quarter" idx="10"/>
          </p:nvPr>
        </p:nvSpPr>
        <p:spPr/>
        <p:txBody>
          <a:bodyPr/>
          <a:lstStyle/>
          <a:p>
            <a:fld id="{EC6EE38D-FF9C-4D9D-98F0-D38B22BFA0BB}" type="slidenum">
              <a:rPr lang="en-US"/>
              <a:pPr/>
              <a:t>182</a:t>
            </a:fld>
            <a:endParaRPr lang="en-US"/>
          </a:p>
        </p:txBody>
      </p:sp>
      <p:sp>
        <p:nvSpPr>
          <p:cNvPr id="4" name="Slide Number Placeholder 3">
            <a:extLst>
              <a:ext uri="{FF2B5EF4-FFF2-40B4-BE49-F238E27FC236}">
                <a16:creationId xmlns:a16="http://schemas.microsoft.com/office/drawing/2014/main" id="{EB718299-55EF-488C-D36B-618D7B30C1C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182</a:t>
            </a:fld>
            <a:endParaRPr lang="en-US" sz="1600">
              <a:effectLst>
                <a:outerShdw blurRad="38100" dist="38100" dir="2700000" algn="tl">
                  <a:srgbClr val="000000"/>
                </a:outerShdw>
              </a:effectLst>
              <a:ea typeface="ＭＳ Ｐゴシック" charset="-128"/>
            </a:endParaRPr>
          </a:p>
        </p:txBody>
      </p:sp>
      <p:sp>
        <p:nvSpPr>
          <p:cNvPr id="905219" name="Rectangle 3">
            <a:extLst>
              <a:ext uri="{FF2B5EF4-FFF2-40B4-BE49-F238E27FC236}">
                <a16:creationId xmlns:a16="http://schemas.microsoft.com/office/drawing/2014/main" id="{772C74A3-1A2B-0969-73AF-597AEB6955CB}"/>
              </a:ext>
            </a:extLst>
          </p:cNvPr>
          <p:cNvSpPr>
            <a:spLocks noGrp="1" noChangeArrowheads="1"/>
          </p:cNvSpPr>
          <p:nvPr>
            <p:ph type="body" idx="4294967295"/>
          </p:nvPr>
        </p:nvSpPr>
        <p:spPr>
          <a:xfrm>
            <a:off x="503547" y="152636"/>
            <a:ext cx="8496945" cy="6516724"/>
          </a:xfrm>
        </p:spPr>
        <p:txBody>
          <a:bodyPr/>
          <a:lstStyle/>
          <a:p>
            <a:pPr marL="514350" indent="-514350">
              <a:buFont typeface="+mj-lt"/>
              <a:buAutoNum type="arabicPeriod" startAt="7"/>
            </a:pPr>
            <a:r>
              <a:rPr lang="en-GB" sz="2400" dirty="0"/>
              <a:t>Some philosophers find the answer in </a:t>
            </a:r>
            <a:r>
              <a:rPr lang="en-GB" sz="2400" i="1" dirty="0"/>
              <a:t>occasionalism</a:t>
            </a:r>
            <a:r>
              <a:rPr lang="en-GB" sz="2400" dirty="0"/>
              <a:t> – according to which everything that happens is caused directly by God’s power (</a:t>
            </a:r>
            <a:r>
              <a:rPr lang="en-GB" sz="2400" i="1" dirty="0"/>
              <a:t>E</a:t>
            </a:r>
            <a:r>
              <a:rPr lang="en-GB" sz="2400" dirty="0"/>
              <a:t> 7.21, cf. </a:t>
            </a:r>
            <a:r>
              <a:rPr lang="en-GB" sz="2400" i="1" dirty="0"/>
              <a:t>T</a:t>
            </a:r>
            <a:r>
              <a:rPr lang="en-GB" sz="2400" dirty="0"/>
              <a:t> 1.3.14.9-10).</a:t>
            </a:r>
          </a:p>
          <a:p>
            <a:pPr marL="914400" lvl="1" indent="-514350"/>
            <a:r>
              <a:rPr lang="en-GB" sz="2300" dirty="0"/>
              <a:t>But this takes us “into fairy land … and </a:t>
            </a:r>
            <a:r>
              <a:rPr lang="en-GB" sz="2300" i="1" dirty="0"/>
              <a:t>there</a:t>
            </a:r>
            <a:r>
              <a:rPr lang="en-GB" sz="2300" dirty="0"/>
              <a:t> we [cannot] trust our common methods of argument (</a:t>
            </a:r>
            <a:r>
              <a:rPr lang="en-GB" sz="2300" i="1" dirty="0"/>
              <a:t>E</a:t>
            </a:r>
            <a:r>
              <a:rPr lang="en-GB" sz="2300" dirty="0"/>
              <a:t> 7.24).</a:t>
            </a:r>
          </a:p>
          <a:p>
            <a:pPr marL="914400" lvl="1" indent="-514350"/>
            <a:r>
              <a:rPr lang="en-GB" sz="2300" dirty="0"/>
              <a:t>Besides, it is just as difficult to understand how we can acquire an idea of the power of God (</a:t>
            </a:r>
            <a:r>
              <a:rPr lang="en-GB" sz="2300" i="1" dirty="0"/>
              <a:t>E</a:t>
            </a:r>
            <a:r>
              <a:rPr lang="en-GB" sz="2300" dirty="0"/>
              <a:t> 7.25).</a:t>
            </a:r>
          </a:p>
          <a:p>
            <a:pPr marL="514350" indent="-514350">
              <a:buFont typeface="+mj-lt"/>
              <a:buAutoNum type="arabicPeriod" startAt="7"/>
            </a:pPr>
            <a:r>
              <a:rPr lang="en-GB" sz="2500" dirty="0"/>
              <a:t>These are all negative results so far, but perhaps we can find a different way forward (</a:t>
            </a:r>
            <a:r>
              <a:rPr lang="en-GB" sz="2500" i="1" dirty="0"/>
              <a:t>T</a:t>
            </a:r>
            <a:r>
              <a:rPr lang="en-GB" sz="2500" dirty="0"/>
              <a:t> 1.3.14.14, </a:t>
            </a:r>
            <a:r>
              <a:rPr lang="en-GB" sz="2500" i="1" dirty="0"/>
              <a:t>E</a:t>
            </a:r>
            <a:r>
              <a:rPr lang="en-GB" sz="2500" dirty="0"/>
              <a:t> 7.26).</a:t>
            </a:r>
          </a:p>
          <a:p>
            <a:pPr marL="514350" indent="-514350">
              <a:buFont typeface="+mj-lt"/>
              <a:buAutoNum type="arabicPeriod" startAt="7"/>
            </a:pPr>
            <a:r>
              <a:rPr lang="en-GB" sz="2500" dirty="0"/>
              <a:t>The impression does not come from </a:t>
            </a:r>
            <a:r>
              <a:rPr lang="en-GB" sz="2500" i="1" dirty="0"/>
              <a:t>one</a:t>
            </a:r>
            <a:r>
              <a:rPr lang="en-GB" sz="2500" dirty="0"/>
              <a:t> instance, but from </a:t>
            </a:r>
            <a:r>
              <a:rPr lang="en-GB" sz="2500" i="1" dirty="0"/>
              <a:t>repeated</a:t>
            </a:r>
            <a:r>
              <a:rPr lang="en-GB" sz="2500" dirty="0"/>
              <a:t> instances (</a:t>
            </a:r>
            <a:r>
              <a:rPr lang="en-GB" sz="2500" i="1" dirty="0"/>
              <a:t>T</a:t>
            </a:r>
            <a:r>
              <a:rPr lang="en-GB" sz="2500" dirty="0"/>
              <a:t> 1.3.14.15-16, </a:t>
            </a:r>
            <a:r>
              <a:rPr lang="en-GB" sz="2500" i="1" dirty="0"/>
              <a:t>E</a:t>
            </a:r>
            <a:r>
              <a:rPr lang="en-GB" sz="2500" dirty="0"/>
              <a:t> 7.27).</a:t>
            </a:r>
          </a:p>
          <a:p>
            <a:pPr marL="514350" indent="-514350">
              <a:buFont typeface="+mj-lt"/>
              <a:buAutoNum type="arabicPeriod" startAt="7"/>
            </a:pPr>
            <a:r>
              <a:rPr lang="en-GB" sz="2500" dirty="0"/>
              <a:t>Repetition generates a new impression, </a:t>
            </a:r>
            <a:r>
              <a:rPr lang="en-GB" sz="2500" i="1" dirty="0"/>
              <a:t>not in the observed objects, but in the observing mind</a:t>
            </a:r>
            <a:r>
              <a:rPr lang="en-GB" sz="2500" dirty="0"/>
              <a:t> – namely, the “determination of the mind” (</a:t>
            </a:r>
            <a:r>
              <a:rPr lang="en-GB" sz="2500" i="1" dirty="0"/>
              <a:t>T</a:t>
            </a:r>
            <a:r>
              <a:rPr lang="en-GB" sz="2500" dirty="0"/>
              <a:t> 1.3.14.20) or “customary transition of the imagination” (</a:t>
            </a:r>
            <a:r>
              <a:rPr lang="en-GB" sz="2500" i="1" dirty="0"/>
              <a:t>E</a:t>
            </a:r>
            <a:r>
              <a:rPr lang="en-GB" sz="2500" dirty="0"/>
              <a:t> 7.28) when we find ourselves making an inductive inference.</a:t>
            </a:r>
          </a:p>
        </p:txBody>
      </p:sp>
    </p:spTree>
    <p:extLst>
      <p:ext uri="{BB962C8B-B14F-4D97-AF65-F5344CB8AC3E}">
        <p14:creationId xmlns:p14="http://schemas.microsoft.com/office/powerpoint/2010/main" val="1391982468"/>
      </p:ext>
    </p:extLst>
  </p:cSld>
  <p:clrMapOvr>
    <a:masterClrMapping/>
  </p:clrMapOvr>
  <p:transition spd="med">
    <p:cover/>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4A44E63-CB97-42CA-A549-D8228D173849}" type="slidenum">
              <a:rPr lang="en-US"/>
              <a:pPr/>
              <a:t>183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183</a:t>
            </a:fld>
            <a:endParaRPr lang="en-US" sz="1600">
              <a:effectLst>
                <a:outerShdw blurRad="38100" dist="38100" dir="2700000" algn="tl">
                  <a:srgbClr val="000000"/>
                </a:outerShdw>
              </a:effectLst>
              <a:ea typeface="ＭＳ Ｐゴシック" charset="-128"/>
            </a:endParaRPr>
          </a:p>
        </p:txBody>
      </p:sp>
      <p:sp>
        <p:nvSpPr>
          <p:cNvPr id="906242" name="Rectangle 2"/>
          <p:cNvSpPr>
            <a:spLocks noGrp="1" noChangeArrowheads="1"/>
          </p:cNvSpPr>
          <p:nvPr>
            <p:ph type="title" idx="4294967295"/>
          </p:nvPr>
        </p:nvSpPr>
        <p:spPr>
          <a:xfrm>
            <a:off x="215516" y="205805"/>
            <a:ext cx="8784976" cy="738919"/>
          </a:xfrm>
        </p:spPr>
        <p:txBody>
          <a:bodyPr/>
          <a:lstStyle/>
          <a:p>
            <a:pPr>
              <a:defRPr/>
            </a:pPr>
            <a:r>
              <a:rPr lang="en-GB">
                <a:latin typeface="+mj-lt"/>
                <a:ea typeface="+mj-ea"/>
                <a:cs typeface="+mj-cs"/>
              </a:rPr>
              <a:t>Stage 2: A Family of Terms</a:t>
            </a:r>
            <a:endParaRPr lang="en-GB" dirty="0">
              <a:latin typeface="+mj-lt"/>
              <a:ea typeface="+mj-ea"/>
              <a:cs typeface="+mj-cs"/>
            </a:endParaRPr>
          </a:p>
        </p:txBody>
      </p:sp>
      <p:sp>
        <p:nvSpPr>
          <p:cNvPr id="906243" name="Rectangle 3"/>
          <p:cNvSpPr>
            <a:spLocks noGrp="1" noChangeArrowheads="1"/>
          </p:cNvSpPr>
          <p:nvPr>
            <p:ph type="body" idx="4294967295"/>
          </p:nvPr>
        </p:nvSpPr>
        <p:spPr>
          <a:xfrm>
            <a:off x="287525" y="1232756"/>
            <a:ext cx="8496943" cy="5436604"/>
          </a:xfrm>
        </p:spPr>
        <p:txBody>
          <a:bodyPr/>
          <a:lstStyle/>
          <a:p>
            <a:pPr>
              <a:buNone/>
            </a:pPr>
            <a:r>
              <a:rPr lang="en-US" sz="2800" dirty="0"/>
              <a:t>	</a:t>
            </a:r>
            <a:r>
              <a:rPr lang="en-US" sz="2700" dirty="0"/>
              <a:t>“I begin with observing that the terms of </a:t>
            </a:r>
            <a:r>
              <a:rPr lang="en-US" sz="2700" i="1" dirty="0"/>
              <a:t>efficacy, agency, power, force, energy, necessity</a:t>
            </a:r>
            <a:r>
              <a:rPr lang="en-US" sz="2700" i="1"/>
              <a:t>, connexion</a:t>
            </a:r>
            <a:r>
              <a:rPr lang="en-US" sz="2700" dirty="0"/>
              <a:t>, and </a:t>
            </a:r>
            <a:r>
              <a:rPr lang="en-US" sz="2700" i="1" dirty="0"/>
              <a:t>productive quality</a:t>
            </a:r>
            <a:r>
              <a:rPr lang="en-US" sz="2700" dirty="0"/>
              <a:t>, are all nearly </a:t>
            </a:r>
            <a:r>
              <a:rPr lang="en-US" sz="2700" dirty="0" err="1"/>
              <a:t>synonimous</a:t>
            </a:r>
            <a:r>
              <a:rPr lang="en-US" sz="2700" dirty="0"/>
              <a:t>; and therefore ’tis an absurdity to employ any of them in </a:t>
            </a:r>
            <a:r>
              <a:rPr lang="en-US" sz="2700"/>
              <a:t>defining the rest.”  </a:t>
            </a:r>
            <a:r>
              <a:rPr lang="en-US" sz="2700" dirty="0"/>
              <a:t>(</a:t>
            </a:r>
            <a:r>
              <a:rPr lang="en-US" sz="2700" i="1" dirty="0"/>
              <a:t>T</a:t>
            </a:r>
            <a:r>
              <a:rPr lang="en-US" sz="2700" dirty="0"/>
              <a:t> </a:t>
            </a:r>
            <a:r>
              <a:rPr lang="en-US" sz="2700"/>
              <a:t>1.3.14.4)</a:t>
            </a:r>
          </a:p>
          <a:p>
            <a:pPr>
              <a:spcBef>
                <a:spcPts val="1800"/>
              </a:spcBef>
              <a:buNone/>
            </a:pPr>
            <a:r>
              <a:rPr lang="en-US" sz="2700"/>
              <a:t>	“There are no ideas, which occur in metaphysics, more obscure and uncertain, than those of </a:t>
            </a:r>
            <a:r>
              <a:rPr lang="en-US" sz="2700" i="1"/>
              <a:t>power</a:t>
            </a:r>
            <a:r>
              <a:rPr lang="en-US" sz="2700"/>
              <a:t>, </a:t>
            </a:r>
            <a:r>
              <a:rPr lang="en-US" sz="2700" i="1"/>
              <a:t>force</a:t>
            </a:r>
            <a:r>
              <a:rPr lang="en-US" sz="2700"/>
              <a:t>, </a:t>
            </a:r>
            <a:r>
              <a:rPr lang="en-US" sz="2700" i="1"/>
              <a:t>energy</a:t>
            </a:r>
            <a:r>
              <a:rPr lang="en-US" sz="2700"/>
              <a:t>, or </a:t>
            </a:r>
            <a:r>
              <a:rPr lang="en-US" sz="2700" i="1"/>
              <a:t>necessary connexion</a:t>
            </a:r>
            <a:r>
              <a:rPr lang="en-US" sz="2700"/>
              <a:t>, of which it is every moment necessary for us to treat in all our disquistions.  We shall … endeavour in this section, to fix … the precise meaning of these terms”  (</a:t>
            </a:r>
            <a:r>
              <a:rPr lang="en-US" sz="2700" i="1"/>
              <a:t>E</a:t>
            </a:r>
            <a:r>
              <a:rPr lang="en-US" sz="2700"/>
              <a:t> 7.3)</a:t>
            </a:r>
          </a:p>
        </p:txBody>
      </p:sp>
    </p:spTree>
    <p:extLst>
      <p:ext uri="{BB962C8B-B14F-4D97-AF65-F5344CB8AC3E}">
        <p14:creationId xmlns:p14="http://schemas.microsoft.com/office/powerpoint/2010/main" val="3615089959"/>
      </p:ext>
    </p:extLst>
  </p:cSld>
  <p:clrMapOvr>
    <a:masterClrMapping/>
  </p:clrMapOvr>
  <p:transition spd="med">
    <p:cover/>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1050A30-001A-45EF-BACC-6AAFB47F2739}" type="slidenum">
              <a:rPr lang="en-US"/>
              <a:pPr/>
              <a:t>184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B26037-E96A-4C1C-8484-ED4BE8A14C21}" type="slidenum">
              <a:rPr lang="en-US" sz="1600">
                <a:effectLst>
                  <a:outerShdw blurRad="38100" dist="38100" dir="2700000" algn="tl">
                    <a:srgbClr val="000000"/>
                  </a:outerShdw>
                </a:effectLst>
                <a:ea typeface="ＭＳ Ｐゴシック" charset="-128"/>
              </a:rPr>
              <a:pPr eaLnBrk="1" hangingPunct="1"/>
              <a:t>184</a:t>
            </a:fld>
            <a:endParaRPr lang="en-US" sz="1600">
              <a:effectLst>
                <a:outerShdw blurRad="38100" dist="38100" dir="2700000" algn="tl">
                  <a:srgbClr val="000000"/>
                </a:outerShdw>
              </a:effectLst>
              <a:ea typeface="ＭＳ Ｐゴシック" charset="-128"/>
            </a:endParaRPr>
          </a:p>
        </p:txBody>
      </p:sp>
      <p:sp>
        <p:nvSpPr>
          <p:cNvPr id="907266" name="Rectangle 2"/>
          <p:cNvSpPr>
            <a:spLocks noGrp="1" noChangeArrowheads="1"/>
          </p:cNvSpPr>
          <p:nvPr>
            <p:ph type="title" idx="4294967295"/>
          </p:nvPr>
        </p:nvSpPr>
        <p:spPr>
          <a:xfrm>
            <a:off x="457200" y="224645"/>
            <a:ext cx="8229600" cy="648072"/>
          </a:xfrm>
        </p:spPr>
        <p:txBody>
          <a:bodyPr/>
          <a:lstStyle/>
          <a:p>
            <a:pPr>
              <a:defRPr/>
            </a:pPr>
            <a:r>
              <a:rPr lang="en-GB" dirty="0">
                <a:latin typeface="+mj-lt"/>
                <a:ea typeface="+mj-ea"/>
                <a:cs typeface="+mj-cs"/>
              </a:rPr>
              <a:t>Two Puzzles</a:t>
            </a:r>
          </a:p>
        </p:txBody>
      </p:sp>
      <p:sp>
        <p:nvSpPr>
          <p:cNvPr id="907267" name="Rectangle 3"/>
          <p:cNvSpPr>
            <a:spLocks noGrp="1" noChangeArrowheads="1"/>
          </p:cNvSpPr>
          <p:nvPr>
            <p:ph type="body" idx="4294967295"/>
          </p:nvPr>
        </p:nvSpPr>
        <p:spPr>
          <a:xfrm>
            <a:off x="468313" y="1088740"/>
            <a:ext cx="8352160" cy="5508911"/>
          </a:xfrm>
        </p:spPr>
        <p:txBody>
          <a:bodyPr/>
          <a:lstStyle/>
          <a:p>
            <a:r>
              <a:rPr lang="en-GB" sz="2700" dirty="0"/>
              <a:t>Why does Hume treat “efficacy”, “power”, “force”, “energy”, “necessity” etc. as virtual synonyms?</a:t>
            </a:r>
          </a:p>
          <a:p>
            <a:pPr>
              <a:spcBef>
                <a:spcPts val="1200"/>
              </a:spcBef>
            </a:pPr>
            <a:r>
              <a:rPr lang="en-GB" sz="2700" dirty="0"/>
              <a:t>Why, in his subsequent procedure of seeking for a single source impression, does he apparently assume that the idea of “necessary connexion” is </a:t>
            </a:r>
            <a:r>
              <a:rPr lang="en-GB" sz="2700" i="1" dirty="0"/>
              <a:t>simple</a:t>
            </a:r>
            <a:r>
              <a:rPr lang="en-GB" sz="2700" dirty="0"/>
              <a:t>, and hence cannot be explicitly defined?  (This is made explicit at </a:t>
            </a:r>
            <a:r>
              <a:rPr lang="en-GB" sz="2700" i="1" dirty="0"/>
              <a:t>E</a:t>
            </a:r>
            <a:r>
              <a:rPr lang="en-GB" sz="2700" dirty="0"/>
              <a:t> 7.8 n. 12, which implies that the quest is for “a new, original, simple idea”.)</a:t>
            </a:r>
          </a:p>
          <a:p>
            <a:pPr>
              <a:spcBef>
                <a:spcPts val="1200"/>
              </a:spcBef>
            </a:pPr>
            <a:r>
              <a:rPr lang="en-GB" sz="2700" u="sng" dirty="0"/>
              <a:t>Suggested solution</a:t>
            </a:r>
            <a:r>
              <a:rPr lang="en-GB" sz="2700" dirty="0"/>
              <a:t>:  Hume’s interest lies in </a:t>
            </a:r>
            <a:r>
              <a:rPr lang="en-GB" sz="2700" i="1" dirty="0"/>
              <a:t>a </a:t>
            </a:r>
            <a:r>
              <a:rPr lang="en-GB" sz="2700" i="1" dirty="0">
                <a:solidFill>
                  <a:srgbClr val="FF9999"/>
                </a:solidFill>
              </a:rPr>
              <a:t>single common element</a:t>
            </a:r>
            <a:r>
              <a:rPr lang="en-GB" sz="2700" dirty="0"/>
              <a:t> of the relevant ideas, what we might call the element </a:t>
            </a:r>
            <a:r>
              <a:rPr lang="en-GB" sz="2700"/>
              <a:t>of </a:t>
            </a:r>
            <a:r>
              <a:rPr lang="en-GB" sz="2700" i="1">
                <a:solidFill>
                  <a:srgbClr val="FF9999"/>
                </a:solidFill>
              </a:rPr>
              <a:t>consequentiality</a:t>
            </a:r>
            <a:r>
              <a:rPr lang="en-GB" sz="2700"/>
              <a:t> – see my “Against the New Hume” (2007), §2.2.</a:t>
            </a:r>
            <a:endParaRPr lang="en-GB" sz="2700" dirty="0"/>
          </a:p>
        </p:txBody>
      </p:sp>
    </p:spTree>
    <p:extLst>
      <p:ext uri="{BB962C8B-B14F-4D97-AF65-F5344CB8AC3E}">
        <p14:creationId xmlns:p14="http://schemas.microsoft.com/office/powerpoint/2010/main" val="1656794263"/>
      </p:ext>
    </p:extLst>
  </p:cSld>
  <p:clrMapOvr>
    <a:masterClrMapping/>
  </p:clrMapOvr>
  <p:transition spd="med">
    <p:cover/>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83EB1-68E7-A60C-3662-4BFBA7718F95}"/>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E9D91673-12B3-2D98-D3D3-10F68ABBA005}"/>
              </a:ext>
            </a:extLst>
          </p:cNvPr>
          <p:cNvSpPr>
            <a:spLocks noGrp="1"/>
          </p:cNvSpPr>
          <p:nvPr>
            <p:ph type="sldNum" sz="quarter" idx="10"/>
          </p:nvPr>
        </p:nvSpPr>
        <p:spPr/>
        <p:txBody>
          <a:bodyPr/>
          <a:lstStyle/>
          <a:p>
            <a:fld id="{A4A44E63-CB97-42CA-A549-D8228D173849}" type="slidenum">
              <a:rPr lang="en-US"/>
              <a:pPr/>
              <a:t>185</a:t>
            </a:fld>
            <a:endParaRPr lang="en-US"/>
          </a:p>
        </p:txBody>
      </p:sp>
      <p:sp>
        <p:nvSpPr>
          <p:cNvPr id="4" name="Slide Number Placeholder 3">
            <a:extLst>
              <a:ext uri="{FF2B5EF4-FFF2-40B4-BE49-F238E27FC236}">
                <a16:creationId xmlns:a16="http://schemas.microsoft.com/office/drawing/2014/main" id="{1FCDDB64-9A46-3F53-47A3-E06FD6C0514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185</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C6DE2E72-A716-1AF2-A176-A91594C3E12B}"/>
              </a:ext>
            </a:extLst>
          </p:cNvPr>
          <p:cNvSpPr>
            <a:spLocks noGrp="1" noChangeArrowheads="1"/>
          </p:cNvSpPr>
          <p:nvPr>
            <p:ph type="title" idx="4294967295"/>
          </p:nvPr>
        </p:nvSpPr>
        <p:spPr>
          <a:xfrm>
            <a:off x="215516" y="116632"/>
            <a:ext cx="8784976" cy="738919"/>
          </a:xfrm>
        </p:spPr>
        <p:txBody>
          <a:bodyPr/>
          <a:lstStyle/>
          <a:p>
            <a:pPr>
              <a:defRPr/>
            </a:pPr>
            <a:r>
              <a:rPr lang="en-GB">
                <a:latin typeface="+mj-lt"/>
                <a:ea typeface="+mj-ea"/>
                <a:cs typeface="+mj-cs"/>
              </a:rPr>
              <a:t>Stage 3: Seeking the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E815125A-7B9C-0D21-94D3-725DECA966CE}"/>
              </a:ext>
            </a:extLst>
          </p:cNvPr>
          <p:cNvSpPr>
            <a:spLocks noGrp="1" noChangeArrowheads="1"/>
          </p:cNvSpPr>
          <p:nvPr>
            <p:ph type="body" idx="4294967295"/>
          </p:nvPr>
        </p:nvSpPr>
        <p:spPr>
          <a:xfrm>
            <a:off x="719572" y="1124744"/>
            <a:ext cx="8064896" cy="5436604"/>
          </a:xfrm>
        </p:spPr>
        <p:txBody>
          <a:bodyPr/>
          <a:lstStyle/>
          <a:p>
            <a:pPr>
              <a:spcBef>
                <a:spcPts val="1200"/>
              </a:spcBef>
              <a:buNone/>
            </a:pPr>
            <a:r>
              <a:rPr lang="en-US" sz="2500"/>
              <a:t>	“</a:t>
            </a:r>
            <a:r>
              <a:rPr lang="en-GB" sz="2500">
                <a:effectLst/>
              </a:rPr>
              <a:t>as we have no idea, that is not deriv’d from an impression, we must find some impression, that gives rise to this idea of necessity, if we assert we have really such an idea”  </a:t>
            </a:r>
            <a:r>
              <a:rPr lang="en-US" sz="2500"/>
              <a:t>(</a:t>
            </a:r>
            <a:r>
              <a:rPr lang="en-US" sz="2500" i="1"/>
              <a:t>T</a:t>
            </a:r>
            <a:r>
              <a:rPr lang="en-US" sz="2500"/>
              <a:t> 1.3.14.1)</a:t>
            </a:r>
          </a:p>
          <a:p>
            <a:pPr>
              <a:spcBef>
                <a:spcPts val="1200"/>
              </a:spcBef>
              <a:buNone/>
            </a:pPr>
            <a:r>
              <a:rPr lang="en-US" sz="2500">
                <a:effectLst/>
              </a:rPr>
              <a:t>	</a:t>
            </a:r>
            <a:r>
              <a:rPr lang="en-GB" sz="2500">
                <a:effectLst/>
              </a:rPr>
              <a:t>“</a:t>
            </a:r>
            <a:r>
              <a:rPr lang="en-US" sz="2500"/>
              <a:t>the idea of efficacy … must be deriv’d from … some particular instances … which make their passage into the mind by … sensation or reflection.  Ideas always represent their … impressions; …”  </a:t>
            </a:r>
            <a:r>
              <a:rPr lang="en-US" sz="2500" dirty="0"/>
              <a:t>(</a:t>
            </a:r>
            <a:r>
              <a:rPr lang="en-US" sz="2500" i="1"/>
              <a:t>T</a:t>
            </a:r>
            <a:r>
              <a:rPr lang="en-US" sz="2500"/>
              <a:t> 1.3.14.6)</a:t>
            </a:r>
          </a:p>
          <a:p>
            <a:pPr>
              <a:spcBef>
                <a:spcPts val="1800"/>
              </a:spcBef>
              <a:buNone/>
            </a:pPr>
            <a:r>
              <a:rPr lang="en-US" sz="2500"/>
              <a:t>	“To be fully acquainted … with the idea of power or necessary connexion, let us examine its impression; and in order to find the impression with greater certainty, let us search for it in all the sources, from which it may possibly be derived”  (</a:t>
            </a:r>
            <a:r>
              <a:rPr lang="en-US" sz="2500" i="1"/>
              <a:t>E</a:t>
            </a:r>
            <a:r>
              <a:rPr lang="en-US" sz="2500"/>
              <a:t> 7.5)</a:t>
            </a:r>
          </a:p>
        </p:txBody>
      </p:sp>
    </p:spTree>
    <p:extLst>
      <p:ext uri="{BB962C8B-B14F-4D97-AF65-F5344CB8AC3E}">
        <p14:creationId xmlns:p14="http://schemas.microsoft.com/office/powerpoint/2010/main" val="281837760"/>
      </p:ext>
    </p:extLst>
  </p:cSld>
  <p:clrMapOvr>
    <a:masterClrMapping/>
  </p:clrMapOvr>
  <p:transition spd="med">
    <p:cover/>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591F7-76FF-C4B5-89B8-F358C8647BC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F4D9375-6FB9-7924-8069-B6327837831B}"/>
              </a:ext>
            </a:extLst>
          </p:cNvPr>
          <p:cNvSpPr>
            <a:spLocks noGrp="1"/>
          </p:cNvSpPr>
          <p:nvPr>
            <p:ph type="sldNum" sz="quarter" idx="10"/>
          </p:nvPr>
        </p:nvSpPr>
        <p:spPr/>
        <p:txBody>
          <a:bodyPr/>
          <a:lstStyle/>
          <a:p>
            <a:fld id="{A4A44E63-CB97-42CA-A549-D8228D173849}" type="slidenum">
              <a:rPr lang="en-US"/>
              <a:pPr/>
              <a:t>186</a:t>
            </a:fld>
            <a:endParaRPr lang="en-US"/>
          </a:p>
        </p:txBody>
      </p:sp>
      <p:sp>
        <p:nvSpPr>
          <p:cNvPr id="4" name="Slide Number Placeholder 3">
            <a:extLst>
              <a:ext uri="{FF2B5EF4-FFF2-40B4-BE49-F238E27FC236}">
                <a16:creationId xmlns:a16="http://schemas.microsoft.com/office/drawing/2014/main" id="{2A37DE00-4314-A486-A8C6-DCA2AB66A9B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186</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50788854-FD7A-C02E-6DCE-DEBC4987B23D}"/>
              </a:ext>
            </a:extLst>
          </p:cNvPr>
          <p:cNvSpPr>
            <a:spLocks noGrp="1" noChangeArrowheads="1"/>
          </p:cNvSpPr>
          <p:nvPr>
            <p:ph type="title" idx="4294967295"/>
          </p:nvPr>
        </p:nvSpPr>
        <p:spPr>
          <a:xfrm>
            <a:off x="143508" y="80628"/>
            <a:ext cx="8856984" cy="1404156"/>
          </a:xfrm>
        </p:spPr>
        <p:txBody>
          <a:bodyPr/>
          <a:lstStyle/>
          <a:p>
            <a:pPr>
              <a:defRPr/>
            </a:pPr>
            <a:r>
              <a:rPr lang="en-GB" sz="4200">
                <a:latin typeface="+mj-lt"/>
                <a:ea typeface="+mj-ea"/>
                <a:cs typeface="+mj-cs"/>
              </a:rPr>
              <a:t>Stage 4: No Such Impression from Observing Causation in Bodies</a:t>
            </a:r>
            <a:endParaRPr lang="en-GB" sz="4200" dirty="0">
              <a:latin typeface="+mj-lt"/>
              <a:ea typeface="+mj-ea"/>
              <a:cs typeface="+mj-cs"/>
            </a:endParaRPr>
          </a:p>
        </p:txBody>
      </p:sp>
      <p:sp>
        <p:nvSpPr>
          <p:cNvPr id="906243" name="Rectangle 3">
            <a:extLst>
              <a:ext uri="{FF2B5EF4-FFF2-40B4-BE49-F238E27FC236}">
                <a16:creationId xmlns:a16="http://schemas.microsoft.com/office/drawing/2014/main" id="{B23B98EC-97C9-7C32-656B-F7BFB1797F32}"/>
              </a:ext>
            </a:extLst>
          </p:cNvPr>
          <p:cNvSpPr>
            <a:spLocks noGrp="1" noChangeArrowheads="1"/>
          </p:cNvSpPr>
          <p:nvPr>
            <p:ph type="body" idx="4294967295"/>
          </p:nvPr>
        </p:nvSpPr>
        <p:spPr>
          <a:xfrm>
            <a:off x="539552" y="1664804"/>
            <a:ext cx="8388932" cy="4788532"/>
          </a:xfrm>
        </p:spPr>
        <p:txBody>
          <a:bodyPr/>
          <a:lstStyle/>
          <a:p>
            <a:pPr>
              <a:spcBef>
                <a:spcPts val="1200"/>
              </a:spcBef>
              <a:buNone/>
            </a:pPr>
            <a:r>
              <a:rPr lang="en-US" sz="2500"/>
              <a:t>	To explain causation, philosophers have resorted to all sorts of “</a:t>
            </a:r>
            <a:r>
              <a:rPr lang="en-US" sz="2500">
                <a:effectLst/>
              </a:rPr>
              <a:t>principles of substantial forms, and accidents, and faculties”, which “are not in reality any of the known properties of bodies, but are perfectly unintelligible and inexplicable.  … we may conclude, that ’tis impossible in any one instance to shew the principle, in which the force and agency of a cause is plac’d</a:t>
            </a:r>
            <a:r>
              <a:rPr lang="en-GB" sz="2500">
                <a:effectLst/>
              </a:rPr>
              <a:t>”  </a:t>
            </a:r>
            <a:r>
              <a:rPr lang="en-US" sz="2500"/>
              <a:t>(</a:t>
            </a:r>
            <a:r>
              <a:rPr lang="en-US" sz="2500" i="1"/>
              <a:t>T</a:t>
            </a:r>
            <a:r>
              <a:rPr lang="en-US" sz="2500"/>
              <a:t> 1.3.14.7)</a:t>
            </a:r>
          </a:p>
          <a:p>
            <a:pPr>
              <a:spcBef>
                <a:spcPts val="1200"/>
              </a:spcBef>
              <a:buNone/>
            </a:pPr>
            <a:r>
              <a:rPr lang="en-US" sz="2500">
                <a:effectLst/>
              </a:rPr>
              <a:t>	</a:t>
            </a:r>
            <a:r>
              <a:rPr lang="en-US" sz="2500" i="1">
                <a:effectLst/>
              </a:rPr>
              <a:t>Cartesians</a:t>
            </a:r>
            <a:r>
              <a:rPr lang="en-US" sz="2500">
                <a:effectLst/>
              </a:rPr>
              <a:t> have concluded that “Matter … is in itself entirely unactive, and depriv’d of any power, by which it may … communicate motion”.  Hence “the power, that [does so] must lie in the </a:t>
            </a:r>
            <a:r>
              <a:rPr lang="en-US" sz="2500" cap="small">
                <a:effectLst/>
              </a:rPr>
              <a:t>Deity</a:t>
            </a:r>
            <a:r>
              <a:rPr lang="en-US" sz="2500">
                <a:effectLst/>
              </a:rPr>
              <a:t> … who … bestows on [matter] all those motions”</a:t>
            </a:r>
            <a:r>
              <a:rPr lang="en-US" sz="2500"/>
              <a:t>  </a:t>
            </a:r>
            <a:r>
              <a:rPr lang="en-US" sz="2500" dirty="0"/>
              <a:t>(</a:t>
            </a:r>
            <a:r>
              <a:rPr lang="en-US" sz="2500" i="1"/>
              <a:t>T</a:t>
            </a:r>
            <a:r>
              <a:rPr lang="en-US" sz="2500"/>
              <a:t> 1.3.14.9 – see Stage 7)</a:t>
            </a:r>
          </a:p>
        </p:txBody>
      </p:sp>
    </p:spTree>
    <p:extLst>
      <p:ext uri="{BB962C8B-B14F-4D97-AF65-F5344CB8AC3E}">
        <p14:creationId xmlns:p14="http://schemas.microsoft.com/office/powerpoint/2010/main" val="2368294591"/>
      </p:ext>
    </p:extLst>
  </p:cSld>
  <p:clrMapOvr>
    <a:masterClrMapping/>
  </p:clrMapOvr>
  <p:transition spd="med">
    <p:cover/>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A35BD-F97D-4899-FBC0-5D5DED384E1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2807F6D5-68A6-B01D-DFCF-C206D02623DF}"/>
              </a:ext>
            </a:extLst>
          </p:cNvPr>
          <p:cNvSpPr>
            <a:spLocks noGrp="1"/>
          </p:cNvSpPr>
          <p:nvPr>
            <p:ph type="sldNum" sz="quarter" idx="10"/>
          </p:nvPr>
        </p:nvSpPr>
        <p:spPr/>
        <p:txBody>
          <a:bodyPr/>
          <a:lstStyle/>
          <a:p>
            <a:fld id="{A4A44E63-CB97-42CA-A549-D8228D173849}" type="slidenum">
              <a:rPr lang="en-US"/>
              <a:pPr/>
              <a:t>187</a:t>
            </a:fld>
            <a:endParaRPr lang="en-US"/>
          </a:p>
        </p:txBody>
      </p:sp>
      <p:sp>
        <p:nvSpPr>
          <p:cNvPr id="4" name="Slide Number Placeholder 3">
            <a:extLst>
              <a:ext uri="{FF2B5EF4-FFF2-40B4-BE49-F238E27FC236}">
                <a16:creationId xmlns:a16="http://schemas.microsoft.com/office/drawing/2014/main" id="{66593EED-0F18-8427-AB37-2DE1515D841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187</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1BCA4977-AC2B-99DD-E827-60E618765060}"/>
              </a:ext>
            </a:extLst>
          </p:cNvPr>
          <p:cNvSpPr>
            <a:spLocks noGrp="1" noChangeArrowheads="1"/>
          </p:cNvSpPr>
          <p:nvPr>
            <p:ph type="body" idx="4294967295"/>
          </p:nvPr>
        </p:nvSpPr>
        <p:spPr>
          <a:xfrm>
            <a:off x="828353" y="440668"/>
            <a:ext cx="7632079" cy="5940660"/>
          </a:xfrm>
        </p:spPr>
        <p:txBody>
          <a:bodyPr/>
          <a:lstStyle/>
          <a:p>
            <a:pPr>
              <a:spcBef>
                <a:spcPts val="1200"/>
              </a:spcBef>
              <a:buNone/>
            </a:pPr>
            <a:r>
              <a:rPr lang="en-US" sz="2500"/>
              <a:t>	“</a:t>
            </a:r>
            <a:r>
              <a:rPr lang="en-US" sz="2500">
                <a:effectLst/>
              </a:rPr>
              <a:t>When we look about us towards external objects, and consider the operation of causes, we are never able, in a single instance, to discover any power or necessary connexion; any quality, which binds the effect to the cause, and renders the one an infallible consequence of the other.  We only find, that the one does actually, in fact, follow the other.  The impulse of one billiard-ball is attended with motion in the second.  This is the whole that appears to the </a:t>
            </a:r>
            <a:r>
              <a:rPr lang="en-US" sz="2500" i="1">
                <a:effectLst/>
              </a:rPr>
              <a:t>outward</a:t>
            </a:r>
            <a:r>
              <a:rPr lang="en-US" sz="2500">
                <a:effectLst/>
              </a:rPr>
              <a:t> senses.  The mind feels no sentiment or </a:t>
            </a:r>
            <a:r>
              <a:rPr lang="en-US" sz="2500" i="1">
                <a:effectLst/>
              </a:rPr>
              <a:t>inward</a:t>
            </a:r>
            <a:r>
              <a:rPr lang="en-US" sz="2500">
                <a:effectLst/>
              </a:rPr>
              <a:t> impression from this succession of objects: Consequently, there is not, in any single, particular instance of cause and effect, any thing which can suggest the idea of power or necessary connexion.</a:t>
            </a:r>
            <a:r>
              <a:rPr lang="en-US" sz="2500"/>
              <a:t>”  (</a:t>
            </a:r>
            <a:r>
              <a:rPr lang="en-US" sz="2500" i="1"/>
              <a:t>E</a:t>
            </a:r>
            <a:r>
              <a:rPr lang="en-US" sz="2500"/>
              <a:t> 7.5)</a:t>
            </a:r>
          </a:p>
        </p:txBody>
      </p:sp>
    </p:spTree>
    <p:extLst>
      <p:ext uri="{BB962C8B-B14F-4D97-AF65-F5344CB8AC3E}">
        <p14:creationId xmlns:p14="http://schemas.microsoft.com/office/powerpoint/2010/main" val="464201241"/>
      </p:ext>
    </p:extLst>
  </p:cSld>
  <p:clrMapOvr>
    <a:masterClrMapping/>
  </p:clrMapOvr>
  <p:transition spd="med">
    <p:cover/>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88230-E9E7-D1EF-F6F4-5CFCABFF6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C9F9B-7AB6-1F3D-0996-55BD99C87832}"/>
              </a:ext>
            </a:extLst>
          </p:cNvPr>
          <p:cNvSpPr>
            <a:spLocks noGrp="1"/>
          </p:cNvSpPr>
          <p:nvPr>
            <p:ph type="title"/>
          </p:nvPr>
        </p:nvSpPr>
        <p:spPr>
          <a:xfrm>
            <a:off x="107504" y="80628"/>
            <a:ext cx="8892988" cy="810927"/>
          </a:xfrm>
        </p:spPr>
        <p:txBody>
          <a:bodyPr/>
          <a:lstStyle/>
          <a:p>
            <a:r>
              <a:rPr lang="en-GB" sz="4200"/>
              <a:t>Hume’s “Key Move” in the </a:t>
            </a:r>
            <a:r>
              <a:rPr lang="en-GB" sz="4200" i="1"/>
              <a:t>Enquiry</a:t>
            </a:r>
            <a:endParaRPr lang="en-GB" sz="4200"/>
          </a:p>
        </p:txBody>
      </p:sp>
      <p:sp>
        <p:nvSpPr>
          <p:cNvPr id="3" name="Content Placeholder 2">
            <a:extLst>
              <a:ext uri="{FF2B5EF4-FFF2-40B4-BE49-F238E27FC236}">
                <a16:creationId xmlns:a16="http://schemas.microsoft.com/office/drawing/2014/main" id="{F458E0D0-30AD-7F63-2D06-8C30A7C9C35C}"/>
              </a:ext>
            </a:extLst>
          </p:cNvPr>
          <p:cNvSpPr>
            <a:spLocks noGrp="1"/>
          </p:cNvSpPr>
          <p:nvPr>
            <p:ph idx="1"/>
          </p:nvPr>
        </p:nvSpPr>
        <p:spPr>
          <a:xfrm>
            <a:off x="683568" y="1196752"/>
            <a:ext cx="8244916" cy="5533168"/>
          </a:xfrm>
        </p:spPr>
        <p:txBody>
          <a:bodyPr/>
          <a:lstStyle/>
          <a:p>
            <a:r>
              <a:rPr lang="en-GB" sz="2700"/>
              <a:t>At </a:t>
            </a:r>
            <a:r>
              <a:rPr lang="en-GB" sz="2700" i="1"/>
              <a:t>E </a:t>
            </a:r>
            <a:r>
              <a:rPr lang="en-GB" sz="2700"/>
              <a:t>7.7, Hume introduces a form of argument that he will be repeating: let’s call this his “Key Move”:</a:t>
            </a:r>
          </a:p>
          <a:p>
            <a:pPr marL="857250" lvl="2" indent="0">
              <a:spcBef>
                <a:spcPts val="1200"/>
              </a:spcBef>
              <a:buNone/>
            </a:pPr>
            <a:r>
              <a:rPr lang="en-US" sz="2600"/>
              <a:t>“From the first appearance of an object, we never can conjecture what effect will result from it.  But were the power or energy of any cause discoverable by the mind, we could foresee the effect, even without experience; and might, at first, pronounce with certainty concerning it, by the mere dint of thought and reasoning.</a:t>
            </a:r>
            <a:r>
              <a:rPr lang="en-GB" sz="2600">
                <a:effectLst/>
              </a:rPr>
              <a:t>”  </a:t>
            </a:r>
            <a:r>
              <a:rPr lang="en-US" sz="2600"/>
              <a:t>(</a:t>
            </a:r>
            <a:r>
              <a:rPr lang="en-US" sz="2600" i="1"/>
              <a:t>E</a:t>
            </a:r>
            <a:r>
              <a:rPr lang="en-US" sz="2600"/>
              <a:t> 7.7)</a:t>
            </a:r>
            <a:endParaRPr lang="en-GB" sz="2600"/>
          </a:p>
          <a:p>
            <a:pPr>
              <a:spcBef>
                <a:spcPts val="1800"/>
              </a:spcBef>
            </a:pPr>
            <a:r>
              <a:rPr lang="en-GB" sz="2700"/>
              <a:t>There is a hint of this move in the 1739 </a:t>
            </a:r>
            <a:r>
              <a:rPr lang="en-GB" sz="2700" i="1"/>
              <a:t>Treatise</a:t>
            </a:r>
            <a:r>
              <a:rPr lang="en-GB" sz="2700"/>
              <a:t>, but only once – at </a:t>
            </a:r>
            <a:r>
              <a:rPr lang="en-GB" sz="2700" i="1"/>
              <a:t>T</a:t>
            </a:r>
            <a:r>
              <a:rPr lang="en-GB" sz="2700"/>
              <a:t> 1.3.14.13.  Another is at</a:t>
            </a:r>
            <a:br>
              <a:rPr lang="en-GB" sz="2700"/>
            </a:br>
            <a:r>
              <a:rPr lang="en-GB" sz="2700" i="1"/>
              <a:t>T</a:t>
            </a:r>
            <a:r>
              <a:rPr lang="en-GB" sz="2700"/>
              <a:t> 1.3.14.12, added in the 1740 </a:t>
            </a:r>
            <a:r>
              <a:rPr lang="en-GB" sz="2700" i="1"/>
              <a:t>Appendix</a:t>
            </a:r>
            <a:r>
              <a:rPr lang="en-GB" sz="2700"/>
              <a:t>.</a:t>
            </a:r>
            <a:endParaRPr lang="en-GB" sz="2400"/>
          </a:p>
        </p:txBody>
      </p:sp>
      <p:sp>
        <p:nvSpPr>
          <p:cNvPr id="4" name="Slide Number Placeholder 3">
            <a:extLst>
              <a:ext uri="{FF2B5EF4-FFF2-40B4-BE49-F238E27FC236}">
                <a16:creationId xmlns:a16="http://schemas.microsoft.com/office/drawing/2014/main" id="{D9F95FA3-C996-A434-DE32-12E30B1547FA}"/>
              </a:ext>
            </a:extLst>
          </p:cNvPr>
          <p:cNvSpPr>
            <a:spLocks noGrp="1"/>
          </p:cNvSpPr>
          <p:nvPr>
            <p:ph type="sldNum" sz="quarter" idx="10"/>
          </p:nvPr>
        </p:nvSpPr>
        <p:spPr/>
        <p:txBody>
          <a:bodyPr/>
          <a:lstStyle/>
          <a:p>
            <a:fld id="{FFD1EE05-59BE-439B-B8B7-F61DC751609B}" type="slidenum">
              <a:rPr lang="en-US" smtClean="0"/>
              <a:pPr/>
              <a:t>188</a:t>
            </a:fld>
            <a:endParaRPr lang="en-US"/>
          </a:p>
        </p:txBody>
      </p:sp>
    </p:spTree>
    <p:extLst>
      <p:ext uri="{BB962C8B-B14F-4D97-AF65-F5344CB8AC3E}">
        <p14:creationId xmlns:p14="http://schemas.microsoft.com/office/powerpoint/2010/main" val="2682823015"/>
      </p:ext>
    </p:extLst>
  </p:cSld>
  <p:clrMapOvr>
    <a:masterClrMapping/>
  </p:clrMapOvr>
  <p:transition spd="med">
    <p:cover/>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7A6D9-98DF-BE2D-0CEF-213185B9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3E08C-83AC-C56B-EA36-FAEB748D79C6}"/>
              </a:ext>
            </a:extLst>
          </p:cNvPr>
          <p:cNvSpPr>
            <a:spLocks noGrp="1"/>
          </p:cNvSpPr>
          <p:nvPr>
            <p:ph type="title"/>
          </p:nvPr>
        </p:nvSpPr>
        <p:spPr>
          <a:xfrm>
            <a:off x="107504" y="44624"/>
            <a:ext cx="8892988" cy="810927"/>
          </a:xfrm>
        </p:spPr>
        <p:txBody>
          <a:bodyPr/>
          <a:lstStyle/>
          <a:p>
            <a:r>
              <a:rPr lang="en-GB" sz="4200"/>
              <a:t>Is the “Key Move” Plausible?</a:t>
            </a:r>
          </a:p>
        </p:txBody>
      </p:sp>
      <p:sp>
        <p:nvSpPr>
          <p:cNvPr id="3" name="Content Placeholder 2">
            <a:extLst>
              <a:ext uri="{FF2B5EF4-FFF2-40B4-BE49-F238E27FC236}">
                <a16:creationId xmlns:a16="http://schemas.microsoft.com/office/drawing/2014/main" id="{AFE6AA9F-6E51-5357-356E-4B87D8ADBDA6}"/>
              </a:ext>
            </a:extLst>
          </p:cNvPr>
          <p:cNvSpPr>
            <a:spLocks noGrp="1"/>
          </p:cNvSpPr>
          <p:nvPr>
            <p:ph idx="1"/>
          </p:nvPr>
        </p:nvSpPr>
        <p:spPr>
          <a:xfrm>
            <a:off x="395537" y="980728"/>
            <a:ext cx="8568952" cy="5641180"/>
          </a:xfrm>
        </p:spPr>
        <p:txBody>
          <a:bodyPr/>
          <a:lstStyle/>
          <a:p>
            <a:r>
              <a:rPr lang="en-GB" sz="2600"/>
              <a:t>Recall Hume’s “Adam” thought-experiment </a:t>
            </a:r>
            <a:r>
              <a:rPr lang="en-GB" sz="2600" i="1"/>
              <a:t>(A</a:t>
            </a:r>
            <a:r>
              <a:rPr lang="en-GB" sz="2600"/>
              <a:t> 11,</a:t>
            </a:r>
            <a:br>
              <a:rPr lang="en-GB" sz="2600"/>
            </a:br>
            <a:r>
              <a:rPr lang="en-GB" sz="2600" i="1"/>
              <a:t>E</a:t>
            </a:r>
            <a:r>
              <a:rPr lang="en-GB" sz="2600"/>
              <a:t> 4.6), where he convincingly claims that without prior experience, Adam could have no idea what events (e.g. impact of one billiard ball on another) would have what effects (e.g. communication of motion).</a:t>
            </a:r>
          </a:p>
          <a:p>
            <a:pPr>
              <a:spcBef>
                <a:spcPts val="1800"/>
              </a:spcBef>
            </a:pPr>
            <a:r>
              <a:rPr lang="en-GB" sz="2600"/>
              <a:t>This supposedly proves that Adam has no impression of power or necessity from observing the motion of the first billiard ball.  For if he had such an impression (Hume now says), then Adam would be able to predict, in advance of the collision, what the effect would be.</a:t>
            </a:r>
          </a:p>
          <a:p>
            <a:pPr lvl="1">
              <a:spcBef>
                <a:spcPts val="1200"/>
              </a:spcBef>
            </a:pPr>
            <a:r>
              <a:rPr lang="en-GB" sz="2400"/>
              <a:t>But it seems an implausibly strong requirement on an impression of power, that it should yield something like</a:t>
            </a:r>
            <a:br>
              <a:rPr lang="en-GB" sz="2400"/>
            </a:br>
            <a:r>
              <a:rPr lang="en-GB" sz="2400" i="1"/>
              <a:t>a priori</a:t>
            </a:r>
            <a:r>
              <a:rPr lang="en-GB" sz="2400"/>
              <a:t> knowledge of cause and effect!</a:t>
            </a:r>
          </a:p>
        </p:txBody>
      </p:sp>
      <p:sp>
        <p:nvSpPr>
          <p:cNvPr id="4" name="Slide Number Placeholder 3">
            <a:extLst>
              <a:ext uri="{FF2B5EF4-FFF2-40B4-BE49-F238E27FC236}">
                <a16:creationId xmlns:a16="http://schemas.microsoft.com/office/drawing/2014/main" id="{15B04F10-88C9-783A-CD7B-509226EDD4AB}"/>
              </a:ext>
            </a:extLst>
          </p:cNvPr>
          <p:cNvSpPr>
            <a:spLocks noGrp="1"/>
          </p:cNvSpPr>
          <p:nvPr>
            <p:ph type="sldNum" sz="quarter" idx="10"/>
          </p:nvPr>
        </p:nvSpPr>
        <p:spPr/>
        <p:txBody>
          <a:bodyPr/>
          <a:lstStyle/>
          <a:p>
            <a:fld id="{FFD1EE05-59BE-439B-B8B7-F61DC751609B}" type="slidenum">
              <a:rPr lang="en-US" smtClean="0"/>
              <a:pPr/>
              <a:t>189</a:t>
            </a:fld>
            <a:endParaRPr lang="en-US"/>
          </a:p>
        </p:txBody>
      </p:sp>
    </p:spTree>
    <p:extLst>
      <p:ext uri="{BB962C8B-B14F-4D97-AF65-F5344CB8AC3E}">
        <p14:creationId xmlns:p14="http://schemas.microsoft.com/office/powerpoint/2010/main" val="2583002065"/>
      </p:ext>
    </p:extLst>
  </p:cSld>
  <p:clrMapOvr>
    <a:masterClrMapping/>
  </p:clrMapOvr>
  <p:transition spd="med">
    <p:cover/>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3E544-64BF-754D-5BC7-A975E7B580F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6EB5698-5812-CC5F-2E8C-23AC81C7C2F2}"/>
              </a:ext>
            </a:extLst>
          </p:cNvPr>
          <p:cNvSpPr>
            <a:spLocks noGrp="1"/>
          </p:cNvSpPr>
          <p:nvPr>
            <p:ph type="sldNum" sz="quarter" idx="10"/>
          </p:nvPr>
        </p:nvSpPr>
        <p:spPr/>
        <p:txBody>
          <a:bodyPr/>
          <a:lstStyle/>
          <a:p>
            <a:fld id="{A4A44E63-CB97-42CA-A549-D8228D173849}" type="slidenum">
              <a:rPr lang="en-US"/>
              <a:pPr/>
              <a:t>190</a:t>
            </a:fld>
            <a:endParaRPr lang="en-US"/>
          </a:p>
        </p:txBody>
      </p:sp>
      <p:sp>
        <p:nvSpPr>
          <p:cNvPr id="4" name="Slide Number Placeholder 3">
            <a:extLst>
              <a:ext uri="{FF2B5EF4-FFF2-40B4-BE49-F238E27FC236}">
                <a16:creationId xmlns:a16="http://schemas.microsoft.com/office/drawing/2014/main" id="{FEBC643F-0740-2114-EC68-DC40B386039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190</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25C20905-C848-E947-DAB5-4D160F68A72E}"/>
              </a:ext>
            </a:extLst>
          </p:cNvPr>
          <p:cNvSpPr>
            <a:spLocks noGrp="1" noChangeArrowheads="1"/>
          </p:cNvSpPr>
          <p:nvPr>
            <p:ph type="title" idx="4294967295"/>
          </p:nvPr>
        </p:nvSpPr>
        <p:spPr>
          <a:xfrm>
            <a:off x="143508" y="116632"/>
            <a:ext cx="8856984" cy="792088"/>
          </a:xfrm>
        </p:spPr>
        <p:txBody>
          <a:bodyPr/>
          <a:lstStyle/>
          <a:p>
            <a:pPr>
              <a:defRPr/>
            </a:pPr>
            <a:r>
              <a:rPr lang="en-GB">
                <a:latin typeface="+mj-lt"/>
                <a:ea typeface="+mj-ea"/>
                <a:cs typeface="+mj-cs"/>
              </a:rPr>
              <a:t>Stage 5: An Internal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266B6EDE-B22A-9A63-0AC6-D6AF015D0D6B}"/>
              </a:ext>
            </a:extLst>
          </p:cNvPr>
          <p:cNvSpPr>
            <a:spLocks noGrp="1" noChangeArrowheads="1"/>
          </p:cNvSpPr>
          <p:nvPr>
            <p:ph type="body" idx="4294967295"/>
          </p:nvPr>
        </p:nvSpPr>
        <p:spPr>
          <a:xfrm>
            <a:off x="539552" y="1232756"/>
            <a:ext cx="8388932" cy="5220580"/>
          </a:xfrm>
        </p:spPr>
        <p:txBody>
          <a:bodyPr/>
          <a:lstStyle/>
          <a:p>
            <a:pPr>
              <a:spcBef>
                <a:spcPts val="1200"/>
              </a:spcBef>
              <a:buNone/>
            </a:pPr>
            <a:r>
              <a:rPr lang="en-US" sz="2500"/>
              <a:t>	“Some have asserted, that we feel an energy, or power, in our own mind; …  The motions of our body, and the thoughts and sentiments of our mind, (say they) obey the will; nor do we seek any farther to acquire a just notion of force or power.</a:t>
            </a:r>
            <a:r>
              <a:rPr lang="en-GB" sz="2500">
                <a:effectLst/>
              </a:rPr>
              <a:t>”  </a:t>
            </a:r>
            <a:r>
              <a:rPr lang="en-US" sz="2500"/>
              <a:t>(</a:t>
            </a:r>
            <a:r>
              <a:rPr lang="en-US" sz="2500" i="1"/>
              <a:t>T</a:t>
            </a:r>
            <a:r>
              <a:rPr lang="en-US" sz="2500"/>
              <a:t> 1.3.14.12 – 1740)</a:t>
            </a:r>
          </a:p>
          <a:p>
            <a:pPr>
              <a:spcBef>
                <a:spcPts val="1200"/>
              </a:spcBef>
              <a:buNone/>
            </a:pPr>
            <a:r>
              <a:rPr lang="en-US" sz="2500">
                <a:effectLst/>
              </a:rPr>
              <a:t>	“Since, therefore, external objects as they appear to the senses, give us no idea of power … by their operation in particular instances, let us see, whether this idea be derived from reflection on the operations of our own minds, and be copied from any internal impression”, which “arises from reflecting on … the command which is exercised by [our] will, both over the organs of the body and the faculties of the soul.”</a:t>
            </a:r>
            <a:r>
              <a:rPr lang="en-US" sz="2500"/>
              <a:t>  (</a:t>
            </a:r>
            <a:r>
              <a:rPr lang="en-US" sz="2500" i="1"/>
              <a:t>E</a:t>
            </a:r>
            <a:r>
              <a:rPr lang="en-US" sz="2500"/>
              <a:t> 7.9)</a:t>
            </a:r>
          </a:p>
        </p:txBody>
      </p:sp>
    </p:spTree>
    <p:extLst>
      <p:ext uri="{BB962C8B-B14F-4D97-AF65-F5344CB8AC3E}">
        <p14:creationId xmlns:p14="http://schemas.microsoft.com/office/powerpoint/2010/main" val="3709024613"/>
      </p:ext>
    </p:extLst>
  </p:cSld>
  <p:clrMapOvr>
    <a:masterClrMapping/>
  </p:clrMapOvr>
  <p:transition spd="med">
    <p:cover/>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456E40B7-E53F-BF58-F240-6DCF7A5627A2}"/>
              </a:ext>
            </a:extLst>
          </p:cNvPr>
          <p:cNvSpPr>
            <a:spLocks noGrp="1"/>
          </p:cNvSpPr>
          <p:nvPr>
            <p:ph type="sldNum" sz="quarter" idx="10"/>
          </p:nvPr>
        </p:nvSpPr>
        <p:spPr/>
        <p:txBody>
          <a:bodyPr/>
          <a:lstStyle/>
          <a:p>
            <a:fld id="{3EB05147-C63A-4190-B7BD-19068A1FFF2C}" type="slidenum">
              <a:rPr lang="en-US" altLang="en-US"/>
              <a:pPr/>
              <a:t>191</a:t>
            </a:fld>
            <a:endParaRPr lang="en-US" altLang="en-US"/>
          </a:p>
        </p:txBody>
      </p:sp>
      <p:sp>
        <p:nvSpPr>
          <p:cNvPr id="600066" name="Rectangle 2">
            <a:extLst>
              <a:ext uri="{FF2B5EF4-FFF2-40B4-BE49-F238E27FC236}">
                <a16:creationId xmlns:a16="http://schemas.microsoft.com/office/drawing/2014/main" id="{D7FC97FE-0EBE-F44B-B328-87E718CBBC7C}"/>
              </a:ext>
            </a:extLst>
          </p:cNvPr>
          <p:cNvSpPr>
            <a:spLocks noGrp="1" noChangeArrowheads="1"/>
          </p:cNvSpPr>
          <p:nvPr>
            <p:ph type="title"/>
          </p:nvPr>
        </p:nvSpPr>
        <p:spPr>
          <a:xfrm>
            <a:off x="107504" y="80628"/>
            <a:ext cx="8892988" cy="918939"/>
          </a:xfrm>
        </p:spPr>
        <p:txBody>
          <a:bodyPr/>
          <a:lstStyle/>
          <a:p>
            <a:r>
              <a:rPr lang="en-GB" altLang="en-US" sz="4200"/>
              <a:t>Repeating the Key Move (</a:t>
            </a:r>
            <a:r>
              <a:rPr lang="en-GB" altLang="en-US" sz="4200" i="1"/>
              <a:t>Enquiry</a:t>
            </a:r>
            <a:r>
              <a:rPr lang="en-GB" altLang="en-US" sz="4200"/>
              <a:t>)</a:t>
            </a:r>
          </a:p>
        </p:txBody>
      </p:sp>
      <p:sp>
        <p:nvSpPr>
          <p:cNvPr id="600067" name="Rectangle 3">
            <a:extLst>
              <a:ext uri="{FF2B5EF4-FFF2-40B4-BE49-F238E27FC236}">
                <a16:creationId xmlns:a16="http://schemas.microsoft.com/office/drawing/2014/main" id="{357C4061-05D0-B0A2-5018-E9EE1148AE54}"/>
              </a:ext>
            </a:extLst>
          </p:cNvPr>
          <p:cNvSpPr>
            <a:spLocks noGrp="1" noChangeArrowheads="1"/>
          </p:cNvSpPr>
          <p:nvPr>
            <p:ph type="body" idx="1"/>
          </p:nvPr>
        </p:nvSpPr>
        <p:spPr>
          <a:xfrm>
            <a:off x="611560" y="1232756"/>
            <a:ext cx="8229600" cy="5220432"/>
          </a:xfrm>
        </p:spPr>
        <p:txBody>
          <a:bodyPr/>
          <a:lstStyle/>
          <a:p>
            <a:r>
              <a:rPr lang="en-GB" altLang="en-US" sz="3000"/>
              <a:t>In the </a:t>
            </a:r>
            <a:r>
              <a:rPr lang="en-GB" altLang="en-US" sz="3000" i="1"/>
              <a:t>Enquiry</a:t>
            </a:r>
            <a:r>
              <a:rPr lang="en-GB" altLang="en-US" sz="3000"/>
              <a:t>, Hume applies his Key Move six times to rule out various potential internal sources of the impression of necessary connexion.</a:t>
            </a:r>
          </a:p>
          <a:p>
            <a:pPr>
              <a:spcBef>
                <a:spcPts val="1200"/>
              </a:spcBef>
            </a:pPr>
            <a:r>
              <a:rPr lang="en-GB" altLang="en-US" sz="3000"/>
              <a:t>First he considers “the influence of volition over the organs of the body” (</a:t>
            </a:r>
            <a:r>
              <a:rPr lang="en-GB" altLang="en-US" sz="3000" i="1"/>
              <a:t>E</a:t>
            </a:r>
            <a:r>
              <a:rPr lang="en-GB" altLang="en-US" sz="3000"/>
              <a:t> 7.10).</a:t>
            </a:r>
          </a:p>
          <a:p>
            <a:pPr>
              <a:spcBef>
                <a:spcPts val="1200"/>
              </a:spcBef>
            </a:pPr>
            <a:r>
              <a:rPr lang="en-GB" altLang="en-US" sz="3000"/>
              <a:t>Then he moves on to consider the mind’s power over its own ideas (</a:t>
            </a:r>
            <a:r>
              <a:rPr lang="en-GB" altLang="en-US" sz="3000" i="1"/>
              <a:t>E</a:t>
            </a:r>
            <a:r>
              <a:rPr lang="en-GB" altLang="en-US" sz="3000"/>
              <a:t> 7.16).</a:t>
            </a:r>
          </a:p>
          <a:p>
            <a:pPr>
              <a:spcBef>
                <a:spcPts val="1200"/>
              </a:spcBef>
            </a:pPr>
            <a:r>
              <a:rPr lang="en-GB" altLang="en-US" sz="3000"/>
              <a:t>In each case he gives three arguments to show that we have no such impression.</a:t>
            </a:r>
          </a:p>
        </p:txBody>
      </p:sp>
    </p:spTree>
  </p:cSld>
  <p:clrMapOvr>
    <a:masterClrMapping/>
  </p:clrMapOvr>
  <p:transition spd="med">
    <p:cover/>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CD330A8-C6AE-9694-7ABE-F42A63C8D732}"/>
              </a:ext>
            </a:extLst>
          </p:cNvPr>
          <p:cNvSpPr>
            <a:spLocks noGrp="1"/>
          </p:cNvSpPr>
          <p:nvPr>
            <p:ph type="sldNum" sz="quarter" idx="10"/>
          </p:nvPr>
        </p:nvSpPr>
        <p:spPr/>
        <p:txBody>
          <a:bodyPr/>
          <a:lstStyle/>
          <a:p>
            <a:fld id="{82FF911F-CD07-45EB-ADD0-F092391D9F52}" type="slidenum">
              <a:rPr lang="en-US" altLang="en-US"/>
              <a:pPr/>
              <a:t>192</a:t>
            </a:fld>
            <a:endParaRPr lang="en-US" altLang="en-US"/>
          </a:p>
        </p:txBody>
      </p:sp>
      <p:sp>
        <p:nvSpPr>
          <p:cNvPr id="604162" name="Rectangle 2">
            <a:extLst>
              <a:ext uri="{FF2B5EF4-FFF2-40B4-BE49-F238E27FC236}">
                <a16:creationId xmlns:a16="http://schemas.microsoft.com/office/drawing/2014/main" id="{3A34BC03-605F-5507-8C51-0230B4E9F68F}"/>
              </a:ext>
            </a:extLst>
          </p:cNvPr>
          <p:cNvSpPr>
            <a:spLocks noGrp="1" noChangeArrowheads="1"/>
          </p:cNvSpPr>
          <p:nvPr>
            <p:ph type="title"/>
          </p:nvPr>
        </p:nvSpPr>
        <p:spPr>
          <a:xfrm>
            <a:off x="457200" y="188640"/>
            <a:ext cx="8229600" cy="846931"/>
          </a:xfrm>
        </p:spPr>
        <p:txBody>
          <a:bodyPr/>
          <a:lstStyle/>
          <a:p>
            <a:r>
              <a:rPr lang="en-GB" altLang="en-US"/>
              <a:t>5.1: Our Power over our Body</a:t>
            </a:r>
          </a:p>
        </p:txBody>
      </p:sp>
      <p:sp>
        <p:nvSpPr>
          <p:cNvPr id="604163" name="Rectangle 3">
            <a:extLst>
              <a:ext uri="{FF2B5EF4-FFF2-40B4-BE49-F238E27FC236}">
                <a16:creationId xmlns:a16="http://schemas.microsoft.com/office/drawing/2014/main" id="{121624BF-C73D-CAB2-A61E-D869027ADF10}"/>
              </a:ext>
            </a:extLst>
          </p:cNvPr>
          <p:cNvSpPr>
            <a:spLocks noGrp="1" noChangeArrowheads="1"/>
          </p:cNvSpPr>
          <p:nvPr>
            <p:ph type="body" idx="1"/>
          </p:nvPr>
        </p:nvSpPr>
        <p:spPr>
          <a:xfrm>
            <a:off x="827584" y="1412776"/>
            <a:ext cx="7859216" cy="5111849"/>
          </a:xfrm>
        </p:spPr>
        <p:txBody>
          <a:bodyPr/>
          <a:lstStyle/>
          <a:p>
            <a:r>
              <a:rPr lang="en-GB" altLang="en-US" sz="3000"/>
              <a:t>First, Hume points out that we have no understanding of “the union of soul with body” (</a:t>
            </a:r>
            <a:r>
              <a:rPr lang="en-GB" altLang="en-US" sz="3000" i="1"/>
              <a:t>E</a:t>
            </a:r>
            <a:r>
              <a:rPr lang="en-GB" altLang="en-US" sz="3000"/>
              <a:t> 7.11).</a:t>
            </a:r>
          </a:p>
          <a:p>
            <a:pPr>
              <a:spcBef>
                <a:spcPts val="1200"/>
              </a:spcBef>
            </a:pPr>
            <a:r>
              <a:rPr lang="en-GB" altLang="en-US" sz="3000"/>
              <a:t>Secondly, we cannot understand why we have voluntary control over some parts of the body, but not over others (</a:t>
            </a:r>
            <a:r>
              <a:rPr lang="en-GB" altLang="en-US" sz="3000" i="1"/>
              <a:t>E</a:t>
            </a:r>
            <a:r>
              <a:rPr lang="en-GB" altLang="en-US" sz="3000"/>
              <a:t> 7.12-13).</a:t>
            </a:r>
          </a:p>
          <a:p>
            <a:pPr>
              <a:spcBef>
                <a:spcPts val="1200"/>
              </a:spcBef>
            </a:pPr>
            <a:r>
              <a:rPr lang="en-GB" altLang="en-US" sz="3000"/>
              <a:t>Thirdly, our voluntary control operates not directly on our limbs (etc.), but on muscles and nerves (etc.) of which we are usually entirely ignorant (</a:t>
            </a:r>
            <a:r>
              <a:rPr lang="en-GB" altLang="en-US" sz="3000" i="1"/>
              <a:t>E</a:t>
            </a:r>
            <a:r>
              <a:rPr lang="en-GB" altLang="en-US" sz="3000"/>
              <a:t> 7.14).</a:t>
            </a:r>
          </a:p>
        </p:txBody>
      </p:sp>
    </p:spTree>
  </p:cSld>
  <p:clrMapOvr>
    <a:masterClrMapping/>
  </p:clrMapOvr>
  <p:transition spd="med">
    <p:cover/>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BF2EC55-6367-6655-F60C-2261C9C6F3D0}"/>
              </a:ext>
            </a:extLst>
          </p:cNvPr>
          <p:cNvSpPr>
            <a:spLocks noGrp="1"/>
          </p:cNvSpPr>
          <p:nvPr>
            <p:ph type="sldNum" sz="quarter" idx="10"/>
          </p:nvPr>
        </p:nvSpPr>
        <p:spPr/>
        <p:txBody>
          <a:bodyPr/>
          <a:lstStyle/>
          <a:p>
            <a:fld id="{561A1AF9-BEE4-445F-BED2-6E38DF0CA0E6}" type="slidenum">
              <a:rPr lang="en-US" altLang="en-US"/>
              <a:pPr/>
              <a:t>193</a:t>
            </a:fld>
            <a:endParaRPr lang="en-US" altLang="en-US"/>
          </a:p>
        </p:txBody>
      </p:sp>
      <p:sp>
        <p:nvSpPr>
          <p:cNvPr id="605186" name="Rectangle 2">
            <a:extLst>
              <a:ext uri="{FF2B5EF4-FFF2-40B4-BE49-F238E27FC236}">
                <a16:creationId xmlns:a16="http://schemas.microsoft.com/office/drawing/2014/main" id="{6A0F830B-E9AA-9A42-6FB1-22AD63DDF409}"/>
              </a:ext>
            </a:extLst>
          </p:cNvPr>
          <p:cNvSpPr>
            <a:spLocks noGrp="1" noChangeArrowheads="1"/>
          </p:cNvSpPr>
          <p:nvPr>
            <p:ph type="title"/>
          </p:nvPr>
        </p:nvSpPr>
        <p:spPr>
          <a:xfrm>
            <a:off x="457200" y="241809"/>
            <a:ext cx="8229600" cy="774923"/>
          </a:xfrm>
        </p:spPr>
        <p:txBody>
          <a:bodyPr/>
          <a:lstStyle/>
          <a:p>
            <a:r>
              <a:rPr lang="en-GB" altLang="en-US"/>
              <a:t>5.2: Our Power over our Mind</a:t>
            </a:r>
          </a:p>
        </p:txBody>
      </p:sp>
      <p:sp>
        <p:nvSpPr>
          <p:cNvPr id="605187" name="Rectangle 3">
            <a:extLst>
              <a:ext uri="{FF2B5EF4-FFF2-40B4-BE49-F238E27FC236}">
                <a16:creationId xmlns:a16="http://schemas.microsoft.com/office/drawing/2014/main" id="{ED64C299-74D8-7AAE-21C7-EAE9326B6B22}"/>
              </a:ext>
            </a:extLst>
          </p:cNvPr>
          <p:cNvSpPr>
            <a:spLocks noGrp="1" noChangeArrowheads="1"/>
          </p:cNvSpPr>
          <p:nvPr>
            <p:ph type="body" idx="1"/>
          </p:nvPr>
        </p:nvSpPr>
        <p:spPr>
          <a:xfrm>
            <a:off x="673224" y="1412776"/>
            <a:ext cx="7859216" cy="5111849"/>
          </a:xfrm>
        </p:spPr>
        <p:txBody>
          <a:bodyPr/>
          <a:lstStyle/>
          <a:p>
            <a:r>
              <a:rPr lang="en-GB" altLang="en-US" sz="3000"/>
              <a:t>First, we do not understand “the nature of the human soul”, “the nature of an idea”, or how one can produce the other (</a:t>
            </a:r>
            <a:r>
              <a:rPr lang="en-GB" altLang="en-US" sz="3000" i="1"/>
              <a:t>E</a:t>
            </a:r>
            <a:r>
              <a:rPr lang="en-GB" altLang="en-US" sz="3000"/>
              <a:t> 7.17).</a:t>
            </a:r>
          </a:p>
          <a:p>
            <a:pPr>
              <a:spcBef>
                <a:spcPts val="1200"/>
              </a:spcBef>
            </a:pPr>
            <a:r>
              <a:rPr lang="en-GB" altLang="en-US" sz="3000"/>
              <a:t>Secondly, we can only discover through experience the limits of our command over our thoughts and passions (</a:t>
            </a:r>
            <a:r>
              <a:rPr lang="en-GB" altLang="en-US" sz="3000" i="1"/>
              <a:t>E</a:t>
            </a:r>
            <a:r>
              <a:rPr lang="en-GB" altLang="en-US" sz="3000"/>
              <a:t> 7.18).</a:t>
            </a:r>
          </a:p>
          <a:p>
            <a:pPr>
              <a:spcBef>
                <a:spcPts val="1200"/>
              </a:spcBef>
            </a:pPr>
            <a:r>
              <a:rPr lang="en-GB" altLang="en-US" sz="3000"/>
              <a:t>Thirdly, this self-command varies over time, in ways that we cannot explain and learn only through experience (</a:t>
            </a:r>
            <a:r>
              <a:rPr lang="en-GB" altLang="en-US" sz="3000" i="1"/>
              <a:t>E</a:t>
            </a:r>
            <a:r>
              <a:rPr lang="en-GB" altLang="en-US" sz="3000"/>
              <a:t> 7.19).</a:t>
            </a:r>
          </a:p>
        </p:txBody>
      </p:sp>
    </p:spTree>
  </p:cSld>
  <p:clrMapOvr>
    <a:masterClrMapping/>
  </p:clrMapOvr>
  <p:transition spd="med">
    <p:cover/>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30B9-0547-C9AA-B41F-564A043D6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655141-6CE7-29CB-BB0A-7B14B5A6F5BF}"/>
              </a:ext>
            </a:extLst>
          </p:cNvPr>
          <p:cNvSpPr>
            <a:spLocks noGrp="1"/>
          </p:cNvSpPr>
          <p:nvPr>
            <p:ph type="title"/>
          </p:nvPr>
        </p:nvSpPr>
        <p:spPr>
          <a:xfrm>
            <a:off x="107504" y="61789"/>
            <a:ext cx="8892988" cy="810927"/>
          </a:xfrm>
        </p:spPr>
        <p:txBody>
          <a:bodyPr/>
          <a:lstStyle/>
          <a:p>
            <a:r>
              <a:rPr lang="en-GB" sz="4000"/>
              <a:t>Stage 6: No Abstract Idea (</a:t>
            </a:r>
            <a:r>
              <a:rPr lang="en-GB" sz="4000" i="1"/>
              <a:t>Treatise</a:t>
            </a:r>
            <a:r>
              <a:rPr lang="en-GB" sz="4000"/>
              <a:t>)</a:t>
            </a:r>
          </a:p>
        </p:txBody>
      </p:sp>
      <p:sp>
        <p:nvSpPr>
          <p:cNvPr id="3" name="Content Placeholder 2">
            <a:extLst>
              <a:ext uri="{FF2B5EF4-FFF2-40B4-BE49-F238E27FC236}">
                <a16:creationId xmlns:a16="http://schemas.microsoft.com/office/drawing/2014/main" id="{F291C682-98C9-D856-AF4C-9FBB023D31A7}"/>
              </a:ext>
            </a:extLst>
          </p:cNvPr>
          <p:cNvSpPr>
            <a:spLocks noGrp="1"/>
          </p:cNvSpPr>
          <p:nvPr>
            <p:ph idx="1"/>
          </p:nvPr>
        </p:nvSpPr>
        <p:spPr>
          <a:xfrm>
            <a:off x="395537" y="992176"/>
            <a:ext cx="8568952" cy="5677184"/>
          </a:xfrm>
        </p:spPr>
        <p:txBody>
          <a:bodyPr/>
          <a:lstStyle/>
          <a:p>
            <a:r>
              <a:rPr lang="en-GB" sz="2600"/>
              <a:t>At </a:t>
            </a:r>
            <a:r>
              <a:rPr lang="en-GB" sz="2600" i="1"/>
              <a:t>T</a:t>
            </a:r>
            <a:r>
              <a:rPr lang="en-GB" sz="2600"/>
              <a:t> 1.3.14.13, Hume gives an argument to deny that we can acquire a </a:t>
            </a:r>
            <a:r>
              <a:rPr lang="en-GB" sz="2600" i="1"/>
              <a:t>general</a:t>
            </a:r>
            <a:r>
              <a:rPr lang="en-GB" sz="2600"/>
              <a:t> (or </a:t>
            </a:r>
            <a:r>
              <a:rPr lang="en-GB" sz="2600" i="1"/>
              <a:t>abstract</a:t>
            </a:r>
            <a:r>
              <a:rPr lang="en-GB" sz="2600"/>
              <a:t>) idea of power without first acquiring a </a:t>
            </a:r>
            <a:r>
              <a:rPr lang="en-GB" sz="2600" i="1"/>
              <a:t>specific</a:t>
            </a:r>
            <a:r>
              <a:rPr lang="en-GB" sz="2600"/>
              <a:t> idea of power.</a:t>
            </a:r>
          </a:p>
          <a:p>
            <a:pPr>
              <a:spcBef>
                <a:spcPts val="1200"/>
              </a:spcBef>
            </a:pPr>
            <a:r>
              <a:rPr lang="en-GB" sz="2600"/>
              <a:t>This refers back to his account of such ideas in </a:t>
            </a:r>
            <a:r>
              <a:rPr lang="en-GB" sz="2600" i="1"/>
              <a:t>T</a:t>
            </a:r>
            <a:r>
              <a:rPr lang="en-GB" sz="2600"/>
              <a:t> 1.1.7 (but absent from the </a:t>
            </a:r>
            <a:r>
              <a:rPr lang="en-GB" sz="2600" i="1"/>
              <a:t>Enquiry</a:t>
            </a:r>
            <a:r>
              <a:rPr lang="en-GB" sz="2600"/>
              <a:t>), which implies:</a:t>
            </a:r>
          </a:p>
          <a:p>
            <a:pPr marL="857250" lvl="2" indent="0">
              <a:spcBef>
                <a:spcPts val="1200"/>
              </a:spcBef>
              <a:buNone/>
            </a:pPr>
            <a:r>
              <a:rPr lang="en-GB"/>
              <a:t>“</a:t>
            </a:r>
            <a:r>
              <a:rPr lang="en-GB">
                <a:solidFill>
                  <a:srgbClr val="92D050"/>
                </a:solidFill>
              </a:rPr>
              <a:t>that general or abstract ideas are nothing but individual ones taken in a certain light</a:t>
            </a:r>
            <a:r>
              <a:rPr lang="en-GB"/>
              <a:t>, …   </a:t>
            </a:r>
            <a:r>
              <a:rPr lang="en-US" sz="2400">
                <a:solidFill>
                  <a:srgbClr val="92D050"/>
                </a:solidFill>
              </a:rPr>
              <a:t>If we be possest, therefore, of any idea of power in general, we must also be able to conceive some particular species of it</a:t>
            </a:r>
            <a:r>
              <a:rPr lang="en-US" sz="2400"/>
              <a:t>; and as power cannot subsist alone, … we must be able to place this power in some particular being, and conceive that being as endow’d with a real force and energy, by which such a particular effect necessarily results from its operation.  …”</a:t>
            </a:r>
            <a:endParaRPr lang="en-GB"/>
          </a:p>
        </p:txBody>
      </p:sp>
      <p:sp>
        <p:nvSpPr>
          <p:cNvPr id="4" name="Slide Number Placeholder 3">
            <a:extLst>
              <a:ext uri="{FF2B5EF4-FFF2-40B4-BE49-F238E27FC236}">
                <a16:creationId xmlns:a16="http://schemas.microsoft.com/office/drawing/2014/main" id="{9083047E-5FDC-80DA-F98C-42880EF362D8}"/>
              </a:ext>
            </a:extLst>
          </p:cNvPr>
          <p:cNvSpPr>
            <a:spLocks noGrp="1"/>
          </p:cNvSpPr>
          <p:nvPr>
            <p:ph type="sldNum" sz="quarter" idx="10"/>
          </p:nvPr>
        </p:nvSpPr>
        <p:spPr/>
        <p:txBody>
          <a:bodyPr/>
          <a:lstStyle/>
          <a:p>
            <a:fld id="{FFD1EE05-59BE-439B-B8B7-F61DC751609B}" type="slidenum">
              <a:rPr lang="en-US" smtClean="0"/>
              <a:pPr/>
              <a:t>194</a:t>
            </a:fld>
            <a:endParaRPr lang="en-US"/>
          </a:p>
        </p:txBody>
      </p:sp>
    </p:spTree>
    <p:extLst>
      <p:ext uri="{BB962C8B-B14F-4D97-AF65-F5344CB8AC3E}">
        <p14:creationId xmlns:p14="http://schemas.microsoft.com/office/powerpoint/2010/main" val="3609413027"/>
      </p:ext>
    </p:extLst>
  </p:cSld>
  <p:clrMapOvr>
    <a:masterClrMapping/>
  </p:clrMapOvr>
  <p:transition spd="med">
    <p:cover/>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78E76F8-6B81-4E98-AFCE-29EE9F5106ED}" type="slidenum">
              <a:rPr lang="en-US"/>
              <a:pPr/>
              <a:t>195</a:t>
            </a:fld>
            <a:endParaRPr lang="en-US"/>
          </a:p>
        </p:txBody>
      </p:sp>
      <p:sp>
        <p:nvSpPr>
          <p:cNvPr id="756739" name="Rectangle 3"/>
          <p:cNvSpPr>
            <a:spLocks noGrp="1" noChangeArrowheads="1"/>
          </p:cNvSpPr>
          <p:nvPr>
            <p:ph type="body" idx="1"/>
          </p:nvPr>
        </p:nvSpPr>
        <p:spPr>
          <a:xfrm>
            <a:off x="755576" y="1149883"/>
            <a:ext cx="8100900" cy="5555481"/>
          </a:xfrm>
        </p:spPr>
        <p:txBody>
          <a:bodyPr/>
          <a:lstStyle/>
          <a:p>
            <a:pPr>
              <a:buNone/>
            </a:pPr>
            <a:r>
              <a:rPr lang="en-GB" sz="2300"/>
              <a:t>	“…  </a:t>
            </a:r>
            <a:r>
              <a:rPr lang="en-US" sz="2300"/>
              <a:t>We must distinctly and particularly conceive the connexion betwixt the cause and effect, and </a:t>
            </a:r>
            <a:r>
              <a:rPr lang="en-US" sz="2300">
                <a:solidFill>
                  <a:srgbClr val="FF7C80"/>
                </a:solidFill>
              </a:rPr>
              <a:t>be able to pronounce, from a simple view of the one, that it must be follow’d or preceded by the other.  This is the true manner of conceiving a particular power in a particular body</a:t>
            </a:r>
            <a:r>
              <a:rPr lang="en-US" sz="2300"/>
              <a:t>: and </a:t>
            </a:r>
            <a:r>
              <a:rPr lang="en-US" sz="2300">
                <a:solidFill>
                  <a:srgbClr val="92D050"/>
                </a:solidFill>
              </a:rPr>
              <a:t>a general idea being impossible without an individual; where the latter is impossible, ’tis certain the former can never exist</a:t>
            </a:r>
            <a:r>
              <a:rPr lang="en-US" sz="2300"/>
              <a:t>.  Now nothing is more evident, than that the human mind cannot form such an idea of two objects, as to … comprehend distinctly that power or efficacy, by which they are united.   </a:t>
            </a:r>
            <a:r>
              <a:rPr lang="en-US" sz="2300">
                <a:solidFill>
                  <a:srgbClr val="FF7C80"/>
                </a:solidFill>
              </a:rPr>
              <a:t>Such a connexion wou’d amount to a demonstration</a:t>
            </a:r>
            <a:r>
              <a:rPr lang="en-US" sz="2300"/>
              <a:t>, and wou’d imply the absolute impossibility for the one object not to follow, or to be conceiv’d not to follow upon the other: </a:t>
            </a:r>
            <a:r>
              <a:rPr lang="en-US" sz="2300">
                <a:solidFill>
                  <a:srgbClr val="FF7C80"/>
                </a:solidFill>
              </a:rPr>
              <a:t>Which kind of connexion has already been rejected in all cases</a:t>
            </a:r>
            <a:r>
              <a:rPr lang="en-US" sz="2300"/>
              <a:t>.</a:t>
            </a:r>
            <a:r>
              <a:rPr lang="en-GB" sz="2300"/>
              <a:t>”  (</a:t>
            </a:r>
            <a:r>
              <a:rPr lang="en-GB" sz="2300" i="1"/>
              <a:t>T</a:t>
            </a:r>
            <a:r>
              <a:rPr lang="en-GB" sz="2300"/>
              <a:t> 1.3.6.14)</a:t>
            </a:r>
            <a:endParaRPr lang="en-GB" sz="2300" dirty="0"/>
          </a:p>
        </p:txBody>
      </p:sp>
      <p:sp>
        <p:nvSpPr>
          <p:cNvPr id="5" name="Rectangle 2">
            <a:extLst>
              <a:ext uri="{FF2B5EF4-FFF2-40B4-BE49-F238E27FC236}">
                <a16:creationId xmlns:a16="http://schemas.microsoft.com/office/drawing/2014/main" id="{B18AFDED-0A32-6E90-6D07-A217DBE3F1EB}"/>
              </a:ext>
            </a:extLst>
          </p:cNvPr>
          <p:cNvSpPr>
            <a:spLocks noGrp="1" noChangeArrowheads="1"/>
          </p:cNvSpPr>
          <p:nvPr>
            <p:ph type="title"/>
          </p:nvPr>
        </p:nvSpPr>
        <p:spPr>
          <a:xfrm>
            <a:off x="71500" y="152636"/>
            <a:ext cx="9001000" cy="774923"/>
          </a:xfrm>
        </p:spPr>
        <p:txBody>
          <a:bodyPr/>
          <a:lstStyle/>
          <a:p>
            <a:r>
              <a:rPr lang="en-GB" altLang="en-US" sz="4200"/>
              <a:t>The Earliest Key Move (</a:t>
            </a:r>
            <a:r>
              <a:rPr lang="en-GB" altLang="en-US" sz="4200" i="1"/>
              <a:t>Treatise</a:t>
            </a:r>
            <a:r>
              <a:rPr lang="en-GB" altLang="en-US" sz="4200"/>
              <a:t>)</a:t>
            </a:r>
          </a:p>
        </p:txBody>
      </p:sp>
    </p:spTree>
    <p:extLst>
      <p:ext uri="{BB962C8B-B14F-4D97-AF65-F5344CB8AC3E}">
        <p14:creationId xmlns:p14="http://schemas.microsoft.com/office/powerpoint/2010/main" val="4147800261"/>
      </p:ext>
    </p:extLst>
  </p:cSld>
  <p:clrMapOvr>
    <a:masterClrMapping/>
  </p:clrMapOvr>
  <p:transition spd="med">
    <p:cover/>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2F2F1-9B27-E145-F371-80AAD91D6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4BB46-8206-DF4A-0339-3A5973E8824E}"/>
              </a:ext>
            </a:extLst>
          </p:cNvPr>
          <p:cNvSpPr>
            <a:spLocks noGrp="1"/>
          </p:cNvSpPr>
          <p:nvPr>
            <p:ph type="title"/>
          </p:nvPr>
        </p:nvSpPr>
        <p:spPr>
          <a:xfrm>
            <a:off x="107504" y="61789"/>
            <a:ext cx="8892988" cy="810927"/>
          </a:xfrm>
        </p:spPr>
        <p:txBody>
          <a:bodyPr/>
          <a:lstStyle/>
          <a:p>
            <a:r>
              <a:rPr lang="en-GB" sz="4000"/>
              <a:t>Stage 7: Rejecting Occasionalism</a:t>
            </a:r>
          </a:p>
        </p:txBody>
      </p:sp>
      <p:sp>
        <p:nvSpPr>
          <p:cNvPr id="3" name="Content Placeholder 2">
            <a:extLst>
              <a:ext uri="{FF2B5EF4-FFF2-40B4-BE49-F238E27FC236}">
                <a16:creationId xmlns:a16="http://schemas.microsoft.com/office/drawing/2014/main" id="{B09172FE-E58F-C147-7E4B-6F668B9881D7}"/>
              </a:ext>
            </a:extLst>
          </p:cNvPr>
          <p:cNvSpPr>
            <a:spLocks noGrp="1"/>
          </p:cNvSpPr>
          <p:nvPr>
            <p:ph idx="1"/>
          </p:nvPr>
        </p:nvSpPr>
        <p:spPr>
          <a:xfrm>
            <a:off x="179513" y="992176"/>
            <a:ext cx="8676964" cy="5677184"/>
          </a:xfrm>
        </p:spPr>
        <p:txBody>
          <a:bodyPr/>
          <a:lstStyle/>
          <a:p>
            <a:r>
              <a:rPr lang="en-GB" sz="2800" dirty="0"/>
              <a:t>In the </a:t>
            </a:r>
            <a:r>
              <a:rPr lang="en-GB" sz="2800" i="1" dirty="0"/>
              <a:t>Treatise</a:t>
            </a:r>
            <a:r>
              <a:rPr lang="en-GB" sz="2800" dirty="0"/>
              <a:t>, we saw Hume criticising “Cartesian” (Malebranche’s) </a:t>
            </a:r>
            <a:r>
              <a:rPr lang="en-GB" sz="2800" i="1" dirty="0"/>
              <a:t>occasionalism</a:t>
            </a:r>
            <a:r>
              <a:rPr lang="en-GB" sz="2800" dirty="0"/>
              <a:t> at </a:t>
            </a:r>
            <a:r>
              <a:rPr lang="en-GB" sz="2800" i="1" dirty="0"/>
              <a:t>T</a:t>
            </a:r>
            <a:r>
              <a:rPr lang="en-GB" sz="2800" dirty="0"/>
              <a:t> 1.3.14.9-10.</a:t>
            </a:r>
          </a:p>
          <a:p>
            <a:pPr>
              <a:spcBef>
                <a:spcPts val="1800"/>
              </a:spcBef>
            </a:pPr>
            <a:r>
              <a:rPr lang="en-GB" altLang="en-US" sz="2800" dirty="0"/>
              <a:t>The </a:t>
            </a:r>
            <a:r>
              <a:rPr lang="en-GB" altLang="en-US" sz="2800" i="1" dirty="0"/>
              <a:t>Enquiry</a:t>
            </a:r>
            <a:r>
              <a:rPr lang="en-GB" altLang="en-US" sz="2800" dirty="0"/>
              <a:t> critique is more extensive, ultimately rejecting </a:t>
            </a:r>
            <a:r>
              <a:rPr lang="en-GB" altLang="en-US" sz="2800" dirty="0" err="1"/>
              <a:t>ocasionalism</a:t>
            </a:r>
            <a:r>
              <a:rPr lang="en-GB" altLang="en-US" sz="2800" dirty="0"/>
              <a:t> on the grounds that:</a:t>
            </a:r>
          </a:p>
          <a:p>
            <a:pPr lvl="1">
              <a:spcBef>
                <a:spcPts val="1200"/>
              </a:spcBef>
            </a:pPr>
            <a:r>
              <a:rPr lang="en-GB" altLang="en-US" sz="2500" dirty="0"/>
              <a:t>It is too bold and bizarre to be credible: “We are got into fairy land, long ere we have reached the last steps of our theory, and </a:t>
            </a:r>
            <a:r>
              <a:rPr lang="en-GB" altLang="en-US" sz="2500" i="1" dirty="0"/>
              <a:t>there</a:t>
            </a:r>
            <a:r>
              <a:rPr lang="en-GB" altLang="en-US" sz="2500" dirty="0"/>
              <a:t> we have no reason to trust our common methods of argument” (</a:t>
            </a:r>
            <a:r>
              <a:rPr lang="en-GB" altLang="en-US" sz="2500" i="1" dirty="0"/>
              <a:t>E</a:t>
            </a:r>
            <a:r>
              <a:rPr lang="en-GB" altLang="en-US" sz="2500" dirty="0"/>
              <a:t> 7.24).</a:t>
            </a:r>
          </a:p>
          <a:p>
            <a:pPr lvl="1">
              <a:spcBef>
                <a:spcPts val="1200"/>
              </a:spcBef>
            </a:pPr>
            <a:r>
              <a:rPr lang="en-GB" altLang="en-US" sz="2500" dirty="0"/>
              <a:t>Malebranche can’t explain the origin of our idea of necessity as coming from God, since we are “equally ignorant of the manner or force by which a mind, even the supreme mind, operates …” (</a:t>
            </a:r>
            <a:r>
              <a:rPr lang="en-GB" altLang="en-US" sz="2500" i="1" dirty="0"/>
              <a:t>E</a:t>
            </a:r>
            <a:r>
              <a:rPr lang="en-GB" altLang="en-US" sz="2500" dirty="0"/>
              <a:t> 7.25)</a:t>
            </a:r>
          </a:p>
          <a:p>
            <a:endParaRPr lang="en-GB" sz="2600" dirty="0"/>
          </a:p>
        </p:txBody>
      </p:sp>
      <p:sp>
        <p:nvSpPr>
          <p:cNvPr id="4" name="Slide Number Placeholder 3">
            <a:extLst>
              <a:ext uri="{FF2B5EF4-FFF2-40B4-BE49-F238E27FC236}">
                <a16:creationId xmlns:a16="http://schemas.microsoft.com/office/drawing/2014/main" id="{8B967F5C-5E7F-A675-F75E-1449EA1F62F2}"/>
              </a:ext>
            </a:extLst>
          </p:cNvPr>
          <p:cNvSpPr>
            <a:spLocks noGrp="1"/>
          </p:cNvSpPr>
          <p:nvPr>
            <p:ph type="sldNum" sz="quarter" idx="10"/>
          </p:nvPr>
        </p:nvSpPr>
        <p:spPr/>
        <p:txBody>
          <a:bodyPr/>
          <a:lstStyle/>
          <a:p>
            <a:fld id="{FFD1EE05-59BE-439B-B8B7-F61DC751609B}" type="slidenum">
              <a:rPr lang="en-US" smtClean="0"/>
              <a:pPr/>
              <a:t>196</a:t>
            </a:fld>
            <a:endParaRPr lang="en-US"/>
          </a:p>
        </p:txBody>
      </p:sp>
    </p:spTree>
    <p:extLst>
      <p:ext uri="{BB962C8B-B14F-4D97-AF65-F5344CB8AC3E}">
        <p14:creationId xmlns:p14="http://schemas.microsoft.com/office/powerpoint/2010/main" val="767277278"/>
      </p:ext>
    </p:extLst>
  </p:cSld>
  <p:clrMapOvr>
    <a:masterClrMapping/>
  </p:clrMapOvr>
  <p:transition spd="med">
    <p:cover/>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75AA6-E995-971C-9734-6F5E0066EF83}"/>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F9210125-4BAC-5AF2-E8DA-E5FD7D36EF9B}"/>
              </a:ext>
            </a:extLst>
          </p:cNvPr>
          <p:cNvSpPr>
            <a:spLocks noGrp="1"/>
          </p:cNvSpPr>
          <p:nvPr>
            <p:ph type="sldNum" sz="quarter" idx="10"/>
          </p:nvPr>
        </p:nvSpPr>
        <p:spPr/>
        <p:txBody>
          <a:bodyPr/>
          <a:lstStyle/>
          <a:p>
            <a:fld id="{A4A44E63-CB97-42CA-A549-D8228D173849}" type="slidenum">
              <a:rPr lang="en-US"/>
              <a:pPr/>
              <a:t>197</a:t>
            </a:fld>
            <a:endParaRPr lang="en-US"/>
          </a:p>
        </p:txBody>
      </p:sp>
      <p:sp>
        <p:nvSpPr>
          <p:cNvPr id="4" name="Slide Number Placeholder 3">
            <a:extLst>
              <a:ext uri="{FF2B5EF4-FFF2-40B4-BE49-F238E27FC236}">
                <a16:creationId xmlns:a16="http://schemas.microsoft.com/office/drawing/2014/main" id="{70F4FCC1-C9B3-BA47-C4A1-14604189701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197</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BD0C004C-A10A-ADF6-83B0-ADD7A608B5DC}"/>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8: Having Another Look</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8EDCAC1E-97E8-D969-4991-A5D15E40F8FB}"/>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200"/>
              </a:spcBef>
              <a:buNone/>
            </a:pPr>
            <a:r>
              <a:rPr lang="en-US" sz="2500"/>
              <a:t>	“Thus … when we speak of a necessary connexion betwixt objects, and suppose …  an efficacy or energy, with which any of these objects are endow’d; in all these expressions, </a:t>
            </a:r>
            <a:r>
              <a:rPr lang="en-US" sz="2500" i="1"/>
              <a:t>so apply’d</a:t>
            </a:r>
            <a:r>
              <a:rPr lang="en-US" sz="2500"/>
              <a:t>, we have really no distinct meaning, and make use only of common words, without any clear and determinate ideas.  But as ’tis more probable, that these expressions do here lose their true meaning by being </a:t>
            </a:r>
            <a:r>
              <a:rPr lang="en-US" sz="2500" i="1"/>
              <a:t>wrong apply’d</a:t>
            </a:r>
            <a:r>
              <a:rPr lang="en-US" sz="2500"/>
              <a:t>, than that they never have any meaning; </a:t>
            </a:r>
            <a:r>
              <a:rPr lang="en-US" sz="2500">
                <a:solidFill>
                  <a:srgbClr val="FF7C80"/>
                </a:solidFill>
              </a:rPr>
              <a:t>’twill be proper to bestow another consideration on this subject</a:t>
            </a:r>
            <a:r>
              <a:rPr lang="en-US" sz="2500"/>
              <a:t>, to see if possibly we can discover the nature and origin of those ideas, we annex to them.</a:t>
            </a:r>
            <a:r>
              <a:rPr lang="en-GB" sz="2500">
                <a:effectLst/>
              </a:rPr>
              <a:t>”  </a:t>
            </a:r>
            <a:r>
              <a:rPr lang="en-US" sz="2500"/>
              <a:t>(</a:t>
            </a:r>
            <a:r>
              <a:rPr lang="en-US" sz="2500" i="1"/>
              <a:t>T</a:t>
            </a:r>
            <a:r>
              <a:rPr lang="en-US" sz="2500"/>
              <a:t> 1.3.14.14)</a:t>
            </a:r>
          </a:p>
        </p:txBody>
      </p:sp>
    </p:spTree>
    <p:extLst>
      <p:ext uri="{BB962C8B-B14F-4D97-AF65-F5344CB8AC3E}">
        <p14:creationId xmlns:p14="http://schemas.microsoft.com/office/powerpoint/2010/main" val="4216100870"/>
      </p:ext>
    </p:extLst>
  </p:cSld>
  <p:clrMapOvr>
    <a:masterClrMapping/>
  </p:clrMapOvr>
  <p:transition spd="med">
    <p:cover/>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DCB26-36EA-3763-DC5B-58D8974E290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D00571CB-C09B-793A-B363-E0C49002307E}"/>
              </a:ext>
            </a:extLst>
          </p:cNvPr>
          <p:cNvSpPr>
            <a:spLocks noGrp="1"/>
          </p:cNvSpPr>
          <p:nvPr>
            <p:ph type="sldNum" sz="quarter" idx="10"/>
          </p:nvPr>
        </p:nvSpPr>
        <p:spPr/>
        <p:txBody>
          <a:bodyPr/>
          <a:lstStyle/>
          <a:p>
            <a:fld id="{A4A44E63-CB97-42CA-A549-D8228D173849}" type="slidenum">
              <a:rPr lang="en-US"/>
              <a:pPr/>
              <a:t>198</a:t>
            </a:fld>
            <a:endParaRPr lang="en-US"/>
          </a:p>
        </p:txBody>
      </p:sp>
      <p:sp>
        <p:nvSpPr>
          <p:cNvPr id="4" name="Slide Number Placeholder 3">
            <a:extLst>
              <a:ext uri="{FF2B5EF4-FFF2-40B4-BE49-F238E27FC236}">
                <a16:creationId xmlns:a16="http://schemas.microsoft.com/office/drawing/2014/main" id="{E6C548C1-4446-899B-6899-BC3CFCE91815}"/>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198</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DDA3990-2843-2D95-62B8-8C5F1F785317}"/>
              </a:ext>
            </a:extLst>
          </p:cNvPr>
          <p:cNvSpPr>
            <a:spLocks noGrp="1" noChangeArrowheads="1"/>
          </p:cNvSpPr>
          <p:nvPr>
            <p:ph type="body" idx="4294967295"/>
          </p:nvPr>
        </p:nvSpPr>
        <p:spPr>
          <a:xfrm>
            <a:off x="575556" y="152636"/>
            <a:ext cx="8244916" cy="6300700"/>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“It appears, that, in single instances of the operation of bodies, we never can … comprehend any force or power …  The same difficulty occurs in contemplating the operations of mind on body … [and the] authority of the will over its own faculties and ideas …  So … there appears not, throughout all nature, any one instance of connexion, which is conceivable by us.  …  And as we can have no idea of any thing, which never appeared to our outward sense or inward sentiment, the necessary conclusion </a:t>
            </a:r>
            <a:r>
              <a:rPr lang="en-US" sz="2300" i="1"/>
              <a:t>seems</a:t>
            </a:r>
            <a:r>
              <a:rPr lang="en-US" sz="2300"/>
              <a:t> to be, that we have no idea of connexion or power at all, and that these words are absolutely without any meaning, … either in philosophical reasonings, or common life.</a:t>
            </a:r>
          </a:p>
          <a:p>
            <a:pPr>
              <a:spcBef>
                <a:spcPts val="1200"/>
              </a:spcBef>
              <a:buNone/>
            </a:pPr>
            <a:r>
              <a:rPr lang="en-US" sz="2300">
                <a:effectLst/>
              </a:rPr>
              <a:t>	</a:t>
            </a:r>
            <a:r>
              <a:rPr lang="en-US" sz="2300">
                <a:solidFill>
                  <a:srgbClr val="FF7C80"/>
                </a:solidFill>
                <a:effectLst/>
              </a:rPr>
              <a:t>But there still remains one method of avoiding this conclusion, and one source which we have not yet examined</a:t>
            </a:r>
            <a:r>
              <a:rPr lang="en-US" sz="2300">
                <a:effectLst/>
              </a:rPr>
              <a:t>.</a:t>
            </a:r>
            <a:r>
              <a:rPr lang="en-GB" sz="2300">
                <a:effectLst/>
              </a:rPr>
              <a:t>”  </a:t>
            </a:r>
            <a:r>
              <a:rPr lang="en-US" sz="2300"/>
              <a:t>(</a:t>
            </a:r>
            <a:r>
              <a:rPr lang="en-US" sz="2300" i="1"/>
              <a:t>E</a:t>
            </a:r>
            <a:r>
              <a:rPr lang="en-US" sz="2300"/>
              <a:t> 7.26-27)</a:t>
            </a:r>
          </a:p>
        </p:txBody>
      </p:sp>
    </p:spTree>
    <p:extLst>
      <p:ext uri="{BB962C8B-B14F-4D97-AF65-F5344CB8AC3E}">
        <p14:creationId xmlns:p14="http://schemas.microsoft.com/office/powerpoint/2010/main" val="2144849672"/>
      </p:ext>
    </p:extLst>
  </p:cSld>
  <p:clrMapOvr>
    <a:masterClrMapping/>
  </p:clrMapOvr>
  <p:transition spd="med">
    <p:cover/>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9C572-6007-9880-0DFB-E2A1E857D3C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04E52CB-E578-5304-08AA-FB50E8C25F8E}"/>
              </a:ext>
            </a:extLst>
          </p:cNvPr>
          <p:cNvSpPr>
            <a:spLocks noGrp="1"/>
          </p:cNvSpPr>
          <p:nvPr>
            <p:ph type="sldNum" sz="quarter" idx="10"/>
          </p:nvPr>
        </p:nvSpPr>
        <p:spPr/>
        <p:txBody>
          <a:bodyPr/>
          <a:lstStyle/>
          <a:p>
            <a:fld id="{A4A44E63-CB97-42CA-A549-D8228D173849}" type="slidenum">
              <a:rPr lang="en-US"/>
              <a:pPr/>
              <a:t>199</a:t>
            </a:fld>
            <a:endParaRPr lang="en-US"/>
          </a:p>
        </p:txBody>
      </p:sp>
      <p:sp>
        <p:nvSpPr>
          <p:cNvPr id="4" name="Slide Number Placeholder 3">
            <a:extLst>
              <a:ext uri="{FF2B5EF4-FFF2-40B4-BE49-F238E27FC236}">
                <a16:creationId xmlns:a16="http://schemas.microsoft.com/office/drawing/2014/main" id="{5E417DCE-E5CA-75D2-7DE4-2CA95470C59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199</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638C1243-A0FE-2FD3-1AE4-2E4F447DDB85}"/>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9: Repeated Instances</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1BD1292E-0632-DED1-506B-6A8DC4974D7D}"/>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“’Tis not, therefore, from any one instance, that we arrive at the idea of cause and effect, of a necessary connexion of power, of force, of energy, and of efficacy.</a:t>
            </a:r>
          </a:p>
          <a:p>
            <a:pPr>
              <a:spcBef>
                <a:spcPts val="1800"/>
              </a:spcBef>
              <a:buNone/>
            </a:pPr>
            <a:r>
              <a:rPr lang="en-US" sz="2500">
                <a:effectLst/>
              </a:rPr>
              <a:t>	But … suppose we observe several instances, in which the same objects are always conjoin’d together, we immediately conceive a connexion betwixt them, and begin to draw an inference from one to another.  </a:t>
            </a:r>
            <a:r>
              <a:rPr lang="en-US" sz="2500">
                <a:solidFill>
                  <a:srgbClr val="FF7C80"/>
                </a:solidFill>
                <a:effectLst/>
              </a:rPr>
              <a:t>This multiplicity of resembling instances, therefore, constitutes the very essence of power or connexion, and is the source, from which the idea of it arises</a:t>
            </a:r>
            <a:r>
              <a:rPr lang="en-US" sz="2500">
                <a:effectLst/>
              </a:rPr>
              <a:t>.</a:t>
            </a:r>
            <a:r>
              <a:rPr lang="en-GB" sz="2500">
                <a:effectLst/>
              </a:rPr>
              <a:t>”</a:t>
            </a:r>
          </a:p>
          <a:p>
            <a:pPr algn="r">
              <a:spcBef>
                <a:spcPts val="600"/>
              </a:spcBef>
              <a:buNone/>
            </a:pPr>
            <a:r>
              <a:rPr lang="en-US" sz="2500"/>
              <a:t>(</a:t>
            </a:r>
            <a:r>
              <a:rPr lang="en-US" sz="2500" i="1"/>
              <a:t>T</a:t>
            </a:r>
            <a:r>
              <a:rPr lang="en-US" sz="2500"/>
              <a:t> 1.3.14.15-16)</a:t>
            </a:r>
          </a:p>
        </p:txBody>
      </p:sp>
    </p:spTree>
    <p:extLst>
      <p:ext uri="{BB962C8B-B14F-4D97-AF65-F5344CB8AC3E}">
        <p14:creationId xmlns:p14="http://schemas.microsoft.com/office/powerpoint/2010/main" val="2656196326"/>
      </p:ext>
    </p:extLst>
  </p:cSld>
  <p:clrMapOvr>
    <a:masterClrMapping/>
  </p:clrMapOvr>
  <p:transition spd="med">
    <p:cover/>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1A361-0CE0-F172-99FF-B09F70ABE3CA}"/>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9579D244-2934-502D-5492-51A563AFB0C7}"/>
              </a:ext>
            </a:extLst>
          </p:cNvPr>
          <p:cNvSpPr>
            <a:spLocks noGrp="1"/>
          </p:cNvSpPr>
          <p:nvPr>
            <p:ph type="sldNum" sz="quarter" idx="10"/>
          </p:nvPr>
        </p:nvSpPr>
        <p:spPr/>
        <p:txBody>
          <a:bodyPr/>
          <a:lstStyle/>
          <a:p>
            <a:fld id="{A4A44E63-CB97-42CA-A549-D8228D173849}" type="slidenum">
              <a:rPr lang="en-US"/>
              <a:pPr/>
              <a:t>200</a:t>
            </a:fld>
            <a:endParaRPr lang="en-US"/>
          </a:p>
        </p:txBody>
      </p:sp>
      <p:sp>
        <p:nvSpPr>
          <p:cNvPr id="4" name="Slide Number Placeholder 3">
            <a:extLst>
              <a:ext uri="{FF2B5EF4-FFF2-40B4-BE49-F238E27FC236}">
                <a16:creationId xmlns:a16="http://schemas.microsoft.com/office/drawing/2014/main" id="{319D4371-14AD-D9B3-2B48-78A9E7CF1E0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200</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4117D214-0F24-DF72-61F7-BD02A9284336}"/>
              </a:ext>
            </a:extLst>
          </p:cNvPr>
          <p:cNvSpPr>
            <a:spLocks noGrp="1" noChangeArrowheads="1"/>
          </p:cNvSpPr>
          <p:nvPr>
            <p:ph type="body" idx="4294967295"/>
          </p:nvPr>
        </p:nvSpPr>
        <p:spPr>
          <a:xfrm>
            <a:off x="575556" y="56071"/>
            <a:ext cx="8208143"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“When any natural object or event is presented, it is impossible for us … to discover, or even conjecture, without experience, what event will result from it …  Even after one instance …, we are not entitled to form a general rule, or foretel what will happen in like cases …  But when one particular species of event has always, in all instances, been conjoined with another, we make no longer any scruple of foretelling one upon the appearance of the other, and of employing that reasoning, which can alone assure us of any matter of fact or existence.  We then call the one object, </a:t>
            </a:r>
            <a:r>
              <a:rPr lang="en-US" sz="2300" i="1"/>
              <a:t>Cause</a:t>
            </a:r>
            <a:r>
              <a:rPr lang="en-US" sz="2300"/>
              <a:t>; the other, </a:t>
            </a:r>
            <a:r>
              <a:rPr lang="en-US" sz="2300" i="1"/>
              <a:t>Effect</a:t>
            </a:r>
            <a:r>
              <a:rPr lang="en-US" sz="2300"/>
              <a:t>.  We suppose, that there is some connexion between them; some power …</a:t>
            </a:r>
          </a:p>
          <a:p>
            <a:pPr>
              <a:spcBef>
                <a:spcPts val="1200"/>
              </a:spcBef>
              <a:buNone/>
            </a:pPr>
            <a:r>
              <a:rPr lang="en-US" sz="2300">
                <a:effectLst/>
              </a:rPr>
              <a:t>	It appears, then, that </a:t>
            </a:r>
            <a:r>
              <a:rPr lang="en-US" sz="2300">
                <a:solidFill>
                  <a:srgbClr val="FF7C80"/>
                </a:solidFill>
                <a:effectLst/>
              </a:rPr>
              <a:t>this idea of a necessary connexion among events arises from a number of similar instances which occur, of the constant conjunction of these events</a:t>
            </a:r>
            <a:r>
              <a:rPr lang="en-GB" sz="2300">
                <a:effectLst/>
              </a:rPr>
              <a:t>”</a:t>
            </a:r>
          </a:p>
          <a:p>
            <a:pPr algn="r">
              <a:spcBef>
                <a:spcPts val="600"/>
              </a:spcBef>
              <a:buNone/>
            </a:pPr>
            <a:r>
              <a:rPr lang="en-US" sz="2300"/>
              <a:t>(</a:t>
            </a:r>
            <a:r>
              <a:rPr lang="en-US" sz="2300" i="1"/>
              <a:t>E</a:t>
            </a:r>
            <a:r>
              <a:rPr lang="en-US" sz="2300"/>
              <a:t> 7.26-27)</a:t>
            </a:r>
          </a:p>
        </p:txBody>
      </p:sp>
    </p:spTree>
    <p:extLst>
      <p:ext uri="{BB962C8B-B14F-4D97-AF65-F5344CB8AC3E}">
        <p14:creationId xmlns:p14="http://schemas.microsoft.com/office/powerpoint/2010/main" val="2770961671"/>
      </p:ext>
    </p:extLst>
  </p:cSld>
  <p:clrMapOvr>
    <a:masterClrMapping/>
  </p:clrMapOvr>
  <p:transition spd="med">
    <p:cover/>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8D439-1798-D2E4-0014-5ECE65249FE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36B8D22C-D268-325C-86EF-258162201896}"/>
              </a:ext>
            </a:extLst>
          </p:cNvPr>
          <p:cNvSpPr>
            <a:spLocks noGrp="1"/>
          </p:cNvSpPr>
          <p:nvPr>
            <p:ph type="sldNum" sz="quarter" idx="10"/>
          </p:nvPr>
        </p:nvSpPr>
        <p:spPr/>
        <p:txBody>
          <a:bodyPr/>
          <a:lstStyle/>
          <a:p>
            <a:fld id="{A4A44E63-CB97-42CA-A549-D8228D173849}" type="slidenum">
              <a:rPr lang="en-US"/>
              <a:pPr/>
              <a:t>201</a:t>
            </a:fld>
            <a:endParaRPr lang="en-US"/>
          </a:p>
        </p:txBody>
      </p:sp>
      <p:sp>
        <p:nvSpPr>
          <p:cNvPr id="4" name="Slide Number Placeholder 3">
            <a:extLst>
              <a:ext uri="{FF2B5EF4-FFF2-40B4-BE49-F238E27FC236}">
                <a16:creationId xmlns:a16="http://schemas.microsoft.com/office/drawing/2014/main" id="{3CEEE597-B296-7D17-F414-49E11ACF8F0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201</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009DE9FD-BFB7-D6BA-1280-CD774D5D3680}"/>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a:t>
            </a:r>
            <a:r>
              <a:rPr lang="en-GB" sz="4000"/>
              <a:t>10</a:t>
            </a:r>
            <a:r>
              <a:rPr lang="en-GB" sz="4000">
                <a:latin typeface="+mj-lt"/>
                <a:ea typeface="+mj-ea"/>
                <a:cs typeface="+mj-cs"/>
              </a:rPr>
              <a:t>: Identifying the Impression</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6DF0D465-D16A-8070-D2B6-0C5CE00849F4}"/>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“after we have observ’d the resemblance in a sufficient number of instances, we immediately feel a determination of the mind to pass from one object to its usual attendant, and to conceive it in a stronger light upon account of that relation.  This determination is the only effect of the resemblance; and therefore must be the same with power or efficacy, whose idea is deriv’d from the resemblance.  …  </a:t>
            </a:r>
            <a:r>
              <a:rPr lang="en-US" sz="2500">
                <a:solidFill>
                  <a:srgbClr val="FF7C80"/>
                </a:solidFill>
              </a:rPr>
              <a:t>Necessity, then,</a:t>
            </a:r>
            <a:r>
              <a:rPr lang="en-US" sz="2500"/>
              <a:t> is the effect of this observation, and </a:t>
            </a:r>
            <a:r>
              <a:rPr lang="en-US" sz="2500">
                <a:solidFill>
                  <a:srgbClr val="FF7C80"/>
                </a:solidFill>
              </a:rPr>
              <a:t>is nothing but an internal impression of the mind, or a determination to carry our thoughts from one object to another</a:t>
            </a:r>
            <a:r>
              <a:rPr lang="en-US" sz="2500"/>
              <a:t>.</a:t>
            </a:r>
            <a:r>
              <a:rPr lang="en-GB" sz="2500">
                <a:effectLst/>
              </a:rPr>
              <a:t>”</a:t>
            </a:r>
          </a:p>
          <a:p>
            <a:pPr algn="r">
              <a:spcBef>
                <a:spcPts val="600"/>
              </a:spcBef>
              <a:buNone/>
            </a:pPr>
            <a:r>
              <a:rPr lang="en-US" sz="2500"/>
              <a:t>(</a:t>
            </a:r>
            <a:r>
              <a:rPr lang="en-US" sz="2500" i="1"/>
              <a:t>T</a:t>
            </a:r>
            <a:r>
              <a:rPr lang="en-US" sz="2500"/>
              <a:t> 1.3.14.20)</a:t>
            </a:r>
          </a:p>
        </p:txBody>
      </p:sp>
    </p:spTree>
    <p:extLst>
      <p:ext uri="{BB962C8B-B14F-4D97-AF65-F5344CB8AC3E}">
        <p14:creationId xmlns:p14="http://schemas.microsoft.com/office/powerpoint/2010/main" val="2852620899"/>
      </p:ext>
    </p:extLst>
  </p:cSld>
  <p:clrMapOvr>
    <a:masterClrMapping/>
  </p:clrMapOvr>
  <p:transition spd="med">
    <p:cover/>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C6D5B-3EF6-5F9D-E863-B18CFBCC420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4CFCCE4D-E461-5DA1-6696-945962FA87FB}"/>
              </a:ext>
            </a:extLst>
          </p:cNvPr>
          <p:cNvSpPr>
            <a:spLocks noGrp="1"/>
          </p:cNvSpPr>
          <p:nvPr>
            <p:ph type="sldNum" sz="quarter" idx="10"/>
          </p:nvPr>
        </p:nvSpPr>
        <p:spPr/>
        <p:txBody>
          <a:bodyPr/>
          <a:lstStyle/>
          <a:p>
            <a:fld id="{A4A44E63-CB97-42CA-A549-D8228D173849}" type="slidenum">
              <a:rPr lang="en-US"/>
              <a:pPr/>
              <a:t>202</a:t>
            </a:fld>
            <a:endParaRPr lang="en-US"/>
          </a:p>
        </p:txBody>
      </p:sp>
      <p:sp>
        <p:nvSpPr>
          <p:cNvPr id="4" name="Slide Number Placeholder 3">
            <a:extLst>
              <a:ext uri="{FF2B5EF4-FFF2-40B4-BE49-F238E27FC236}">
                <a16:creationId xmlns:a16="http://schemas.microsoft.com/office/drawing/2014/main" id="{06DDD3BB-03A0-6749-96F7-171F06A5BD5C}"/>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202</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7C7BCBF-6A90-1631-9C27-B1F6E7D7A026}"/>
              </a:ext>
            </a:extLst>
          </p:cNvPr>
          <p:cNvSpPr>
            <a:spLocks noGrp="1" noChangeArrowheads="1"/>
          </p:cNvSpPr>
          <p:nvPr>
            <p:ph type="body" idx="4294967295"/>
          </p:nvPr>
        </p:nvSpPr>
        <p:spPr>
          <a:xfrm>
            <a:off x="720341" y="92075"/>
            <a:ext cx="8100131"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“there is nothing in a number of instances, different from every single instance, which is supposed to be exactly similar; except only, that after a repetition of similar instances, the mind is carried by habit, upon the appearance of one event, to expect its usual attendant, and to believe, that it will exist.  </a:t>
            </a:r>
            <a:r>
              <a:rPr lang="en-US" sz="2300">
                <a:solidFill>
                  <a:srgbClr val="FF7C80"/>
                </a:solidFill>
              </a:rPr>
              <a:t>This connexion, therefore, which we </a:t>
            </a:r>
            <a:r>
              <a:rPr lang="en-US" sz="2300" i="1">
                <a:solidFill>
                  <a:srgbClr val="FF7C80"/>
                </a:solidFill>
              </a:rPr>
              <a:t>feel</a:t>
            </a:r>
            <a:r>
              <a:rPr lang="en-US" sz="2300">
                <a:solidFill>
                  <a:srgbClr val="FF7C80"/>
                </a:solidFill>
              </a:rPr>
              <a:t> in the mind, this customary transition of the imagination from one object to its usual attendant, is the sentiment or impression, from which we form the idea of power or necessary connexion</a:t>
            </a:r>
            <a:r>
              <a:rPr lang="en-US" sz="2300"/>
              <a:t>.  …  When we say, therefore, that one object is connected with another, we mean only, that they have acquired a connexion in our thought, and give rise to this inference, by which they become proofs of each other's existence: A conclusion, which is somewhat extraordinary; but which seems founded on sufficient evidence.</a:t>
            </a:r>
            <a:r>
              <a:rPr lang="en-GB" sz="2300">
                <a:effectLst/>
              </a:rPr>
              <a:t>”  </a:t>
            </a:r>
            <a:r>
              <a:rPr lang="en-US" sz="2300"/>
              <a:t>(</a:t>
            </a:r>
            <a:r>
              <a:rPr lang="en-US" sz="2300" i="1"/>
              <a:t>E</a:t>
            </a:r>
            <a:r>
              <a:rPr lang="en-US" sz="2300"/>
              <a:t> 7.28)</a:t>
            </a:r>
          </a:p>
        </p:txBody>
      </p:sp>
    </p:spTree>
    <p:extLst>
      <p:ext uri="{BB962C8B-B14F-4D97-AF65-F5344CB8AC3E}">
        <p14:creationId xmlns:p14="http://schemas.microsoft.com/office/powerpoint/2010/main" val="2201598080"/>
      </p:ext>
    </p:extLst>
  </p:cSld>
  <p:clrMapOvr>
    <a:masterClrMapping/>
  </p:clrMapOvr>
  <p:transition spd="med">
    <p:cover/>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46FDB-1574-DA6C-DD76-E401417B4B13}"/>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49660AB5-D47C-95D9-2524-5F5CC06BDED9}"/>
              </a:ext>
            </a:extLst>
          </p:cNvPr>
          <p:cNvSpPr>
            <a:spLocks noGrp="1" noChangeArrowheads="1"/>
          </p:cNvSpPr>
          <p:nvPr>
            <p:ph type="ctrTitle"/>
          </p:nvPr>
        </p:nvSpPr>
        <p:spPr>
          <a:xfrm>
            <a:off x="179388" y="296863"/>
            <a:ext cx="4608512" cy="6300787"/>
          </a:xfrm>
        </p:spPr>
        <p:txBody>
          <a:bodyPr/>
          <a:lstStyle/>
          <a:p>
            <a:r>
              <a:rPr lang="en-GB"/>
              <a:t>5(</a:t>
            </a:r>
            <a:r>
              <a:rPr lang="en-GB" dirty="0"/>
              <a:t>b</a:t>
            </a:r>
            <a:r>
              <a:rPr lang="en-GB"/>
              <a:t>)</a:t>
            </a:r>
            <a:br>
              <a:rPr lang="en-GB" dirty="0"/>
            </a:br>
            <a:br>
              <a:rPr lang="en-GB"/>
            </a:br>
            <a:r>
              <a:rPr lang="en-GB"/>
              <a:t>The “Impression of Necessary Connexion”</a:t>
            </a:r>
            <a:endParaRPr lang="en-US" dirty="0"/>
          </a:p>
        </p:txBody>
      </p:sp>
      <p:pic>
        <p:nvPicPr>
          <p:cNvPr id="847875" name="Picture 3" descr="treatise1">
            <a:extLst>
              <a:ext uri="{FF2B5EF4-FFF2-40B4-BE49-F238E27FC236}">
                <a16:creationId xmlns:a16="http://schemas.microsoft.com/office/drawing/2014/main" id="{EB645797-D7C9-1501-4F0C-F1A3F59430F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412062143"/>
      </p:ext>
    </p:extLst>
  </p:cSld>
  <p:clrMapOvr>
    <a:masterClrMapping/>
  </p:clrMapOvr>
  <p:transition spd="med">
    <p:cover/>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6C1FFB5-0E50-4479-9D41-E9F8FA6DB743}" type="slidenum">
              <a:rPr lang="en-US"/>
              <a:pPr/>
              <a:t>204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01BD1C4-8AC5-46C7-8802-F6ABAE0B4F6C}" type="slidenum">
              <a:rPr lang="en-US" sz="1600">
                <a:effectLst>
                  <a:outerShdw blurRad="38100" dist="38100" dir="2700000" algn="tl">
                    <a:srgbClr val="000000"/>
                  </a:outerShdw>
                </a:effectLst>
                <a:ea typeface="ＭＳ Ｐゴシック" charset="-128"/>
              </a:rPr>
              <a:pPr eaLnBrk="1" hangingPunct="1"/>
              <a:t>204</a:t>
            </a:fld>
            <a:endParaRPr lang="en-US" sz="1600">
              <a:effectLst>
                <a:outerShdw blurRad="38100" dist="38100" dir="2700000" algn="tl">
                  <a:srgbClr val="000000"/>
                </a:outerShdw>
              </a:effectLst>
              <a:ea typeface="ＭＳ Ｐゴシック" charset="-128"/>
            </a:endParaRPr>
          </a:p>
        </p:txBody>
      </p:sp>
      <p:sp>
        <p:nvSpPr>
          <p:cNvPr id="917506" name="Rectangle 2"/>
          <p:cNvSpPr>
            <a:spLocks noGrp="1" noChangeArrowheads="1"/>
          </p:cNvSpPr>
          <p:nvPr>
            <p:ph type="title" idx="4294967295"/>
          </p:nvPr>
        </p:nvSpPr>
        <p:spPr>
          <a:xfrm>
            <a:off x="143508" y="116632"/>
            <a:ext cx="8820980" cy="828092"/>
          </a:xfrm>
        </p:spPr>
        <p:txBody>
          <a:bodyPr/>
          <a:lstStyle/>
          <a:p>
            <a:pPr>
              <a:defRPr/>
            </a:pPr>
            <a:r>
              <a:rPr lang="en-GB" sz="3600"/>
              <a:t>Notorious “Subjectivism” about Necessity</a:t>
            </a:r>
            <a:endParaRPr lang="en-GB" sz="3600" dirty="0">
              <a:latin typeface="+mj-lt"/>
              <a:ea typeface="+mj-ea"/>
              <a:cs typeface="+mj-cs"/>
            </a:endParaRPr>
          </a:p>
        </p:txBody>
      </p:sp>
      <p:sp>
        <p:nvSpPr>
          <p:cNvPr id="917507" name="Rectangle 3"/>
          <p:cNvSpPr>
            <a:spLocks noGrp="1" noChangeArrowheads="1"/>
          </p:cNvSpPr>
          <p:nvPr>
            <p:ph type="body" idx="4294967295"/>
          </p:nvPr>
        </p:nvSpPr>
        <p:spPr>
          <a:xfrm>
            <a:off x="539553" y="1160748"/>
            <a:ext cx="8244915" cy="5292588"/>
          </a:xfrm>
        </p:spPr>
        <p:txBody>
          <a:bodyPr/>
          <a:lstStyle/>
          <a:p>
            <a:pPr>
              <a:spcBef>
                <a:spcPts val="600"/>
              </a:spcBef>
            </a:pPr>
            <a:r>
              <a:rPr lang="en-GB" sz="2400" dirty="0"/>
              <a:t>“Necessity, then, ... is nothing but an internal impression of the mind” (</a:t>
            </a:r>
            <a:r>
              <a:rPr lang="en-GB" sz="2400" i="1" dirty="0"/>
              <a:t>T</a:t>
            </a:r>
            <a:r>
              <a:rPr lang="en-GB" sz="2400" dirty="0"/>
              <a:t> 1.3.14.20);</a:t>
            </a:r>
          </a:p>
          <a:p>
            <a:pPr>
              <a:spcBef>
                <a:spcPts val="900"/>
              </a:spcBef>
            </a:pPr>
            <a:r>
              <a:rPr lang="en-GB" sz="2400" dirty="0"/>
              <a:t>“necessity is something, that exists in the mind, not in objects” (</a:t>
            </a:r>
            <a:r>
              <a:rPr lang="en-GB" sz="2400" i="1" dirty="0"/>
              <a:t>T</a:t>
            </a:r>
            <a:r>
              <a:rPr lang="en-GB" sz="2400" dirty="0"/>
              <a:t> 1.3.14.22);</a:t>
            </a:r>
          </a:p>
          <a:p>
            <a:pPr>
              <a:spcBef>
                <a:spcPts val="900"/>
              </a:spcBef>
            </a:pPr>
            <a:r>
              <a:rPr lang="en-GB" sz="2400" dirty="0"/>
              <a:t>“the necessity or power ... lies in the determination of the mind ...  The efficacy or energy of causes is [not] </a:t>
            </a:r>
            <a:r>
              <a:rPr lang="en-GB" sz="2400" dirty="0" err="1"/>
              <a:t>plac’d</a:t>
            </a:r>
            <a:r>
              <a:rPr lang="en-GB" sz="2400" dirty="0"/>
              <a:t> in the causes themselves ...; but belongs entirely to the soul ...  </a:t>
            </a:r>
            <a:r>
              <a:rPr lang="en-GB" sz="2400" dirty="0" err="1"/>
              <a:t>’Tis</a:t>
            </a:r>
            <a:r>
              <a:rPr lang="en-GB" sz="2400" dirty="0"/>
              <a:t> here that the real power of causes is </a:t>
            </a:r>
            <a:r>
              <a:rPr lang="en-GB" sz="2400" dirty="0" err="1"/>
              <a:t>plac’d</a:t>
            </a:r>
            <a:r>
              <a:rPr lang="en-GB" sz="2400" dirty="0"/>
              <a:t>, along with their connexion and necessity. (</a:t>
            </a:r>
            <a:r>
              <a:rPr lang="en-GB" sz="2400" i="1" dirty="0"/>
              <a:t>T</a:t>
            </a:r>
            <a:r>
              <a:rPr lang="en-GB" sz="2400" dirty="0"/>
              <a:t> 1.3.14.23);</a:t>
            </a:r>
          </a:p>
          <a:p>
            <a:pPr>
              <a:spcBef>
                <a:spcPts val="900"/>
              </a:spcBef>
            </a:pPr>
            <a:r>
              <a:rPr lang="en-GB" sz="2400" dirty="0"/>
              <a:t>“power and necessity ... are ... qualities of perceptions, not of objects, and are internally felt by the soul, and not </a:t>
            </a:r>
            <a:r>
              <a:rPr lang="en-GB" sz="2400" dirty="0" err="1"/>
              <a:t>perceiv’d</a:t>
            </a:r>
            <a:r>
              <a:rPr lang="en-GB" sz="2400" dirty="0"/>
              <a:t> externally in bodies” (</a:t>
            </a:r>
            <a:r>
              <a:rPr lang="en-GB" sz="2400" i="1" dirty="0"/>
              <a:t>T</a:t>
            </a:r>
            <a:r>
              <a:rPr lang="en-GB" sz="2400" dirty="0"/>
              <a:t> 1.3.14.24);</a:t>
            </a:r>
          </a:p>
          <a:p>
            <a:pPr>
              <a:spcBef>
                <a:spcPts val="900"/>
              </a:spcBef>
            </a:pPr>
            <a:r>
              <a:rPr lang="en-GB" sz="2400" dirty="0"/>
              <a:t>See also </a:t>
            </a:r>
            <a:r>
              <a:rPr lang="en-GB" sz="2400" i="1" dirty="0"/>
              <a:t>T</a:t>
            </a:r>
            <a:r>
              <a:rPr lang="en-GB" sz="2400" dirty="0"/>
              <a:t> 1.4.7.5, 2.3.1.4, 2.3.1.6.</a:t>
            </a:r>
          </a:p>
        </p:txBody>
      </p:sp>
    </p:spTree>
    <p:extLst>
      <p:ext uri="{BB962C8B-B14F-4D97-AF65-F5344CB8AC3E}">
        <p14:creationId xmlns:p14="http://schemas.microsoft.com/office/powerpoint/2010/main" val="313108469"/>
      </p:ext>
    </p:extLst>
  </p:cSld>
  <p:clrMapOvr>
    <a:masterClrMapping/>
  </p:clrMapOvr>
  <p:transition spd="med">
    <p:cover/>
  </p:transition>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8274838-1582-4508-A9FF-7A16401A97BC}" type="slidenum">
              <a:rPr lang="en-US"/>
              <a:pPr/>
              <a:t>205</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78E7E04-0E42-4280-A458-8206041E4340}" type="slidenum">
              <a:rPr lang="en-US" sz="1600">
                <a:effectLst>
                  <a:outerShdw blurRad="38100" dist="38100" dir="2700000" algn="tl">
                    <a:srgbClr val="000000"/>
                  </a:outerShdw>
                </a:effectLst>
                <a:ea typeface="ＭＳ Ｐゴシック" charset="-128"/>
              </a:rPr>
              <a:pPr eaLnBrk="1" hangingPunct="1"/>
              <a:t>205</a:t>
            </a:fld>
            <a:endParaRPr lang="en-US" sz="1600">
              <a:effectLst>
                <a:outerShdw blurRad="38100" dist="38100" dir="2700000" algn="tl">
                  <a:srgbClr val="000000"/>
                </a:outerShdw>
              </a:effectLst>
              <a:ea typeface="ＭＳ Ｐゴシック" charset="-128"/>
            </a:endParaRPr>
          </a:p>
        </p:txBody>
      </p:sp>
      <p:sp>
        <p:nvSpPr>
          <p:cNvPr id="918530" name="Rectangle 2"/>
          <p:cNvSpPr>
            <a:spLocks noGrp="1" noChangeArrowheads="1"/>
          </p:cNvSpPr>
          <p:nvPr>
            <p:ph type="title" idx="4294967295"/>
          </p:nvPr>
        </p:nvSpPr>
        <p:spPr>
          <a:xfrm>
            <a:off x="457200" y="224644"/>
            <a:ext cx="8229600" cy="684076"/>
          </a:xfrm>
        </p:spPr>
        <p:txBody>
          <a:bodyPr/>
          <a:lstStyle/>
          <a:p>
            <a:r>
              <a:rPr lang="en-GB" dirty="0"/>
              <a:t>Misunderstanding and Bias</a:t>
            </a:r>
          </a:p>
        </p:txBody>
      </p:sp>
      <p:sp>
        <p:nvSpPr>
          <p:cNvPr id="918531" name="Rectangle 3"/>
          <p:cNvSpPr>
            <a:spLocks noGrp="1" noChangeArrowheads="1"/>
          </p:cNvSpPr>
          <p:nvPr>
            <p:ph type="body" idx="4294967295"/>
          </p:nvPr>
        </p:nvSpPr>
        <p:spPr>
          <a:xfrm>
            <a:off x="467544" y="1160748"/>
            <a:ext cx="8604956" cy="5400600"/>
          </a:xfrm>
        </p:spPr>
        <p:txBody>
          <a:bodyPr/>
          <a:lstStyle/>
          <a:p>
            <a:r>
              <a:rPr lang="en-GB" sz="2700" dirty="0"/>
              <a:t>Hume is not saying that we perceive some kind of objective necessity within the operations of the mind, but not body (see </a:t>
            </a:r>
            <a:r>
              <a:rPr lang="en-GB" sz="2700" i="1" dirty="0"/>
              <a:t>T</a:t>
            </a:r>
            <a:r>
              <a:rPr lang="en-GB" sz="2700" dirty="0"/>
              <a:t> 1.3.14.29).  Rather …</a:t>
            </a:r>
          </a:p>
          <a:p>
            <a:pPr>
              <a:spcBef>
                <a:spcPts val="1200"/>
              </a:spcBef>
            </a:pPr>
            <a:r>
              <a:rPr lang="en-GB" sz="2700" dirty="0"/>
              <a:t>We find ourselves inferring from </a:t>
            </a:r>
            <a:r>
              <a:rPr lang="en-GB" sz="2700" i="1" dirty="0"/>
              <a:t>A</a:t>
            </a:r>
            <a:r>
              <a:rPr lang="en-GB" sz="2700" dirty="0"/>
              <a:t> to </a:t>
            </a:r>
            <a:r>
              <a:rPr lang="en-GB" sz="2700" i="1" dirty="0"/>
              <a:t>B</a:t>
            </a:r>
            <a:r>
              <a:rPr lang="en-GB" sz="2700" dirty="0"/>
              <a:t>, and this relation “in the mind” is </a:t>
            </a:r>
            <a:r>
              <a:rPr lang="en-GB" sz="2700" i="1" dirty="0"/>
              <a:t>all we can understand</a:t>
            </a:r>
            <a:r>
              <a:rPr lang="en-GB" sz="2700" dirty="0"/>
              <a:t> by “necessity” (whether in body or mind).  </a:t>
            </a:r>
            <a:r>
              <a:rPr lang="en-GB" sz="2700" i="1" dirty="0"/>
              <a:t>We can’t even make sense</a:t>
            </a:r>
            <a:r>
              <a:rPr lang="en-GB" sz="2700" dirty="0"/>
              <a:t> of anything more.</a:t>
            </a:r>
          </a:p>
          <a:p>
            <a:pPr>
              <a:spcBef>
                <a:spcPts val="1200"/>
              </a:spcBef>
            </a:pPr>
            <a:r>
              <a:rPr lang="en-GB" sz="2700" dirty="0"/>
              <a:t>There is a natural bias against this view: “the mind has a great propensity to spread itself on external objects, and to conjoin with them any internal impressions, which they occasion”  (</a:t>
            </a:r>
            <a:r>
              <a:rPr lang="en-GB" sz="2700" i="1" dirty="0"/>
              <a:t>T</a:t>
            </a:r>
            <a:r>
              <a:rPr lang="en-GB" sz="2700" dirty="0"/>
              <a:t> 1.3.14.25).</a:t>
            </a:r>
          </a:p>
          <a:p>
            <a:pPr lvl="1"/>
            <a:r>
              <a:rPr lang="en-GB" sz="2500" i="1" dirty="0">
                <a:solidFill>
                  <a:srgbClr val="FF7C80"/>
                </a:solidFill>
              </a:rPr>
              <a:t>Hume is criticising this propensity, not endorsing it!</a:t>
            </a:r>
            <a:endParaRPr lang="en-GB" sz="2500" dirty="0">
              <a:solidFill>
                <a:srgbClr val="FF7C80"/>
              </a:solidFill>
            </a:endParaRPr>
          </a:p>
        </p:txBody>
      </p:sp>
    </p:spTree>
    <p:extLst>
      <p:ext uri="{BB962C8B-B14F-4D97-AF65-F5344CB8AC3E}">
        <p14:creationId xmlns:p14="http://schemas.microsoft.com/office/powerpoint/2010/main" val="3756667400"/>
      </p:ext>
    </p:extLst>
  </p:cSld>
  <p:clrMapOvr>
    <a:masterClrMapping/>
  </p:clrMapOvr>
  <p:transition spd="med">
    <p:cover/>
  </p:transition>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F409311-5372-4537-9D78-D72A4C80DCA8}" type="slidenum">
              <a:rPr lang="en-US"/>
              <a:pPr/>
              <a:t>206</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30CF8A5-C9F2-4ED3-8611-D29FFC1DAD49}" type="slidenum">
              <a:rPr lang="en-US" sz="1600">
                <a:effectLst>
                  <a:outerShdw blurRad="38100" dist="38100" dir="2700000" algn="tl">
                    <a:srgbClr val="000000"/>
                  </a:outerShdw>
                </a:effectLst>
                <a:ea typeface="ＭＳ Ｐゴシック" charset="-128"/>
              </a:rPr>
              <a:pPr eaLnBrk="1" hangingPunct="1"/>
              <a:t>206</a:t>
            </a:fld>
            <a:endParaRPr lang="en-US" sz="1600">
              <a:effectLst>
                <a:outerShdw blurRad="38100" dist="38100" dir="2700000" algn="tl">
                  <a:srgbClr val="000000"/>
                </a:outerShdw>
              </a:effectLst>
              <a:ea typeface="ＭＳ Ｐゴシック" charset="-128"/>
            </a:endParaRPr>
          </a:p>
        </p:txBody>
      </p:sp>
      <p:sp>
        <p:nvSpPr>
          <p:cNvPr id="924674" name="Rectangle 2"/>
          <p:cNvSpPr>
            <a:spLocks noGrp="1" noChangeArrowheads="1"/>
          </p:cNvSpPr>
          <p:nvPr>
            <p:ph type="title" idx="4294967295"/>
          </p:nvPr>
        </p:nvSpPr>
        <p:spPr>
          <a:xfrm>
            <a:off x="250825" y="188640"/>
            <a:ext cx="8642350" cy="876759"/>
          </a:xfrm>
        </p:spPr>
        <p:txBody>
          <a:bodyPr/>
          <a:lstStyle/>
          <a:p>
            <a:pPr>
              <a:defRPr/>
            </a:pPr>
            <a:r>
              <a:rPr lang="en-GB" sz="4000" dirty="0">
                <a:latin typeface="+mj-lt"/>
                <a:ea typeface="+mj-ea"/>
                <a:cs typeface="+mj-cs"/>
              </a:rPr>
              <a:t>The Confused Vulgar Idea of Power</a:t>
            </a:r>
          </a:p>
        </p:txBody>
      </p:sp>
      <p:sp>
        <p:nvSpPr>
          <p:cNvPr id="924675" name="Rectangle 3"/>
          <p:cNvSpPr>
            <a:spLocks noGrp="1" noChangeArrowheads="1"/>
          </p:cNvSpPr>
          <p:nvPr>
            <p:ph type="body" idx="4294967295"/>
          </p:nvPr>
        </p:nvSpPr>
        <p:spPr>
          <a:xfrm>
            <a:off x="322833" y="1232756"/>
            <a:ext cx="8570342" cy="5365812"/>
          </a:xfrm>
        </p:spPr>
        <p:txBody>
          <a:bodyPr/>
          <a:lstStyle/>
          <a:p>
            <a:pPr>
              <a:spcBef>
                <a:spcPts val="1200"/>
              </a:spcBef>
            </a:pPr>
            <a:r>
              <a:rPr lang="en-US" sz="2700" dirty="0"/>
              <a:t>Another common instance of “the same propensity” is our natural tendency to assign spatial location to our impressions of sounds and smells.</a:t>
            </a:r>
          </a:p>
          <a:p>
            <a:pPr lvl="1">
              <a:spcBef>
                <a:spcPts val="900"/>
              </a:spcBef>
            </a:pPr>
            <a:r>
              <a:rPr lang="en-US" sz="2400" i="1" dirty="0"/>
              <a:t>T</a:t>
            </a:r>
            <a:r>
              <a:rPr lang="en-US" sz="2400" dirty="0"/>
              <a:t> 1.3.14.25 includes a footnote to 1.4.5.14, which says:  “All this absurdity proceeds from our </a:t>
            </a:r>
            <a:r>
              <a:rPr lang="en-US" sz="2400" dirty="0" err="1"/>
              <a:t>endeavouring</a:t>
            </a:r>
            <a:r>
              <a:rPr lang="en-US" sz="2400" dirty="0"/>
              <a:t> to bestow a place on what is utterly incapable of it”.</a:t>
            </a:r>
          </a:p>
          <a:p>
            <a:pPr>
              <a:spcBef>
                <a:spcPts val="1800"/>
              </a:spcBef>
            </a:pPr>
            <a:r>
              <a:rPr lang="en-GB" sz="2700" dirty="0"/>
              <a:t>In the </a:t>
            </a:r>
            <a:r>
              <a:rPr lang="en-GB" sz="2700" i="1" dirty="0"/>
              <a:t>Enquiry</a:t>
            </a:r>
            <a:r>
              <a:rPr lang="en-GB" sz="2700" dirty="0"/>
              <a:t>, Hume alludes to a similar projective tendency “to apply to external objects every internal sensation, which they occasion” (</a:t>
            </a:r>
            <a:r>
              <a:rPr lang="en-GB" sz="2700" i="1" dirty="0"/>
              <a:t>E</a:t>
            </a:r>
            <a:r>
              <a:rPr lang="en-GB" sz="2700" dirty="0"/>
              <a:t> 7.29 n. 17).</a:t>
            </a:r>
            <a:endParaRPr lang="en-US" sz="2700" dirty="0"/>
          </a:p>
          <a:p>
            <a:pPr lvl="1">
              <a:spcBef>
                <a:spcPts val="900"/>
              </a:spcBef>
            </a:pPr>
            <a:r>
              <a:rPr lang="en-GB" sz="2400" dirty="0"/>
              <a:t>The same note also mentions “the sentiment of a </a:t>
            </a:r>
            <a:r>
              <a:rPr lang="en-GB" sz="2400" i="1" dirty="0"/>
              <a:t>nisus</a:t>
            </a:r>
            <a:r>
              <a:rPr lang="en-GB" sz="2400" dirty="0"/>
              <a:t> or endeavour” which “enters very  much into” the vulgar idea of physical power (</a:t>
            </a:r>
            <a:r>
              <a:rPr lang="en-GB" sz="2400" i="1" dirty="0"/>
              <a:t>E</a:t>
            </a:r>
            <a:r>
              <a:rPr lang="en-GB" sz="2400" dirty="0"/>
              <a:t> 7.29 n. 17, cf. 7.15 n. 13).</a:t>
            </a:r>
          </a:p>
        </p:txBody>
      </p:sp>
    </p:spTree>
    <p:extLst>
      <p:ext uri="{BB962C8B-B14F-4D97-AF65-F5344CB8AC3E}">
        <p14:creationId xmlns:p14="http://schemas.microsoft.com/office/powerpoint/2010/main" val="282303801"/>
      </p:ext>
    </p:extLst>
  </p:cSld>
  <p:clrMapOvr>
    <a:masterClrMapping/>
  </p:clrMapOvr>
  <p:transition spd="med">
    <p:cover/>
  </p:transition>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BD6900D-853D-4511-8558-6786ECE74703}" type="slidenum">
              <a:rPr lang="en-US"/>
              <a:pPr/>
              <a:t>207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207</a:t>
            </a:fld>
            <a:endParaRPr lang="en-US" sz="1600">
              <a:effectLst>
                <a:outerShdw blurRad="38100" dist="38100" dir="2700000" algn="tl">
                  <a:srgbClr val="000000"/>
                </a:outerShdw>
              </a:effectLst>
              <a:ea typeface="ＭＳ Ｐゴシック" charset="-128"/>
            </a:endParaRPr>
          </a:p>
        </p:txBody>
      </p:sp>
      <p:sp>
        <p:nvSpPr>
          <p:cNvPr id="914434" name="Rectangle 2"/>
          <p:cNvSpPr>
            <a:spLocks noGrp="1" noChangeArrowheads="1"/>
          </p:cNvSpPr>
          <p:nvPr>
            <p:ph type="title" idx="4294967295"/>
          </p:nvPr>
        </p:nvSpPr>
        <p:spPr>
          <a:xfrm>
            <a:off x="457200" y="188640"/>
            <a:ext cx="8229600" cy="648072"/>
          </a:xfrm>
        </p:spPr>
        <p:txBody>
          <a:bodyPr/>
          <a:lstStyle/>
          <a:p>
            <a:pPr>
              <a:defRPr/>
            </a:pPr>
            <a:r>
              <a:rPr lang="en-GB" dirty="0">
                <a:latin typeface="+mj-lt"/>
                <a:ea typeface="+mj-ea"/>
                <a:cs typeface="+mj-cs"/>
              </a:rPr>
              <a:t>Is the Impression a </a:t>
            </a:r>
            <a:r>
              <a:rPr lang="en-GB" i="1" dirty="0">
                <a:latin typeface="+mj-lt"/>
                <a:ea typeface="+mj-ea"/>
                <a:cs typeface="+mj-cs"/>
              </a:rPr>
              <a:t>Feeling</a:t>
            </a:r>
            <a:r>
              <a:rPr lang="en-GB" dirty="0">
                <a:latin typeface="+mj-lt"/>
                <a:ea typeface="+mj-ea"/>
                <a:cs typeface="+mj-cs"/>
              </a:rPr>
              <a:t>? </a:t>
            </a:r>
          </a:p>
        </p:txBody>
      </p:sp>
      <p:sp>
        <p:nvSpPr>
          <p:cNvPr id="914435" name="Rectangle 3"/>
          <p:cNvSpPr>
            <a:spLocks noGrp="1" noChangeArrowheads="1"/>
          </p:cNvSpPr>
          <p:nvPr>
            <p:ph type="body" idx="4294967295"/>
          </p:nvPr>
        </p:nvSpPr>
        <p:spPr>
          <a:xfrm>
            <a:off x="503548" y="980728"/>
            <a:ext cx="8435975" cy="5652628"/>
          </a:xfrm>
        </p:spPr>
        <p:txBody>
          <a:bodyPr/>
          <a:lstStyle/>
          <a:p>
            <a:pPr>
              <a:spcBef>
                <a:spcPts val="1200"/>
              </a:spcBef>
              <a:buFont typeface="Wingdings" charset="2"/>
              <a:buNone/>
            </a:pPr>
            <a:r>
              <a:rPr lang="en-GB" sz="2600"/>
              <a:t>	</a:t>
            </a:r>
            <a:r>
              <a:rPr lang="en-GB" sz="2300"/>
              <a:t>“</a:t>
            </a:r>
            <a:r>
              <a:rPr lang="en-US" sz="2300"/>
              <a:t>we … </a:t>
            </a:r>
            <a:r>
              <a:rPr lang="en-US" sz="2300">
                <a:solidFill>
                  <a:srgbClr val="FF7C80"/>
                </a:solidFill>
              </a:rPr>
              <a:t>feel a determination of the mind</a:t>
            </a:r>
            <a:r>
              <a:rPr lang="en-US" sz="2300"/>
              <a:t> to pass from one object to its usual attendant</a:t>
            </a:r>
            <a:r>
              <a:rPr lang="en-GB" sz="2300"/>
              <a:t>” (</a:t>
            </a:r>
            <a:r>
              <a:rPr lang="en-GB" sz="2300" i="1"/>
              <a:t>T</a:t>
            </a:r>
            <a:r>
              <a:rPr lang="en-GB" sz="2300"/>
              <a:t> 3.1.14.20, cf. 29)	</a:t>
            </a:r>
          </a:p>
          <a:p>
            <a:pPr>
              <a:spcBef>
                <a:spcPts val="1200"/>
              </a:spcBef>
              <a:buFont typeface="Wingdings" charset="2"/>
              <a:buNone/>
            </a:pPr>
            <a:r>
              <a:rPr lang="en-GB" sz="2300"/>
              <a:t>	“</a:t>
            </a:r>
            <a:r>
              <a:rPr lang="en-GB" sz="2300" dirty="0"/>
              <a:t>This connexion … </a:t>
            </a:r>
            <a:r>
              <a:rPr lang="en-GB" sz="2300" dirty="0">
                <a:solidFill>
                  <a:srgbClr val="FF7C80"/>
                </a:solidFill>
              </a:rPr>
              <a:t>which we </a:t>
            </a:r>
            <a:r>
              <a:rPr lang="en-GB" sz="2300" i="1" dirty="0">
                <a:solidFill>
                  <a:srgbClr val="FF7C80"/>
                </a:solidFill>
              </a:rPr>
              <a:t>feel</a:t>
            </a:r>
            <a:r>
              <a:rPr lang="en-GB" sz="2300" dirty="0">
                <a:solidFill>
                  <a:srgbClr val="FF7C80"/>
                </a:solidFill>
              </a:rPr>
              <a:t> in the mind</a:t>
            </a:r>
            <a:r>
              <a:rPr lang="en-GB" sz="2300" dirty="0"/>
              <a:t>, this customary transition of the imagination from one object to its usual attendant, is the sentiment or impression, from which we form the idea of power or necessary connexion.” (</a:t>
            </a:r>
            <a:r>
              <a:rPr lang="en-GB" sz="2300" i="1"/>
              <a:t>E</a:t>
            </a:r>
            <a:r>
              <a:rPr lang="en-GB" sz="2300"/>
              <a:t> 7.28).</a:t>
            </a:r>
            <a:endParaRPr lang="en-GB" sz="2300" dirty="0"/>
          </a:p>
          <a:p>
            <a:pPr>
              <a:spcBef>
                <a:spcPts val="1200"/>
              </a:spcBef>
            </a:pPr>
            <a:r>
              <a:rPr lang="en-US" sz="2300" dirty="0"/>
              <a:t>Stroud (1977, pp. 85-6) takes the impression to </a:t>
            </a:r>
            <a:r>
              <a:rPr lang="en-US" sz="2300"/>
              <a:t>be a </a:t>
            </a:r>
            <a:r>
              <a:rPr lang="en-US" sz="2300" dirty="0"/>
              <a:t>“</a:t>
            </a:r>
            <a:r>
              <a:rPr lang="en-US" sz="2300" i="1" dirty="0"/>
              <a:t>feeling</a:t>
            </a:r>
            <a:r>
              <a:rPr lang="en-US" sz="2300" dirty="0"/>
              <a:t> of determination” that happens to accompany the operation of customary </a:t>
            </a:r>
            <a:r>
              <a:rPr lang="en-US" sz="2300"/>
              <a:t>inference.  But the </a:t>
            </a:r>
            <a:r>
              <a:rPr lang="en-US" sz="2300" i="1"/>
              <a:t>Enquiry</a:t>
            </a:r>
            <a:r>
              <a:rPr lang="en-US" sz="2300"/>
              <a:t> talks of “transition” in this context (as on the next ), never “determination”.</a:t>
            </a:r>
            <a:endParaRPr lang="en-US" sz="2300" dirty="0"/>
          </a:p>
          <a:p>
            <a:pPr>
              <a:spcBef>
                <a:spcPts val="1200"/>
              </a:spcBef>
            </a:pPr>
            <a:r>
              <a:rPr lang="en-US" sz="2300"/>
              <a:t>Besides, </a:t>
            </a:r>
            <a:r>
              <a:rPr lang="en-US" sz="2300" dirty="0"/>
              <a:t>it’s not obvious that </a:t>
            </a:r>
            <a:r>
              <a:rPr lang="en-US" sz="2300" i="1" dirty="0"/>
              <a:t>there </a:t>
            </a:r>
            <a:r>
              <a:rPr lang="en-US" sz="2300" i="1"/>
              <a:t>is</a:t>
            </a:r>
            <a:r>
              <a:rPr lang="en-US" sz="2300"/>
              <a:t> any characteristic </a:t>
            </a:r>
            <a:r>
              <a:rPr lang="en-US" sz="2300" i="1"/>
              <a:t>feeling</a:t>
            </a:r>
            <a:r>
              <a:rPr lang="en-US" sz="2300"/>
              <a:t> of inference </a:t>
            </a:r>
            <a:r>
              <a:rPr lang="en-US" sz="2300" dirty="0"/>
              <a:t>(</a:t>
            </a:r>
            <a:r>
              <a:rPr lang="en-US" sz="2300"/>
              <a:t>cf. </a:t>
            </a:r>
            <a:r>
              <a:rPr lang="en-US" sz="2300" i="1"/>
              <a:t>T</a:t>
            </a:r>
            <a:r>
              <a:rPr lang="en-US" sz="2300"/>
              <a:t> </a:t>
            </a:r>
            <a:r>
              <a:rPr lang="en-US" sz="2300" dirty="0"/>
              <a:t>1.3.8.2, 13; 1.3.12.7).  And even if there were, “</a:t>
            </a:r>
            <a:r>
              <a:rPr lang="en-GB" sz="2300" dirty="0"/>
              <a:t>No internal impression has an apparent energy, more than external objects</a:t>
            </a:r>
            <a:r>
              <a:rPr lang="en-US" sz="2300" dirty="0"/>
              <a:t>” (</a:t>
            </a:r>
            <a:r>
              <a:rPr lang="en-US" sz="2300" i="1" dirty="0"/>
              <a:t>T</a:t>
            </a:r>
            <a:r>
              <a:rPr lang="en-US" sz="2300" dirty="0"/>
              <a:t> </a:t>
            </a:r>
            <a:r>
              <a:rPr lang="en-GB" sz="2300" dirty="0"/>
              <a:t>1.3.14.12</a:t>
            </a:r>
            <a:r>
              <a:rPr lang="en-US" sz="2300" dirty="0"/>
              <a:t>, cf. </a:t>
            </a:r>
            <a:r>
              <a:rPr lang="en-US" sz="2300" i="1" dirty="0"/>
              <a:t>E </a:t>
            </a:r>
            <a:r>
              <a:rPr lang="en-US" sz="2300" dirty="0"/>
              <a:t>7.15 n. 13).</a:t>
            </a:r>
            <a:endParaRPr lang="en-GB" sz="2300" dirty="0"/>
          </a:p>
        </p:txBody>
      </p:sp>
    </p:spTree>
    <p:extLst>
      <p:ext uri="{BB962C8B-B14F-4D97-AF65-F5344CB8AC3E}">
        <p14:creationId xmlns:p14="http://schemas.microsoft.com/office/powerpoint/2010/main" val="1215215637"/>
      </p:ext>
    </p:extLst>
  </p:cSld>
  <p:clrMapOvr>
    <a:masterClrMapping/>
  </p:clrMapOvr>
  <p:transition spd="med">
    <p:cover/>
  </p:transition>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21567-97A6-CF3C-7DBE-07699853874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2F660F3-D555-D3A2-860B-6A969BA28740}"/>
              </a:ext>
            </a:extLst>
          </p:cNvPr>
          <p:cNvSpPr>
            <a:spLocks noGrp="1"/>
          </p:cNvSpPr>
          <p:nvPr>
            <p:ph type="sldNum" sz="quarter" idx="10"/>
          </p:nvPr>
        </p:nvSpPr>
        <p:spPr/>
        <p:txBody>
          <a:bodyPr/>
          <a:lstStyle/>
          <a:p>
            <a:fld id="{0BD6900D-853D-4511-8558-6786ECE74703}" type="slidenum">
              <a:rPr lang="en-US"/>
              <a:pPr/>
              <a:t>208</a:t>
            </a:fld>
            <a:endParaRPr lang="en-US"/>
          </a:p>
        </p:txBody>
      </p:sp>
      <p:sp>
        <p:nvSpPr>
          <p:cNvPr id="4" name="Slide Number Placeholder 3">
            <a:extLst>
              <a:ext uri="{FF2B5EF4-FFF2-40B4-BE49-F238E27FC236}">
                <a16:creationId xmlns:a16="http://schemas.microsoft.com/office/drawing/2014/main" id="{C926F785-83A8-94CB-696F-D74FDEE7196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208</a:t>
            </a:fld>
            <a:endParaRPr lang="en-US" sz="1600">
              <a:effectLst>
                <a:outerShdw blurRad="38100" dist="38100" dir="2700000" algn="tl">
                  <a:srgbClr val="000000"/>
                </a:outerShdw>
              </a:effectLst>
              <a:ea typeface="ＭＳ Ｐゴシック" charset="-128"/>
            </a:endParaRPr>
          </a:p>
        </p:txBody>
      </p:sp>
      <p:sp>
        <p:nvSpPr>
          <p:cNvPr id="914434" name="Rectangle 2">
            <a:extLst>
              <a:ext uri="{FF2B5EF4-FFF2-40B4-BE49-F238E27FC236}">
                <a16:creationId xmlns:a16="http://schemas.microsoft.com/office/drawing/2014/main" id="{E7F6D010-84BF-1503-D89C-09125B24048B}"/>
              </a:ext>
            </a:extLst>
          </p:cNvPr>
          <p:cNvSpPr>
            <a:spLocks noGrp="1" noChangeArrowheads="1"/>
          </p:cNvSpPr>
          <p:nvPr>
            <p:ph type="title" idx="4294967295"/>
          </p:nvPr>
        </p:nvSpPr>
        <p:spPr>
          <a:xfrm>
            <a:off x="143508" y="116632"/>
            <a:ext cx="8892988" cy="1296144"/>
          </a:xfrm>
        </p:spPr>
        <p:txBody>
          <a:bodyPr/>
          <a:lstStyle/>
          <a:p>
            <a:pPr>
              <a:defRPr/>
            </a:pPr>
            <a:r>
              <a:rPr lang="en-GB" sz="4200" dirty="0">
                <a:latin typeface="+mj-lt"/>
                <a:ea typeface="+mj-ea"/>
                <a:cs typeface="+mj-cs"/>
              </a:rPr>
              <a:t>From “D</a:t>
            </a:r>
            <a:r>
              <a:rPr lang="en-GB" sz="4200" dirty="0"/>
              <a:t>etermination” of Thought (</a:t>
            </a:r>
            <a:r>
              <a:rPr lang="en-GB" sz="4200" i="1" dirty="0"/>
              <a:t>Treatise</a:t>
            </a:r>
            <a:r>
              <a:rPr lang="en-GB" sz="4200" dirty="0"/>
              <a:t>) to “Transition” (</a:t>
            </a:r>
            <a:r>
              <a:rPr lang="en-GB" sz="4200" i="1" dirty="0"/>
              <a:t>Enquiry</a:t>
            </a:r>
            <a:r>
              <a:rPr lang="en-GB" sz="4200" dirty="0"/>
              <a:t>)</a:t>
            </a:r>
            <a:endParaRPr lang="en-GB" sz="4200" dirty="0">
              <a:latin typeface="+mj-lt"/>
              <a:ea typeface="+mj-ea"/>
              <a:cs typeface="+mj-cs"/>
            </a:endParaRPr>
          </a:p>
        </p:txBody>
      </p:sp>
      <p:sp>
        <p:nvSpPr>
          <p:cNvPr id="914435" name="Rectangle 3">
            <a:extLst>
              <a:ext uri="{FF2B5EF4-FFF2-40B4-BE49-F238E27FC236}">
                <a16:creationId xmlns:a16="http://schemas.microsoft.com/office/drawing/2014/main" id="{D3C4A19C-9C3C-4989-43E8-6A059E386B67}"/>
              </a:ext>
            </a:extLst>
          </p:cNvPr>
          <p:cNvSpPr>
            <a:spLocks noGrp="1" noChangeArrowheads="1"/>
          </p:cNvSpPr>
          <p:nvPr>
            <p:ph type="body" idx="4294967295"/>
          </p:nvPr>
        </p:nvSpPr>
        <p:spPr>
          <a:xfrm>
            <a:off x="251520" y="1628800"/>
            <a:ext cx="8688003" cy="4860540"/>
          </a:xfrm>
        </p:spPr>
        <p:txBody>
          <a:bodyPr/>
          <a:lstStyle/>
          <a:p>
            <a:pPr>
              <a:spcBef>
                <a:spcPts val="1200"/>
              </a:spcBef>
              <a:buFont typeface="Wingdings" charset="2"/>
              <a:buNone/>
            </a:pPr>
            <a:r>
              <a:rPr lang="en-GB" sz="2300"/>
              <a:t>	</a:t>
            </a:r>
            <a:r>
              <a:rPr lang="en-US" sz="2300"/>
              <a:t>“’Tis this impression, then, or </a:t>
            </a:r>
            <a:r>
              <a:rPr lang="en-US" sz="2300" i="1">
                <a:solidFill>
                  <a:srgbClr val="FF7C80"/>
                </a:solidFill>
              </a:rPr>
              <a:t>determination</a:t>
            </a:r>
            <a:r>
              <a:rPr lang="en-US" sz="2300"/>
              <a:t>, which affords me the idea of necessity.” (</a:t>
            </a:r>
            <a:r>
              <a:rPr lang="en-US" sz="2300" i="1"/>
              <a:t>T</a:t>
            </a:r>
            <a:r>
              <a:rPr lang="en-US" sz="2300"/>
              <a:t> 1.3.14.1)</a:t>
            </a:r>
          </a:p>
          <a:p>
            <a:pPr>
              <a:spcBef>
                <a:spcPts val="1200"/>
              </a:spcBef>
              <a:buFont typeface="Wingdings" charset="2"/>
              <a:buNone/>
            </a:pPr>
            <a:r>
              <a:rPr lang="en-US" sz="2300"/>
              <a:t>	“Necessity, then, … is nothing but an internal impression of the mind, or </a:t>
            </a:r>
            <a:r>
              <a:rPr lang="en-US" sz="2300">
                <a:solidFill>
                  <a:srgbClr val="FF7C80"/>
                </a:solidFill>
              </a:rPr>
              <a:t>a determination to carry our thoughts from one object to another</a:t>
            </a:r>
            <a:r>
              <a:rPr lang="en-US" sz="2300"/>
              <a:t>.”  (</a:t>
            </a:r>
            <a:r>
              <a:rPr lang="en-US" sz="2300" i="1"/>
              <a:t>T</a:t>
            </a:r>
            <a:r>
              <a:rPr lang="en-US" sz="2300"/>
              <a:t> 1.3.14.20)</a:t>
            </a:r>
          </a:p>
          <a:p>
            <a:pPr>
              <a:spcBef>
                <a:spcPts val="1200"/>
              </a:spcBef>
              <a:buFont typeface="Wingdings" charset="2"/>
              <a:buNone/>
            </a:pPr>
            <a:r>
              <a:rPr lang="en-GB" sz="2300"/>
              <a:t>	“this </a:t>
            </a:r>
            <a:r>
              <a:rPr lang="en-GB" sz="2300" dirty="0">
                <a:solidFill>
                  <a:srgbClr val="FF7C80"/>
                </a:solidFill>
              </a:rPr>
              <a:t>customary transition of the imagination from one object to its usual attendant</a:t>
            </a:r>
            <a:r>
              <a:rPr lang="en-GB" sz="2300" dirty="0"/>
              <a:t>, is </a:t>
            </a:r>
            <a:r>
              <a:rPr lang="en-GB" sz="2300"/>
              <a:t>the sentiment or impression, from which we form the idea of power or necessary connexion” </a:t>
            </a:r>
            <a:r>
              <a:rPr lang="en-GB" sz="2300" dirty="0"/>
              <a:t>(</a:t>
            </a:r>
            <a:r>
              <a:rPr lang="en-GB" sz="2300" i="1"/>
              <a:t>E</a:t>
            </a:r>
            <a:r>
              <a:rPr lang="en-GB" sz="2300"/>
              <a:t> 7.28)</a:t>
            </a:r>
          </a:p>
          <a:p>
            <a:pPr>
              <a:spcBef>
                <a:spcPts val="1200"/>
              </a:spcBef>
              <a:buFont typeface="Wingdings" charset="2"/>
              <a:buNone/>
            </a:pPr>
            <a:r>
              <a:rPr lang="en-US" sz="2300"/>
              <a:t>	“We … </a:t>
            </a:r>
            <a:r>
              <a:rPr lang="en-US" sz="2300" i="1"/>
              <a:t>feel</a:t>
            </a:r>
            <a:r>
              <a:rPr lang="en-US" sz="2300"/>
              <a:t> a new sentiment or impression, to wit, a customary connexion in the thought … and this … is the original of that idea which we seek for … </a:t>
            </a:r>
            <a:r>
              <a:rPr lang="en-US" sz="2300">
                <a:solidFill>
                  <a:srgbClr val="FF7C80"/>
                </a:solidFill>
              </a:rPr>
              <a:t>this customary connexion or transition of the imagination</a:t>
            </a:r>
            <a:r>
              <a:rPr lang="en-US" sz="2300"/>
              <a:t>” (</a:t>
            </a:r>
            <a:r>
              <a:rPr lang="en-US" sz="2300" i="1"/>
              <a:t>E</a:t>
            </a:r>
            <a:r>
              <a:rPr lang="en-US" sz="2300"/>
              <a:t> 7.30)</a:t>
            </a:r>
            <a:endParaRPr lang="en-GB" sz="2300"/>
          </a:p>
          <a:p>
            <a:pPr>
              <a:spcBef>
                <a:spcPts val="1200"/>
              </a:spcBef>
              <a:buFont typeface="Wingdings" charset="2"/>
              <a:buNone/>
            </a:pPr>
            <a:r>
              <a:rPr lang="en-US" sz="2300"/>
              <a:t>	</a:t>
            </a:r>
          </a:p>
        </p:txBody>
      </p:sp>
    </p:spTree>
    <p:extLst>
      <p:ext uri="{BB962C8B-B14F-4D97-AF65-F5344CB8AC3E}">
        <p14:creationId xmlns:p14="http://schemas.microsoft.com/office/powerpoint/2010/main" val="3642268093"/>
      </p:ext>
    </p:extLst>
  </p:cSld>
  <p:clrMapOvr>
    <a:masterClrMapping/>
  </p:clrMapOvr>
  <p:transition spd="med">
    <p:cover/>
  </p:transition>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7ECCFBB-2DE3-457F-823F-53122EF08FAC}" type="slidenum">
              <a:rPr lang="en-US"/>
              <a:pPr/>
              <a:t>209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27432610-1F10-4E6C-BE42-0D1E69515864}" type="slidenum">
              <a:rPr lang="en-US" sz="1600">
                <a:effectLst>
                  <a:outerShdw blurRad="38100" dist="38100" dir="2700000" algn="tl">
                    <a:srgbClr val="000000"/>
                  </a:outerShdw>
                </a:effectLst>
                <a:ea typeface="ＭＳ Ｐゴシック" charset="-128"/>
              </a:rPr>
              <a:pPr eaLnBrk="1" hangingPunct="1"/>
              <a:t>209</a:t>
            </a:fld>
            <a:endParaRPr lang="en-US" sz="1600">
              <a:effectLst>
                <a:outerShdw blurRad="38100" dist="38100" dir="2700000" algn="tl">
                  <a:srgbClr val="000000"/>
                </a:outerShdw>
              </a:effectLst>
              <a:ea typeface="ＭＳ Ｐゴシック" charset="-128"/>
            </a:endParaRPr>
          </a:p>
        </p:txBody>
      </p:sp>
      <p:sp>
        <p:nvSpPr>
          <p:cNvPr id="916482" name="Rectangle 2"/>
          <p:cNvSpPr>
            <a:spLocks noGrp="1" noChangeArrowheads="1"/>
          </p:cNvSpPr>
          <p:nvPr>
            <p:ph type="title" idx="4294967295"/>
          </p:nvPr>
        </p:nvSpPr>
        <p:spPr>
          <a:xfrm>
            <a:off x="482860" y="152636"/>
            <a:ext cx="8229600" cy="612068"/>
          </a:xfrm>
        </p:spPr>
        <p:txBody>
          <a:bodyPr/>
          <a:lstStyle/>
          <a:p>
            <a:pPr>
              <a:defRPr/>
            </a:pPr>
            <a:r>
              <a:rPr lang="en-GB" sz="4000">
                <a:latin typeface="+mj-lt"/>
                <a:ea typeface="+mj-ea"/>
                <a:cs typeface="+mj-cs"/>
              </a:rPr>
              <a:t>Reflective </a:t>
            </a:r>
            <a:r>
              <a:rPr lang="en-GB" sz="4000" dirty="0">
                <a:latin typeface="+mj-lt"/>
                <a:ea typeface="+mj-ea"/>
                <a:cs typeface="+mj-cs"/>
              </a:rPr>
              <a:t>Awareness </a:t>
            </a:r>
            <a:r>
              <a:rPr lang="en-GB" sz="4000">
                <a:latin typeface="+mj-lt"/>
                <a:ea typeface="+mj-ea"/>
                <a:cs typeface="+mj-cs"/>
              </a:rPr>
              <a:t>of Inference?</a:t>
            </a:r>
            <a:endParaRPr lang="en-GB" sz="4000" dirty="0">
              <a:latin typeface="+mj-lt"/>
              <a:ea typeface="+mj-ea"/>
              <a:cs typeface="+mj-cs"/>
            </a:endParaRPr>
          </a:p>
        </p:txBody>
      </p:sp>
      <p:sp>
        <p:nvSpPr>
          <p:cNvPr id="916483" name="Rectangle 3"/>
          <p:cNvSpPr>
            <a:spLocks noGrp="1" noChangeArrowheads="1"/>
          </p:cNvSpPr>
          <p:nvPr>
            <p:ph type="body" idx="4294967295"/>
          </p:nvPr>
        </p:nvSpPr>
        <p:spPr>
          <a:xfrm>
            <a:off x="719572" y="908720"/>
            <a:ext cx="8136904" cy="5760640"/>
          </a:xfrm>
        </p:spPr>
        <p:txBody>
          <a:bodyPr/>
          <a:lstStyle/>
          <a:p>
            <a:r>
              <a:rPr lang="en-GB" sz="2500"/>
              <a:t>If Hume had in mind Lockean </a:t>
            </a:r>
            <a:r>
              <a:rPr lang="en-GB" sz="2500" dirty="0"/>
              <a:t>“</a:t>
            </a:r>
            <a:r>
              <a:rPr lang="en-GB" sz="2500"/>
              <a:t>reflection” – internal </a:t>
            </a:r>
            <a:r>
              <a:rPr lang="en-GB" sz="2500" i="1" dirty="0"/>
              <a:t>monitoring</a:t>
            </a:r>
            <a:r>
              <a:rPr lang="en-GB" sz="2500" dirty="0"/>
              <a:t> </a:t>
            </a:r>
            <a:r>
              <a:rPr lang="en-GB" sz="2500"/>
              <a:t>of mental activity</a:t>
            </a:r>
            <a:r>
              <a:rPr lang="en-GB" sz="2500" i="1"/>
              <a:t> </a:t>
            </a:r>
            <a:r>
              <a:rPr lang="en-GB" sz="2500"/>
              <a:t>(as hinted by </a:t>
            </a:r>
            <a:r>
              <a:rPr lang="en-GB" sz="2500" i="1"/>
              <a:t>E</a:t>
            </a:r>
            <a:r>
              <a:rPr lang="en-GB" sz="2500"/>
              <a:t> 1.13-14, 7.9), rather </a:t>
            </a:r>
            <a:r>
              <a:rPr lang="en-GB" sz="2500" dirty="0"/>
              <a:t>than </a:t>
            </a:r>
            <a:r>
              <a:rPr lang="en-GB" sz="2500"/>
              <a:t>literal </a:t>
            </a:r>
            <a:r>
              <a:rPr lang="en-GB" sz="2500" i="1"/>
              <a:t>feeling</a:t>
            </a:r>
            <a:r>
              <a:rPr lang="en-GB" sz="2500"/>
              <a:t> – then his “impression” could be our </a:t>
            </a:r>
            <a:r>
              <a:rPr lang="en-GB" sz="2500" i="1"/>
              <a:t>awareness</a:t>
            </a:r>
            <a:r>
              <a:rPr lang="en-GB" sz="2500"/>
              <a:t> of making causal inferences.</a:t>
            </a:r>
            <a:endParaRPr lang="en-GB" sz="2500" dirty="0"/>
          </a:p>
          <a:p>
            <a:pPr>
              <a:spcBef>
                <a:spcPts val="1200"/>
              </a:spcBef>
            </a:pPr>
            <a:r>
              <a:rPr lang="en-GB" sz="2500"/>
              <a:t>This would fit with the idea that mental </a:t>
            </a:r>
            <a:r>
              <a:rPr lang="en-GB" sz="2500" i="1"/>
              <a:t>inference</a:t>
            </a:r>
            <a:r>
              <a:rPr lang="en-GB" sz="2500"/>
              <a:t> is the only form of genuine </a:t>
            </a:r>
            <a:r>
              <a:rPr lang="en-GB" sz="2500" i="1"/>
              <a:t>consequentiality</a:t>
            </a:r>
            <a:r>
              <a:rPr lang="en-GB" sz="2500"/>
              <a:t> of which we can be intimately aware: “</a:t>
            </a:r>
            <a:r>
              <a:rPr lang="en-GB" sz="2500" dirty="0">
                <a:solidFill>
                  <a:srgbClr val="FF7C80"/>
                </a:solidFill>
              </a:rPr>
              <a:t>that inference of the understanding, which is the only connexion, that we can have any comprehension of</a:t>
            </a:r>
            <a:r>
              <a:rPr lang="en-GB" sz="2500" dirty="0"/>
              <a:t>” (</a:t>
            </a:r>
            <a:r>
              <a:rPr lang="en-GB" sz="2500" i="1" dirty="0"/>
              <a:t>E</a:t>
            </a:r>
            <a:r>
              <a:rPr lang="en-GB" sz="2500" dirty="0"/>
              <a:t> 8.25)</a:t>
            </a:r>
            <a:endParaRPr lang="en-US" sz="2500" dirty="0"/>
          </a:p>
          <a:p>
            <a:pPr>
              <a:spcBef>
                <a:spcPts val="1200"/>
              </a:spcBef>
            </a:pPr>
            <a:r>
              <a:rPr lang="en-GB" sz="2500"/>
              <a:t>This ingeniously finds the source of our consequential thinking about </a:t>
            </a:r>
            <a:r>
              <a:rPr lang="en-GB" sz="2500" i="1"/>
              <a:t>causation </a:t>
            </a:r>
            <a:r>
              <a:rPr lang="en-GB" sz="2500"/>
              <a:t>in our own </a:t>
            </a:r>
            <a:r>
              <a:rPr lang="en-GB" sz="2500" i="1"/>
              <a:t>inferential</a:t>
            </a:r>
            <a:r>
              <a:rPr lang="en-GB" sz="2500"/>
              <a:t> behav-iour.  When Hume calls his impression a “feeling”, he is probably being misled by his pervasive assumption that all “impressions of reflection” are feelings.</a:t>
            </a:r>
            <a:endParaRPr lang="en-GB" sz="2500" dirty="0"/>
          </a:p>
        </p:txBody>
      </p:sp>
    </p:spTree>
    <p:extLst>
      <p:ext uri="{BB962C8B-B14F-4D97-AF65-F5344CB8AC3E}">
        <p14:creationId xmlns:p14="http://schemas.microsoft.com/office/powerpoint/2010/main" val="748100506"/>
      </p:ext>
    </p:extLst>
  </p:cSld>
  <p:clrMapOvr>
    <a:masterClrMapping/>
  </p:clrMapOvr>
  <p:transition spd="med">
    <p:cover/>
  </p:transition>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5D61E50-3275-48E9-A89C-46FBB66883C5}" type="slidenum">
              <a:rPr lang="en-US"/>
              <a:pPr/>
              <a:t>210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10BCA95-AEDE-4C09-9B4F-4B8FAC7F64DD}" type="slidenum">
              <a:rPr lang="en-US" sz="1600">
                <a:effectLst>
                  <a:outerShdw blurRad="38100" dist="38100" dir="2700000" algn="tl">
                    <a:srgbClr val="000000"/>
                  </a:outerShdw>
                </a:effectLst>
                <a:ea typeface="ＭＳ Ｐゴシック" charset="-128"/>
              </a:rPr>
              <a:pPr eaLnBrk="1" hangingPunct="1"/>
              <a:t>210</a:t>
            </a:fld>
            <a:endParaRPr lang="en-US" sz="1600">
              <a:effectLst>
                <a:outerShdw blurRad="38100" dist="38100" dir="2700000" algn="tl">
                  <a:srgbClr val="000000"/>
                </a:outerShdw>
              </a:effectLst>
              <a:ea typeface="ＭＳ Ｐゴシック" charset="-128"/>
            </a:endParaRPr>
          </a:p>
        </p:txBody>
      </p:sp>
      <p:sp>
        <p:nvSpPr>
          <p:cNvPr id="675843" name="Rectangle 3"/>
          <p:cNvSpPr>
            <a:spLocks noGrp="1" noChangeArrowheads="1"/>
          </p:cNvSpPr>
          <p:nvPr>
            <p:ph type="body" idx="4294967295"/>
          </p:nvPr>
        </p:nvSpPr>
        <p:spPr>
          <a:xfrm>
            <a:off x="287524" y="1016732"/>
            <a:ext cx="8676964" cy="5688632"/>
          </a:xfrm>
        </p:spPr>
        <p:txBody>
          <a:bodyPr/>
          <a:lstStyle/>
          <a:p>
            <a:pPr>
              <a:spcBef>
                <a:spcPts val="1200"/>
              </a:spcBef>
            </a:pPr>
            <a:r>
              <a:rPr lang="en-GB" sz="2700"/>
              <a:t>Awareness of </a:t>
            </a:r>
            <a:r>
              <a:rPr lang="en-GB" sz="2700" i="1"/>
              <a:t>inference</a:t>
            </a:r>
            <a:r>
              <a:rPr lang="en-GB" sz="2700"/>
              <a:t>, rather than a </a:t>
            </a:r>
            <a:r>
              <a:rPr lang="en-GB" sz="2700" i="1"/>
              <a:t>feeling</a:t>
            </a:r>
            <a:r>
              <a:rPr lang="en-GB" sz="2700"/>
              <a:t>, helps to explain why Hume’s own candidate “impression” is not rejected for failing to satisfy his “Key Move” (i.e. yielding demonstrative causal knowledge </a:t>
            </a:r>
            <a:r>
              <a:rPr lang="en-GB" sz="2700" i="1"/>
              <a:t>a priori</a:t>
            </a:r>
            <a:r>
              <a:rPr lang="en-GB" sz="2700"/>
              <a:t>).</a:t>
            </a:r>
          </a:p>
          <a:p>
            <a:pPr>
              <a:spcBef>
                <a:spcPts val="1200"/>
              </a:spcBef>
            </a:pPr>
            <a:r>
              <a:rPr lang="en-GB" sz="2700"/>
              <a:t>The Key </a:t>
            </a:r>
            <a:r>
              <a:rPr lang="en-GB" sz="2700" dirty="0"/>
              <a:t>M</a:t>
            </a:r>
            <a:r>
              <a:rPr lang="en-GB" sz="2700"/>
              <a:t>ove </a:t>
            </a:r>
            <a:r>
              <a:rPr lang="en-GB" sz="2700" dirty="0"/>
              <a:t>occurs only in the first part of Hume’s argument,</a:t>
            </a:r>
            <a:r>
              <a:rPr lang="en-GB" sz="2700" i="1" dirty="0"/>
              <a:t> </a:t>
            </a:r>
            <a:r>
              <a:rPr lang="en-GB" sz="2700" i="1" dirty="0">
                <a:solidFill>
                  <a:srgbClr val="FF9999"/>
                </a:solidFill>
              </a:rPr>
              <a:t>before</a:t>
            </a:r>
            <a:r>
              <a:rPr lang="en-GB" sz="2700" dirty="0">
                <a:solidFill>
                  <a:srgbClr val="FF9999"/>
                </a:solidFill>
              </a:rPr>
              <a:t> he has considered </a:t>
            </a:r>
            <a:r>
              <a:rPr lang="en-GB" sz="2700" i="1" dirty="0">
                <a:solidFill>
                  <a:srgbClr val="FF9999"/>
                </a:solidFill>
              </a:rPr>
              <a:t>repetition</a:t>
            </a:r>
            <a:r>
              <a:rPr lang="en-GB" sz="2700" dirty="0"/>
              <a:t> (and</a:t>
            </a:r>
            <a:r>
              <a:rPr lang="en-GB" sz="2700" i="1" dirty="0"/>
              <a:t> </a:t>
            </a:r>
            <a:r>
              <a:rPr lang="en-GB" sz="2700" dirty="0"/>
              <a:t>thus</a:t>
            </a:r>
            <a:r>
              <a:rPr lang="en-GB" sz="2700" i="1" dirty="0"/>
              <a:t> </a:t>
            </a:r>
            <a:r>
              <a:rPr lang="en-GB" sz="2700"/>
              <a:t>identified his own “impression” </a:t>
            </a:r>
            <a:r>
              <a:rPr lang="en-GB" sz="2700" dirty="0"/>
              <a:t>of necessity).</a:t>
            </a:r>
          </a:p>
          <a:p>
            <a:pPr lvl="1">
              <a:spcBef>
                <a:spcPts val="900"/>
              </a:spcBef>
            </a:pPr>
            <a:r>
              <a:rPr lang="en-GB" sz="2400"/>
              <a:t>Hume’s </a:t>
            </a:r>
            <a:r>
              <a:rPr lang="en-GB" sz="2400" dirty="0"/>
              <a:t>use of the </a:t>
            </a:r>
            <a:r>
              <a:rPr lang="en-GB" sz="2400"/>
              <a:t>criterion makes sense there given his  </a:t>
            </a:r>
            <a:r>
              <a:rPr lang="en-GB" sz="2400" dirty="0"/>
              <a:t>standard assumption (e.g. </a:t>
            </a:r>
            <a:r>
              <a:rPr lang="en-GB" sz="2400" i="1" dirty="0"/>
              <a:t>T</a:t>
            </a:r>
            <a:r>
              <a:rPr lang="en-GB" sz="2400" dirty="0"/>
              <a:t> 1.3.6.1, </a:t>
            </a:r>
            <a:r>
              <a:rPr lang="en-GB" sz="2400" i="1" dirty="0"/>
              <a:t>A </a:t>
            </a:r>
            <a:r>
              <a:rPr lang="en-GB" sz="2400"/>
              <a:t>11, </a:t>
            </a:r>
            <a:r>
              <a:rPr lang="en-GB" sz="2400" i="1"/>
              <a:t>E</a:t>
            </a:r>
            <a:r>
              <a:rPr lang="en-GB" sz="2400"/>
              <a:t> </a:t>
            </a:r>
            <a:r>
              <a:rPr lang="en-GB" sz="2400" dirty="0"/>
              <a:t>4.18) that </a:t>
            </a:r>
            <a:r>
              <a:rPr lang="en-GB" sz="2400" dirty="0">
                <a:solidFill>
                  <a:srgbClr val="FF9999"/>
                </a:solidFill>
              </a:rPr>
              <a:t>any legitimate inference </a:t>
            </a:r>
            <a:r>
              <a:rPr lang="en-GB" sz="2400" i="1" dirty="0">
                <a:solidFill>
                  <a:srgbClr val="FF9999"/>
                </a:solidFill>
              </a:rPr>
              <a:t>prior to </a:t>
            </a:r>
            <a:r>
              <a:rPr lang="en-GB" sz="2400" i="1">
                <a:solidFill>
                  <a:srgbClr val="FF9999"/>
                </a:solidFill>
              </a:rPr>
              <a:t>experience</a:t>
            </a:r>
            <a:r>
              <a:rPr lang="en-GB" sz="2400">
                <a:solidFill>
                  <a:srgbClr val="FF9999"/>
                </a:solidFill>
              </a:rPr>
              <a:t> </a:t>
            </a:r>
            <a:r>
              <a:rPr lang="en-GB" sz="2400"/>
              <a:t>(e.g. from observing </a:t>
            </a:r>
            <a:r>
              <a:rPr lang="en-GB" sz="2400" dirty="0"/>
              <a:t>a </a:t>
            </a:r>
            <a:r>
              <a:rPr lang="en-GB" sz="2400"/>
              <a:t>single </a:t>
            </a:r>
            <a:r>
              <a:rPr lang="en-GB" sz="2400" i="1"/>
              <a:t>A</a:t>
            </a:r>
            <a:r>
              <a:rPr lang="en-GB" sz="2400"/>
              <a:t>) </a:t>
            </a:r>
            <a:r>
              <a:rPr lang="en-GB" sz="2400" dirty="0">
                <a:solidFill>
                  <a:srgbClr val="FF9999"/>
                </a:solidFill>
              </a:rPr>
              <a:t>must </a:t>
            </a:r>
            <a:r>
              <a:rPr lang="en-GB" sz="2400">
                <a:solidFill>
                  <a:srgbClr val="FF9999"/>
                </a:solidFill>
              </a:rPr>
              <a:t>yield demonstrative certainty</a:t>
            </a:r>
            <a:r>
              <a:rPr lang="en-GB" sz="2400"/>
              <a:t>.</a:t>
            </a:r>
          </a:p>
          <a:p>
            <a:pPr lvl="1">
              <a:spcBef>
                <a:spcPts val="900"/>
              </a:spcBef>
            </a:pPr>
            <a:r>
              <a:rPr lang="en-GB" sz="2400"/>
              <a:t>Once repetition is observed, the causal inference from</a:t>
            </a:r>
            <a:br>
              <a:rPr lang="en-GB" sz="2400"/>
            </a:br>
            <a:r>
              <a:rPr lang="en-GB" sz="2400" i="1"/>
              <a:t>A</a:t>
            </a:r>
            <a:r>
              <a:rPr lang="en-GB" sz="2400"/>
              <a:t> to </a:t>
            </a:r>
            <a:r>
              <a:rPr lang="en-GB" sz="2400" i="1"/>
              <a:t>B</a:t>
            </a:r>
            <a:r>
              <a:rPr lang="en-GB" sz="2400"/>
              <a:t> is made through custom, and is no longer </a:t>
            </a:r>
            <a:r>
              <a:rPr lang="en-GB" sz="2400" i="1"/>
              <a:t>a priori</a:t>
            </a:r>
            <a:r>
              <a:rPr lang="en-GB" sz="2400"/>
              <a:t>.</a:t>
            </a:r>
            <a:endParaRPr lang="en-GB" sz="2400" dirty="0"/>
          </a:p>
        </p:txBody>
      </p:sp>
      <p:sp>
        <p:nvSpPr>
          <p:cNvPr id="2" name="Rectangle 2">
            <a:extLst>
              <a:ext uri="{FF2B5EF4-FFF2-40B4-BE49-F238E27FC236}">
                <a16:creationId xmlns:a16="http://schemas.microsoft.com/office/drawing/2014/main" id="{405D8C6A-C00D-853C-4D09-E833DCF97114}"/>
              </a:ext>
            </a:extLst>
          </p:cNvPr>
          <p:cNvSpPr txBox="1">
            <a:spLocks noChangeArrowheads="1"/>
          </p:cNvSpPr>
          <p:nvPr/>
        </p:nvSpPr>
        <p:spPr bwMode="auto">
          <a:xfrm>
            <a:off x="457200" y="152636"/>
            <a:ext cx="8229600" cy="61206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GB" sz="4000" kern="0"/>
              <a:t>What Happened to the Key Move?</a:t>
            </a:r>
            <a:endParaRPr lang="en-GB" sz="4000" kern="0" dirty="0"/>
          </a:p>
        </p:txBody>
      </p:sp>
    </p:spTree>
    <p:extLst>
      <p:ext uri="{BB962C8B-B14F-4D97-AF65-F5344CB8AC3E}">
        <p14:creationId xmlns:p14="http://schemas.microsoft.com/office/powerpoint/2010/main" val="101974569"/>
      </p:ext>
    </p:extLst>
  </p:cSld>
  <p:clrMapOvr>
    <a:masterClrMapping/>
  </p:clrMapOvr>
  <p:transition spd="med">
    <p:cover/>
  </p:transition>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CA474-2C34-8BD4-C027-76738BF2EDF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E68FED13-7F9C-17F1-55C5-DD3C218A04D7}"/>
              </a:ext>
            </a:extLst>
          </p:cNvPr>
          <p:cNvSpPr>
            <a:spLocks noGrp="1" noChangeArrowheads="1"/>
          </p:cNvSpPr>
          <p:nvPr>
            <p:ph type="ctrTitle"/>
          </p:nvPr>
        </p:nvSpPr>
        <p:spPr>
          <a:xfrm>
            <a:off x="179388" y="296863"/>
            <a:ext cx="4608512" cy="6300787"/>
          </a:xfrm>
        </p:spPr>
        <p:txBody>
          <a:bodyPr/>
          <a:lstStyle/>
          <a:p>
            <a:r>
              <a:rPr lang="en-GB"/>
              <a:t>5(</a:t>
            </a:r>
            <a:r>
              <a:rPr lang="en-GB" dirty="0"/>
              <a:t>c</a:t>
            </a:r>
            <a:r>
              <a:rPr lang="en-GB"/>
              <a:t>)</a:t>
            </a:r>
            <a:br>
              <a:rPr lang="en-GB" dirty="0"/>
            </a:br>
            <a:br>
              <a:rPr lang="en-GB"/>
            </a:br>
            <a:r>
              <a:rPr lang="en-GB"/>
              <a:t>The Two Definitions of Cause and of Necessity</a:t>
            </a:r>
            <a:endParaRPr lang="en-US" dirty="0"/>
          </a:p>
        </p:txBody>
      </p:sp>
      <p:pic>
        <p:nvPicPr>
          <p:cNvPr id="847875" name="Picture 3" descr="treatise1">
            <a:extLst>
              <a:ext uri="{FF2B5EF4-FFF2-40B4-BE49-F238E27FC236}">
                <a16:creationId xmlns:a16="http://schemas.microsoft.com/office/drawing/2014/main" id="{1D37EB9B-8620-375C-2FAF-026611109C2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266587088"/>
      </p:ext>
    </p:extLst>
  </p:cSld>
  <p:clrMapOvr>
    <a:masterClrMapping/>
  </p:clrMapOvr>
  <p:transition spd="med">
    <p:cover/>
  </p:transition>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502B1-9D4A-9D2E-F72A-8DDD99D682D9}"/>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96C4474-30B8-98A0-4A4E-8123BE31FBEB}"/>
              </a:ext>
            </a:extLst>
          </p:cNvPr>
          <p:cNvSpPr>
            <a:spLocks noGrp="1"/>
          </p:cNvSpPr>
          <p:nvPr>
            <p:ph type="sldNum" sz="quarter" idx="10"/>
          </p:nvPr>
        </p:nvSpPr>
        <p:spPr/>
        <p:txBody>
          <a:bodyPr/>
          <a:lstStyle/>
          <a:p>
            <a:fld id="{858AF360-1768-4917-9245-CF9F5DE98ED1}" type="slidenum">
              <a:rPr lang="en-US"/>
              <a:pPr/>
              <a:t>212</a:t>
            </a:fld>
            <a:endParaRPr lang="en-US"/>
          </a:p>
        </p:txBody>
      </p:sp>
      <p:sp>
        <p:nvSpPr>
          <p:cNvPr id="4" name="Slide Number Placeholder 3">
            <a:extLst>
              <a:ext uri="{FF2B5EF4-FFF2-40B4-BE49-F238E27FC236}">
                <a16:creationId xmlns:a16="http://schemas.microsoft.com/office/drawing/2014/main" id="{90E64B43-310C-235B-CD51-216BA26AB71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212</a:t>
            </a:fld>
            <a:endParaRPr lang="en-US" sz="1600">
              <a:effectLst>
                <a:outerShdw blurRad="38100" dist="38100" dir="2700000" algn="tl">
                  <a:srgbClr val="000000"/>
                </a:outerShdw>
              </a:effectLst>
              <a:ea typeface="ＭＳ Ｐゴシック" charset="-128"/>
            </a:endParaRPr>
          </a:p>
        </p:txBody>
      </p:sp>
      <p:sp>
        <p:nvSpPr>
          <p:cNvPr id="922626" name="Rectangle 2">
            <a:extLst>
              <a:ext uri="{FF2B5EF4-FFF2-40B4-BE49-F238E27FC236}">
                <a16:creationId xmlns:a16="http://schemas.microsoft.com/office/drawing/2014/main" id="{7DC9E620-1A91-0DDD-3BC6-580F15695E92}"/>
              </a:ext>
            </a:extLst>
          </p:cNvPr>
          <p:cNvSpPr>
            <a:spLocks noGrp="1" noChangeArrowheads="1"/>
          </p:cNvSpPr>
          <p:nvPr>
            <p:ph type="title" idx="4294967295"/>
          </p:nvPr>
        </p:nvSpPr>
        <p:spPr>
          <a:xfrm>
            <a:off x="457200" y="152636"/>
            <a:ext cx="8229600" cy="774923"/>
          </a:xfrm>
        </p:spPr>
        <p:txBody>
          <a:bodyPr/>
          <a:lstStyle/>
          <a:p>
            <a:r>
              <a:rPr lang="en-GB" dirty="0"/>
              <a:t>Two “Definitions of Cause”</a:t>
            </a:r>
          </a:p>
        </p:txBody>
      </p:sp>
      <p:sp>
        <p:nvSpPr>
          <p:cNvPr id="922627" name="Rectangle 3">
            <a:extLst>
              <a:ext uri="{FF2B5EF4-FFF2-40B4-BE49-F238E27FC236}">
                <a16:creationId xmlns:a16="http://schemas.microsoft.com/office/drawing/2014/main" id="{97B0255E-F614-8737-883D-8400E686C620}"/>
              </a:ext>
            </a:extLst>
          </p:cNvPr>
          <p:cNvSpPr>
            <a:spLocks noGrp="1" noChangeArrowheads="1"/>
          </p:cNvSpPr>
          <p:nvPr>
            <p:ph type="body" idx="4294967295"/>
          </p:nvPr>
        </p:nvSpPr>
        <p:spPr>
          <a:xfrm>
            <a:off x="662880" y="1160749"/>
            <a:ext cx="8229600" cy="5400600"/>
          </a:xfrm>
        </p:spPr>
        <p:txBody>
          <a:bodyPr/>
          <a:lstStyle/>
          <a:p>
            <a:r>
              <a:rPr lang="en-GB" sz="2800"/>
              <a:t>Hume’s discussions of “the idea of necessary connexion” both famously culminate with his paired definitions (at </a:t>
            </a:r>
            <a:r>
              <a:rPr lang="en-GB" sz="2800" i="1"/>
              <a:t>T </a:t>
            </a:r>
            <a:r>
              <a:rPr lang="en-GB" sz="2800"/>
              <a:t>1.3.14.31 and </a:t>
            </a:r>
            <a:r>
              <a:rPr lang="en-GB" sz="2800" i="1"/>
              <a:t>E</a:t>
            </a:r>
            <a:r>
              <a:rPr lang="en-GB" sz="2800"/>
              <a:t> 7.29) .</a:t>
            </a:r>
          </a:p>
          <a:p>
            <a:pPr lvl="1">
              <a:spcBef>
                <a:spcPts val="900"/>
              </a:spcBef>
            </a:pPr>
            <a:r>
              <a:rPr lang="en-GB" sz="2500"/>
              <a:t>The first definition is based on </a:t>
            </a:r>
            <a:r>
              <a:rPr lang="en-GB" sz="2500" i="1"/>
              <a:t>regular succession</a:t>
            </a:r>
            <a:r>
              <a:rPr lang="en-GB" sz="2500"/>
              <a:t> of the “cause” </a:t>
            </a:r>
            <a:r>
              <a:rPr lang="en-GB" sz="2500" i="1"/>
              <a:t>A</a:t>
            </a:r>
            <a:r>
              <a:rPr lang="en-GB" sz="2500"/>
              <a:t> followed by “effect” </a:t>
            </a:r>
            <a:r>
              <a:rPr lang="en-GB" sz="2500" i="1"/>
              <a:t>B</a:t>
            </a:r>
            <a:r>
              <a:rPr lang="en-GB" sz="2500"/>
              <a:t> (plus contiguity in the </a:t>
            </a:r>
            <a:r>
              <a:rPr lang="en-GB" sz="2500" i="1"/>
              <a:t>Treatise</a:t>
            </a:r>
            <a:r>
              <a:rPr lang="en-GB" sz="2500"/>
              <a:t>).</a:t>
            </a:r>
          </a:p>
          <a:p>
            <a:pPr lvl="1">
              <a:spcBef>
                <a:spcPts val="900"/>
              </a:spcBef>
            </a:pPr>
            <a:r>
              <a:rPr lang="en-GB" sz="2500"/>
              <a:t>The second definition is based on the mind’s tendency to </a:t>
            </a:r>
            <a:r>
              <a:rPr lang="en-GB" sz="2500" i="1"/>
              <a:t>infer</a:t>
            </a:r>
            <a:r>
              <a:rPr lang="en-GB" sz="2500"/>
              <a:t> </a:t>
            </a:r>
            <a:r>
              <a:rPr lang="en-GB" sz="2500" i="1"/>
              <a:t>B</a:t>
            </a:r>
            <a:r>
              <a:rPr lang="en-GB" sz="2500"/>
              <a:t> from </a:t>
            </a:r>
            <a:r>
              <a:rPr lang="en-GB" sz="2500" i="1"/>
              <a:t>A</a:t>
            </a:r>
            <a:r>
              <a:rPr lang="en-GB" sz="2500"/>
              <a:t>.</a:t>
            </a:r>
          </a:p>
          <a:p>
            <a:r>
              <a:rPr lang="en-GB" sz="2800"/>
              <a:t>Note that “a cause” here is a </a:t>
            </a:r>
            <a:r>
              <a:rPr lang="en-GB" sz="2800" i="1"/>
              <a:t>specific “</a:t>
            </a:r>
            <a:r>
              <a:rPr lang="en-GB" sz="2800"/>
              <a:t>object” (e.g. an instance of </a:t>
            </a:r>
            <a:r>
              <a:rPr lang="en-GB" sz="2800" i="1"/>
              <a:t>A</a:t>
            </a:r>
            <a:r>
              <a:rPr lang="en-GB" sz="2800"/>
              <a:t>), but that its being a cause depends on the </a:t>
            </a:r>
            <a:r>
              <a:rPr lang="en-GB" sz="2800" i="1"/>
              <a:t>regular sequence</a:t>
            </a:r>
            <a:r>
              <a:rPr lang="en-GB" sz="2800"/>
              <a:t> of </a:t>
            </a:r>
            <a:r>
              <a:rPr lang="en-GB" sz="2800" i="1"/>
              <a:t>A</a:t>
            </a:r>
            <a:r>
              <a:rPr lang="en-GB" sz="2800"/>
              <a:t>’s and </a:t>
            </a:r>
            <a:r>
              <a:rPr lang="en-GB" sz="2800" i="1"/>
              <a:t>B</a:t>
            </a:r>
            <a:r>
              <a:rPr lang="en-GB" sz="2800"/>
              <a:t>’s (hence on objects “foreign to the cause”).</a:t>
            </a:r>
            <a:endParaRPr lang="en-GB" sz="2800" dirty="0"/>
          </a:p>
        </p:txBody>
      </p:sp>
    </p:spTree>
    <p:extLst>
      <p:ext uri="{BB962C8B-B14F-4D97-AF65-F5344CB8AC3E}">
        <p14:creationId xmlns:p14="http://schemas.microsoft.com/office/powerpoint/2010/main" val="1987745011"/>
      </p:ext>
    </p:extLst>
  </p:cSld>
  <p:clrMapOvr>
    <a:masterClrMapping/>
  </p:clrMapOvr>
  <p:transition spd="med">
    <p:cover/>
  </p:transition>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B7154-A66E-824E-32E5-A008A39889E6}"/>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F9C6AAA0-B1A5-FBBF-8AB7-AC504B15B9D8}"/>
              </a:ext>
            </a:extLst>
          </p:cNvPr>
          <p:cNvSpPr>
            <a:spLocks noGrp="1"/>
          </p:cNvSpPr>
          <p:nvPr>
            <p:ph type="sldNum" sz="quarter" idx="10"/>
          </p:nvPr>
        </p:nvSpPr>
        <p:spPr/>
        <p:txBody>
          <a:bodyPr/>
          <a:lstStyle/>
          <a:p>
            <a:fld id="{B4F74643-E7DD-4ED0-9C3D-37EC392EB4A0}" type="slidenum">
              <a:rPr lang="en-US"/>
              <a:pPr/>
              <a:t>213</a:t>
            </a:fld>
            <a:endParaRPr lang="en-US"/>
          </a:p>
        </p:txBody>
      </p:sp>
      <p:sp>
        <p:nvSpPr>
          <p:cNvPr id="3" name="Slide Number Placeholder 3">
            <a:extLst>
              <a:ext uri="{FF2B5EF4-FFF2-40B4-BE49-F238E27FC236}">
                <a16:creationId xmlns:a16="http://schemas.microsoft.com/office/drawing/2014/main" id="{E56D8F65-0909-349F-51C4-2D44AB89CB1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3072F06F-7013-4447-9AFE-6796654582B3}" type="slidenum">
              <a:rPr lang="en-US" sz="1600">
                <a:effectLst>
                  <a:outerShdw blurRad="38100" dist="38100" dir="2700000" algn="tl">
                    <a:srgbClr val="000000"/>
                  </a:outerShdw>
                </a:effectLst>
                <a:ea typeface="ＭＳ Ｐゴシック" charset="-128"/>
              </a:rPr>
              <a:pPr eaLnBrk="1" hangingPunct="1"/>
              <a:t>213</a:t>
            </a:fld>
            <a:endParaRPr lang="en-US" sz="1600">
              <a:effectLst>
                <a:outerShdw blurRad="38100" dist="38100" dir="2700000" algn="tl">
                  <a:srgbClr val="000000"/>
                </a:outerShdw>
              </a:effectLst>
              <a:ea typeface="ＭＳ Ｐゴシック" charset="-128"/>
            </a:endParaRPr>
          </a:p>
        </p:txBody>
      </p:sp>
      <p:sp>
        <p:nvSpPr>
          <p:cNvPr id="923650" name="Rectangle 2">
            <a:extLst>
              <a:ext uri="{FF2B5EF4-FFF2-40B4-BE49-F238E27FC236}">
                <a16:creationId xmlns:a16="http://schemas.microsoft.com/office/drawing/2014/main" id="{57E7E3B9-3620-C9EB-4153-6EEB6E21FEFE}"/>
              </a:ext>
            </a:extLst>
          </p:cNvPr>
          <p:cNvSpPr>
            <a:spLocks noGrp="1" noChangeArrowheads="1"/>
          </p:cNvSpPr>
          <p:nvPr>
            <p:ph type="body" idx="4294967295"/>
          </p:nvPr>
        </p:nvSpPr>
        <p:spPr>
          <a:xfrm>
            <a:off x="539552" y="224645"/>
            <a:ext cx="8244916" cy="6552728"/>
          </a:xfrm>
        </p:spPr>
        <p:txBody>
          <a:bodyPr/>
          <a:lstStyle/>
          <a:p>
            <a:pPr>
              <a:spcBef>
                <a:spcPts val="1200"/>
              </a:spcBef>
              <a:buFont typeface="Wingdings" charset="2"/>
              <a:buNone/>
            </a:pPr>
            <a:r>
              <a:rPr lang="en-GB" sz="2300" dirty="0"/>
              <a:t>	“There may two definitions be given of this relation, which are only different, by their presenting a different view of the same object …  </a:t>
            </a:r>
            <a:r>
              <a:rPr lang="en-GB" sz="2300" dirty="0">
                <a:solidFill>
                  <a:srgbClr val="FF9999"/>
                </a:solidFill>
              </a:rPr>
              <a:t>We may define a CAUSE to be ‘</a:t>
            </a:r>
            <a:r>
              <a:rPr lang="en-GB" sz="2300" u="sng" dirty="0">
                <a:solidFill>
                  <a:srgbClr val="FF9999"/>
                </a:solidFill>
              </a:rPr>
              <a:t>An object precedent and contiguous to another, and where all the objects resembling the former are </a:t>
            </a:r>
            <a:r>
              <a:rPr lang="en-GB" sz="2300" u="sng" dirty="0" err="1">
                <a:solidFill>
                  <a:srgbClr val="FF9999"/>
                </a:solidFill>
              </a:rPr>
              <a:t>plac’d</a:t>
            </a:r>
            <a:r>
              <a:rPr lang="en-GB" sz="2300" u="sng" dirty="0">
                <a:solidFill>
                  <a:srgbClr val="FF9999"/>
                </a:solidFill>
              </a:rPr>
              <a:t> in like relations of </a:t>
            </a:r>
            <a:r>
              <a:rPr lang="en-GB" sz="2300" u="sng" dirty="0" err="1">
                <a:solidFill>
                  <a:srgbClr val="FF9999"/>
                </a:solidFill>
              </a:rPr>
              <a:t>precedency</a:t>
            </a:r>
            <a:r>
              <a:rPr lang="en-GB" sz="2300" u="sng" dirty="0">
                <a:solidFill>
                  <a:srgbClr val="FF9999"/>
                </a:solidFill>
              </a:rPr>
              <a:t> and contiguity to those objects, which resemble the latter</a:t>
            </a:r>
            <a:r>
              <a:rPr lang="en-GB" sz="2300" dirty="0">
                <a:solidFill>
                  <a:srgbClr val="FF9999"/>
                </a:solidFill>
              </a:rPr>
              <a:t>.’  </a:t>
            </a:r>
            <a:r>
              <a:rPr lang="en-GB" sz="2300" dirty="0"/>
              <a:t>If this definition be </a:t>
            </a:r>
            <a:r>
              <a:rPr lang="en-GB" sz="2300" dirty="0" err="1"/>
              <a:t>esteem’d</a:t>
            </a:r>
            <a:r>
              <a:rPr lang="en-GB" sz="2300" dirty="0"/>
              <a:t> defective, because drawn from objects foreign to the cause, we may substitute this other definition in its place, </a:t>
            </a:r>
            <a:r>
              <a:rPr lang="en-GB" sz="2300" i="1" dirty="0"/>
              <a:t>viz.</a:t>
            </a:r>
            <a:r>
              <a:rPr lang="en-GB" sz="2300" dirty="0"/>
              <a:t> </a:t>
            </a:r>
            <a:r>
              <a:rPr lang="en-GB" sz="2300" dirty="0">
                <a:solidFill>
                  <a:srgbClr val="FF9999"/>
                </a:solidFill>
              </a:rPr>
              <a:t>‘A CAUSE is </a:t>
            </a:r>
            <a:r>
              <a:rPr lang="en-GB" sz="2300" u="sng" dirty="0">
                <a:solidFill>
                  <a:srgbClr val="FF9999"/>
                </a:solidFill>
              </a:rPr>
              <a:t>an object precedent and contiguous to another, and so united with it, that the idea of the one determines the mind to form the idea of the other, and the impression of the one to form a more lively idea of the </a:t>
            </a:r>
            <a:r>
              <a:rPr lang="en-GB" sz="2300" u="sng">
                <a:solidFill>
                  <a:srgbClr val="FF9999"/>
                </a:solidFill>
              </a:rPr>
              <a:t>other</a:t>
            </a:r>
            <a:r>
              <a:rPr lang="en-GB" sz="2300">
                <a:solidFill>
                  <a:srgbClr val="FF9999"/>
                </a:solidFill>
              </a:rPr>
              <a:t>.’  </a:t>
            </a:r>
            <a:r>
              <a:rPr lang="en-US" sz="2300"/>
              <a:t>Shou’d this definition also be rejected for the same reason, I know no other remedy, than that the persons, who express this delicacy, should substitute a juster definition in its place.  But for my part I must own my incapacity for such an undertaking.”</a:t>
            </a:r>
            <a:endParaRPr lang="en-GB" sz="2300"/>
          </a:p>
          <a:p>
            <a:pPr algn="r">
              <a:spcBef>
                <a:spcPts val="1200"/>
              </a:spcBef>
              <a:buFont typeface="Wingdings" charset="2"/>
              <a:buNone/>
            </a:pPr>
            <a:r>
              <a:rPr lang="en-GB" sz="2300"/>
              <a:t>(</a:t>
            </a:r>
            <a:r>
              <a:rPr lang="en-GB" sz="2300" i="1" dirty="0"/>
              <a:t>T</a:t>
            </a:r>
            <a:r>
              <a:rPr lang="en-GB" sz="2300" dirty="0"/>
              <a:t> 1.3.14.31)</a:t>
            </a:r>
            <a:endParaRPr lang="en-GB" sz="2300" i="1" dirty="0"/>
          </a:p>
        </p:txBody>
      </p:sp>
    </p:spTree>
    <p:extLst>
      <p:ext uri="{BB962C8B-B14F-4D97-AF65-F5344CB8AC3E}">
        <p14:creationId xmlns:p14="http://schemas.microsoft.com/office/powerpoint/2010/main" val="2556888989"/>
      </p:ext>
    </p:extLst>
  </p:cSld>
  <p:clrMapOvr>
    <a:masterClrMapping/>
  </p:clrMapOvr>
  <p:transition spd="med">
    <p:cover/>
  </p:transition>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611E1-C897-ECE8-1D31-BE1C14D3394E}"/>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D4E97E9-BDE2-039A-84AF-5020020B01D3}"/>
              </a:ext>
            </a:extLst>
          </p:cNvPr>
          <p:cNvSpPr>
            <a:spLocks noGrp="1"/>
          </p:cNvSpPr>
          <p:nvPr>
            <p:ph type="sldNum" sz="quarter" idx="10"/>
          </p:nvPr>
        </p:nvSpPr>
        <p:spPr/>
        <p:txBody>
          <a:bodyPr/>
          <a:lstStyle/>
          <a:p>
            <a:fld id="{858AF360-1768-4917-9245-CF9F5DE98ED1}" type="slidenum">
              <a:rPr lang="en-US"/>
              <a:pPr/>
              <a:t>214</a:t>
            </a:fld>
            <a:endParaRPr lang="en-US"/>
          </a:p>
        </p:txBody>
      </p:sp>
      <p:sp>
        <p:nvSpPr>
          <p:cNvPr id="4" name="Slide Number Placeholder 3">
            <a:extLst>
              <a:ext uri="{FF2B5EF4-FFF2-40B4-BE49-F238E27FC236}">
                <a16:creationId xmlns:a16="http://schemas.microsoft.com/office/drawing/2014/main" id="{B63C0CBE-6CC2-7886-C131-F2222CE25ED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214</a:t>
            </a:fld>
            <a:endParaRPr lang="en-US" sz="1600">
              <a:effectLst>
                <a:outerShdw blurRad="38100" dist="38100" dir="2700000" algn="tl">
                  <a:srgbClr val="000000"/>
                </a:outerShdw>
              </a:effectLst>
              <a:ea typeface="ＭＳ Ｐゴシック" charset="-128"/>
            </a:endParaRPr>
          </a:p>
        </p:txBody>
      </p:sp>
      <p:sp>
        <p:nvSpPr>
          <p:cNvPr id="922627" name="Rectangle 3">
            <a:extLst>
              <a:ext uri="{FF2B5EF4-FFF2-40B4-BE49-F238E27FC236}">
                <a16:creationId xmlns:a16="http://schemas.microsoft.com/office/drawing/2014/main" id="{2D90E16F-B2BF-903C-833B-94B555680392}"/>
              </a:ext>
            </a:extLst>
          </p:cNvPr>
          <p:cNvSpPr>
            <a:spLocks noGrp="1" noChangeArrowheads="1"/>
          </p:cNvSpPr>
          <p:nvPr>
            <p:ph type="body" idx="4294967295"/>
          </p:nvPr>
        </p:nvSpPr>
        <p:spPr>
          <a:xfrm>
            <a:off x="565212" y="188640"/>
            <a:ext cx="8147248" cy="6300702"/>
          </a:xfrm>
        </p:spPr>
        <p:txBody>
          <a:bodyPr/>
          <a:lstStyle/>
          <a:p>
            <a:pPr marL="400050" lvl="1" indent="0">
              <a:buNone/>
            </a:pPr>
            <a:r>
              <a:rPr lang="en-GB" sz="2400" dirty="0"/>
              <a:t>“</a:t>
            </a:r>
            <a:r>
              <a:rPr lang="en-US" sz="2400" dirty="0"/>
              <a:t>Similar objects are always conjoined with similar.  Of this we have experience.  Suitably to this experience, therefore, we may define a cause to be </a:t>
            </a:r>
            <a:r>
              <a:rPr lang="en-US" sz="2400" i="1" u="sng" dirty="0">
                <a:solidFill>
                  <a:srgbClr val="FF7C80"/>
                </a:solidFill>
              </a:rPr>
              <a:t>an object, followed by another, and where all the objects, similar to the first, are followed by objects similar to the second</a:t>
            </a:r>
            <a:r>
              <a:rPr lang="en-US" sz="2400" dirty="0"/>
              <a:t>.  </a:t>
            </a:r>
            <a:r>
              <a:rPr lang="en-US" sz="2400" dirty="0">
                <a:solidFill>
                  <a:srgbClr val="92D050"/>
                </a:solidFill>
              </a:rPr>
              <a:t>Or in other words, </a:t>
            </a:r>
            <a:r>
              <a:rPr lang="en-US" sz="2400" i="1" dirty="0">
                <a:solidFill>
                  <a:srgbClr val="92D050"/>
                </a:solidFill>
              </a:rPr>
              <a:t>where, if the first object had not been, the second never had existed</a:t>
            </a:r>
            <a:r>
              <a:rPr lang="en-US" sz="2400" dirty="0"/>
              <a:t>.  The appearance of a cause always conveys the mind, by a customary transition, to the idea of the effect.  Of this also we have experience.  We may, therefore, suitably to this experience, form another definition of cause; and call it, </a:t>
            </a:r>
            <a:r>
              <a:rPr lang="en-US" sz="2400" i="1" u="sng" dirty="0">
                <a:solidFill>
                  <a:srgbClr val="FF7C80"/>
                </a:solidFill>
              </a:rPr>
              <a:t>an object followed by another, and whose appearance always conveys the thought to that other</a:t>
            </a:r>
            <a:r>
              <a:rPr lang="en-US" sz="2400" dirty="0"/>
              <a:t>.</a:t>
            </a:r>
            <a:r>
              <a:rPr lang="en-GB" sz="2400" dirty="0">
                <a:solidFill>
                  <a:srgbClr val="FF9999"/>
                </a:solidFill>
              </a:rPr>
              <a:t>’</a:t>
            </a:r>
            <a:r>
              <a:rPr lang="en-GB" sz="2400" dirty="0"/>
              <a:t>”</a:t>
            </a:r>
          </a:p>
          <a:p>
            <a:pPr marL="400050" lvl="1" indent="0" algn="r">
              <a:buNone/>
            </a:pPr>
            <a:r>
              <a:rPr lang="en-GB" sz="2400" dirty="0"/>
              <a:t>(</a:t>
            </a:r>
            <a:r>
              <a:rPr lang="en-GB" sz="2400" i="1" dirty="0"/>
              <a:t>E</a:t>
            </a:r>
            <a:r>
              <a:rPr lang="en-GB" sz="2400" dirty="0"/>
              <a:t> 7.29)</a:t>
            </a:r>
          </a:p>
          <a:p>
            <a:pPr>
              <a:spcBef>
                <a:spcPts val="1200"/>
              </a:spcBef>
            </a:pPr>
            <a:r>
              <a:rPr lang="en-GB" sz="2400" dirty="0"/>
              <a:t>(Note that “Or in other words … existed” gloss seems to be a mistake – it is </a:t>
            </a:r>
            <a:r>
              <a:rPr lang="en-GB" sz="2400" i="1" dirty="0"/>
              <a:t>not</a:t>
            </a:r>
            <a:r>
              <a:rPr lang="en-GB" sz="2400" dirty="0"/>
              <a:t> saying the same thing!)</a:t>
            </a:r>
          </a:p>
        </p:txBody>
      </p:sp>
    </p:spTree>
    <p:extLst>
      <p:ext uri="{BB962C8B-B14F-4D97-AF65-F5344CB8AC3E}">
        <p14:creationId xmlns:p14="http://schemas.microsoft.com/office/powerpoint/2010/main" val="727109486"/>
      </p:ext>
    </p:extLst>
  </p:cSld>
  <p:clrMapOvr>
    <a:masterClrMapping/>
  </p:clrMapOvr>
  <p:transition spd="med">
    <p:cover/>
  </p:transition>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8D10-798A-6538-9FC8-22E9F0C5A728}"/>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D6E91E4A-6FBF-F4FC-A08E-24DF3A6A7E51}"/>
              </a:ext>
            </a:extLst>
          </p:cNvPr>
          <p:cNvSpPr>
            <a:spLocks noGrp="1"/>
          </p:cNvSpPr>
          <p:nvPr>
            <p:ph type="sldNum" sz="quarter" idx="10"/>
          </p:nvPr>
        </p:nvSpPr>
        <p:spPr/>
        <p:txBody>
          <a:bodyPr/>
          <a:lstStyle/>
          <a:p>
            <a:fld id="{1636CBDD-A0B4-4B79-AC05-5C6944D480DE}" type="slidenum">
              <a:rPr lang="en-US"/>
              <a:pPr/>
              <a:t>215</a:t>
            </a:fld>
            <a:endParaRPr lang="en-US"/>
          </a:p>
        </p:txBody>
      </p:sp>
      <p:sp>
        <p:nvSpPr>
          <p:cNvPr id="3" name="Slide Number Placeholder 3">
            <a:extLst>
              <a:ext uri="{FF2B5EF4-FFF2-40B4-BE49-F238E27FC236}">
                <a16:creationId xmlns:a16="http://schemas.microsoft.com/office/drawing/2014/main" id="{4986EEF2-11C2-D8AC-AFBC-8A52E4816698}"/>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04511A2-7B56-4742-B9F3-1FE6FE29CE81}" type="slidenum">
              <a:rPr lang="en-US" sz="1600">
                <a:effectLst>
                  <a:outerShdw blurRad="38100" dist="38100" dir="2700000" algn="tl">
                    <a:srgbClr val="000000"/>
                  </a:outerShdw>
                </a:effectLst>
                <a:ea typeface="ＭＳ Ｐゴシック" charset="-128"/>
              </a:rPr>
              <a:pPr eaLnBrk="1" hangingPunct="1"/>
              <a:t>215</a:t>
            </a:fld>
            <a:endParaRPr lang="en-US" sz="1600">
              <a:effectLst>
                <a:outerShdw blurRad="38100" dist="38100" dir="2700000" algn="tl">
                  <a:srgbClr val="000000"/>
                </a:outerShdw>
              </a:effectLst>
              <a:ea typeface="ＭＳ Ｐゴシック" charset="-128"/>
            </a:endParaRPr>
          </a:p>
        </p:txBody>
      </p:sp>
      <p:sp>
        <p:nvSpPr>
          <p:cNvPr id="653314" name="Rectangle 2">
            <a:extLst>
              <a:ext uri="{FF2B5EF4-FFF2-40B4-BE49-F238E27FC236}">
                <a16:creationId xmlns:a16="http://schemas.microsoft.com/office/drawing/2014/main" id="{B0574CC6-DECB-D010-ECB4-D7147FF98C84}"/>
              </a:ext>
            </a:extLst>
          </p:cNvPr>
          <p:cNvSpPr>
            <a:spLocks noGrp="1" noChangeArrowheads="1"/>
          </p:cNvSpPr>
          <p:nvPr>
            <p:ph type="body" idx="4294967295"/>
          </p:nvPr>
        </p:nvSpPr>
        <p:spPr>
          <a:xfrm>
            <a:off x="359532" y="1160748"/>
            <a:ext cx="8533643" cy="5697252"/>
          </a:xfrm>
        </p:spPr>
        <p:txBody>
          <a:bodyPr/>
          <a:lstStyle/>
          <a:p>
            <a:r>
              <a:rPr lang="en-GB" sz="2600" dirty="0"/>
              <a:t>Hume is clearly aware that our inferences don’t always correspond with genuine constant conjunctions.  So it seems rather unlikely that he intends both definitions to specify necessary and sufficient conditions.</a:t>
            </a:r>
          </a:p>
          <a:p>
            <a:pPr lvl="1">
              <a:spcBef>
                <a:spcPts val="1200"/>
              </a:spcBef>
            </a:pPr>
            <a:r>
              <a:rPr lang="en-GB" sz="2400" dirty="0"/>
              <a:t>His </a:t>
            </a:r>
            <a:r>
              <a:rPr lang="en-GB" sz="2400" dirty="0">
                <a:solidFill>
                  <a:srgbClr val="FF9999"/>
                </a:solidFill>
              </a:rPr>
              <a:t>“genetic” conception of </a:t>
            </a:r>
            <a:r>
              <a:rPr lang="en-GB" sz="2400" i="1" dirty="0">
                <a:solidFill>
                  <a:srgbClr val="FF9999"/>
                </a:solidFill>
              </a:rPr>
              <a:t>meaning</a:t>
            </a:r>
            <a:r>
              <a:rPr lang="en-GB" sz="2400" dirty="0"/>
              <a:t> suggests a different view.  The meaning of causal necessity can only be understood through </a:t>
            </a:r>
            <a:r>
              <a:rPr lang="en-GB" sz="2400"/>
              <a:t>the “impression” </a:t>
            </a:r>
            <a:r>
              <a:rPr lang="en-GB" sz="2400" dirty="0"/>
              <a:t>from which its idea is derived (perhaps most charitably interpreted </a:t>
            </a:r>
            <a:r>
              <a:rPr lang="en-GB" sz="2400"/>
              <a:t>as </a:t>
            </a:r>
            <a:r>
              <a:rPr lang="en-GB" sz="2400" i="1"/>
              <a:t>reflective </a:t>
            </a:r>
            <a:r>
              <a:rPr lang="en-GB" sz="2400" i="1" dirty="0"/>
              <a:t>awareness of our own inferential behaviour</a:t>
            </a:r>
            <a:r>
              <a:rPr lang="en-GB" sz="2400" dirty="0"/>
              <a:t> in response to observed constant conjunctions).</a:t>
            </a:r>
          </a:p>
          <a:p>
            <a:pPr lvl="1">
              <a:spcBef>
                <a:spcPts val="1200"/>
              </a:spcBef>
            </a:pPr>
            <a:r>
              <a:rPr lang="en-GB" sz="2400" dirty="0"/>
              <a:t>The second definition, accordingly, can be seen as specifying a </a:t>
            </a:r>
            <a:r>
              <a:rPr lang="en-GB" sz="2400" dirty="0">
                <a:solidFill>
                  <a:srgbClr val="FF9999"/>
                </a:solidFill>
              </a:rPr>
              <a:t>paradigm case </a:t>
            </a:r>
            <a:r>
              <a:rPr lang="en-GB" sz="2400" dirty="0"/>
              <a:t>in which we experience </a:t>
            </a:r>
            <a:r>
              <a:rPr lang="en-GB" sz="2400"/>
              <a:t>this “impression” </a:t>
            </a:r>
            <a:r>
              <a:rPr lang="en-GB" sz="2400" dirty="0"/>
              <a:t>and thus can acquire the idea.</a:t>
            </a:r>
          </a:p>
        </p:txBody>
      </p:sp>
      <p:sp>
        <p:nvSpPr>
          <p:cNvPr id="5" name="Rectangle 2">
            <a:extLst>
              <a:ext uri="{FF2B5EF4-FFF2-40B4-BE49-F238E27FC236}">
                <a16:creationId xmlns:a16="http://schemas.microsoft.com/office/drawing/2014/main" id="{EB9E9148-5FEE-6AF3-484C-AA1D93A6FC00}"/>
              </a:ext>
            </a:extLst>
          </p:cNvPr>
          <p:cNvSpPr txBox="1">
            <a:spLocks noChangeArrowheads="1"/>
          </p:cNvSpPr>
          <p:nvPr/>
        </p:nvSpPr>
        <p:spPr bwMode="auto">
          <a:xfrm>
            <a:off x="179512" y="188641"/>
            <a:ext cx="8820980" cy="88003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GB" sz="3800" kern="0">
                <a:solidFill>
                  <a:schemeClr val="tx2"/>
                </a:solidFill>
                <a:effectLst>
                  <a:outerShdw blurRad="38100" dist="38100" dir="2700000" algn="tl">
                    <a:srgbClr val="000000"/>
                  </a:outerShdw>
                </a:effectLst>
                <a:latin typeface="+mj-lt"/>
                <a:ea typeface="+mj-ea"/>
                <a:cs typeface="+mj-cs"/>
              </a:rPr>
              <a:t>“But </a:t>
            </a:r>
            <a:r>
              <a:rPr lang="en-GB" sz="3800" kern="0" dirty="0">
                <a:solidFill>
                  <a:schemeClr val="tx2"/>
                </a:solidFill>
                <a:effectLst>
                  <a:outerShdw blurRad="38100" dist="38100" dir="2700000" algn="tl">
                    <a:srgbClr val="000000"/>
                  </a:outerShdw>
                </a:effectLst>
                <a:latin typeface="+mj-lt"/>
                <a:ea typeface="+mj-ea"/>
                <a:cs typeface="+mj-cs"/>
              </a:rPr>
              <a:t>the Definitions Aren’t </a:t>
            </a:r>
            <a:r>
              <a:rPr lang="en-GB" sz="3800" kern="0">
                <a:solidFill>
                  <a:schemeClr val="tx2"/>
                </a:solidFill>
                <a:effectLst>
                  <a:outerShdw blurRad="38100" dist="38100" dir="2700000" algn="tl">
                    <a:srgbClr val="000000"/>
                  </a:outerShdw>
                </a:effectLst>
                <a:latin typeface="+mj-lt"/>
                <a:ea typeface="+mj-ea"/>
                <a:cs typeface="+mj-cs"/>
              </a:rPr>
              <a:t>Coextensive!”</a:t>
            </a:r>
            <a:endParaRPr kumimoji="0" lang="en-GB" sz="38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Tree>
    <p:extLst>
      <p:ext uri="{BB962C8B-B14F-4D97-AF65-F5344CB8AC3E}">
        <p14:creationId xmlns:p14="http://schemas.microsoft.com/office/powerpoint/2010/main" val="1792861698"/>
      </p:ext>
    </p:extLst>
  </p:cSld>
  <p:clrMapOvr>
    <a:masterClrMapping/>
  </p:clrMapOvr>
  <p:transition spd="med">
    <p:cover/>
  </p:transition>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AF1EB-7F02-4FDC-ABEF-88A0F4CADDE1}"/>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355D69F-5315-900E-5F66-F17A529B1C1C}"/>
              </a:ext>
            </a:extLst>
          </p:cNvPr>
          <p:cNvSpPr>
            <a:spLocks noGrp="1"/>
          </p:cNvSpPr>
          <p:nvPr>
            <p:ph type="sldNum" sz="quarter" idx="10"/>
          </p:nvPr>
        </p:nvSpPr>
        <p:spPr/>
        <p:txBody>
          <a:bodyPr/>
          <a:lstStyle/>
          <a:p>
            <a:fld id="{B48EA685-BBF3-48F0-BE60-24DC52515B71}" type="slidenum">
              <a:rPr lang="en-US"/>
              <a:pPr/>
              <a:t>216</a:t>
            </a:fld>
            <a:endParaRPr lang="en-US"/>
          </a:p>
        </p:txBody>
      </p:sp>
      <p:sp>
        <p:nvSpPr>
          <p:cNvPr id="3" name="Slide Number Placeholder 3">
            <a:extLst>
              <a:ext uri="{FF2B5EF4-FFF2-40B4-BE49-F238E27FC236}">
                <a16:creationId xmlns:a16="http://schemas.microsoft.com/office/drawing/2014/main" id="{023A8344-EB61-3D96-5F75-E637881883F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912EDA9-B130-4F5B-81D8-C6DF8E2FF226}" type="slidenum">
              <a:rPr lang="en-US" sz="1600">
                <a:effectLst>
                  <a:outerShdw blurRad="38100" dist="38100" dir="2700000" algn="tl">
                    <a:srgbClr val="000000"/>
                  </a:outerShdw>
                </a:effectLst>
                <a:ea typeface="ＭＳ Ｐゴシック" charset="-128"/>
              </a:rPr>
              <a:pPr eaLnBrk="1" hangingPunct="1"/>
              <a:t>216</a:t>
            </a:fld>
            <a:endParaRPr lang="en-US" sz="1600">
              <a:effectLst>
                <a:outerShdw blurRad="38100" dist="38100" dir="2700000" algn="tl">
                  <a:srgbClr val="000000"/>
                </a:outerShdw>
              </a:effectLst>
              <a:ea typeface="ＭＳ Ｐゴシック" charset="-128"/>
            </a:endParaRPr>
          </a:p>
        </p:txBody>
      </p:sp>
      <p:sp>
        <p:nvSpPr>
          <p:cNvPr id="656386" name="Rectangle 2">
            <a:extLst>
              <a:ext uri="{FF2B5EF4-FFF2-40B4-BE49-F238E27FC236}">
                <a16:creationId xmlns:a16="http://schemas.microsoft.com/office/drawing/2014/main" id="{C0B0CA48-AC26-3697-6134-4FA6FEFD2FD1}"/>
              </a:ext>
            </a:extLst>
          </p:cNvPr>
          <p:cNvSpPr>
            <a:spLocks noGrp="1" noChangeArrowheads="1"/>
          </p:cNvSpPr>
          <p:nvPr>
            <p:ph type="body" idx="4294967295"/>
          </p:nvPr>
        </p:nvSpPr>
        <p:spPr>
          <a:xfrm>
            <a:off x="610865" y="368660"/>
            <a:ext cx="8173603" cy="6264695"/>
          </a:xfrm>
        </p:spPr>
        <p:txBody>
          <a:bodyPr/>
          <a:lstStyle/>
          <a:p>
            <a:r>
              <a:rPr lang="en-GB" sz="2600" i="1" dirty="0"/>
              <a:t>Having once acquired the idea</a:t>
            </a:r>
            <a:r>
              <a:rPr lang="en-GB" sz="2600" dirty="0"/>
              <a:t>, we need not restrict its application only to the manifest sorts of constant conjunctions that naturally generate it.</a:t>
            </a:r>
          </a:p>
          <a:p>
            <a:pPr>
              <a:spcBef>
                <a:spcPts val="1200"/>
              </a:spcBef>
            </a:pPr>
            <a:r>
              <a:rPr lang="en-GB" sz="2600" dirty="0"/>
              <a:t>Hume clearly thinks that we can – and should – go beyond these natural cases by </a:t>
            </a:r>
            <a:r>
              <a:rPr lang="en-GB" sz="2600" i="1" dirty="0"/>
              <a:t>systematising</a:t>
            </a:r>
            <a:r>
              <a:rPr lang="en-GB" sz="2600" dirty="0"/>
              <a:t> our application of the idea.  For he immediately goes on to propose “Rules by which to judge of causes and effects” (</a:t>
            </a:r>
            <a:r>
              <a:rPr lang="en-GB" sz="2600" i="1" dirty="0"/>
              <a:t>T</a:t>
            </a:r>
            <a:r>
              <a:rPr lang="en-GB" sz="2600" dirty="0"/>
              <a:t> 1.3.15), and he has already advocated:</a:t>
            </a:r>
          </a:p>
          <a:p>
            <a:pPr lvl="1">
              <a:spcBef>
                <a:spcPts val="900"/>
              </a:spcBef>
            </a:pPr>
            <a:r>
              <a:rPr lang="en-GB" sz="2400" dirty="0"/>
              <a:t>Searching for hidden causes (</a:t>
            </a:r>
            <a:r>
              <a:rPr lang="en-GB" sz="2400" i="1" dirty="0"/>
              <a:t>T</a:t>
            </a:r>
            <a:r>
              <a:rPr lang="en-GB" sz="2400" dirty="0"/>
              <a:t> 1.3.12.5);</a:t>
            </a:r>
          </a:p>
          <a:p>
            <a:pPr lvl="1">
              <a:spcBef>
                <a:spcPts val="900"/>
              </a:spcBef>
            </a:pPr>
            <a:r>
              <a:rPr lang="en-GB" sz="2400" dirty="0"/>
              <a:t>Working out high-level general rules (</a:t>
            </a:r>
            <a:r>
              <a:rPr lang="en-GB" sz="2400" i="1" dirty="0"/>
              <a:t>T</a:t>
            </a:r>
            <a:r>
              <a:rPr lang="en-GB" sz="2400" dirty="0"/>
              <a:t> 1.3.13.11-12).</a:t>
            </a:r>
          </a:p>
          <a:p>
            <a:pPr>
              <a:spcBef>
                <a:spcPts val="1200"/>
              </a:spcBef>
            </a:pPr>
            <a:r>
              <a:rPr lang="en-GB" sz="2600" dirty="0"/>
              <a:t>Accordingly the two definitions can be seen as </a:t>
            </a:r>
            <a:r>
              <a:rPr lang="en-GB" sz="2600" i="1" dirty="0"/>
              <a:t>complementary</a:t>
            </a:r>
            <a:r>
              <a:rPr lang="en-GB" sz="2600" dirty="0"/>
              <a:t> rather than conflicting.  </a:t>
            </a:r>
            <a:r>
              <a:rPr lang="en-GB" sz="2600" dirty="0">
                <a:solidFill>
                  <a:srgbClr val="FF9999"/>
                </a:solidFill>
              </a:rPr>
              <a:t>The second definition identifies the relevant idea; the first </a:t>
            </a:r>
            <a:r>
              <a:rPr lang="en-GB" sz="2600" i="1" dirty="0">
                <a:solidFill>
                  <a:srgbClr val="FF9999"/>
                </a:solidFill>
              </a:rPr>
              <a:t>summarises</a:t>
            </a:r>
            <a:r>
              <a:rPr lang="en-GB" sz="2600" dirty="0">
                <a:solidFill>
                  <a:srgbClr val="FF9999"/>
                </a:solidFill>
              </a:rPr>
              <a:t> the criteria for applying it.</a:t>
            </a:r>
            <a:endParaRPr lang="en-GB" sz="2600" dirty="0"/>
          </a:p>
        </p:txBody>
      </p:sp>
    </p:spTree>
    <p:extLst>
      <p:ext uri="{BB962C8B-B14F-4D97-AF65-F5344CB8AC3E}">
        <p14:creationId xmlns:p14="http://schemas.microsoft.com/office/powerpoint/2010/main" val="4141311094"/>
      </p:ext>
    </p:extLst>
  </p:cSld>
  <p:clrMapOvr>
    <a:masterClrMapping/>
  </p:clrMapOvr>
  <p:transition spd="med">
    <p:cover/>
  </p:transition>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32EA07D-B03A-4870-A068-4317613DC898}" type="slidenum">
              <a:rPr lang="en-US"/>
              <a:pPr/>
              <a:t>217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F448856-65B9-44E4-BD8B-FDA24C347955}" type="slidenum">
              <a:rPr lang="en-US" sz="1600">
                <a:effectLst>
                  <a:outerShdw blurRad="38100" dist="38100" dir="2700000" algn="tl">
                    <a:srgbClr val="000000"/>
                  </a:outerShdw>
                </a:effectLst>
                <a:ea typeface="ＭＳ Ｐゴシック" charset="-128"/>
              </a:rPr>
              <a:pPr eaLnBrk="1" hangingPunct="1"/>
              <a:t>217</a:t>
            </a:fld>
            <a:endParaRPr lang="en-US" sz="1600">
              <a:effectLst>
                <a:outerShdw blurRad="38100" dist="38100" dir="2700000" algn="tl">
                  <a:srgbClr val="000000"/>
                </a:outerShdw>
              </a:effectLst>
              <a:ea typeface="ＭＳ Ｐゴシック" charset="-128"/>
            </a:endParaRPr>
          </a:p>
        </p:txBody>
      </p:sp>
      <p:sp>
        <p:nvSpPr>
          <p:cNvPr id="586754" name="Rectangle 2"/>
          <p:cNvSpPr>
            <a:spLocks noGrp="1" noChangeArrowheads="1"/>
          </p:cNvSpPr>
          <p:nvPr>
            <p:ph type="title" idx="4294967295"/>
          </p:nvPr>
        </p:nvSpPr>
        <p:spPr>
          <a:xfrm>
            <a:off x="457200" y="44624"/>
            <a:ext cx="8229600" cy="810927"/>
          </a:xfrm>
        </p:spPr>
        <p:txBody>
          <a:bodyPr/>
          <a:lstStyle/>
          <a:p>
            <a:r>
              <a:rPr lang="en-GB"/>
              <a:t>Applying the Definitions</a:t>
            </a:r>
            <a:endParaRPr lang="en-GB" dirty="0"/>
          </a:p>
        </p:txBody>
      </p:sp>
      <p:sp>
        <p:nvSpPr>
          <p:cNvPr id="586755" name="Rectangle 3"/>
          <p:cNvSpPr>
            <a:spLocks noGrp="1" noChangeArrowheads="1"/>
          </p:cNvSpPr>
          <p:nvPr>
            <p:ph type="body" idx="4294967295"/>
          </p:nvPr>
        </p:nvSpPr>
        <p:spPr>
          <a:xfrm>
            <a:off x="359532" y="1052736"/>
            <a:ext cx="8640960" cy="5508910"/>
          </a:xfrm>
        </p:spPr>
        <p:txBody>
          <a:bodyPr/>
          <a:lstStyle/>
          <a:p>
            <a:r>
              <a:rPr lang="en-GB" sz="2700" dirty="0"/>
              <a:t>Hume goes on to draw some important “corollaries” from his definitions, and then his “rules” of </a:t>
            </a:r>
            <a:r>
              <a:rPr lang="en-GB" sz="2700" i="1" dirty="0"/>
              <a:t>T</a:t>
            </a:r>
            <a:r>
              <a:rPr lang="en-GB" sz="2700" dirty="0"/>
              <a:t> 1.3.15.</a:t>
            </a:r>
          </a:p>
          <a:p>
            <a:r>
              <a:rPr lang="en-GB" sz="2700" dirty="0"/>
              <a:t>In later sections, he is especially keen to establish causality and necessity in respect of the mind:</a:t>
            </a:r>
          </a:p>
          <a:p>
            <a:pPr lvl="1">
              <a:spcBef>
                <a:spcPts val="1200"/>
              </a:spcBef>
            </a:pPr>
            <a:r>
              <a:rPr lang="en-GB" sz="2500" dirty="0"/>
              <a:t>In principle, matter could be the cause of thought</a:t>
            </a:r>
            <a:br>
              <a:rPr lang="en-GB" sz="2500" dirty="0"/>
            </a:br>
            <a:r>
              <a:rPr lang="en-GB" sz="2500" i="1" dirty="0"/>
              <a:t>(T </a:t>
            </a:r>
            <a:r>
              <a:rPr lang="en-GB" sz="2500" dirty="0"/>
              <a:t>1.4.5.29-32,</a:t>
            </a:r>
            <a:r>
              <a:rPr lang="en-GB" sz="2500" i="1" dirty="0"/>
              <a:t> “Of the Immateriality of the Soul”)</a:t>
            </a:r>
          </a:p>
          <a:p>
            <a:pPr lvl="1">
              <a:spcBef>
                <a:spcPts val="1200"/>
              </a:spcBef>
            </a:pPr>
            <a:r>
              <a:rPr lang="en-GB" sz="2500" dirty="0"/>
              <a:t>The “doctrine of necessity” applies as much to the mental world as to the physical world</a:t>
            </a:r>
            <a:br>
              <a:rPr lang="en-GB" sz="2500" dirty="0"/>
            </a:br>
            <a:r>
              <a:rPr lang="en-GB" sz="2500" i="1" dirty="0"/>
              <a:t>(T</a:t>
            </a:r>
            <a:r>
              <a:rPr lang="en-GB" sz="2500" dirty="0"/>
              <a:t> 2.3.1-2 and </a:t>
            </a:r>
            <a:r>
              <a:rPr lang="en-GB" sz="2500" i="1" dirty="0"/>
              <a:t>E</a:t>
            </a:r>
            <a:r>
              <a:rPr lang="en-GB" sz="2500" dirty="0"/>
              <a:t> 8</a:t>
            </a:r>
            <a:r>
              <a:rPr lang="en-GB" sz="2500" i="1" dirty="0"/>
              <a:t> “Of Liberty and Necessity”)</a:t>
            </a:r>
          </a:p>
          <a:p>
            <a:pPr>
              <a:spcBef>
                <a:spcPts val="1200"/>
              </a:spcBef>
            </a:pPr>
            <a:r>
              <a:rPr lang="en-GB" sz="2700" i="1" dirty="0">
                <a:solidFill>
                  <a:srgbClr val="FF9999"/>
                </a:solidFill>
              </a:rPr>
              <a:t>Both turn on the claim that there is nothing to causal necessity beyond the two definitions</a:t>
            </a:r>
            <a:r>
              <a:rPr lang="en-GB" sz="2700" dirty="0"/>
              <a:t> (thus refuting the once-fashionable “New Hume” interpretation).</a:t>
            </a:r>
          </a:p>
        </p:txBody>
      </p:sp>
    </p:spTree>
    <p:extLst>
      <p:ext uri="{BB962C8B-B14F-4D97-AF65-F5344CB8AC3E}">
        <p14:creationId xmlns:p14="http://schemas.microsoft.com/office/powerpoint/2010/main" val="2279319031"/>
      </p:ext>
    </p:extLst>
  </p:cSld>
  <p:clrMapOvr>
    <a:masterClrMapping/>
  </p:clrMapOvr>
  <p:transition spd="med">
    <p:cover/>
  </p:transition>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1E5BA36-311F-4485-9A7E-CF60AB50C6D9}" type="slidenum">
              <a:rPr lang="en-US"/>
              <a:pPr/>
              <a:t>218</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4128452-0E62-4B31-AAAD-91BF32339F8C}" type="slidenum">
              <a:rPr lang="en-US" sz="1600">
                <a:effectLst>
                  <a:outerShdw blurRad="38100" dist="38100" dir="2700000" algn="tl">
                    <a:srgbClr val="000000"/>
                  </a:outerShdw>
                </a:effectLst>
                <a:ea typeface="ＭＳ Ｐゴシック" charset="-128"/>
              </a:rPr>
              <a:pPr eaLnBrk="1" hangingPunct="1"/>
              <a:t>218</a:t>
            </a:fld>
            <a:endParaRPr lang="en-US" sz="1600">
              <a:effectLst>
                <a:outerShdw blurRad="38100" dist="38100" dir="2700000" algn="tl">
                  <a:srgbClr val="000000"/>
                </a:outerShdw>
              </a:effectLst>
              <a:ea typeface="ＭＳ Ｐゴシック" charset="-128"/>
            </a:endParaRPr>
          </a:p>
        </p:txBody>
      </p:sp>
      <p:sp>
        <p:nvSpPr>
          <p:cNvPr id="926722" name="Rectangle 2"/>
          <p:cNvSpPr>
            <a:spLocks noGrp="1" noChangeArrowheads="1"/>
          </p:cNvSpPr>
          <p:nvPr>
            <p:ph type="title" idx="4294967295"/>
          </p:nvPr>
        </p:nvSpPr>
        <p:spPr>
          <a:xfrm>
            <a:off x="457200" y="152636"/>
            <a:ext cx="8229600" cy="846931"/>
          </a:xfrm>
        </p:spPr>
        <p:txBody>
          <a:bodyPr/>
          <a:lstStyle/>
          <a:p>
            <a:r>
              <a:rPr lang="en-GB" dirty="0"/>
              <a:t>Corollaries of the Definitions</a:t>
            </a:r>
          </a:p>
        </p:txBody>
      </p:sp>
      <p:sp>
        <p:nvSpPr>
          <p:cNvPr id="926723" name="Rectangle 3"/>
          <p:cNvSpPr>
            <a:spLocks noGrp="1" noChangeArrowheads="1"/>
          </p:cNvSpPr>
          <p:nvPr>
            <p:ph type="body" idx="4294967295"/>
          </p:nvPr>
        </p:nvSpPr>
        <p:spPr>
          <a:xfrm>
            <a:off x="539552" y="1124744"/>
            <a:ext cx="8352928" cy="5400600"/>
          </a:xfrm>
        </p:spPr>
        <p:txBody>
          <a:bodyPr/>
          <a:lstStyle/>
          <a:p>
            <a:r>
              <a:rPr lang="en-GB" sz="2400" dirty="0"/>
              <a:t>“All causes are of the same kind …  For the same reason we must reject the distinction betwixt </a:t>
            </a:r>
            <a:r>
              <a:rPr lang="en-GB" sz="2400" i="1" dirty="0"/>
              <a:t>cause</a:t>
            </a:r>
            <a:r>
              <a:rPr lang="en-GB" sz="2400" dirty="0"/>
              <a:t> and </a:t>
            </a:r>
            <a:r>
              <a:rPr lang="en-GB" sz="2400" i="1" dirty="0"/>
              <a:t>occasion</a:t>
            </a:r>
            <a:r>
              <a:rPr lang="en-GB" sz="2400" dirty="0"/>
              <a:t> …   If constant conjunction be </a:t>
            </a:r>
            <a:r>
              <a:rPr lang="en-GB" sz="2400" dirty="0" err="1"/>
              <a:t>imply’d</a:t>
            </a:r>
            <a:r>
              <a:rPr lang="en-GB" sz="2400" dirty="0"/>
              <a:t> in what we call occasion, ’tis a real cause.  If not, ’tis no relation at all …”  (</a:t>
            </a:r>
            <a:r>
              <a:rPr lang="en-GB" sz="2400" i="1" dirty="0"/>
              <a:t>T</a:t>
            </a:r>
            <a:r>
              <a:rPr lang="en-GB" sz="2400" dirty="0"/>
              <a:t> 1.3.14.32)  </a:t>
            </a:r>
            <a:r>
              <a:rPr lang="en-GB" sz="2400" i="1" dirty="0"/>
              <a:t>So what Nicolas Malebranche thought of as mere occasional causes are real causes.</a:t>
            </a:r>
            <a:endParaRPr lang="en-GB" sz="2400" dirty="0"/>
          </a:p>
          <a:p>
            <a:r>
              <a:rPr lang="en-GB" sz="2400" dirty="0"/>
              <a:t>“there is but one kind of </a:t>
            </a:r>
            <a:r>
              <a:rPr lang="en-GB" sz="2400" i="1" dirty="0"/>
              <a:t>necessity</a:t>
            </a:r>
            <a:r>
              <a:rPr lang="en-GB" sz="2400" dirty="0"/>
              <a:t> … and … the common distinction betwixt </a:t>
            </a:r>
            <a:r>
              <a:rPr lang="en-GB" sz="2400" i="1" dirty="0"/>
              <a:t>moral</a:t>
            </a:r>
            <a:r>
              <a:rPr lang="en-GB" sz="2400" dirty="0"/>
              <a:t> and </a:t>
            </a:r>
            <a:r>
              <a:rPr lang="en-GB" sz="2400" i="1" dirty="0"/>
              <a:t>physical</a:t>
            </a:r>
            <a:r>
              <a:rPr lang="en-GB" sz="2400" dirty="0"/>
              <a:t> necessity is without any foundation in nature.”  (</a:t>
            </a:r>
            <a:r>
              <a:rPr lang="en-GB" sz="2400" i="1" dirty="0"/>
              <a:t>T</a:t>
            </a:r>
            <a:r>
              <a:rPr lang="en-GB" sz="2400" dirty="0"/>
              <a:t> 1.3.14.33)  </a:t>
            </a:r>
            <a:r>
              <a:rPr lang="en-GB" sz="2400" i="1" dirty="0"/>
              <a:t>So Samuel Clarke is refuted with regard to liberty and necessity.</a:t>
            </a:r>
            <a:endParaRPr lang="en-GB" sz="2400" dirty="0"/>
          </a:p>
          <a:p>
            <a:r>
              <a:rPr lang="en-GB" sz="2400" dirty="0"/>
              <a:t>It is now easy to see why the Causal Maxim of </a:t>
            </a:r>
            <a:r>
              <a:rPr lang="en-GB" sz="2400" i="1" dirty="0"/>
              <a:t>T</a:t>
            </a:r>
            <a:r>
              <a:rPr lang="en-GB" sz="2400" dirty="0"/>
              <a:t> 1.3.3 is not intuitively or demonstratively certain.  (</a:t>
            </a:r>
            <a:r>
              <a:rPr lang="en-GB" sz="2400" i="1" dirty="0"/>
              <a:t>T</a:t>
            </a:r>
            <a:r>
              <a:rPr lang="en-GB" sz="2400" dirty="0"/>
              <a:t> 1.3.14.35)</a:t>
            </a:r>
          </a:p>
          <a:p>
            <a:r>
              <a:rPr lang="en-GB" sz="2400" dirty="0"/>
              <a:t>“we can never have reason to believe that any object exists, of which we cannot form an idea.”  (</a:t>
            </a:r>
            <a:r>
              <a:rPr lang="en-GB" sz="2400" i="1" dirty="0"/>
              <a:t>T</a:t>
            </a:r>
            <a:r>
              <a:rPr lang="en-GB" sz="2400" dirty="0"/>
              <a:t> 1.3.14.36)</a:t>
            </a:r>
          </a:p>
          <a:p>
            <a:endParaRPr lang="en-GB" sz="2400" dirty="0"/>
          </a:p>
        </p:txBody>
      </p:sp>
    </p:spTree>
    <p:extLst>
      <p:ext uri="{BB962C8B-B14F-4D97-AF65-F5344CB8AC3E}">
        <p14:creationId xmlns:p14="http://schemas.microsoft.com/office/powerpoint/2010/main" val="3668022618"/>
      </p:ext>
    </p:extLst>
  </p:cSld>
  <p:clrMapOvr>
    <a:masterClrMapping/>
  </p:clrMapOvr>
  <p:transition spd="med">
    <p:cover/>
  </p:transition>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73A21-BA83-7B51-969B-CFB1C41314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8259D1-E2E8-54EE-6A1C-DF23F2842B44}"/>
              </a:ext>
            </a:extLst>
          </p:cNvPr>
          <p:cNvSpPr>
            <a:spLocks noGrp="1"/>
          </p:cNvSpPr>
          <p:nvPr>
            <p:ph idx="1"/>
          </p:nvPr>
        </p:nvSpPr>
        <p:spPr>
          <a:xfrm>
            <a:off x="215516" y="1088740"/>
            <a:ext cx="8712968" cy="5580620"/>
          </a:xfrm>
        </p:spPr>
        <p:txBody>
          <a:bodyPr/>
          <a:lstStyle/>
          <a:p>
            <a:pPr lvl="0"/>
            <a:r>
              <a:rPr lang="en-GB" sz="2600">
                <a:effectLst/>
              </a:rPr>
              <a:t>In his discussions “Of Liberty and Necessity”, in both the </a:t>
            </a:r>
            <a:r>
              <a:rPr lang="en-GB" sz="2600" i="1">
                <a:effectLst/>
              </a:rPr>
              <a:t>Treatise </a:t>
            </a:r>
            <a:r>
              <a:rPr lang="en-GB" sz="2600">
                <a:effectLst/>
              </a:rPr>
              <a:t>and </a:t>
            </a:r>
            <a:r>
              <a:rPr lang="en-GB" sz="2600" i="1">
                <a:effectLst/>
              </a:rPr>
              <a:t>Enquiry</a:t>
            </a:r>
            <a:r>
              <a:rPr lang="en-GB" sz="2600">
                <a:effectLst/>
              </a:rPr>
              <a:t>, Hume gives two definitions of necessity, parallel to the earlier definitions of cause:</a:t>
            </a:r>
          </a:p>
          <a:p>
            <a:pPr lvl="1">
              <a:spcBef>
                <a:spcPts val="1200"/>
              </a:spcBef>
              <a:buFont typeface="Arial" panose="020B0604020202020204" pitchFamily="34" charset="0"/>
              <a:buChar char=" "/>
            </a:pPr>
            <a:r>
              <a:rPr lang="en-GB" sz="2400">
                <a:effectLst/>
              </a:rPr>
              <a:t>“Necessity </a:t>
            </a:r>
            <a:r>
              <a:rPr lang="en-GB" sz="2400" dirty="0">
                <a:effectLst/>
              </a:rPr>
              <a:t>may be defined two ways, conformably to the two definitions of </a:t>
            </a:r>
            <a:r>
              <a:rPr lang="en-GB" sz="2400" i="1" dirty="0">
                <a:effectLst/>
              </a:rPr>
              <a:t>cause</a:t>
            </a:r>
            <a:r>
              <a:rPr lang="en-GB" sz="2400" dirty="0">
                <a:effectLst/>
              </a:rPr>
              <a:t>, of which it makes an essential part.  It consists either in the constant conjunction of like objects, or in the inference of the understanding from one object to another.”  (</a:t>
            </a:r>
            <a:r>
              <a:rPr lang="en-GB" sz="2400" i="1" dirty="0">
                <a:effectLst/>
              </a:rPr>
              <a:t>E</a:t>
            </a:r>
            <a:r>
              <a:rPr lang="en-GB" sz="2400" dirty="0">
                <a:effectLst/>
              </a:rPr>
              <a:t> 8.27; </a:t>
            </a:r>
            <a:r>
              <a:rPr lang="en-GB" sz="2400" i="1" dirty="0">
                <a:effectLst/>
              </a:rPr>
              <a:t>T</a:t>
            </a:r>
            <a:r>
              <a:rPr lang="en-GB" sz="2400" dirty="0">
                <a:effectLst/>
              </a:rPr>
              <a:t> 2.3.2.4 is very similar)</a:t>
            </a:r>
          </a:p>
          <a:p>
            <a:pPr>
              <a:spcBef>
                <a:spcPts val="1800"/>
              </a:spcBef>
            </a:pPr>
            <a:r>
              <a:rPr lang="en-GB" sz="2600">
                <a:effectLst/>
              </a:rPr>
              <a:t>In Hume’s </a:t>
            </a:r>
            <a:r>
              <a:rPr lang="en-GB" sz="2600" dirty="0">
                <a:effectLst/>
              </a:rPr>
              <a:t>index to </a:t>
            </a:r>
            <a:r>
              <a:rPr lang="en-GB" sz="2600" i="1" dirty="0">
                <a:effectLst/>
              </a:rPr>
              <a:t>Essays and Treatises on </a:t>
            </a:r>
            <a:r>
              <a:rPr lang="en-GB" sz="2600" i="1">
                <a:effectLst/>
              </a:rPr>
              <a:t>Several Subjects</a:t>
            </a:r>
            <a:r>
              <a:rPr lang="en-GB" sz="2600">
                <a:effectLst/>
              </a:rPr>
              <a:t> (which includes the two </a:t>
            </a:r>
            <a:r>
              <a:rPr lang="en-GB" sz="2600" i="1">
                <a:effectLst/>
              </a:rPr>
              <a:t>Enquiries</a:t>
            </a:r>
            <a:r>
              <a:rPr lang="en-GB" sz="2600">
                <a:effectLst/>
              </a:rPr>
              <a:t>) </a:t>
            </a:r>
            <a:r>
              <a:rPr lang="en-GB" sz="2600" dirty="0">
                <a:effectLst/>
              </a:rPr>
              <a:t>“</a:t>
            </a:r>
            <a:r>
              <a:rPr lang="en-GB" sz="2600" cap="small" dirty="0">
                <a:effectLst/>
              </a:rPr>
              <a:t>Cause</a:t>
            </a:r>
            <a:r>
              <a:rPr lang="en-GB" sz="2600" dirty="0">
                <a:effectLst/>
              </a:rPr>
              <a:t> and </a:t>
            </a:r>
            <a:r>
              <a:rPr lang="en-GB" sz="2600" cap="small" dirty="0">
                <a:effectLst/>
              </a:rPr>
              <a:t>Effect</a:t>
            </a:r>
            <a:r>
              <a:rPr lang="en-GB" sz="2600" dirty="0">
                <a:effectLst/>
              </a:rPr>
              <a:t> ... Its Definition” refers to </a:t>
            </a:r>
            <a:r>
              <a:rPr lang="en-GB" sz="2600" i="1" dirty="0">
                <a:effectLst/>
              </a:rPr>
              <a:t>E</a:t>
            </a:r>
            <a:r>
              <a:rPr lang="en-GB" sz="2600" dirty="0">
                <a:effectLst/>
              </a:rPr>
              <a:t> 7.29 and 8.25 n. 19; “</a:t>
            </a:r>
            <a:r>
              <a:rPr lang="en-GB" sz="2600" cap="small" dirty="0">
                <a:effectLst/>
              </a:rPr>
              <a:t>Necessity</a:t>
            </a:r>
            <a:r>
              <a:rPr lang="en-GB" sz="2600" dirty="0">
                <a:effectLst/>
              </a:rPr>
              <a:t>, its definition” refers to </a:t>
            </a:r>
            <a:r>
              <a:rPr lang="en-GB" sz="2600" i="1" dirty="0">
                <a:effectLst/>
              </a:rPr>
              <a:t>E</a:t>
            </a:r>
            <a:r>
              <a:rPr lang="en-GB" sz="2600" dirty="0">
                <a:effectLst/>
              </a:rPr>
              <a:t> 8.5 and </a:t>
            </a:r>
            <a:r>
              <a:rPr lang="en-GB" sz="2600">
                <a:effectLst/>
              </a:rPr>
              <a:t>8.27.</a:t>
            </a:r>
          </a:p>
          <a:p>
            <a:pPr lvl="1">
              <a:spcBef>
                <a:spcPts val="600"/>
              </a:spcBef>
            </a:pPr>
            <a:r>
              <a:rPr lang="en-GB" sz="2200">
                <a:effectLst/>
              </a:rPr>
              <a:t>So he clearly takes both pairs of definitions to be significant.</a:t>
            </a:r>
            <a:endParaRPr lang="en-GB" sz="2200" dirty="0"/>
          </a:p>
        </p:txBody>
      </p:sp>
      <p:sp>
        <p:nvSpPr>
          <p:cNvPr id="4" name="Slide Number Placeholder 3">
            <a:extLst>
              <a:ext uri="{FF2B5EF4-FFF2-40B4-BE49-F238E27FC236}">
                <a16:creationId xmlns:a16="http://schemas.microsoft.com/office/drawing/2014/main" id="{FAD7ACF8-99AA-C963-4BA1-B9EC500B48F4}"/>
              </a:ext>
            </a:extLst>
          </p:cNvPr>
          <p:cNvSpPr>
            <a:spLocks noGrp="1"/>
          </p:cNvSpPr>
          <p:nvPr>
            <p:ph type="sldNum" sz="quarter" idx="10"/>
          </p:nvPr>
        </p:nvSpPr>
        <p:spPr/>
        <p:txBody>
          <a:bodyPr/>
          <a:lstStyle/>
          <a:p>
            <a:fld id="{A10A50DE-8775-498A-B5F5-974B635EB245}" type="slidenum">
              <a:rPr lang="en-US" smtClean="0"/>
              <a:pPr/>
              <a:t>219</a:t>
            </a:fld>
            <a:endParaRPr lang="en-US"/>
          </a:p>
        </p:txBody>
      </p:sp>
      <p:sp>
        <p:nvSpPr>
          <p:cNvPr id="5" name="Title 1">
            <a:extLst>
              <a:ext uri="{FF2B5EF4-FFF2-40B4-BE49-F238E27FC236}">
                <a16:creationId xmlns:a16="http://schemas.microsoft.com/office/drawing/2014/main" id="{32CA6499-7C79-D1D9-7BD5-A7432378B13D}"/>
              </a:ext>
            </a:extLst>
          </p:cNvPr>
          <p:cNvSpPr>
            <a:spLocks noGrp="1"/>
          </p:cNvSpPr>
          <p:nvPr>
            <p:ph type="title"/>
          </p:nvPr>
        </p:nvSpPr>
        <p:spPr>
          <a:xfrm>
            <a:off x="179512" y="116632"/>
            <a:ext cx="8784976" cy="648072"/>
          </a:xfrm>
        </p:spPr>
        <p:txBody>
          <a:bodyPr/>
          <a:lstStyle/>
          <a:p>
            <a:r>
              <a:rPr lang="en-GB"/>
              <a:t>The Two Definitions </a:t>
            </a:r>
            <a:r>
              <a:rPr lang="en-GB" dirty="0"/>
              <a:t>of Necessity</a:t>
            </a:r>
          </a:p>
        </p:txBody>
      </p:sp>
    </p:spTree>
    <p:extLst>
      <p:ext uri="{BB962C8B-B14F-4D97-AF65-F5344CB8AC3E}">
        <p14:creationId xmlns:p14="http://schemas.microsoft.com/office/powerpoint/2010/main" val="2003400077"/>
      </p:ext>
    </p:extLst>
  </p:cSld>
  <p:clrMapOvr>
    <a:masterClrMapping/>
  </p:clrMapOvr>
  <p:transition spd="med">
    <p:cover/>
  </p:transition>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124744"/>
            <a:ext cx="8532948" cy="5436604"/>
          </a:xfrm>
        </p:spPr>
        <p:txBody>
          <a:bodyPr/>
          <a:lstStyle/>
          <a:p>
            <a:r>
              <a:rPr lang="en-GB" sz="2700" dirty="0"/>
              <a:t>Hume’s first definition of cause and his first definition of necessity define both of these in terms of constant conjunction – an </a:t>
            </a:r>
            <a:r>
              <a:rPr lang="en-GB" sz="2700" i="1" dirty="0">
                <a:solidFill>
                  <a:srgbClr val="FF7C80"/>
                </a:solidFill>
              </a:rPr>
              <a:t>objective</a:t>
            </a:r>
            <a:r>
              <a:rPr lang="en-GB" sz="2700" dirty="0"/>
              <a:t> matter which is not merely “in the mind”.  But what about all those famous subjectivist passages from </a:t>
            </a:r>
            <a:r>
              <a:rPr lang="en-GB" sz="2700" i="1" dirty="0"/>
              <a:t>T</a:t>
            </a:r>
            <a:r>
              <a:rPr lang="en-GB" sz="2700" dirty="0"/>
              <a:t> 1.3.14.19-28?</a:t>
            </a:r>
          </a:p>
          <a:p>
            <a:pPr>
              <a:spcBef>
                <a:spcPts val="1800"/>
              </a:spcBef>
            </a:pPr>
            <a:r>
              <a:rPr lang="en-GB" sz="2700" dirty="0"/>
              <a:t>Hume seems to have decided (correctly) that they were a serious mistake!  For the </a:t>
            </a:r>
            <a:r>
              <a:rPr lang="en-GB" sz="2700" i="1" dirty="0"/>
              <a:t>Enquiry</a:t>
            </a:r>
            <a:r>
              <a:rPr lang="en-GB" sz="2700" dirty="0"/>
              <a:t> contains only two passages seeming to suggest that causal necessity is subjective, and neither really does so.</a:t>
            </a:r>
          </a:p>
          <a:p>
            <a:pPr lvl="1">
              <a:spcBef>
                <a:spcPts val="1200"/>
              </a:spcBef>
            </a:pPr>
            <a:r>
              <a:rPr lang="en-GB" sz="2300" dirty="0"/>
              <a:t>These are on the next two slides, with the apparently subjectivist parts highlighted in colour.  The underlined parts clarify that the subjectivism is </a:t>
            </a:r>
            <a:r>
              <a:rPr lang="en-GB" sz="2300" i="1" dirty="0"/>
              <a:t>merely</a:t>
            </a:r>
            <a:r>
              <a:rPr lang="en-GB" sz="2300" dirty="0"/>
              <a:t> apparent. </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220</a:t>
            </a:fld>
            <a:endParaRPr lang="en-US" dirty="0"/>
          </a:p>
        </p:txBody>
      </p:sp>
      <p:sp>
        <p:nvSpPr>
          <p:cNvPr id="5" name="Title 1"/>
          <p:cNvSpPr>
            <a:spLocks noGrp="1"/>
          </p:cNvSpPr>
          <p:nvPr>
            <p:ph type="title"/>
          </p:nvPr>
        </p:nvSpPr>
        <p:spPr>
          <a:xfrm>
            <a:off x="143508" y="241809"/>
            <a:ext cx="8881620" cy="630907"/>
          </a:xfrm>
        </p:spPr>
        <p:txBody>
          <a:bodyPr/>
          <a:lstStyle/>
          <a:p>
            <a:r>
              <a:rPr lang="en-GB" sz="4000"/>
              <a:t>Where is the Notorious Subjectivism?</a:t>
            </a:r>
            <a:endParaRPr lang="en-GB" sz="4000" dirty="0"/>
          </a:p>
        </p:txBody>
      </p:sp>
    </p:spTree>
    <p:extLst>
      <p:ext uri="{BB962C8B-B14F-4D97-AF65-F5344CB8AC3E}">
        <p14:creationId xmlns:p14="http://schemas.microsoft.com/office/powerpoint/2010/main" val="2284778634"/>
      </p:ext>
    </p:extLst>
  </p:cSld>
  <p:clrMapOvr>
    <a:masterClrMapping/>
  </p:clrMapOvr>
  <p:transition spd="med">
    <p:cover/>
  </p:transition>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buClr>
                <a:srgbClr val="00B0F0"/>
              </a:buClr>
              <a:buFont typeface="+mj-lt"/>
              <a:buAutoNum type="alphaLcParenR"/>
            </a:pPr>
            <a:r>
              <a:rPr lang="en-GB" sz="2400" i="1" dirty="0"/>
              <a:t>E</a:t>
            </a:r>
            <a:r>
              <a:rPr lang="en-GB" sz="2400" dirty="0"/>
              <a:t> 8.22 n. 18 is in a footnote largely copied verbatim from </a:t>
            </a:r>
            <a:br>
              <a:rPr lang="en-GB" sz="2400" dirty="0"/>
            </a:br>
            <a:r>
              <a:rPr lang="en-GB" sz="2400" i="1" dirty="0"/>
              <a:t>T</a:t>
            </a:r>
            <a:r>
              <a:rPr lang="en-GB" sz="2400" dirty="0"/>
              <a:t> 2.3.2.2, which aims to explain “the prevalence of the doctrine of liberty”.  And it clearly describes necessity in terms of </a:t>
            </a:r>
            <a:r>
              <a:rPr lang="en-GB" sz="2400" i="1" dirty="0"/>
              <a:t>potential</a:t>
            </a:r>
            <a:r>
              <a:rPr lang="en-GB" sz="2400" dirty="0"/>
              <a:t> (not </a:t>
            </a:r>
            <a:r>
              <a:rPr lang="en-GB" sz="2400" i="1" dirty="0"/>
              <a:t>actual</a:t>
            </a:r>
            <a:r>
              <a:rPr lang="en-GB" sz="2400" dirty="0"/>
              <a:t>) inference:</a:t>
            </a:r>
          </a:p>
          <a:p>
            <a:pPr marL="1200150" lvl="2" indent="-342900">
              <a:spcBef>
                <a:spcPts val="1200"/>
              </a:spcBef>
              <a:buClr>
                <a:srgbClr val="00B0F0"/>
              </a:buClr>
              <a:buFont typeface="Arial" panose="020B0604020202020204" pitchFamily="34" charset="0"/>
              <a:buChar char=" "/>
            </a:pPr>
            <a:r>
              <a:rPr lang="en-US" sz="2200" dirty="0">
                <a:effectLst/>
              </a:rPr>
              <a:t>“…  </a:t>
            </a:r>
            <a:r>
              <a:rPr lang="en-US" sz="2200" dirty="0">
                <a:solidFill>
                  <a:srgbClr val="FF7C80"/>
                </a:solidFill>
                <a:effectLst/>
              </a:rPr>
              <a:t>The necessity of any action, whether of matter or of mind, is not, properly speaking, a quality in the agent, but in any thinking or intelligent being, </a:t>
            </a:r>
            <a:r>
              <a:rPr lang="en-US" sz="2200" u="sng" dirty="0">
                <a:solidFill>
                  <a:srgbClr val="FF7C80"/>
                </a:solidFill>
                <a:effectLst/>
              </a:rPr>
              <a:t>who may</a:t>
            </a:r>
            <a:r>
              <a:rPr lang="en-US" sz="2200" dirty="0">
                <a:solidFill>
                  <a:srgbClr val="FF7C80"/>
                </a:solidFill>
                <a:effectLst/>
              </a:rPr>
              <a:t> consider the action; and it consists chiefly in the determination of his thoughts to infer the existence of that action from some preceding objects; </a:t>
            </a:r>
            <a:r>
              <a:rPr lang="en-US" sz="2200" dirty="0">
                <a:effectLst/>
              </a:rPr>
              <a:t>…  however we may imagine we feel a liberty within ourselves, </a:t>
            </a:r>
            <a:r>
              <a:rPr lang="en-US" sz="2200" u="sng" dirty="0">
                <a:effectLst/>
              </a:rPr>
              <a:t>a spectator can commonly infer our actions from our motives and character; and even where he cannot, he concludes in general, that he might, were he perfectly acquainted with every circumstance of our situation and temper, and the most secret springs of our complexion and disposition. Now this is the very essence of necessity</a:t>
            </a:r>
            <a:r>
              <a:rPr lang="en-US" sz="2200" dirty="0">
                <a:effectLst/>
              </a:rPr>
              <a:t>, according to the foregoing doctrine.”</a:t>
            </a:r>
            <a:endParaRPr lang="en-GB" sz="2200" dirty="0"/>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221</a:t>
            </a:fld>
            <a:endParaRPr lang="en-US"/>
          </a:p>
        </p:txBody>
      </p:sp>
    </p:spTree>
    <p:extLst>
      <p:ext uri="{BB962C8B-B14F-4D97-AF65-F5344CB8AC3E}">
        <p14:creationId xmlns:p14="http://schemas.microsoft.com/office/powerpoint/2010/main" val="4035867398"/>
      </p:ext>
    </p:extLst>
  </p:cSld>
  <p:clrMapOvr>
    <a:masterClrMapping/>
  </p:clrMapOvr>
  <p:transition spd="med">
    <p:cover/>
  </p:transition>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spcBef>
                <a:spcPts val="1200"/>
              </a:spcBef>
              <a:buClr>
                <a:srgbClr val="00B0F0"/>
              </a:buClr>
              <a:buFont typeface="+mj-lt"/>
              <a:buAutoNum type="alphaLcParenR" startAt="2"/>
            </a:pPr>
            <a:r>
              <a:rPr lang="en-GB" sz="2400" i="1" dirty="0"/>
              <a:t>E</a:t>
            </a:r>
            <a:r>
              <a:rPr lang="en-GB" sz="2400" dirty="0"/>
              <a:t> 7.28 seems subjectivist, but it occurs in the paragraph immediately before the two definitions of cause.  As soon as the definitions have been presented, an alternative objectivist understanding becomes available:</a:t>
            </a:r>
            <a:endParaRPr lang="en-GB" sz="2400" i="1" dirty="0"/>
          </a:p>
          <a:p>
            <a:pPr lvl="2">
              <a:spcBef>
                <a:spcPts val="1200"/>
              </a:spcBef>
            </a:pPr>
            <a:r>
              <a:rPr lang="en-GB" sz="2000" dirty="0"/>
              <a:t>“</a:t>
            </a:r>
            <a:r>
              <a:rPr lang="en-GB" sz="2000" dirty="0">
                <a:solidFill>
                  <a:srgbClr val="FF7C80"/>
                </a:solidFill>
              </a:rPr>
              <a:t>When we say, therefore, that one object is connected with another, we mean only, that they have acquired a connexion in our thought, and give rise to this inference,</a:t>
            </a:r>
            <a:r>
              <a:rPr lang="en-GB" sz="2000" dirty="0">
                <a:solidFill>
                  <a:srgbClr val="92D050"/>
                </a:solidFill>
              </a:rPr>
              <a:t> ...</a:t>
            </a:r>
            <a:r>
              <a:rPr lang="en-GB" sz="2000" dirty="0"/>
              <a:t>” (</a:t>
            </a:r>
            <a:r>
              <a:rPr lang="en-GB" sz="2000" i="1" dirty="0"/>
              <a:t>E</a:t>
            </a:r>
            <a:r>
              <a:rPr lang="en-GB" sz="2000" dirty="0"/>
              <a:t> 7.28)</a:t>
            </a:r>
          </a:p>
          <a:p>
            <a:pPr marL="914400" lvl="2" indent="0" algn="ctr">
              <a:spcBef>
                <a:spcPts val="1200"/>
              </a:spcBef>
              <a:buNone/>
            </a:pPr>
            <a:r>
              <a:rPr lang="en-GB" sz="2000" i="1" dirty="0"/>
              <a:t>&lt;E 7.29:  Two definitions of cause&gt;</a:t>
            </a:r>
          </a:p>
          <a:p>
            <a:pPr lvl="2">
              <a:spcBef>
                <a:spcPts val="1200"/>
              </a:spcBef>
            </a:pPr>
            <a:r>
              <a:rPr lang="en-GB" sz="2000" dirty="0"/>
              <a:t>We say, for instance, that the vibration of this string is the cause of this particular sound.  But what do we mean by that affirmation?  </a:t>
            </a:r>
            <a:r>
              <a:rPr lang="en-GB" sz="2000" u="sng" dirty="0"/>
              <a:t>We either mean</a:t>
            </a:r>
            <a:r>
              <a:rPr lang="en-GB" sz="2000" dirty="0"/>
              <a:t>, </a:t>
            </a:r>
            <a:r>
              <a:rPr lang="en-GB" sz="2000" i="1" dirty="0"/>
              <a:t>that this vibration is followed by this sound, and that all similar vibrations have been followed by similar sounds:</a:t>
            </a:r>
            <a:r>
              <a:rPr lang="en-GB" sz="2000" dirty="0"/>
              <a:t> </a:t>
            </a:r>
            <a:r>
              <a:rPr lang="en-GB" sz="2000" u="sng" dirty="0"/>
              <a:t>Or</a:t>
            </a:r>
            <a:r>
              <a:rPr lang="en-GB" sz="2000" dirty="0"/>
              <a:t>, </a:t>
            </a:r>
            <a:r>
              <a:rPr lang="en-GB" sz="2000" i="1" dirty="0"/>
              <a:t>that this vibration is followed by this sound, and that upon the appearance of one, the mind anticipates the senses, and forms immediately an idea of the other</a:t>
            </a:r>
            <a:r>
              <a:rPr lang="en-GB" sz="2000" dirty="0"/>
              <a:t>.  </a:t>
            </a:r>
            <a:r>
              <a:rPr lang="en-GB" sz="2000" u="sng" dirty="0"/>
              <a:t>We may consider the relation of cause and effect in either of these two lights</a:t>
            </a:r>
            <a:r>
              <a:rPr lang="en-GB" sz="2000" dirty="0"/>
              <a:t>; but beyond these, we have no idea of it.  (</a:t>
            </a:r>
            <a:r>
              <a:rPr lang="en-GB" sz="2000" i="1" dirty="0"/>
              <a:t>E</a:t>
            </a:r>
            <a:r>
              <a:rPr lang="en-GB" sz="2000" dirty="0"/>
              <a:t> 7.29)</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222</a:t>
            </a:fld>
            <a:endParaRPr lang="en-US"/>
          </a:p>
        </p:txBody>
      </p:sp>
    </p:spTree>
    <p:extLst>
      <p:ext uri="{BB962C8B-B14F-4D97-AF65-F5344CB8AC3E}">
        <p14:creationId xmlns:p14="http://schemas.microsoft.com/office/powerpoint/2010/main" val="1847054390"/>
      </p:ext>
    </p:extLst>
  </p:cSld>
  <p:clrMapOvr>
    <a:masterClrMapping/>
  </p:clrMapOvr>
  <p:transition spd="med">
    <p:cover/>
  </p:transition>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203848" y="2960948"/>
            <a:ext cx="5724636" cy="1656184"/>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9999"/>
                </a:solidFill>
                <a:effectLst>
                  <a:outerShdw blurRad="38100" dist="38100" dir="2700000" algn="tl">
                    <a:srgbClr val="000000"/>
                  </a:outerShdw>
                </a:effectLst>
              </a:rPr>
              <a:t>6</a:t>
            </a:r>
            <a:r>
              <a:rPr lang="en-GB" sz="3000" i="1">
                <a:solidFill>
                  <a:srgbClr val="FF9999"/>
                </a:solidFill>
                <a:effectLst>
                  <a:outerShdw blurRad="38100" dist="38100" dir="2700000" algn="tl">
                    <a:srgbClr val="000000"/>
                  </a:outerShdw>
                </a:effectLst>
              </a:rPr>
              <a:t>. From Book 1 Part 3</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to Part 4: “Sceptical</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Systems of Philosophy”</a:t>
            </a:r>
            <a:endParaRPr lang="en-GB" sz="3000" i="1" dirty="0">
              <a:solidFill>
                <a:srgbClr val="FF9999"/>
              </a:solidFill>
              <a:effectLst>
                <a:outerShdw blurRad="38100" dist="38100" dir="2700000" algn="tl">
                  <a:srgbClr val="000000"/>
                </a:outerShdw>
              </a:effectLst>
            </a:endParaRPr>
          </a:p>
          <a:p>
            <a:pPr algn="ctr" eaLnBrk="1" hangingPunct="1">
              <a:spcBef>
                <a:spcPts val="1800"/>
              </a:spcBef>
              <a:buClr>
                <a:schemeClr val="hlink"/>
              </a:buClr>
              <a:buSzPct val="90000"/>
              <a:buFont typeface="Wingdings" charset="2"/>
              <a:buNone/>
            </a:pPr>
            <a:endParaRPr lang="en-US" sz="3000" i="1" dirty="0">
              <a:solidFill>
                <a:srgbClr val="FF9999"/>
              </a:solidFill>
              <a:effectLst>
                <a:outerShdw blurRad="38100" dist="38100" dir="2700000" algn="tl">
                  <a:srgbClr val="000000"/>
                </a:outerShdw>
              </a:effectLst>
            </a:endParaRPr>
          </a:p>
        </p:txBody>
      </p:sp>
    </p:spTree>
    <p:extLst>
      <p:ext uri="{BB962C8B-B14F-4D97-AF65-F5344CB8AC3E}">
        <p14:creationId xmlns:p14="http://schemas.microsoft.com/office/powerpoint/2010/main" val="873874803"/>
      </p:ext>
    </p:extLst>
  </p:cSld>
  <p:clrMapOvr>
    <a:masterClrMapping/>
  </p:clrMapOvr>
  <p:transition spd="med">
    <p:cover/>
  </p:transition>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B192E7B-86B2-4036-A92F-86C49A118DAF}" type="slidenum">
              <a:rPr lang="en-US" altLang="en-US"/>
              <a:pPr/>
              <a:t>224</a:t>
            </a:fld>
            <a:endParaRPr lang="en-US" altLang="en-US"/>
          </a:p>
        </p:txBody>
      </p:sp>
      <p:sp>
        <p:nvSpPr>
          <p:cNvPr id="899074" name="Rectangle 2"/>
          <p:cNvSpPr>
            <a:spLocks noGrp="1" noChangeArrowheads="1"/>
          </p:cNvSpPr>
          <p:nvPr>
            <p:ph type="title"/>
          </p:nvPr>
        </p:nvSpPr>
        <p:spPr>
          <a:xfrm>
            <a:off x="457200" y="116632"/>
            <a:ext cx="8229600" cy="702915"/>
          </a:xfrm>
        </p:spPr>
        <p:txBody>
          <a:bodyPr/>
          <a:lstStyle/>
          <a:p>
            <a:r>
              <a:rPr lang="en-GB" altLang="en-US" sz="4000" dirty="0"/>
              <a:t>From Last Time …</a:t>
            </a:r>
          </a:p>
        </p:txBody>
      </p:sp>
      <p:sp>
        <p:nvSpPr>
          <p:cNvPr id="6" name="Rectangle 3"/>
          <p:cNvSpPr txBox="1">
            <a:spLocks noChangeArrowheads="1"/>
          </p:cNvSpPr>
          <p:nvPr/>
        </p:nvSpPr>
        <p:spPr bwMode="auto">
          <a:xfrm>
            <a:off x="457200" y="1088740"/>
            <a:ext cx="8435281" cy="54006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We studied </a:t>
            </a:r>
            <a:r>
              <a:rPr kumimoji="0" lang="en-GB" sz="2700" b="0" i="1"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Treatise</a:t>
            </a:r>
            <a:r>
              <a:rPr kumimoji="0" lang="en-GB" sz="2700" b="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 1.3.14, the culmination of</a:t>
            </a: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 Hume’s </a:t>
            </a:r>
            <a:r>
              <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search for the source of the idea of causal necessity, which largely </a:t>
            </a: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structures Book 1 Part 3.</a:t>
            </a:r>
            <a:endPar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700" kern="0" dirty="0">
                <a:effectLst>
                  <a:outerShdw blurRad="38100" dist="38100" dir="2700000" algn="tl">
                    <a:srgbClr val="000000"/>
                  </a:outerShdw>
                </a:effectLst>
                <a:latin typeface="+mn-lt"/>
              </a:rPr>
              <a:t>We noted </a:t>
            </a:r>
            <a:r>
              <a:rPr lang="en-GB" sz="2700" kern="0">
                <a:effectLst>
                  <a:outerShdw blurRad="38100" dist="38100" dir="2700000" algn="tl">
                    <a:srgbClr val="000000"/>
                  </a:outerShdw>
                </a:effectLst>
                <a:latin typeface="+mn-lt"/>
              </a:rPr>
              <a:t>some interpretative complications, which can be largely resolved by reference to Hume’s later presentation of the same topic in </a:t>
            </a:r>
            <a:r>
              <a:rPr lang="en-GB" sz="2700" i="1" kern="0">
                <a:effectLst>
                  <a:outerShdw blurRad="38100" dist="38100" dir="2700000" algn="tl">
                    <a:srgbClr val="000000"/>
                  </a:outerShdw>
                </a:effectLst>
                <a:latin typeface="+mn-lt"/>
              </a:rPr>
              <a:t>Enquiry</a:t>
            </a:r>
            <a:r>
              <a:rPr lang="en-GB" sz="2700" kern="0">
                <a:effectLst>
                  <a:outerShdw blurRad="38100" dist="38100" dir="2700000" algn="tl">
                    <a:srgbClr val="000000"/>
                  </a:outerShdw>
                </a:effectLst>
                <a:latin typeface="+mn-lt"/>
              </a:rPr>
              <a:t> 7, also titled “Of the Idea of Necessary Connexion”.</a:t>
            </a:r>
            <a:endParaRPr lang="en-GB" sz="2700" kern="0" dirty="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700" kern="0">
                <a:effectLst>
                  <a:outerShdw blurRad="38100" dist="38100" dir="2700000" algn="tl">
                    <a:srgbClr val="000000"/>
                  </a:outerShdw>
                </a:effectLst>
                <a:latin typeface="+mn-lt"/>
              </a:rPr>
              <a:t>Despite some misleading passages, Hume </a:t>
            </a:r>
            <a:r>
              <a:rPr lang="en-GB" sz="2700" kern="0" dirty="0">
                <a:effectLst>
                  <a:outerShdw blurRad="38100" dist="38100" dir="2700000" algn="tl">
                    <a:srgbClr val="000000"/>
                  </a:outerShdw>
                </a:effectLst>
                <a:latin typeface="+mn-lt"/>
              </a:rPr>
              <a:t>seems clearly to be a believer </a:t>
            </a:r>
            <a:r>
              <a:rPr lang="en-GB" sz="2700" kern="0">
                <a:effectLst>
                  <a:outerShdw blurRad="38100" dist="38100" dir="2700000" algn="tl">
                    <a:srgbClr val="000000"/>
                  </a:outerShdw>
                </a:effectLst>
                <a:latin typeface="+mn-lt"/>
              </a:rPr>
              <a:t>in </a:t>
            </a:r>
            <a:r>
              <a:rPr lang="en-GB" sz="2700" i="1" kern="0">
                <a:effectLst>
                  <a:outerShdw blurRad="38100" dist="38100" dir="2700000" algn="tl">
                    <a:srgbClr val="000000"/>
                  </a:outerShdw>
                </a:effectLst>
                <a:latin typeface="+mn-lt"/>
              </a:rPr>
              <a:t>objective</a:t>
            </a:r>
            <a:r>
              <a:rPr lang="en-GB" sz="2700" kern="0">
                <a:effectLst>
                  <a:outerShdw blurRad="38100" dist="38100" dir="2700000" algn="tl">
                    <a:srgbClr val="000000"/>
                  </a:outerShdw>
                </a:effectLst>
                <a:latin typeface="+mn-lt"/>
              </a:rPr>
              <a:t> causal necessity (understood in terms of regularity).  He </a:t>
            </a:r>
            <a:r>
              <a:rPr lang="en-GB" sz="2700" kern="0" dirty="0">
                <a:effectLst>
                  <a:outerShdw blurRad="38100" dist="38100" dir="2700000" algn="tl">
                    <a:srgbClr val="000000"/>
                  </a:outerShdw>
                </a:effectLst>
                <a:latin typeface="+mn-lt"/>
              </a:rPr>
              <a:t>identifies what he takes to be a </a:t>
            </a:r>
            <a:r>
              <a:rPr lang="en-GB" sz="2700" i="1" kern="0" dirty="0">
                <a:effectLst>
                  <a:outerShdw blurRad="38100" dist="38100" dir="2700000" algn="tl">
                    <a:srgbClr val="000000"/>
                  </a:outerShdw>
                </a:effectLst>
                <a:latin typeface="+mn-lt"/>
              </a:rPr>
              <a:t>legitimate</a:t>
            </a:r>
            <a:r>
              <a:rPr lang="en-GB" sz="2700" kern="0" dirty="0">
                <a:effectLst>
                  <a:outerShdw blurRad="38100" dist="38100" dir="2700000" algn="tl">
                    <a:srgbClr val="000000"/>
                  </a:outerShdw>
                </a:effectLst>
                <a:latin typeface="+mn-lt"/>
              </a:rPr>
              <a:t> impression for the crucial idea, and advocates </a:t>
            </a:r>
            <a:r>
              <a:rPr lang="en-GB" sz="2700" kern="0">
                <a:effectLst>
                  <a:outerShdw blurRad="38100" dist="38100" dir="2700000" algn="tl">
                    <a:srgbClr val="000000"/>
                  </a:outerShdw>
                </a:effectLst>
                <a:latin typeface="+mn-lt"/>
              </a:rPr>
              <a:t>causal investigation …</a:t>
            </a:r>
            <a:endParaRPr lang="en-GB" sz="2700" kern="0" dirty="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endPar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4294664119"/>
      </p:ext>
    </p:extLst>
  </p:cSld>
  <p:clrMapOvr>
    <a:masterClrMapping/>
  </p:clrMapOvr>
  <p:transition spd="med">
    <p:cover/>
  </p:transition>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744D10B-E7D6-4D69-AA1F-794C20F110D7}" type="slidenum">
              <a:rPr lang="en-US"/>
              <a:pPr/>
              <a:t>225</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dirty="0"/>
              <a:t>6(a)</a:t>
            </a:r>
            <a:br>
              <a:rPr lang="en-GB" sz="4800" dirty="0"/>
            </a:br>
            <a:br>
              <a:rPr lang="en-GB" sz="4800"/>
            </a:br>
            <a:r>
              <a:rPr lang="en-GB" sz="4800"/>
              <a:t>Causal Rules, to Liberty and Necessity</a:t>
            </a:r>
            <a:endParaRPr lang="en-US" sz="4800" dirty="0"/>
          </a:p>
        </p:txBody>
      </p:sp>
      <p:pic>
        <p:nvPicPr>
          <p:cNvPr id="1061891"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1250091555"/>
      </p:ext>
    </p:extLst>
  </p:cSld>
  <p:clrMapOvr>
    <a:masterClrMapping/>
  </p:clrMapOvr>
  <p:transition spd="med">
    <p:cover/>
  </p:transition>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CA555D7-F766-471D-A2EB-D494A17B3FC1}" type="slidenum">
              <a:rPr lang="en-US"/>
              <a:pPr/>
              <a:t>226</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6E300B7-0154-44FB-B594-C2F32620B484}" type="slidenum">
              <a:rPr lang="en-US" sz="1600">
                <a:effectLst>
                  <a:outerShdw blurRad="38100" dist="38100" dir="2700000" algn="tl">
                    <a:srgbClr val="000000"/>
                  </a:outerShdw>
                </a:effectLst>
                <a:ea typeface="ＭＳ Ｐゴシック" charset="-128"/>
              </a:rPr>
              <a:pPr eaLnBrk="1" hangingPunct="1"/>
              <a:t>226</a:t>
            </a:fld>
            <a:endParaRPr lang="en-US" sz="1600">
              <a:effectLst>
                <a:outerShdw blurRad="38100" dist="38100" dir="2700000" algn="tl">
                  <a:srgbClr val="000000"/>
                </a:outerShdw>
              </a:effectLst>
              <a:ea typeface="ＭＳ Ｐゴシック" charset="-128"/>
            </a:endParaRPr>
          </a:p>
        </p:txBody>
      </p:sp>
      <p:sp>
        <p:nvSpPr>
          <p:cNvPr id="619522" name="Rectangle 2"/>
          <p:cNvSpPr>
            <a:spLocks noGrp="1" noChangeArrowheads="1"/>
          </p:cNvSpPr>
          <p:nvPr>
            <p:ph type="title" idx="4294967295"/>
          </p:nvPr>
        </p:nvSpPr>
        <p:spPr>
          <a:xfrm>
            <a:off x="457200" y="116632"/>
            <a:ext cx="8229600" cy="774923"/>
          </a:xfrm>
        </p:spPr>
        <p:txBody>
          <a:bodyPr/>
          <a:lstStyle/>
          <a:p>
            <a:r>
              <a:rPr lang="en-GB" sz="4000" dirty="0"/>
              <a:t>The Rules of </a:t>
            </a:r>
            <a:r>
              <a:rPr lang="en-GB" sz="4000" i="1" dirty="0"/>
              <a:t>Treatise</a:t>
            </a:r>
            <a:r>
              <a:rPr lang="en-GB" sz="4000" dirty="0"/>
              <a:t> 1.3.15</a:t>
            </a:r>
          </a:p>
        </p:txBody>
      </p:sp>
      <p:sp>
        <p:nvSpPr>
          <p:cNvPr id="619523" name="Rectangle 3"/>
          <p:cNvSpPr>
            <a:spLocks noGrp="1" noChangeArrowheads="1"/>
          </p:cNvSpPr>
          <p:nvPr>
            <p:ph type="body" idx="4294967295"/>
          </p:nvPr>
        </p:nvSpPr>
        <p:spPr>
          <a:xfrm>
            <a:off x="359532" y="1088740"/>
            <a:ext cx="8327268" cy="5436604"/>
          </a:xfrm>
        </p:spPr>
        <p:txBody>
          <a:bodyPr/>
          <a:lstStyle/>
          <a:p>
            <a:pPr>
              <a:spcBef>
                <a:spcPts val="1200"/>
              </a:spcBef>
            </a:pPr>
            <a:r>
              <a:rPr lang="en-GB" sz="2800"/>
              <a:t>Following </a:t>
            </a:r>
            <a:r>
              <a:rPr lang="en-GB" sz="2800" dirty="0"/>
              <a:t>the </a:t>
            </a:r>
            <a:r>
              <a:rPr lang="en-GB" sz="2800"/>
              <a:t>two definitions of cause and their corollaries (at the end of </a:t>
            </a:r>
            <a:r>
              <a:rPr lang="en-GB" sz="2800" i="1"/>
              <a:t>Treatise</a:t>
            </a:r>
            <a:r>
              <a:rPr lang="en-GB" sz="2800"/>
              <a:t> 1.3.14), Hume in the next section gives his (clearly objectivist) “Rules by which to judge of causes and effects”:</a:t>
            </a:r>
            <a:endParaRPr lang="en-GB" sz="2800" dirty="0"/>
          </a:p>
          <a:p>
            <a:pPr lvl="1">
              <a:spcBef>
                <a:spcPts val="1800"/>
              </a:spcBef>
            </a:pPr>
            <a:r>
              <a:rPr lang="en-GB" sz="2300" dirty="0"/>
              <a:t>“Since therefore ’tis possible for all objects to become causes or effects to each other, it may be proper to fix some general rules, </a:t>
            </a:r>
            <a:r>
              <a:rPr lang="en-GB" sz="2300" i="1" dirty="0">
                <a:solidFill>
                  <a:srgbClr val="FF9999"/>
                </a:solidFill>
              </a:rPr>
              <a:t>by which we may know when they really are so</a:t>
            </a:r>
            <a:r>
              <a:rPr lang="en-GB" sz="2300" dirty="0"/>
              <a:t>.”  (</a:t>
            </a:r>
            <a:r>
              <a:rPr lang="en-GB" sz="2300" i="1"/>
              <a:t>T</a:t>
            </a:r>
            <a:r>
              <a:rPr lang="en-GB" sz="2300"/>
              <a:t> 1.3.15.1, emphasis added)</a:t>
            </a:r>
            <a:endParaRPr lang="en-GB" sz="2300" dirty="0"/>
          </a:p>
          <a:p>
            <a:pPr lvl="1">
              <a:spcBef>
                <a:spcPts val="1800"/>
              </a:spcBef>
            </a:pPr>
            <a:r>
              <a:rPr lang="en-GB" sz="2300" dirty="0"/>
              <a:t>“[Phenomena] in nature [are] compounded and </a:t>
            </a:r>
            <a:r>
              <a:rPr lang="en-GB" sz="2300" dirty="0" err="1"/>
              <a:t>modify’d</a:t>
            </a:r>
            <a:r>
              <a:rPr lang="en-GB" sz="2300" dirty="0"/>
              <a:t> by so many different circumstances, that … we must carefully separate whatever is superfluous, and enquire by new experiments, if every particular circumstance of the first experiment was essential to it”.  (</a:t>
            </a:r>
            <a:r>
              <a:rPr lang="en-GB" sz="2300" i="1" dirty="0"/>
              <a:t>T</a:t>
            </a:r>
            <a:r>
              <a:rPr lang="en-GB" sz="2300" dirty="0"/>
              <a:t> 1.3.15.11)</a:t>
            </a:r>
            <a:r>
              <a:rPr lang="en-US" sz="2300" dirty="0"/>
              <a:t> </a:t>
            </a:r>
            <a:endParaRPr lang="en-GB" sz="2300" dirty="0"/>
          </a:p>
        </p:txBody>
      </p:sp>
    </p:spTree>
    <p:extLst>
      <p:ext uri="{BB962C8B-B14F-4D97-AF65-F5344CB8AC3E}">
        <p14:creationId xmlns:p14="http://schemas.microsoft.com/office/powerpoint/2010/main" val="2280454590"/>
      </p:ext>
    </p:extLst>
  </p:cSld>
  <p:clrMapOvr>
    <a:masterClrMapping/>
  </p:clrMapOvr>
  <p:transition spd="med">
    <p:cover/>
  </p:transition>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29208" y="272095"/>
            <a:ext cx="8327268" cy="6541281"/>
          </a:xfrm>
        </p:spPr>
        <p:txBody>
          <a:bodyPr/>
          <a:lstStyle/>
          <a:p>
            <a:pPr marL="0" indent="0">
              <a:buNone/>
            </a:pPr>
            <a:r>
              <a:rPr lang="en-US" sz="2200" dirty="0"/>
              <a:t>“1. The cause and effect must be </a:t>
            </a:r>
            <a:r>
              <a:rPr lang="en-US" sz="2200" dirty="0">
                <a:solidFill>
                  <a:srgbClr val="FF9999"/>
                </a:solidFill>
              </a:rPr>
              <a:t>contiguous</a:t>
            </a:r>
            <a:r>
              <a:rPr lang="en-US" sz="2200" dirty="0"/>
              <a:t> in space and time.</a:t>
            </a:r>
          </a:p>
          <a:p>
            <a:pPr marL="0" indent="0">
              <a:spcBef>
                <a:spcPts val="600"/>
              </a:spcBef>
              <a:buNone/>
            </a:pPr>
            <a:r>
              <a:rPr lang="en-US" sz="2200" dirty="0"/>
              <a:t>2. The cause must be </a:t>
            </a:r>
            <a:r>
              <a:rPr lang="en-US" sz="2200" dirty="0">
                <a:solidFill>
                  <a:srgbClr val="FF9999"/>
                </a:solidFill>
              </a:rPr>
              <a:t>prior</a:t>
            </a:r>
            <a:r>
              <a:rPr lang="en-US" sz="2200" dirty="0"/>
              <a:t> to the effect.</a:t>
            </a:r>
          </a:p>
          <a:p>
            <a:pPr marL="0" indent="0">
              <a:spcBef>
                <a:spcPts val="600"/>
              </a:spcBef>
              <a:buNone/>
            </a:pPr>
            <a:r>
              <a:rPr lang="en-US" sz="2200" dirty="0"/>
              <a:t>3. </a:t>
            </a:r>
            <a:r>
              <a:rPr lang="en-US" sz="2200" dirty="0">
                <a:solidFill>
                  <a:srgbClr val="FF9999"/>
                </a:solidFill>
              </a:rPr>
              <a:t>There must be a constant union betwixt the cause and effect.  </a:t>
            </a:r>
            <a:r>
              <a:rPr lang="en-US" sz="2200" dirty="0" err="1">
                <a:solidFill>
                  <a:srgbClr val="FF9999"/>
                </a:solidFill>
              </a:rPr>
              <a:t>’Tis</a:t>
            </a:r>
            <a:r>
              <a:rPr lang="en-US" sz="2200" dirty="0">
                <a:solidFill>
                  <a:srgbClr val="FF9999"/>
                </a:solidFill>
              </a:rPr>
              <a:t> chiefly this quality, that constitutes the relation</a:t>
            </a:r>
            <a:r>
              <a:rPr lang="en-US" sz="2200" dirty="0"/>
              <a:t>.</a:t>
            </a:r>
          </a:p>
          <a:p>
            <a:pPr marL="0" indent="0">
              <a:spcBef>
                <a:spcPts val="600"/>
              </a:spcBef>
              <a:buNone/>
            </a:pPr>
            <a:r>
              <a:rPr lang="en-US" sz="2200" dirty="0"/>
              <a:t>4. The same cause always produces the same effect, and the same effect never arises but from the same cause.  ...</a:t>
            </a:r>
          </a:p>
          <a:p>
            <a:pPr marL="0" indent="0">
              <a:spcBef>
                <a:spcPts val="600"/>
              </a:spcBef>
              <a:buNone/>
            </a:pPr>
            <a:r>
              <a:rPr lang="en-US" sz="2200" dirty="0"/>
              <a:t>5. ... where several different objects produce the same effect, it must be by means of some quality, … common amongst them ...</a:t>
            </a:r>
          </a:p>
          <a:p>
            <a:pPr marL="0" indent="0">
              <a:spcBef>
                <a:spcPts val="600"/>
              </a:spcBef>
              <a:buNone/>
            </a:pPr>
            <a:r>
              <a:rPr lang="en-US" sz="2200" dirty="0"/>
              <a:t>6. ...  The difference in the effects of two resembling objects must proceed from that particular, in which they differ.  ...</a:t>
            </a:r>
          </a:p>
          <a:p>
            <a:pPr marL="0" indent="0">
              <a:spcBef>
                <a:spcPts val="600"/>
              </a:spcBef>
              <a:buNone/>
            </a:pPr>
            <a:r>
              <a:rPr lang="en-US" sz="2200" dirty="0"/>
              <a:t>7. When any object </a:t>
            </a:r>
            <a:r>
              <a:rPr lang="en-US" sz="2200" dirty="0" err="1"/>
              <a:t>encreases</a:t>
            </a:r>
            <a:r>
              <a:rPr lang="en-US" sz="2200" dirty="0"/>
              <a:t> or diminishes with the </a:t>
            </a:r>
            <a:r>
              <a:rPr lang="en-US" sz="2200" dirty="0" err="1"/>
              <a:t>encrease</a:t>
            </a:r>
            <a:r>
              <a:rPr lang="en-US" sz="2200" dirty="0"/>
              <a:t> or diminution of its cause, ’tis to be regarded as a compounded effect, </a:t>
            </a:r>
            <a:r>
              <a:rPr lang="en-US" sz="2200" dirty="0" err="1"/>
              <a:t>deriv’d</a:t>
            </a:r>
            <a:r>
              <a:rPr lang="en-US" sz="2200" dirty="0"/>
              <a:t> from the union of the several different effects, which arise from </a:t>
            </a:r>
            <a:r>
              <a:rPr lang="en-US" sz="2200" dirty="0">
                <a:solidFill>
                  <a:srgbClr val="FF9999"/>
                </a:solidFill>
              </a:rPr>
              <a:t>the several different parts</a:t>
            </a:r>
            <a:r>
              <a:rPr lang="en-US" sz="2200" dirty="0"/>
              <a:t> of the cause.”</a:t>
            </a:r>
          </a:p>
          <a:p>
            <a:pPr marL="0" indent="0">
              <a:spcBef>
                <a:spcPts val="600"/>
              </a:spcBef>
              <a:buNone/>
            </a:pPr>
            <a:r>
              <a:rPr lang="en-US" sz="2200" dirty="0"/>
              <a:t>8.  ... an object, which exists for any time in its full perfection without any effect, is not the sole cause of that effect ...”</a:t>
            </a:r>
          </a:p>
          <a:p>
            <a:pPr marL="0" indent="0">
              <a:buNone/>
            </a:pPr>
            <a:r>
              <a:rPr lang="en-US" sz="2200" dirty="0"/>
              <a:t>						(T 1.3.15.3-10)</a:t>
            </a:r>
          </a:p>
          <a:p>
            <a:pPr marL="0" indent="0">
              <a:buNone/>
            </a:pPr>
            <a:endParaRPr lang="en-GB" sz="22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227</a:t>
            </a:fld>
            <a:endParaRPr lang="en-US"/>
          </a:p>
        </p:txBody>
      </p:sp>
    </p:spTree>
    <p:extLst>
      <p:ext uri="{BB962C8B-B14F-4D97-AF65-F5344CB8AC3E}">
        <p14:creationId xmlns:p14="http://schemas.microsoft.com/office/powerpoint/2010/main" val="1451351074"/>
      </p:ext>
    </p:extLst>
  </p:cSld>
  <p:clrMapOvr>
    <a:masterClrMapping/>
  </p:clrMapOvr>
  <p:transition spd="med">
    <p:cover/>
  </p:transition>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052736"/>
            <a:ext cx="8712968" cy="5508612"/>
          </a:xfrm>
        </p:spPr>
        <p:txBody>
          <a:bodyPr/>
          <a:lstStyle/>
          <a:p>
            <a:pPr>
              <a:spcBef>
                <a:spcPts val="1200"/>
              </a:spcBef>
            </a:pPr>
            <a:r>
              <a:rPr lang="en-GB" sz="2700" dirty="0"/>
              <a:t>In </a:t>
            </a:r>
            <a:r>
              <a:rPr lang="en-GB" sz="2700"/>
              <a:t>the </a:t>
            </a:r>
            <a:r>
              <a:rPr lang="en-GB" sz="2700" i="1"/>
              <a:t>Enquiry</a:t>
            </a:r>
            <a:r>
              <a:rPr lang="en-GB" sz="2700" dirty="0"/>
              <a:t>, </a:t>
            </a:r>
            <a:r>
              <a:rPr lang="en-GB" sz="2700"/>
              <a:t>Hume recognises that mechanical causation cannot be analysed in the crude </a:t>
            </a:r>
            <a:r>
              <a:rPr lang="en-GB" sz="2700" i="1"/>
              <a:t>discrete</a:t>
            </a:r>
            <a:r>
              <a:rPr lang="en-GB" sz="2700"/>
              <a:t> manner of his rules, but involves </a:t>
            </a:r>
            <a:r>
              <a:rPr lang="en-GB" sz="2700" i="1"/>
              <a:t>continuously</a:t>
            </a:r>
            <a:r>
              <a:rPr lang="en-GB" sz="2700"/>
              <a:t> varying </a:t>
            </a:r>
            <a:r>
              <a:rPr lang="en-GB" sz="2700" i="1"/>
              <a:t>forces</a:t>
            </a:r>
            <a:r>
              <a:rPr lang="en-GB" sz="2700"/>
              <a:t>: </a:t>
            </a:r>
            <a:r>
              <a:rPr lang="en-GB" sz="2700" dirty="0"/>
              <a:t>theoretical entities that can be quantified, </a:t>
            </a:r>
            <a:r>
              <a:rPr lang="en-GB" sz="2700"/>
              <a:t>and enter </a:t>
            </a:r>
            <a:r>
              <a:rPr lang="en-GB" sz="2700" dirty="0"/>
              <a:t>into equations describing objects’ behaviour:</a:t>
            </a:r>
          </a:p>
          <a:p>
            <a:pPr lvl="1">
              <a:spcBef>
                <a:spcPts val="1200"/>
              </a:spcBef>
            </a:pPr>
            <a:r>
              <a:rPr lang="en-GB" sz="2500" dirty="0">
                <a:effectLst/>
              </a:rPr>
              <a:t>“it is a law of motion, discovered by experience, that the moment or force of any body in motion is in the compound ratio or proportion of its solid contents and its velocity; …”  (</a:t>
            </a:r>
            <a:r>
              <a:rPr lang="en-GB" sz="2500" i="1" dirty="0">
                <a:effectLst/>
              </a:rPr>
              <a:t>E</a:t>
            </a:r>
            <a:r>
              <a:rPr lang="en-GB" sz="2500" dirty="0">
                <a:effectLst/>
              </a:rPr>
              <a:t> 4.13)</a:t>
            </a:r>
          </a:p>
          <a:p>
            <a:pPr lvl="1">
              <a:spcBef>
                <a:spcPts val="1200"/>
              </a:spcBef>
            </a:pPr>
            <a:r>
              <a:rPr lang="en-GB" sz="2500" dirty="0">
                <a:effectLst/>
              </a:rPr>
              <a:t>Two footnotes in </a:t>
            </a:r>
            <a:r>
              <a:rPr lang="en-GB" sz="2500" i="1" dirty="0">
                <a:effectLst/>
              </a:rPr>
              <a:t>Enquiry</a:t>
            </a:r>
            <a:r>
              <a:rPr lang="en-GB" sz="2500" dirty="0">
                <a:effectLst/>
              </a:rPr>
              <a:t> 7 (7.25 n.16, 7.29 n.17) help to bring such quantitative “powers” within the scope of Hume’s theory of causation, generalising beyond constant conjunction and the rules of </a:t>
            </a:r>
            <a:r>
              <a:rPr lang="en-GB" sz="2500" i="1" dirty="0">
                <a:effectLst/>
              </a:rPr>
              <a:t>Treatise</a:t>
            </a:r>
            <a:r>
              <a:rPr lang="en-GB" sz="2500" dirty="0">
                <a:effectLst/>
              </a:rPr>
              <a:t> 1.3.15. </a:t>
            </a:r>
            <a:r>
              <a:rPr lang="en-GB" sz="2200" dirty="0">
                <a:effectLst/>
              </a:rPr>
              <a:t> </a:t>
            </a:r>
            <a:endParaRPr lang="en-GB" sz="2200" dirty="0"/>
          </a:p>
          <a:p>
            <a:pPr lvl="0">
              <a:spcBef>
                <a:spcPts val="1200"/>
              </a:spcBef>
            </a:pPr>
            <a:endParaRPr lang="en-GB" sz="25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228</a:t>
            </a:fld>
            <a:endParaRPr lang="en-US"/>
          </a:p>
        </p:txBody>
      </p:sp>
      <p:sp>
        <p:nvSpPr>
          <p:cNvPr id="5" name="Title 1"/>
          <p:cNvSpPr>
            <a:spLocks noGrp="1"/>
          </p:cNvSpPr>
          <p:nvPr>
            <p:ph type="title"/>
          </p:nvPr>
        </p:nvSpPr>
        <p:spPr>
          <a:xfrm>
            <a:off x="179512" y="80628"/>
            <a:ext cx="8784976" cy="803535"/>
          </a:xfrm>
        </p:spPr>
        <p:txBody>
          <a:bodyPr/>
          <a:lstStyle/>
          <a:p>
            <a:r>
              <a:rPr lang="en-GB" sz="4200" dirty="0"/>
              <a:t>Quantitative Powers in the </a:t>
            </a:r>
            <a:r>
              <a:rPr lang="en-GB" sz="4200" i="1" dirty="0"/>
              <a:t>Enquiry</a:t>
            </a:r>
            <a:endParaRPr lang="en-GB" sz="4200" dirty="0"/>
          </a:p>
        </p:txBody>
      </p:sp>
    </p:spTree>
    <p:extLst>
      <p:ext uri="{BB962C8B-B14F-4D97-AF65-F5344CB8AC3E}">
        <p14:creationId xmlns:p14="http://schemas.microsoft.com/office/powerpoint/2010/main" val="1283576708"/>
      </p:ext>
    </p:extLst>
  </p:cSld>
  <p:clrMapOvr>
    <a:masterClrMapping/>
  </p:clrMapOvr>
  <p:transition spd="med">
    <p:cover/>
  </p:transition>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47564" y="332656"/>
            <a:ext cx="8100900" cy="5940660"/>
          </a:xfrm>
        </p:spPr>
        <p:txBody>
          <a:bodyPr/>
          <a:lstStyle/>
          <a:p>
            <a:pPr marL="0" indent="0">
              <a:buNone/>
            </a:pPr>
            <a:r>
              <a:rPr lang="en-GB" sz="2200" dirty="0">
                <a:effectLst/>
              </a:rPr>
              <a:t>“We find by experience, that a body at rest or in motion continues for ever in its present state, till put from it by some new cause; and that a body impelled takes as much motion from the impelling body as it acquires itself.  When we call this a </a:t>
            </a:r>
            <a:r>
              <a:rPr lang="en-GB" sz="2200" i="1" dirty="0">
                <a:effectLst/>
              </a:rPr>
              <a:t>vis </a:t>
            </a:r>
            <a:r>
              <a:rPr lang="en-GB" sz="2200" i="1" dirty="0" err="1">
                <a:effectLst/>
              </a:rPr>
              <a:t>inertiae</a:t>
            </a:r>
            <a:r>
              <a:rPr lang="en-GB" sz="2200" dirty="0">
                <a:effectLst/>
              </a:rPr>
              <a:t>, we only mark these facts, without pretending to have any idea of the inert power; in the same manner as, when we talk of gravity, we mean certain effects, without comprehending that active power.”  (</a:t>
            </a:r>
            <a:r>
              <a:rPr lang="en-GB" sz="2200" i="1" dirty="0">
                <a:effectLst/>
              </a:rPr>
              <a:t>E</a:t>
            </a:r>
            <a:r>
              <a:rPr lang="en-GB" sz="2200" dirty="0">
                <a:effectLst/>
              </a:rPr>
              <a:t> 7.25 n.16)</a:t>
            </a:r>
          </a:p>
          <a:p>
            <a:pPr marL="0" indent="0">
              <a:spcBef>
                <a:spcPts val="1800"/>
              </a:spcBef>
              <a:buNone/>
            </a:pPr>
            <a:r>
              <a:rPr lang="en-GB" sz="2200" dirty="0">
                <a:effectLst/>
              </a:rPr>
              <a:t>“According to these explications and definitions, the idea of </a:t>
            </a:r>
            <a:r>
              <a:rPr lang="en-GB" sz="2200" i="1" dirty="0">
                <a:effectLst/>
              </a:rPr>
              <a:t>power </a:t>
            </a:r>
            <a:r>
              <a:rPr lang="en-GB" sz="2200" dirty="0">
                <a:effectLst/>
              </a:rPr>
              <a:t>is relative as much as that of </a:t>
            </a:r>
            <a:r>
              <a:rPr lang="en-GB" sz="2200" i="1" dirty="0">
                <a:effectLst/>
              </a:rPr>
              <a:t>cause</a:t>
            </a:r>
            <a:r>
              <a:rPr lang="en-GB" sz="2200" dirty="0">
                <a:effectLst/>
              </a:rPr>
              <a:t>; and both have a reference to an effect, or some other event constantly conjoined with the former.  When we consider the </a:t>
            </a:r>
            <a:r>
              <a:rPr lang="en-GB" sz="2200" i="1" dirty="0">
                <a:effectLst/>
              </a:rPr>
              <a:t>unknown</a:t>
            </a:r>
            <a:r>
              <a:rPr lang="en-GB" sz="2200" dirty="0">
                <a:effectLst/>
              </a:rPr>
              <a:t> circumstance of an object, by which the degree or quantity of its effect is fixed and determined, we call that its power: And accordingly, it is allowed by all philosophers, that the effect is the measure of the power.  …  The dispute whether the force of a body in motion be as its velocity, or the square of its velocity; …”  (</a:t>
            </a:r>
            <a:r>
              <a:rPr lang="en-GB" sz="2200" i="1" dirty="0">
                <a:effectLst/>
              </a:rPr>
              <a:t>E</a:t>
            </a:r>
            <a:r>
              <a:rPr lang="en-GB" sz="2200" dirty="0">
                <a:effectLst/>
              </a:rPr>
              <a:t> 7.29 n. 17)</a:t>
            </a:r>
          </a:p>
          <a:p>
            <a:pPr marL="0" indent="0">
              <a:buNone/>
            </a:pPr>
            <a:endParaRPr lang="en-GB" sz="26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229</a:t>
            </a:fld>
            <a:endParaRPr lang="en-US"/>
          </a:p>
        </p:txBody>
      </p:sp>
    </p:spTree>
    <p:extLst>
      <p:ext uri="{BB962C8B-B14F-4D97-AF65-F5344CB8AC3E}">
        <p14:creationId xmlns:p14="http://schemas.microsoft.com/office/powerpoint/2010/main" val="921970088"/>
      </p:ext>
    </p:extLst>
  </p:cSld>
  <p:clrMapOvr>
    <a:masterClrMapping/>
  </p:clrMapOvr>
  <p:transition spd="med">
    <p:cover/>
  </p:transition>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230</a:t>
            </a:fld>
            <a:endParaRPr lang="en-US" sz="1600">
              <a:effectLst>
                <a:outerShdw blurRad="38100" dist="38100" dir="2700000" algn="tl">
                  <a:srgbClr val="000000"/>
                </a:outerShdw>
              </a:effectLst>
              <a:ea typeface="ＭＳ Ｐゴシック" charset="-128"/>
            </a:endParaRPr>
          </a:p>
        </p:txBody>
      </p:sp>
      <p:sp>
        <p:nvSpPr>
          <p:cNvPr id="664578" name="Rectangle 2"/>
          <p:cNvSpPr>
            <a:spLocks noGrp="1" noChangeArrowheads="1"/>
          </p:cNvSpPr>
          <p:nvPr>
            <p:ph type="title" idx="4294967295"/>
          </p:nvPr>
        </p:nvSpPr>
        <p:spPr>
          <a:xfrm>
            <a:off x="179388" y="116632"/>
            <a:ext cx="8713787" cy="666911"/>
          </a:xfrm>
        </p:spPr>
        <p:txBody>
          <a:bodyPr/>
          <a:lstStyle/>
          <a:p>
            <a:r>
              <a:rPr lang="en-GB" sz="4000" dirty="0"/>
              <a:t>“Of the Reason of </a:t>
            </a:r>
            <a:r>
              <a:rPr lang="en-GB" sz="4000"/>
              <a:t>Animals” (</a:t>
            </a:r>
            <a:r>
              <a:rPr lang="en-GB" sz="4000" i="1"/>
              <a:t>T </a:t>
            </a:r>
            <a:r>
              <a:rPr lang="en-GB" sz="4000"/>
              <a:t>1.3.16)</a:t>
            </a:r>
            <a:endParaRPr lang="en-GB" sz="4000" dirty="0"/>
          </a:p>
        </p:txBody>
      </p:sp>
      <p:sp>
        <p:nvSpPr>
          <p:cNvPr id="664579" name="Rectangle 3"/>
          <p:cNvSpPr>
            <a:spLocks noGrp="1" noChangeArrowheads="1"/>
          </p:cNvSpPr>
          <p:nvPr>
            <p:ph type="body" idx="4294967295"/>
          </p:nvPr>
        </p:nvSpPr>
        <p:spPr>
          <a:xfrm>
            <a:off x="251520" y="1160748"/>
            <a:ext cx="8640960" cy="5363877"/>
          </a:xfrm>
        </p:spPr>
        <p:txBody>
          <a:bodyPr/>
          <a:lstStyle/>
          <a:p>
            <a:r>
              <a:rPr lang="en-GB" sz="2900" dirty="0"/>
              <a:t>Significantly, </a:t>
            </a:r>
            <a:r>
              <a:rPr lang="en-GB" sz="2900" i="1" dirty="0"/>
              <a:t>three</a:t>
            </a:r>
            <a:r>
              <a:rPr lang="en-GB" sz="2900" dirty="0"/>
              <a:t> parts of the </a:t>
            </a:r>
            <a:r>
              <a:rPr lang="en-GB" sz="2900" i="1" dirty="0"/>
              <a:t>Treatise</a:t>
            </a:r>
            <a:r>
              <a:rPr lang="en-GB" sz="2900" dirty="0"/>
              <a:t> (1.3, 2.1, and 2.2) end with sections comparing humans with animals (and the last paragraph of </a:t>
            </a:r>
            <a:r>
              <a:rPr lang="en-GB" sz="2900" i="1" dirty="0"/>
              <a:t>T</a:t>
            </a:r>
            <a:r>
              <a:rPr lang="en-GB" sz="2900" dirty="0"/>
              <a:t> 2.3.9 says the similarity regarding “the will and direct passions” is too “evident” to need discussing).</a:t>
            </a:r>
          </a:p>
          <a:p>
            <a:pPr lvl="1">
              <a:spcBef>
                <a:spcPts val="1200"/>
              </a:spcBef>
            </a:pPr>
            <a:r>
              <a:rPr lang="en-GB" sz="2600"/>
              <a:t>Hume is a “biological naturalist”, in the sense of seeing humans as continuous with other animals, and operating by similar principles (as opposed to being separate beings “made in the image of God”).</a:t>
            </a:r>
            <a:endParaRPr lang="en-GB" sz="2600" dirty="0"/>
          </a:p>
          <a:p>
            <a:pPr lvl="1">
              <a:spcBef>
                <a:spcPts val="1200"/>
              </a:spcBef>
            </a:pPr>
            <a:r>
              <a:rPr lang="en-GB" sz="2600"/>
              <a:t>A </a:t>
            </a:r>
            <a:r>
              <a:rPr lang="en-GB" sz="2600" dirty="0"/>
              <a:t>century later, Charles </a:t>
            </a:r>
            <a:r>
              <a:rPr lang="en-GB" sz="2600"/>
              <a:t>Darwin was reading Hume “Of </a:t>
            </a:r>
            <a:r>
              <a:rPr lang="en-GB" sz="2600" dirty="0"/>
              <a:t>the reason of animals” (</a:t>
            </a:r>
            <a:r>
              <a:rPr lang="en-GB" sz="2600" i="1" dirty="0"/>
              <a:t>Enquiry</a:t>
            </a:r>
            <a:r>
              <a:rPr lang="en-GB" sz="2600" dirty="0"/>
              <a:t> 9</a:t>
            </a:r>
            <a:r>
              <a:rPr lang="en-GB" sz="2600"/>
              <a:t>) around the time he came </a:t>
            </a:r>
            <a:r>
              <a:rPr lang="en-GB" sz="2600" dirty="0"/>
              <a:t>up with the theory of natural selection.</a:t>
            </a:r>
          </a:p>
        </p:txBody>
      </p:sp>
    </p:spTree>
    <p:extLst>
      <p:ext uri="{BB962C8B-B14F-4D97-AF65-F5344CB8AC3E}">
        <p14:creationId xmlns:p14="http://schemas.microsoft.com/office/powerpoint/2010/main" val="3649383294"/>
      </p:ext>
    </p:extLst>
  </p:cSld>
  <p:clrMapOvr>
    <a:masterClrMapping/>
  </p:clrMapOvr>
  <p:transition spd="med">
    <p:cover/>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231</a:t>
            </a:fld>
            <a:endParaRPr lang="en-US" sz="1600">
              <a:effectLst>
                <a:outerShdw blurRad="38100" dist="38100" dir="2700000" algn="tl">
                  <a:srgbClr val="000000"/>
                </a:outerShdw>
              </a:effectLst>
              <a:ea typeface="ＭＳ Ｐゴシック" charset="-128"/>
            </a:endParaRPr>
          </a:p>
        </p:txBody>
      </p:sp>
      <p:sp>
        <p:nvSpPr>
          <p:cNvPr id="664579" name="Rectangle 3"/>
          <p:cNvSpPr>
            <a:spLocks noGrp="1" noChangeArrowheads="1"/>
          </p:cNvSpPr>
          <p:nvPr>
            <p:ph type="body" idx="4294967295"/>
          </p:nvPr>
        </p:nvSpPr>
        <p:spPr>
          <a:xfrm>
            <a:off x="251520" y="260648"/>
            <a:ext cx="8640960" cy="6263977"/>
          </a:xfrm>
        </p:spPr>
        <p:txBody>
          <a:bodyPr/>
          <a:lstStyle/>
          <a:p>
            <a:r>
              <a:rPr lang="en-GB" sz="2900" dirty="0"/>
              <a:t>Hume’s main point in </a:t>
            </a:r>
            <a:r>
              <a:rPr lang="en-GB" sz="2900" i="1" dirty="0"/>
              <a:t>T</a:t>
            </a:r>
            <a:r>
              <a:rPr lang="en-GB" sz="2900" dirty="0"/>
              <a:t> 1.3.16 is to argue in favour of his “system concerning the nature of the understanding” (§4) by showing that “it will equally account for the </a:t>
            </a:r>
            <a:r>
              <a:rPr lang="en-GB" sz="2900" dirty="0" err="1"/>
              <a:t>reasonings</a:t>
            </a:r>
            <a:r>
              <a:rPr lang="en-GB" sz="2900" dirty="0"/>
              <a:t> of beasts”.</a:t>
            </a:r>
          </a:p>
          <a:p>
            <a:pPr lvl="1">
              <a:spcBef>
                <a:spcPts val="1200"/>
              </a:spcBef>
              <a:buNone/>
            </a:pPr>
            <a:r>
              <a:rPr lang="en-GB" sz="2400" dirty="0"/>
              <a:t>	“let any philosopher make a trial, and endeavour to explain that act of the mind, which we call </a:t>
            </a:r>
            <a:r>
              <a:rPr lang="en-GB" sz="2400" i="1" dirty="0"/>
              <a:t>belief</a:t>
            </a:r>
            <a:r>
              <a:rPr lang="en-GB" sz="2400" dirty="0"/>
              <a:t>, and give an account of the principles, from which it is </a:t>
            </a:r>
            <a:r>
              <a:rPr lang="en-GB" sz="2400" dirty="0" err="1"/>
              <a:t>deriv’d</a:t>
            </a:r>
            <a:r>
              <a:rPr lang="en-GB" sz="2400" dirty="0"/>
              <a:t>, independent of the influence of custom on the imagination, and let his hypothesis be equally applicable to beasts as to the human species; and after he has done this, I promise to embrace his opinion.”  (§8)</a:t>
            </a:r>
          </a:p>
          <a:p>
            <a:pPr>
              <a:spcBef>
                <a:spcPts val="1200"/>
              </a:spcBef>
            </a:pPr>
            <a:r>
              <a:rPr lang="en-GB" sz="2900" dirty="0"/>
              <a:t>“Reason” – in both humans and animals – “is nothing but a wonderful and unintelligible instinct” that enlivens our ideas according to custom (§9).</a:t>
            </a:r>
          </a:p>
        </p:txBody>
      </p:sp>
    </p:spTree>
    <p:extLst>
      <p:ext uri="{BB962C8B-B14F-4D97-AF65-F5344CB8AC3E}">
        <p14:creationId xmlns:p14="http://schemas.microsoft.com/office/powerpoint/2010/main" val="2551161543"/>
      </p:ext>
    </p:extLst>
  </p:cSld>
  <p:clrMapOvr>
    <a:masterClrMapping/>
  </p:clrMapOvr>
  <p:transition spd="med">
    <p:cove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232</a:t>
            </a:fld>
            <a:endParaRPr lang="en-US" sz="1600">
              <a:effectLst>
                <a:outerShdw blurRad="38100" dist="38100" dir="2700000" algn="tl">
                  <a:srgbClr val="000000"/>
                </a:outerShdw>
              </a:effectLst>
              <a:ea typeface="ＭＳ Ｐゴシック" charset="-128"/>
            </a:endParaRPr>
          </a:p>
        </p:txBody>
      </p:sp>
      <p:sp>
        <p:nvSpPr>
          <p:cNvPr id="664578" name="Rectangle 2"/>
          <p:cNvSpPr>
            <a:spLocks noGrp="1" noChangeArrowheads="1"/>
          </p:cNvSpPr>
          <p:nvPr>
            <p:ph type="title" idx="4294967295"/>
          </p:nvPr>
        </p:nvSpPr>
        <p:spPr>
          <a:xfrm>
            <a:off x="179388" y="116632"/>
            <a:ext cx="8713787" cy="792088"/>
          </a:xfrm>
        </p:spPr>
        <p:txBody>
          <a:bodyPr/>
          <a:lstStyle/>
          <a:p>
            <a:r>
              <a:rPr lang="en-GB" dirty="0"/>
              <a:t>A Positive View of Causation</a:t>
            </a:r>
          </a:p>
        </p:txBody>
      </p:sp>
      <p:sp>
        <p:nvSpPr>
          <p:cNvPr id="664579" name="Rectangle 3"/>
          <p:cNvSpPr>
            <a:spLocks noGrp="1" noChangeArrowheads="1"/>
          </p:cNvSpPr>
          <p:nvPr>
            <p:ph type="body" idx="4294967295"/>
          </p:nvPr>
        </p:nvSpPr>
        <p:spPr>
          <a:xfrm>
            <a:off x="395536" y="1160748"/>
            <a:ext cx="8424936" cy="5472608"/>
          </a:xfrm>
        </p:spPr>
        <p:txBody>
          <a:bodyPr/>
          <a:lstStyle/>
          <a:p>
            <a:r>
              <a:rPr lang="en-GB" sz="2800" dirty="0"/>
              <a:t>Later in the </a:t>
            </a:r>
            <a:r>
              <a:rPr lang="en-GB" sz="2800" i="1" dirty="0"/>
              <a:t>Treatise</a:t>
            </a:r>
            <a:r>
              <a:rPr lang="en-GB" sz="2800" dirty="0"/>
              <a:t>,</a:t>
            </a:r>
            <a:r>
              <a:rPr lang="en-GB" sz="2800" i="1" dirty="0"/>
              <a:t> </a:t>
            </a:r>
            <a:r>
              <a:rPr lang="en-GB" sz="2800" dirty="0"/>
              <a:t>Hume continues to use his account of causation to positively identify causal relations (so it is certainly </a:t>
            </a:r>
            <a:r>
              <a:rPr lang="en-GB" sz="2800" i="1" dirty="0"/>
              <a:t>not</a:t>
            </a:r>
            <a:r>
              <a:rPr lang="en-GB" sz="2800" dirty="0"/>
              <a:t> a sceptical or debunking account, as sometimes claimed):</a:t>
            </a:r>
          </a:p>
          <a:p>
            <a:pPr lvl="1">
              <a:spcBef>
                <a:spcPts val="1800"/>
              </a:spcBef>
              <a:buNone/>
            </a:pPr>
            <a:r>
              <a:rPr lang="en-GB" sz="2500" dirty="0"/>
              <a:t>	</a:t>
            </a:r>
            <a:r>
              <a:rPr lang="en-GB" sz="2400" dirty="0"/>
              <a:t>“all objects, which are found to be constantly </a:t>
            </a:r>
            <a:r>
              <a:rPr lang="en-GB" sz="2400" dirty="0" err="1"/>
              <a:t>conjoin’d</a:t>
            </a:r>
            <a:r>
              <a:rPr lang="en-GB" sz="2400" dirty="0"/>
              <a:t>, are </a:t>
            </a:r>
            <a:r>
              <a:rPr lang="en-GB" sz="2400" i="1" dirty="0">
                <a:solidFill>
                  <a:srgbClr val="FF9999"/>
                </a:solidFill>
              </a:rPr>
              <a:t>upon that account only</a:t>
            </a:r>
            <a:r>
              <a:rPr lang="en-GB" sz="2400" dirty="0">
                <a:solidFill>
                  <a:srgbClr val="FF9999"/>
                </a:solidFill>
              </a:rPr>
              <a:t> </a:t>
            </a:r>
            <a:r>
              <a:rPr lang="en-GB" sz="2400" dirty="0"/>
              <a:t>to be regarded as causes and effects.  …  the constant conjunction of objects constitutes </a:t>
            </a:r>
            <a:r>
              <a:rPr lang="en-GB" sz="2400" i="1" dirty="0"/>
              <a:t>the very essence</a:t>
            </a:r>
            <a:r>
              <a:rPr lang="en-GB" sz="2400" dirty="0"/>
              <a:t> of cause and effect …”</a:t>
            </a:r>
            <a:br>
              <a:rPr lang="en-GB" sz="2400" dirty="0"/>
            </a:br>
            <a:r>
              <a:rPr lang="en-GB" sz="2400" dirty="0"/>
              <a:t>				(</a:t>
            </a:r>
            <a:r>
              <a:rPr lang="en-GB" sz="2400" i="1" dirty="0"/>
              <a:t>T</a:t>
            </a:r>
            <a:r>
              <a:rPr lang="en-GB" sz="2400" dirty="0"/>
              <a:t> 1.4.5.32, emphasis added)</a:t>
            </a:r>
            <a:endParaRPr lang="en-US" sz="2400" dirty="0"/>
          </a:p>
          <a:p>
            <a:pPr lvl="1">
              <a:spcBef>
                <a:spcPts val="1200"/>
              </a:spcBef>
              <a:buNone/>
            </a:pPr>
            <a:r>
              <a:rPr lang="en-GB" sz="2400" dirty="0"/>
              <a:t>	“two particulars [are] essential to necessity, </a:t>
            </a:r>
            <a:r>
              <a:rPr lang="en-GB" sz="2400" i="1" dirty="0"/>
              <a:t>viz.</a:t>
            </a:r>
            <a:r>
              <a:rPr lang="en-US" sz="2400" dirty="0"/>
              <a:t> </a:t>
            </a:r>
            <a:r>
              <a:rPr lang="en-GB" sz="2400" dirty="0"/>
              <a:t>the constant </a:t>
            </a:r>
            <a:r>
              <a:rPr lang="en-GB" sz="2400" i="1" dirty="0"/>
              <a:t>union</a:t>
            </a:r>
            <a:r>
              <a:rPr lang="en-GB" sz="2400" dirty="0"/>
              <a:t> and the </a:t>
            </a:r>
            <a:r>
              <a:rPr lang="en-GB" sz="2400" i="1" dirty="0"/>
              <a:t>inference</a:t>
            </a:r>
            <a:r>
              <a:rPr lang="en-GB" sz="2400" dirty="0"/>
              <a:t> of the mind … wherever we discover these we must acknowledge a necessity.”		(</a:t>
            </a:r>
            <a:r>
              <a:rPr lang="en-GB" sz="2400" i="1" dirty="0"/>
              <a:t>T</a:t>
            </a:r>
            <a:r>
              <a:rPr lang="en-GB" sz="2400" dirty="0"/>
              <a:t> 2.3.1.4)</a:t>
            </a:r>
            <a:r>
              <a:rPr lang="en-US" sz="2400" dirty="0"/>
              <a:t> </a:t>
            </a:r>
            <a:endParaRPr lang="en-GB" sz="2400" dirty="0"/>
          </a:p>
        </p:txBody>
      </p:sp>
    </p:spTree>
    <p:extLst>
      <p:ext uri="{BB962C8B-B14F-4D97-AF65-F5344CB8AC3E}">
        <p14:creationId xmlns:p14="http://schemas.microsoft.com/office/powerpoint/2010/main" val="1271364226"/>
      </p:ext>
    </p:extLst>
  </p:cSld>
  <p:clrMapOvr>
    <a:masterClrMapping/>
  </p:clrMapOvr>
  <p:transition spd="med">
    <p:cover/>
  </p:transition>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41D36E0-D3E1-4801-8687-3DC0D86CBC97}" type="slidenum">
              <a:rPr lang="en-US"/>
              <a:pPr/>
              <a:t>233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1B80F02-2CDA-40C1-999A-E198996C57B6}" type="slidenum">
              <a:rPr lang="en-US" sz="1600">
                <a:effectLst>
                  <a:outerShdw blurRad="38100" dist="38100" dir="2700000" algn="tl">
                    <a:srgbClr val="000000"/>
                  </a:outerShdw>
                </a:effectLst>
                <a:ea typeface="ＭＳ Ｐゴシック" charset="-128"/>
              </a:rPr>
              <a:pPr eaLnBrk="1" hangingPunct="1"/>
              <a:t>233</a:t>
            </a:fld>
            <a:endParaRPr lang="en-US" sz="1600">
              <a:effectLst>
                <a:outerShdw blurRad="38100" dist="38100" dir="2700000" algn="tl">
                  <a:srgbClr val="000000"/>
                </a:outerShdw>
              </a:effectLst>
              <a:ea typeface="ＭＳ Ｐゴシック" charset="-128"/>
            </a:endParaRPr>
          </a:p>
        </p:txBody>
      </p:sp>
      <p:sp>
        <p:nvSpPr>
          <p:cNvPr id="604162" name="Rectangle 2"/>
          <p:cNvSpPr>
            <a:spLocks noGrp="1" noChangeArrowheads="1"/>
          </p:cNvSpPr>
          <p:nvPr>
            <p:ph type="title" idx="4294967295"/>
          </p:nvPr>
        </p:nvSpPr>
        <p:spPr>
          <a:xfrm>
            <a:off x="457200" y="80628"/>
            <a:ext cx="8229600" cy="792088"/>
          </a:xfrm>
        </p:spPr>
        <p:txBody>
          <a:bodyPr/>
          <a:lstStyle/>
          <a:p>
            <a:r>
              <a:rPr lang="en-GB"/>
              <a:t>Of Liberty and Necessity</a:t>
            </a:r>
          </a:p>
        </p:txBody>
      </p:sp>
      <p:sp>
        <p:nvSpPr>
          <p:cNvPr id="604163" name="Rectangle 3"/>
          <p:cNvSpPr>
            <a:spLocks noGrp="1" noChangeArrowheads="1"/>
          </p:cNvSpPr>
          <p:nvPr>
            <p:ph type="body" idx="4294967295"/>
          </p:nvPr>
        </p:nvSpPr>
        <p:spPr>
          <a:xfrm>
            <a:off x="466849" y="1124744"/>
            <a:ext cx="8317619" cy="5508612"/>
          </a:xfrm>
        </p:spPr>
        <p:txBody>
          <a:bodyPr/>
          <a:lstStyle/>
          <a:p>
            <a:r>
              <a:rPr lang="en-GB" sz="2700"/>
              <a:t>In the </a:t>
            </a:r>
            <a:r>
              <a:rPr lang="en-GB" sz="2700" i="1"/>
              <a:t>Treatise</a:t>
            </a:r>
            <a:r>
              <a:rPr lang="en-GB" sz="2700"/>
              <a:t>, the discussion “Of Liberty and Nec-essity” is postponed until late in Book 2, and this has led to its unfortunate neglect by interpreters.  In the </a:t>
            </a:r>
            <a:r>
              <a:rPr lang="en-GB" sz="2700" i="1"/>
              <a:t>Enquiry</a:t>
            </a:r>
            <a:r>
              <a:rPr lang="en-GB" sz="2700"/>
              <a:t>, it is appropriately placed immedi-ately after “Of the Idea of Necessary Connexion”.</a:t>
            </a:r>
          </a:p>
          <a:p>
            <a:r>
              <a:rPr lang="en-GB" sz="2700"/>
              <a:t>Hume argues here </a:t>
            </a:r>
            <a:r>
              <a:rPr lang="en-GB" sz="2700" dirty="0"/>
              <a:t>that </a:t>
            </a:r>
            <a:r>
              <a:rPr lang="en-GB" sz="2700" i="1" u="sng" dirty="0"/>
              <a:t>exactly the </a:t>
            </a:r>
            <a:r>
              <a:rPr lang="en-GB" sz="2700" i="1" u="sng"/>
              <a:t>same necessity that applies in the physical realm applies equally in </a:t>
            </a:r>
            <a:r>
              <a:rPr lang="en-GB" sz="2700" i="1" u="sng" dirty="0"/>
              <a:t>the </a:t>
            </a:r>
            <a:r>
              <a:rPr lang="en-GB" sz="2700" i="1" u="sng"/>
              <a:t>moral realm</a:t>
            </a:r>
            <a:r>
              <a:rPr lang="en-GB" sz="2700"/>
              <a:t> (a point we saw made also in the </a:t>
            </a:r>
            <a:r>
              <a:rPr lang="en-GB" sz="2700" dirty="0"/>
              <a:t>corollaries </a:t>
            </a:r>
            <a:r>
              <a:rPr lang="en-GB" sz="2700"/>
              <a:t>to his </a:t>
            </a:r>
            <a:r>
              <a:rPr lang="en-GB" sz="2700" dirty="0"/>
              <a:t>definitions at </a:t>
            </a:r>
            <a:r>
              <a:rPr lang="en-GB" sz="2700" i="1" dirty="0"/>
              <a:t>T</a:t>
            </a:r>
            <a:r>
              <a:rPr lang="en-GB" sz="2700" dirty="0"/>
              <a:t> </a:t>
            </a:r>
            <a:r>
              <a:rPr lang="en-GB" sz="2700"/>
              <a:t>1.3.14.32-33).</a:t>
            </a:r>
          </a:p>
          <a:p>
            <a:pPr lvl="1"/>
            <a:r>
              <a:rPr lang="en-GB" sz="2300"/>
              <a:t>This depends on </a:t>
            </a:r>
            <a:r>
              <a:rPr lang="en-GB" sz="2300" i="1" u="sng"/>
              <a:t>our </a:t>
            </a:r>
            <a:r>
              <a:rPr lang="en-GB" sz="2300" i="1" u="sng" dirty="0"/>
              <a:t>understanding </a:t>
            </a:r>
            <a:r>
              <a:rPr lang="en-GB" sz="2300" i="1" u="sng"/>
              <a:t>of necessary connexion as being </a:t>
            </a:r>
            <a:r>
              <a:rPr lang="en-GB" sz="2300" i="1" u="sng" dirty="0"/>
              <a:t>completely exhausted by the two factors of constant conjunction and </a:t>
            </a:r>
            <a:r>
              <a:rPr lang="en-GB" sz="2300" i="1" u="sng"/>
              <a:t>customary inference</a:t>
            </a:r>
            <a:r>
              <a:rPr lang="en-GB" sz="2300"/>
              <a:t>, both of which can be seen to apply in the moral realm</a:t>
            </a:r>
            <a:r>
              <a:rPr lang="en-US" sz="2300"/>
              <a:t>.</a:t>
            </a:r>
            <a:endParaRPr lang="en-US" sz="2300" dirty="0"/>
          </a:p>
        </p:txBody>
      </p:sp>
    </p:spTree>
    <p:extLst>
      <p:ext uri="{BB962C8B-B14F-4D97-AF65-F5344CB8AC3E}">
        <p14:creationId xmlns:p14="http://schemas.microsoft.com/office/powerpoint/2010/main" val="2614231230"/>
      </p:ext>
    </p:extLst>
  </p:cSld>
  <p:clrMapOvr>
    <a:masterClrMapping/>
  </p:clrMapOvr>
  <p:transition spd="med">
    <p:cover/>
  </p:transition>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37C65-6F8D-B91B-AABC-C4F718E22025}"/>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2D6F230-3F4D-E365-2FA1-CEA5BD9B4BB0}"/>
              </a:ext>
            </a:extLst>
          </p:cNvPr>
          <p:cNvSpPr>
            <a:spLocks noGrp="1"/>
          </p:cNvSpPr>
          <p:nvPr>
            <p:ph type="sldNum" sz="quarter" idx="10"/>
          </p:nvPr>
        </p:nvSpPr>
        <p:spPr/>
        <p:txBody>
          <a:bodyPr/>
          <a:lstStyle/>
          <a:p>
            <a:fld id="{641D36E0-D3E1-4801-8687-3DC0D86CBC97}" type="slidenum">
              <a:rPr lang="en-US"/>
              <a:pPr/>
              <a:t>234</a:t>
            </a:fld>
            <a:endParaRPr lang="en-US"/>
          </a:p>
        </p:txBody>
      </p:sp>
      <p:sp>
        <p:nvSpPr>
          <p:cNvPr id="4" name="Slide Number Placeholder 3">
            <a:extLst>
              <a:ext uri="{FF2B5EF4-FFF2-40B4-BE49-F238E27FC236}">
                <a16:creationId xmlns:a16="http://schemas.microsoft.com/office/drawing/2014/main" id="{5A057E1A-F12D-8928-FABA-EB11D38B12C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1B80F02-2CDA-40C1-999A-E198996C57B6}" type="slidenum">
              <a:rPr lang="en-US" sz="1600">
                <a:effectLst>
                  <a:outerShdw blurRad="38100" dist="38100" dir="2700000" algn="tl">
                    <a:srgbClr val="000000"/>
                  </a:outerShdw>
                </a:effectLst>
                <a:ea typeface="ＭＳ Ｐゴシック" charset="-128"/>
              </a:rPr>
              <a:pPr eaLnBrk="1" hangingPunct="1"/>
              <a:t>234</a:t>
            </a:fld>
            <a:endParaRPr lang="en-US" sz="1600">
              <a:effectLst>
                <a:outerShdw blurRad="38100" dist="38100" dir="2700000" algn="tl">
                  <a:srgbClr val="000000"/>
                </a:outerShdw>
              </a:effectLst>
              <a:ea typeface="ＭＳ Ｐゴシック" charset="-128"/>
            </a:endParaRPr>
          </a:p>
        </p:txBody>
      </p:sp>
      <p:sp>
        <p:nvSpPr>
          <p:cNvPr id="604162" name="Rectangle 2">
            <a:extLst>
              <a:ext uri="{FF2B5EF4-FFF2-40B4-BE49-F238E27FC236}">
                <a16:creationId xmlns:a16="http://schemas.microsoft.com/office/drawing/2014/main" id="{F94859F8-6B0A-B44C-16FB-17835561DAC8}"/>
              </a:ext>
            </a:extLst>
          </p:cNvPr>
          <p:cNvSpPr>
            <a:spLocks noGrp="1" noChangeArrowheads="1"/>
          </p:cNvSpPr>
          <p:nvPr>
            <p:ph type="title" idx="4294967295"/>
          </p:nvPr>
        </p:nvSpPr>
        <p:spPr>
          <a:xfrm>
            <a:off x="143508" y="80628"/>
            <a:ext cx="8892988" cy="828092"/>
          </a:xfrm>
        </p:spPr>
        <p:txBody>
          <a:bodyPr/>
          <a:lstStyle/>
          <a:p>
            <a:r>
              <a:rPr lang="en-GB" sz="4200"/>
              <a:t>No Further Idea of Causal Necessity</a:t>
            </a:r>
          </a:p>
        </p:txBody>
      </p:sp>
      <p:sp>
        <p:nvSpPr>
          <p:cNvPr id="604163" name="Rectangle 3">
            <a:extLst>
              <a:ext uri="{FF2B5EF4-FFF2-40B4-BE49-F238E27FC236}">
                <a16:creationId xmlns:a16="http://schemas.microsoft.com/office/drawing/2014/main" id="{7A5D7E74-604D-9BC2-5332-8867C8B853D9}"/>
              </a:ext>
            </a:extLst>
          </p:cNvPr>
          <p:cNvSpPr>
            <a:spLocks noGrp="1" noChangeArrowheads="1"/>
          </p:cNvSpPr>
          <p:nvPr>
            <p:ph type="body" idx="4294967295"/>
          </p:nvPr>
        </p:nvSpPr>
        <p:spPr>
          <a:xfrm>
            <a:off x="575556" y="1016732"/>
            <a:ext cx="8280920" cy="5544616"/>
          </a:xfrm>
        </p:spPr>
        <p:txBody>
          <a:bodyPr/>
          <a:lstStyle/>
          <a:p>
            <a:r>
              <a:rPr lang="en-GB" sz="2200"/>
              <a:t>“[Opponents] … must allow … union and inference with regard to human actions.  They will only deny, that this makes the whole of necessity.  But then they must shew, that we have an idea of something else in the actions of matter; which, according to the foregoing reasoning, is impossible.”  (</a:t>
            </a:r>
            <a:r>
              <a:rPr lang="en-GB" sz="2200" i="1"/>
              <a:t>A</a:t>
            </a:r>
            <a:r>
              <a:rPr lang="en-GB" sz="2200"/>
              <a:t> 34)</a:t>
            </a:r>
          </a:p>
          <a:p>
            <a:pPr>
              <a:spcBef>
                <a:spcPts val="1200"/>
              </a:spcBef>
            </a:pPr>
            <a:r>
              <a:rPr lang="en-US" sz="2200"/>
              <a:t>“I define necessity two ways, conformable to the two definitions of cause, …  I place it either in the constant union … of like objects, or in the inference of the mind …  [Opponents] … will maintain there is something else in the operations of matter.  … [I assert] that we have no idea of any other connexion in the actions of body”  (</a:t>
            </a:r>
            <a:r>
              <a:rPr lang="en-US" sz="2200" i="1"/>
              <a:t>T</a:t>
            </a:r>
            <a:r>
              <a:rPr lang="en-US" sz="2200"/>
              <a:t> 2.3.2.4)</a:t>
            </a:r>
            <a:endParaRPr lang="en-GB" sz="2200"/>
          </a:p>
          <a:p>
            <a:pPr>
              <a:spcBef>
                <a:spcPts val="1200"/>
              </a:spcBef>
            </a:pPr>
            <a:r>
              <a:rPr lang="en-US" sz="2200"/>
              <a:t>“[Opponents] … will maintain it possible to discover something farther in the operations of matter.  … [I assert] that there is no idea of any other necessity or connexion in the actions of body”  (</a:t>
            </a:r>
            <a:r>
              <a:rPr lang="en-US" sz="2200" i="1"/>
              <a:t>E</a:t>
            </a:r>
            <a:r>
              <a:rPr lang="en-US" sz="2200"/>
              <a:t> 8.27)</a:t>
            </a:r>
            <a:endParaRPr lang="en-US" sz="2200" dirty="0"/>
          </a:p>
        </p:txBody>
      </p:sp>
    </p:spTree>
    <p:extLst>
      <p:ext uri="{BB962C8B-B14F-4D97-AF65-F5344CB8AC3E}">
        <p14:creationId xmlns:p14="http://schemas.microsoft.com/office/powerpoint/2010/main" val="315086787"/>
      </p:ext>
    </p:extLst>
  </p:cSld>
  <p:clrMapOvr>
    <a:masterClrMapping/>
  </p:clrMapOvr>
  <p:transition spd="med">
    <p:cover/>
  </p:transition>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7771F22-BC8F-4D06-AFE2-7CE6EDB0CA6B}" type="slidenum">
              <a:rPr lang="en-US"/>
              <a:pPr/>
              <a:t>235</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DA8E05-0EE9-4DAE-B09C-68132C26BCCA}" type="slidenum">
              <a:rPr lang="en-US" sz="1600">
                <a:effectLst>
                  <a:outerShdw blurRad="38100" dist="38100" dir="2700000" algn="tl">
                    <a:srgbClr val="000000"/>
                  </a:outerShdw>
                </a:effectLst>
                <a:ea typeface="ＭＳ Ｐゴシック" charset="-128"/>
              </a:rPr>
              <a:pPr eaLnBrk="1" hangingPunct="1"/>
              <a:t>235</a:t>
            </a:fld>
            <a:endParaRPr lang="en-US" sz="1600">
              <a:effectLst>
                <a:outerShdw blurRad="38100" dist="38100" dir="2700000" algn="tl">
                  <a:srgbClr val="000000"/>
                </a:outerShdw>
              </a:effectLst>
              <a:ea typeface="ＭＳ Ｐゴシック" charset="-128"/>
            </a:endParaRPr>
          </a:p>
        </p:txBody>
      </p:sp>
      <p:sp>
        <p:nvSpPr>
          <p:cNvPr id="673794" name="Rectangle 2"/>
          <p:cNvSpPr>
            <a:spLocks noGrp="1" noChangeArrowheads="1"/>
          </p:cNvSpPr>
          <p:nvPr>
            <p:ph type="title" idx="4294967295"/>
          </p:nvPr>
        </p:nvSpPr>
        <p:spPr>
          <a:xfrm>
            <a:off x="457200" y="44624"/>
            <a:ext cx="8229600" cy="900100"/>
          </a:xfrm>
        </p:spPr>
        <p:txBody>
          <a:bodyPr/>
          <a:lstStyle/>
          <a:p>
            <a:r>
              <a:rPr lang="en-GB" dirty="0"/>
              <a:t>“A New Definition of Necessity”</a:t>
            </a:r>
          </a:p>
        </p:txBody>
      </p:sp>
      <p:sp>
        <p:nvSpPr>
          <p:cNvPr id="673795" name="Rectangle 3"/>
          <p:cNvSpPr>
            <a:spLocks noGrp="1" noChangeArrowheads="1"/>
          </p:cNvSpPr>
          <p:nvPr>
            <p:ph type="body" idx="4294967295"/>
          </p:nvPr>
        </p:nvSpPr>
        <p:spPr>
          <a:xfrm>
            <a:off x="457200" y="1052736"/>
            <a:ext cx="8363272" cy="5677184"/>
          </a:xfrm>
        </p:spPr>
        <p:txBody>
          <a:bodyPr/>
          <a:lstStyle/>
          <a:p>
            <a:r>
              <a:rPr lang="en-GB" sz="2800" dirty="0"/>
              <a:t>Hume presents this argument as turning crucially on his distinctive definition(s) of necessity:</a:t>
            </a:r>
          </a:p>
          <a:p>
            <a:pPr lvl="1">
              <a:spcBef>
                <a:spcPts val="1200"/>
              </a:spcBef>
              <a:buFontTx/>
              <a:buNone/>
            </a:pPr>
            <a:r>
              <a:rPr lang="en-GB" sz="2500" dirty="0"/>
              <a:t>	“Our author pretends, that this reasoning </a:t>
            </a:r>
            <a:r>
              <a:rPr lang="en-GB" sz="2500" dirty="0">
                <a:solidFill>
                  <a:srgbClr val="FF9999"/>
                </a:solidFill>
              </a:rPr>
              <a:t>puts the whole controversy in a new light, by giving a new definition of necessity</a:t>
            </a:r>
            <a:r>
              <a:rPr lang="en-GB" sz="2500" dirty="0"/>
              <a:t>.”  (</a:t>
            </a:r>
            <a:r>
              <a:rPr lang="en-GB" sz="2500" i="1" dirty="0"/>
              <a:t>A</a:t>
            </a:r>
            <a:r>
              <a:rPr lang="en-GB" sz="2500" dirty="0"/>
              <a:t> 34, cf. </a:t>
            </a:r>
            <a:r>
              <a:rPr lang="en-GB" sz="2500" i="1" dirty="0"/>
              <a:t>T</a:t>
            </a:r>
            <a:r>
              <a:rPr lang="en-GB" sz="2500" dirty="0"/>
              <a:t> 2.3.1.18, </a:t>
            </a:r>
            <a:r>
              <a:rPr lang="en-GB" sz="2500" i="1" dirty="0"/>
              <a:t>E</a:t>
            </a:r>
            <a:r>
              <a:rPr lang="en-GB" sz="2500" dirty="0"/>
              <a:t> 8.2)</a:t>
            </a:r>
          </a:p>
          <a:p>
            <a:pPr>
              <a:spcBef>
                <a:spcPts val="1800"/>
              </a:spcBef>
            </a:pPr>
            <a:r>
              <a:rPr lang="en-GB" sz="2800" dirty="0"/>
              <a:t>This requires that his definitions be understood as specifying “</a:t>
            </a:r>
            <a:r>
              <a:rPr lang="en-GB" sz="2800" dirty="0">
                <a:solidFill>
                  <a:srgbClr val="FF9999"/>
                </a:solidFill>
              </a:rPr>
              <a:t>the very essence of necessity</a:t>
            </a:r>
            <a:r>
              <a:rPr lang="en-GB" sz="2800" dirty="0"/>
              <a:t>”, an emphatic phrase used four times in this context</a:t>
            </a:r>
            <a:br>
              <a:rPr lang="en-GB" sz="2800" dirty="0"/>
            </a:br>
            <a:r>
              <a:rPr lang="en-GB" sz="2800" dirty="0"/>
              <a:t>(</a:t>
            </a:r>
            <a:r>
              <a:rPr lang="en-GB" sz="2800" i="1" dirty="0"/>
              <a:t>T</a:t>
            </a:r>
            <a:r>
              <a:rPr lang="en-GB" sz="2800" dirty="0"/>
              <a:t> 2.3.1.10, 2.3.2.2; </a:t>
            </a:r>
            <a:r>
              <a:rPr lang="en-GB" sz="2800" i="1" dirty="0"/>
              <a:t>E</a:t>
            </a:r>
            <a:r>
              <a:rPr lang="en-GB" sz="2800" dirty="0"/>
              <a:t> 8.22 n. 18, 8.25 n. 19).</a:t>
            </a:r>
          </a:p>
          <a:p>
            <a:pPr lvl="1">
              <a:spcBef>
                <a:spcPts val="1800"/>
              </a:spcBef>
            </a:pPr>
            <a:r>
              <a:rPr lang="en-GB" sz="2500" dirty="0"/>
              <a:t>This important application of his definitions of necessity might well be Hume’s primary motivation for investigating the idea of necessity connexion!</a:t>
            </a:r>
          </a:p>
        </p:txBody>
      </p:sp>
    </p:spTree>
    <p:extLst>
      <p:ext uri="{BB962C8B-B14F-4D97-AF65-F5344CB8AC3E}">
        <p14:creationId xmlns:p14="http://schemas.microsoft.com/office/powerpoint/2010/main" val="748397630"/>
      </p:ext>
    </p:extLst>
  </p:cSld>
  <p:clrMapOvr>
    <a:masterClrMapping/>
  </p:clrMapOvr>
  <p:transition spd="med">
    <p:cover/>
  </p:transition>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9A452-5798-5CCF-6ABB-9F6BCE81C9C8}"/>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4E1FAE90-3881-8F7E-ABEA-1CC453700CE8}"/>
              </a:ext>
            </a:extLst>
          </p:cNvPr>
          <p:cNvSpPr>
            <a:spLocks noGrp="1"/>
          </p:cNvSpPr>
          <p:nvPr>
            <p:ph type="sldNum" sz="quarter" idx="10"/>
          </p:nvPr>
        </p:nvSpPr>
        <p:spPr/>
        <p:txBody>
          <a:bodyPr/>
          <a:lstStyle/>
          <a:p>
            <a:fld id="{486CBCB4-0C8B-48D3-B62F-4A4EBC46A731}" type="slidenum">
              <a:rPr lang="en-US"/>
              <a:pPr/>
              <a:t>236</a:t>
            </a:fld>
            <a:endParaRPr lang="en-US"/>
          </a:p>
        </p:txBody>
      </p:sp>
      <p:sp>
        <p:nvSpPr>
          <p:cNvPr id="748548" name="Rectangle 4">
            <a:extLst>
              <a:ext uri="{FF2B5EF4-FFF2-40B4-BE49-F238E27FC236}">
                <a16:creationId xmlns:a16="http://schemas.microsoft.com/office/drawing/2014/main" id="{81FE5CFD-6801-EC4B-27F1-E2AD064B721E}"/>
              </a:ext>
            </a:extLst>
          </p:cNvPr>
          <p:cNvSpPr>
            <a:spLocks noGrp="1" noChangeArrowheads="1"/>
          </p:cNvSpPr>
          <p:nvPr>
            <p:ph type="ctrTitle" idx="4294967295"/>
          </p:nvPr>
        </p:nvSpPr>
        <p:spPr>
          <a:xfrm>
            <a:off x="179388" y="296863"/>
            <a:ext cx="4608512" cy="6300787"/>
          </a:xfrm>
        </p:spPr>
        <p:txBody>
          <a:bodyPr/>
          <a:lstStyle/>
          <a:p>
            <a:r>
              <a:rPr lang="en-GB" sz="4800"/>
              <a:t>6(b)</a:t>
            </a:r>
            <a:br>
              <a:rPr lang="en-GB" sz="4800"/>
            </a:br>
            <a:br>
              <a:rPr lang="en-GB" sz="2400"/>
            </a:br>
            <a:r>
              <a:rPr lang="en-GB" sz="4800" i="1"/>
              <a:t>Treatise </a:t>
            </a:r>
            <a:r>
              <a:rPr lang="en-GB" sz="4800"/>
              <a:t>1.4.2</a:t>
            </a:r>
            <a:br>
              <a:rPr lang="en-GB" sz="4800"/>
            </a:br>
            <a:br>
              <a:rPr lang="en-GB" sz="2400"/>
            </a:br>
            <a:r>
              <a:rPr lang="en-GB" sz="4800"/>
              <a:t>“Of </a:t>
            </a:r>
            <a:r>
              <a:rPr lang="en-GB" sz="4800" dirty="0"/>
              <a:t>Scepticism with Regard to </a:t>
            </a:r>
            <a:r>
              <a:rPr lang="en-GB" sz="4800"/>
              <a:t>the Senses”</a:t>
            </a:r>
            <a:endParaRPr lang="en-US" sz="4800" dirty="0"/>
          </a:p>
        </p:txBody>
      </p:sp>
      <p:pic>
        <p:nvPicPr>
          <p:cNvPr id="1104899" name="Picture 6" descr="treatise1">
            <a:extLst>
              <a:ext uri="{FF2B5EF4-FFF2-40B4-BE49-F238E27FC236}">
                <a16:creationId xmlns:a16="http://schemas.microsoft.com/office/drawing/2014/main" id="{4C6FA88E-9F73-B588-82EC-44F0F73B8E3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1449442239"/>
      </p:ext>
    </p:extLst>
  </p:cSld>
  <p:clrMapOvr>
    <a:masterClrMapping/>
  </p:clrMapOvr>
  <p:transition spd="med">
    <p:cover/>
  </p:transition>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BA9DB9B-4955-4364-962D-80F3A4E63CA4}" type="slidenum">
              <a:rPr lang="en-US"/>
              <a:pPr/>
              <a:t>237</a:t>
            </a:fld>
            <a:endParaRPr lang="en-US"/>
          </a:p>
        </p:txBody>
      </p:sp>
      <p:sp>
        <p:nvSpPr>
          <p:cNvPr id="2" name="Title 1"/>
          <p:cNvSpPr>
            <a:spLocks noGrp="1"/>
          </p:cNvSpPr>
          <p:nvPr>
            <p:ph type="title" idx="4294967295"/>
          </p:nvPr>
        </p:nvSpPr>
        <p:spPr>
          <a:xfrm>
            <a:off x="143508" y="152636"/>
            <a:ext cx="8820980" cy="1620180"/>
          </a:xfrm>
        </p:spPr>
        <p:txBody>
          <a:bodyPr/>
          <a:lstStyle/>
          <a:p>
            <a:pPr>
              <a:defRPr/>
            </a:pPr>
            <a:r>
              <a:rPr lang="en-US" i="1">
                <a:latin typeface="+mj-lt"/>
                <a:ea typeface="+mj-ea"/>
                <a:cs typeface="+mj-cs"/>
              </a:rPr>
              <a:t>Treatise</a:t>
            </a:r>
            <a:r>
              <a:rPr lang="en-US">
                <a:latin typeface="+mj-lt"/>
                <a:ea typeface="+mj-ea"/>
                <a:cs typeface="+mj-cs"/>
              </a:rPr>
              <a:t> Book 1 Part 4</a:t>
            </a:r>
            <a:br>
              <a:rPr lang="en-US">
                <a:latin typeface="+mj-lt"/>
                <a:ea typeface="+mj-ea"/>
                <a:cs typeface="+mj-cs"/>
              </a:rPr>
            </a:br>
            <a:r>
              <a:rPr lang="en-US" sz="3600">
                <a:latin typeface="+mj-lt"/>
                <a:ea typeface="+mj-ea"/>
                <a:cs typeface="+mj-cs"/>
              </a:rPr>
              <a:t>“Of the Sceptical and Other</a:t>
            </a:r>
            <a:br>
              <a:rPr lang="en-US" sz="3600">
                <a:latin typeface="+mj-lt"/>
                <a:ea typeface="+mj-ea"/>
                <a:cs typeface="+mj-cs"/>
              </a:rPr>
            </a:br>
            <a:r>
              <a:rPr lang="en-US" sz="3600">
                <a:latin typeface="+mj-lt"/>
                <a:ea typeface="+mj-ea"/>
                <a:cs typeface="+mj-cs"/>
              </a:rPr>
              <a:t>Systems of Philosophy”</a:t>
            </a:r>
            <a:endParaRPr lang="en-US" sz="3600" dirty="0">
              <a:latin typeface="+mj-lt"/>
              <a:ea typeface="+mj-ea"/>
              <a:cs typeface="+mj-cs"/>
            </a:endParaRPr>
          </a:p>
        </p:txBody>
      </p:sp>
      <p:sp>
        <p:nvSpPr>
          <p:cNvPr id="3" name="Content Placeholder 2"/>
          <p:cNvSpPr>
            <a:spLocks noGrp="1"/>
          </p:cNvSpPr>
          <p:nvPr>
            <p:ph idx="4294967295"/>
          </p:nvPr>
        </p:nvSpPr>
        <p:spPr>
          <a:xfrm>
            <a:off x="431540" y="2240868"/>
            <a:ext cx="8568952" cy="4356484"/>
          </a:xfrm>
        </p:spPr>
        <p:txBody>
          <a:bodyPr/>
          <a:lstStyle/>
          <a:p>
            <a:r>
              <a:rPr lang="en-US" sz="2600" dirty="0"/>
              <a:t>We have seen that </a:t>
            </a:r>
            <a:r>
              <a:rPr lang="en-US" sz="2600" i="1" dirty="0"/>
              <a:t>Treatise</a:t>
            </a:r>
            <a:r>
              <a:rPr lang="en-US" sz="2600" dirty="0"/>
              <a:t> Book 1 Part 3 was mostly focused on causation and associated topics: causal reasoning, belief, probability, and the source of the idea of necessary </a:t>
            </a:r>
            <a:r>
              <a:rPr lang="en-US" sz="2600" dirty="0" err="1"/>
              <a:t>connexion</a:t>
            </a:r>
            <a:r>
              <a:rPr lang="en-US" sz="2600" dirty="0"/>
              <a:t> or causal power.</a:t>
            </a:r>
          </a:p>
          <a:p>
            <a:pPr>
              <a:spcBef>
                <a:spcPts val="1200"/>
              </a:spcBef>
            </a:pPr>
            <a:r>
              <a:rPr lang="en-US" sz="2600" dirty="0"/>
              <a:t>Book 1 Part 4 has a radically different </a:t>
            </a:r>
            <a:r>
              <a:rPr lang="en-US" sz="2600" dirty="0" err="1"/>
              <a:t>flavour</a:t>
            </a:r>
            <a:r>
              <a:rPr lang="en-US" sz="2600" dirty="0"/>
              <a:t>, starting with an extreme </a:t>
            </a:r>
            <a:r>
              <a:rPr lang="en-US" sz="2600" dirty="0" err="1"/>
              <a:t>sceptical</a:t>
            </a:r>
            <a:r>
              <a:rPr lang="en-US" sz="2600" dirty="0"/>
              <a:t> argument in Section 1.4.1, </a:t>
            </a:r>
            <a:r>
              <a:rPr lang="en-US" sz="2600" dirty="0" err="1"/>
              <a:t>scepticism</a:t>
            </a:r>
            <a:r>
              <a:rPr lang="en-US" sz="2600" dirty="0"/>
              <a:t> about external objects in 1.4.2-4 and about mental substance in 1.4.5, then denying a substantial self in 1.4.6, and leading ultimately to what looks like a </a:t>
            </a:r>
            <a:r>
              <a:rPr lang="en-US" sz="2600" dirty="0" err="1"/>
              <a:t>sceptical</a:t>
            </a:r>
            <a:r>
              <a:rPr lang="en-US" sz="2600" dirty="0"/>
              <a:t> meltdown in the concluding Section 1.4.7.</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E9190F8-281B-42F1-BB5F-FC424DF7EADE}" type="slidenum">
              <a:rPr lang="en-US" sz="1600">
                <a:effectLst>
                  <a:outerShdw blurRad="38100" dist="38100" dir="2700000" algn="tl">
                    <a:srgbClr val="000000"/>
                  </a:outerShdw>
                </a:effectLst>
                <a:ea typeface="ＭＳ Ｐゴシック" charset="-128"/>
              </a:rPr>
              <a:pPr eaLnBrk="1" hangingPunct="1"/>
              <a:t>237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181357789"/>
      </p:ext>
    </p:extLst>
  </p:cSld>
  <p:clrMapOvr>
    <a:masterClrMapping/>
  </p:clrMapOvr>
  <p:transition spd="med">
    <p:cover/>
  </p:transition>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BA9DB9B-4955-4364-962D-80F3A4E63CA4}" type="slidenum">
              <a:rPr lang="en-US"/>
              <a:pPr/>
              <a:t>238</a:t>
            </a:fld>
            <a:endParaRPr lang="en-US"/>
          </a:p>
        </p:txBody>
      </p:sp>
      <p:sp>
        <p:nvSpPr>
          <p:cNvPr id="2" name="Title 1"/>
          <p:cNvSpPr>
            <a:spLocks noGrp="1"/>
          </p:cNvSpPr>
          <p:nvPr>
            <p:ph type="title" idx="4294967295"/>
          </p:nvPr>
        </p:nvSpPr>
        <p:spPr>
          <a:xfrm>
            <a:off x="143508" y="116632"/>
            <a:ext cx="8820980" cy="702915"/>
          </a:xfrm>
        </p:spPr>
        <p:txBody>
          <a:bodyPr/>
          <a:lstStyle/>
          <a:p>
            <a:pPr>
              <a:defRPr/>
            </a:pPr>
            <a:r>
              <a:rPr lang="en-US">
                <a:latin typeface="+mj-lt"/>
                <a:ea typeface="+mj-ea"/>
                <a:cs typeface="+mj-cs"/>
              </a:rPr>
              <a:t>Scepticism with Regard to Reason</a:t>
            </a:r>
            <a:endParaRPr lang="en-US" dirty="0">
              <a:latin typeface="+mj-lt"/>
              <a:ea typeface="+mj-ea"/>
              <a:cs typeface="+mj-cs"/>
            </a:endParaRPr>
          </a:p>
        </p:txBody>
      </p:sp>
      <p:sp>
        <p:nvSpPr>
          <p:cNvPr id="3" name="Content Placeholder 2"/>
          <p:cNvSpPr>
            <a:spLocks noGrp="1"/>
          </p:cNvSpPr>
          <p:nvPr>
            <p:ph idx="4294967295"/>
          </p:nvPr>
        </p:nvSpPr>
        <p:spPr>
          <a:xfrm>
            <a:off x="431540" y="1016732"/>
            <a:ext cx="8568952" cy="5616624"/>
          </a:xfrm>
        </p:spPr>
        <p:txBody>
          <a:bodyPr/>
          <a:lstStyle/>
          <a:p>
            <a:r>
              <a:rPr lang="en-US" sz="2700"/>
              <a:t>“Of Scepticism with Regard to Reason” (</a:t>
            </a:r>
            <a:r>
              <a:rPr lang="en-US" sz="2700" i="1"/>
              <a:t>Treatise</a:t>
            </a:r>
            <a:r>
              <a:rPr lang="en-US" sz="2700"/>
              <a:t> 1.4.1) contains a radical sceptical argument which seems to wreak havoc in the Conclusion of Book 1.</a:t>
            </a:r>
          </a:p>
          <a:p>
            <a:pPr lvl="1">
              <a:spcBef>
                <a:spcPts val="1200"/>
              </a:spcBef>
            </a:pPr>
            <a:r>
              <a:rPr lang="en-US" sz="2400"/>
              <a:t>It first argues that we are humanly fallible, even in math-ematical reasoning; hence “all knowledge degenerates into probability”.  To take this into account, we have to judge the probability of error in all of our judgments.</a:t>
            </a:r>
          </a:p>
          <a:p>
            <a:pPr lvl="1">
              <a:spcBef>
                <a:spcPts val="1200"/>
              </a:spcBef>
            </a:pPr>
            <a:r>
              <a:rPr lang="en-US" sz="2400"/>
              <a:t>But such judgments of error are themselves fallible, so we are rationally obliged to judge that probability of error too, leading to a fatal regress.  Thus “all the rules of logic require … a total extinction of belief and evidence”.</a:t>
            </a:r>
          </a:p>
          <a:p>
            <a:pPr lvl="1">
              <a:spcBef>
                <a:spcPts val="1200"/>
              </a:spcBef>
            </a:pPr>
            <a:r>
              <a:rPr lang="en-US" sz="2400"/>
              <a:t>For discussion of this dubious argument, see “Hume’s Sceptical Texts 2” at </a:t>
            </a:r>
            <a:r>
              <a:rPr lang="en-US" sz="2400">
                <a:hlinkClick r:id="rId2"/>
              </a:rPr>
              <a:t>https://davidhume.org/teaching/</a:t>
            </a:r>
            <a:r>
              <a:rPr lang="en-US" sz="2400"/>
              <a:t>.</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E9190F8-281B-42F1-BB5F-FC424DF7EADE}" type="slidenum">
              <a:rPr lang="en-US" sz="1600">
                <a:effectLst>
                  <a:outerShdw blurRad="38100" dist="38100" dir="2700000" algn="tl">
                    <a:srgbClr val="000000"/>
                  </a:outerShdw>
                </a:effectLst>
                <a:ea typeface="ＭＳ Ｐゴシック" charset="-128"/>
              </a:rPr>
              <a:pPr eaLnBrk="1" hangingPunct="1"/>
              <a:t>238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3645524"/>
      </p:ext>
    </p:extLst>
  </p:cSld>
  <p:clrMapOvr>
    <a:masterClrMapping/>
  </p:clrMapOvr>
  <p:transition spd="med">
    <p:cover/>
  </p:transition>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D0E53F6-955A-4592-960C-0D14530FF0BA}" type="slidenum">
              <a:rPr lang="en-US"/>
              <a:pPr/>
              <a:t>239</a:t>
            </a:fld>
            <a:endParaRPr lang="en-US"/>
          </a:p>
        </p:txBody>
      </p:sp>
      <p:sp>
        <p:nvSpPr>
          <p:cNvPr id="2" name="Title 1"/>
          <p:cNvSpPr>
            <a:spLocks noGrp="1"/>
          </p:cNvSpPr>
          <p:nvPr>
            <p:ph type="title" idx="4294967295"/>
          </p:nvPr>
        </p:nvSpPr>
        <p:spPr>
          <a:xfrm>
            <a:off x="198438" y="80628"/>
            <a:ext cx="8737600" cy="810927"/>
          </a:xfrm>
        </p:spPr>
        <p:txBody>
          <a:bodyPr/>
          <a:lstStyle/>
          <a:p>
            <a:pPr>
              <a:defRPr/>
            </a:pPr>
            <a:r>
              <a:rPr lang="en-US" sz="4000">
                <a:latin typeface="+mj-lt"/>
                <a:ea typeface="+mj-ea"/>
                <a:cs typeface="+mj-cs"/>
              </a:rPr>
              <a:t>Scepticism with regard to the Senses</a:t>
            </a:r>
            <a:endParaRPr lang="en-US" sz="4000" dirty="0">
              <a:latin typeface="+mj-lt"/>
              <a:ea typeface="+mj-ea"/>
              <a:cs typeface="+mj-cs"/>
            </a:endParaRPr>
          </a:p>
        </p:txBody>
      </p:sp>
      <p:sp>
        <p:nvSpPr>
          <p:cNvPr id="3" name="Content Placeholder 2"/>
          <p:cNvSpPr>
            <a:spLocks noGrp="1"/>
          </p:cNvSpPr>
          <p:nvPr>
            <p:ph idx="4294967295"/>
          </p:nvPr>
        </p:nvSpPr>
        <p:spPr>
          <a:xfrm>
            <a:off x="457200" y="1088740"/>
            <a:ext cx="8447088" cy="5429535"/>
          </a:xfrm>
        </p:spPr>
        <p:txBody>
          <a:bodyPr/>
          <a:lstStyle/>
          <a:p>
            <a:r>
              <a:rPr lang="en-US" sz="2800" i="1"/>
              <a:t>Treatise</a:t>
            </a:r>
            <a:r>
              <a:rPr lang="en-US" sz="2800"/>
              <a:t> 1.4.2, “Of Scepticism with regard to the Senses”, is notoriously complex and confusing, but widely respected as deep and insightful.</a:t>
            </a:r>
            <a:endParaRPr lang="en-US" sz="2800" dirty="0"/>
          </a:p>
          <a:p>
            <a:pPr>
              <a:spcBef>
                <a:spcPts val="1800"/>
              </a:spcBef>
            </a:pPr>
            <a:r>
              <a:rPr lang="en-US" sz="2800" dirty="0"/>
              <a:t>Hume starts </a:t>
            </a:r>
            <a:r>
              <a:rPr lang="en-US" sz="2800"/>
              <a:t>out noting </a:t>
            </a:r>
            <a:r>
              <a:rPr lang="en-US" sz="2800" dirty="0"/>
              <a:t>that </a:t>
            </a:r>
            <a:r>
              <a:rPr lang="en-US" sz="2800" i="1" dirty="0">
                <a:solidFill>
                  <a:srgbClr val="FF7C80"/>
                </a:solidFill>
              </a:rPr>
              <a:t>the </a:t>
            </a:r>
            <a:r>
              <a:rPr lang="en-US" sz="2800" i="1" dirty="0" err="1">
                <a:solidFill>
                  <a:srgbClr val="FF7C80"/>
                </a:solidFill>
              </a:rPr>
              <a:t>sceptic</a:t>
            </a:r>
            <a:r>
              <a:rPr lang="en-US" sz="2800" i="1" dirty="0">
                <a:solidFill>
                  <a:srgbClr val="FF7C80"/>
                </a:solidFill>
              </a:rPr>
              <a:t> continues to believe even </a:t>
            </a:r>
            <a:r>
              <a:rPr lang="en-US" sz="2800" i="1">
                <a:solidFill>
                  <a:srgbClr val="FF7C80"/>
                </a:solidFill>
              </a:rPr>
              <a:t>when he discovers that his </a:t>
            </a:r>
            <a:r>
              <a:rPr lang="en-US" sz="2800" i="1" dirty="0">
                <a:solidFill>
                  <a:srgbClr val="FF7C80"/>
                </a:solidFill>
              </a:rPr>
              <a:t>beliefs cannot </a:t>
            </a:r>
            <a:r>
              <a:rPr lang="en-US" sz="2800" i="1">
                <a:solidFill>
                  <a:srgbClr val="FF7C80"/>
                </a:solidFill>
              </a:rPr>
              <a:t>be defended</a:t>
            </a:r>
            <a:r>
              <a:rPr lang="en-US" sz="2800"/>
              <a:t>.  Hume made this point about his “scepticism with regard to reason” at </a:t>
            </a:r>
            <a:r>
              <a:rPr lang="en-US" sz="2800" i="1"/>
              <a:t>T</a:t>
            </a:r>
            <a:r>
              <a:rPr lang="en-US" sz="2800"/>
              <a:t> 1.4.1.7, and now applies it to the belief in body:</a:t>
            </a:r>
            <a:endParaRPr lang="en-US" sz="2800" dirty="0"/>
          </a:p>
          <a:p>
            <a:pPr lvl="1">
              <a:spcBef>
                <a:spcPts val="1200"/>
              </a:spcBef>
              <a:buFontTx/>
              <a:buNone/>
            </a:pPr>
            <a:r>
              <a:rPr lang="en-US" sz="2400" dirty="0"/>
              <a:t>	“We may well ask, </a:t>
            </a:r>
            <a:r>
              <a:rPr lang="en-US" sz="2400" i="1" dirty="0"/>
              <a:t>What causes induce us to believe in the existence of body?  </a:t>
            </a:r>
            <a:r>
              <a:rPr lang="en-US" sz="2400" dirty="0"/>
              <a:t>But ’tis in vain to ask, </a:t>
            </a:r>
            <a:r>
              <a:rPr lang="en-US" sz="2400" i="1" dirty="0"/>
              <a:t>Whether there be body or not?  </a:t>
            </a:r>
            <a:r>
              <a:rPr lang="en-US" sz="2400" dirty="0"/>
              <a:t>That is a point, which we must take for granted in all our </a:t>
            </a:r>
            <a:r>
              <a:rPr lang="en-US" sz="2400" dirty="0" err="1"/>
              <a:t>reasonings</a:t>
            </a:r>
            <a:r>
              <a:rPr lang="en-US" sz="2400" dirty="0"/>
              <a:t>.”  (</a:t>
            </a:r>
            <a:r>
              <a:rPr lang="en-US" sz="2400" i="1" dirty="0"/>
              <a:t>T</a:t>
            </a:r>
            <a:r>
              <a:rPr lang="en-US" sz="2400" dirty="0"/>
              <a:t> 1.4.2.1).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82C656A-CB0E-445A-B69B-DD3A03460217}" type="slidenum">
              <a:rPr lang="en-US" sz="1600">
                <a:effectLst>
                  <a:outerShdw blurRad="38100" dist="38100" dir="2700000" algn="tl">
                    <a:srgbClr val="000000"/>
                  </a:outerShdw>
                </a:effectLst>
                <a:ea typeface="ＭＳ Ｐゴシック" charset="-128"/>
              </a:rPr>
              <a:pPr eaLnBrk="1" hangingPunct="1"/>
              <a:t>239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248322599"/>
      </p:ext>
    </p:extLst>
  </p:cSld>
  <p:clrMapOvr>
    <a:masterClrMapping/>
  </p:clrMapOvr>
  <p:transition spd="med">
    <p:cover/>
  </p:transition>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EB11B63-3151-4B46-A4CD-D055310E8F28}" type="slidenum">
              <a:rPr lang="en-US"/>
              <a:pPr/>
              <a:t>240</a:t>
            </a:fld>
            <a:endParaRPr lang="en-US"/>
          </a:p>
        </p:txBody>
      </p:sp>
      <p:sp>
        <p:nvSpPr>
          <p:cNvPr id="2" name="Title 1"/>
          <p:cNvSpPr>
            <a:spLocks noGrp="1"/>
          </p:cNvSpPr>
          <p:nvPr>
            <p:ph type="title" idx="4294967295"/>
          </p:nvPr>
        </p:nvSpPr>
        <p:spPr>
          <a:xfrm>
            <a:off x="198438" y="152636"/>
            <a:ext cx="8737600" cy="1143000"/>
          </a:xfrm>
        </p:spPr>
        <p:txBody>
          <a:bodyPr/>
          <a:lstStyle/>
          <a:p>
            <a:pPr>
              <a:defRPr/>
            </a:pPr>
            <a:r>
              <a:rPr lang="en-US" sz="4000" dirty="0">
                <a:latin typeface="+mj-lt"/>
                <a:ea typeface="+mj-ea"/>
                <a:cs typeface="+mj-cs"/>
              </a:rPr>
              <a:t>Doubts About the Existence of Body</a:t>
            </a:r>
          </a:p>
        </p:txBody>
      </p:sp>
      <p:sp>
        <p:nvSpPr>
          <p:cNvPr id="3" name="Content Placeholder 2"/>
          <p:cNvSpPr>
            <a:spLocks noGrp="1"/>
          </p:cNvSpPr>
          <p:nvPr>
            <p:ph idx="4294967295"/>
          </p:nvPr>
        </p:nvSpPr>
        <p:spPr>
          <a:xfrm>
            <a:off x="457200" y="1412776"/>
            <a:ext cx="8447088" cy="5105499"/>
          </a:xfrm>
        </p:spPr>
        <p:txBody>
          <a:bodyPr/>
          <a:lstStyle/>
          <a:p>
            <a:r>
              <a:rPr lang="en-US" sz="2800" dirty="0"/>
              <a:t>Hume accordingly announces that his agenda is to explain “the </a:t>
            </a:r>
            <a:r>
              <a:rPr lang="en-US" sz="2800" i="1" dirty="0"/>
              <a:t>causes</a:t>
            </a:r>
            <a:r>
              <a:rPr lang="en-US" sz="2800" dirty="0"/>
              <a:t> which induce us to believe in the existence of body”  (</a:t>
            </a:r>
            <a:r>
              <a:rPr lang="en-US" sz="2800" i="1" dirty="0"/>
              <a:t>T</a:t>
            </a:r>
            <a:r>
              <a:rPr lang="en-US" sz="2800" dirty="0"/>
              <a:t> 1.4.2.2)</a:t>
            </a:r>
          </a:p>
          <a:p>
            <a:pPr>
              <a:spcBef>
                <a:spcPts val="1800"/>
              </a:spcBef>
            </a:pPr>
            <a:r>
              <a:rPr lang="en-US" sz="2800" dirty="0"/>
              <a:t>But by the end of the section, his explanation of these causes is generating </a:t>
            </a:r>
            <a:r>
              <a:rPr lang="en-US" sz="2800" dirty="0" err="1"/>
              <a:t>sceptical</a:t>
            </a:r>
            <a:r>
              <a:rPr lang="en-US" sz="2800" dirty="0"/>
              <a:t> doubts:</a:t>
            </a:r>
          </a:p>
          <a:p>
            <a:pPr lvl="1">
              <a:spcBef>
                <a:spcPts val="1200"/>
              </a:spcBef>
              <a:buFontTx/>
              <a:buNone/>
            </a:pPr>
            <a:r>
              <a:rPr lang="en-US" sz="2500" dirty="0"/>
              <a:t>	“I begun … with premising, that we ought to have an implicit faith in our senses …  But … I feel myself </a:t>
            </a:r>
            <a:r>
              <a:rPr lang="en-US" sz="2500" i="1" dirty="0"/>
              <a:t>at present</a:t>
            </a:r>
            <a:r>
              <a:rPr lang="en-US" sz="2500" dirty="0"/>
              <a:t> of a quite contrary sentiment, and am more </a:t>
            </a:r>
            <a:r>
              <a:rPr lang="en-US" sz="2500" dirty="0" err="1"/>
              <a:t>inclin’d</a:t>
            </a:r>
            <a:r>
              <a:rPr lang="en-US" sz="2500" dirty="0"/>
              <a:t> to repose no faith at all in my senses, or rather imagination, than to place in it such an implicit confidence.”  (</a:t>
            </a:r>
            <a:r>
              <a:rPr lang="en-US" sz="2500" i="1" dirty="0"/>
              <a:t>T</a:t>
            </a:r>
            <a:r>
              <a:rPr lang="en-US" sz="2500" dirty="0"/>
              <a:t> 1.4.2.56 – continued on slide 258).</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E60B96F-56DF-4C29-9964-A237D1E74606}" type="slidenum">
              <a:rPr lang="en-US" sz="1600">
                <a:effectLst>
                  <a:outerShdw blurRad="38100" dist="38100" dir="2700000" algn="tl">
                    <a:srgbClr val="000000"/>
                  </a:outerShdw>
                </a:effectLst>
                <a:ea typeface="ＭＳ Ｐゴシック" charset="-128"/>
              </a:rPr>
              <a:pPr eaLnBrk="1" hangingPunct="1"/>
              <a:t>240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542252682"/>
      </p:ext>
    </p:extLst>
  </p:cSld>
  <p:clrMapOvr>
    <a:masterClrMapping/>
  </p:clrMapOvr>
  <p:transition spd="med">
    <p:cover/>
  </p:transition>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1F4D83B-7480-4EB0-ACAB-F2BBDF6D6066}" type="slidenum">
              <a:rPr lang="en-US"/>
              <a:pPr/>
              <a:t>241</a:t>
            </a:fld>
            <a:endParaRPr lang="en-US"/>
          </a:p>
        </p:txBody>
      </p:sp>
      <p:sp>
        <p:nvSpPr>
          <p:cNvPr id="2" name="Title 1"/>
          <p:cNvSpPr>
            <a:spLocks noGrp="1"/>
          </p:cNvSpPr>
          <p:nvPr>
            <p:ph type="title" idx="4294967295"/>
          </p:nvPr>
        </p:nvSpPr>
        <p:spPr>
          <a:xfrm>
            <a:off x="457200" y="133797"/>
            <a:ext cx="8229600" cy="774923"/>
          </a:xfrm>
        </p:spPr>
        <p:txBody>
          <a:bodyPr/>
          <a:lstStyle/>
          <a:p>
            <a:pPr>
              <a:defRPr/>
            </a:pPr>
            <a:r>
              <a:rPr lang="en-US" dirty="0" err="1">
                <a:latin typeface="+mj-lt"/>
                <a:ea typeface="+mj-ea"/>
                <a:cs typeface="+mj-cs"/>
              </a:rPr>
              <a:t>Analysing</a:t>
            </a:r>
            <a:r>
              <a:rPr lang="en-US" dirty="0">
                <a:latin typeface="+mj-lt"/>
                <a:ea typeface="+mj-ea"/>
                <a:cs typeface="+mj-cs"/>
              </a:rPr>
              <a:t> the Belief</a:t>
            </a:r>
          </a:p>
        </p:txBody>
      </p:sp>
      <p:sp>
        <p:nvSpPr>
          <p:cNvPr id="3" name="Content Placeholder 2"/>
          <p:cNvSpPr>
            <a:spLocks noGrp="1"/>
          </p:cNvSpPr>
          <p:nvPr>
            <p:ph idx="4294967295"/>
          </p:nvPr>
        </p:nvSpPr>
        <p:spPr>
          <a:xfrm>
            <a:off x="601216" y="1232756"/>
            <a:ext cx="8075240" cy="5269644"/>
          </a:xfrm>
        </p:spPr>
        <p:txBody>
          <a:bodyPr/>
          <a:lstStyle/>
          <a:p>
            <a:r>
              <a:rPr lang="en-US" sz="2800"/>
              <a:t>Hume analyses the belief in body into two aspects, each of which is to be explained:</a:t>
            </a:r>
          </a:p>
          <a:p>
            <a:pPr lvl="1">
              <a:spcBef>
                <a:spcPts val="900"/>
              </a:spcBef>
            </a:pPr>
            <a:r>
              <a:rPr lang="en-US" sz="2500"/>
              <a:t>“why we attribute a </a:t>
            </a:r>
            <a:r>
              <a:rPr lang="en-US" sz="2500" cap="small">
                <a:solidFill>
                  <a:srgbClr val="FF7C80"/>
                </a:solidFill>
              </a:rPr>
              <a:t>continu’d</a:t>
            </a:r>
            <a:r>
              <a:rPr lang="en-US" sz="2500">
                <a:solidFill>
                  <a:srgbClr val="FF7C80"/>
                </a:solidFill>
              </a:rPr>
              <a:t> existence</a:t>
            </a:r>
            <a:r>
              <a:rPr lang="en-US" sz="2500"/>
              <a:t> to objects, even when they are not present to the senses”</a:t>
            </a:r>
          </a:p>
          <a:p>
            <a:pPr lvl="1">
              <a:spcBef>
                <a:spcPts val="900"/>
              </a:spcBef>
            </a:pPr>
            <a:r>
              <a:rPr lang="en-US" sz="2500"/>
              <a:t>“why we suppose them to have an existence </a:t>
            </a:r>
            <a:r>
              <a:rPr lang="en-US" sz="2500" cap="small">
                <a:solidFill>
                  <a:srgbClr val="FF7C80"/>
                </a:solidFill>
              </a:rPr>
              <a:t>distinct</a:t>
            </a:r>
            <a:r>
              <a:rPr lang="en-US" sz="2500">
                <a:solidFill>
                  <a:srgbClr val="FF7C80"/>
                </a:solidFill>
              </a:rPr>
              <a:t> from the mind</a:t>
            </a:r>
            <a:r>
              <a:rPr lang="en-US" sz="2500"/>
              <a:t> and perception”</a:t>
            </a:r>
          </a:p>
          <a:p>
            <a:pPr lvl="1">
              <a:spcBef>
                <a:spcPts val="900"/>
              </a:spcBef>
            </a:pPr>
            <a:r>
              <a:rPr lang="en-US" sz="2500"/>
              <a:t>He goes on to explain that the </a:t>
            </a:r>
            <a:r>
              <a:rPr lang="en-US" sz="2500" i="1"/>
              <a:t>distinctness</a:t>
            </a:r>
            <a:r>
              <a:rPr lang="en-US" sz="2500"/>
              <a:t> of bodies involves both their </a:t>
            </a:r>
            <a:r>
              <a:rPr lang="en-US" sz="2500" i="1"/>
              <a:t>external</a:t>
            </a:r>
            <a:r>
              <a:rPr lang="en-US" sz="2500"/>
              <a:t> position and also their </a:t>
            </a:r>
            <a:r>
              <a:rPr lang="en-US" sz="2500" i="1"/>
              <a:t>independence</a:t>
            </a:r>
            <a:r>
              <a:rPr lang="en-US" sz="2500"/>
              <a:t>.  (</a:t>
            </a:r>
            <a:r>
              <a:rPr lang="en-US" sz="2500" i="1"/>
              <a:t>T</a:t>
            </a:r>
            <a:r>
              <a:rPr lang="en-US" sz="2500"/>
              <a:t> 1.4.2.2)</a:t>
            </a:r>
          </a:p>
          <a:p>
            <a:pPr lvl="1">
              <a:spcBef>
                <a:spcPts val="900"/>
              </a:spcBef>
            </a:pPr>
            <a:r>
              <a:rPr lang="en-US" sz="2400"/>
              <a:t>He then states that </a:t>
            </a:r>
            <a:r>
              <a:rPr lang="en-US" sz="2400" i="1"/>
              <a:t>continued</a:t>
            </a:r>
            <a:r>
              <a:rPr lang="en-US" sz="2400"/>
              <a:t> existence implies </a:t>
            </a:r>
            <a:r>
              <a:rPr lang="en-US" sz="2400" i="1"/>
              <a:t>distinct</a:t>
            </a:r>
            <a:r>
              <a:rPr lang="en-US" sz="2400"/>
              <a:t> existence, and vice-versa (this point becomes prominent at </a:t>
            </a:r>
            <a:r>
              <a:rPr lang="en-US" sz="2400" i="1"/>
              <a:t>T</a:t>
            </a:r>
            <a:r>
              <a:rPr lang="en-US" sz="2400"/>
              <a:t> 1.4.2.44 below).</a:t>
            </a:r>
            <a:endParaRPr lang="en-US" sz="210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8E0615F-98AF-40C4-9454-DDE0487ED218}" type="slidenum">
              <a:rPr lang="en-US" sz="1600">
                <a:effectLst>
                  <a:outerShdw blurRad="38100" dist="38100" dir="2700000" algn="tl">
                    <a:srgbClr val="000000"/>
                  </a:outerShdw>
                </a:effectLst>
                <a:ea typeface="ＭＳ Ｐゴシック" charset="-128"/>
              </a:rPr>
              <a:pPr eaLnBrk="1" hangingPunct="1"/>
              <a:t>241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648830492"/>
      </p:ext>
    </p:extLst>
  </p:cSld>
  <p:clrMapOvr>
    <a:masterClrMapping/>
  </p:clrMapOvr>
  <p:transition spd="med">
    <p:cover/>
  </p:transition>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14A8504-9D23-4AA1-8EE5-8F66A097F88F}" type="slidenum">
              <a:rPr lang="en-US"/>
              <a:pPr/>
              <a:t>242</a:t>
            </a:fld>
            <a:endParaRPr lang="en-US"/>
          </a:p>
        </p:txBody>
      </p:sp>
      <p:sp>
        <p:nvSpPr>
          <p:cNvPr id="2" name="Title 1"/>
          <p:cNvSpPr>
            <a:spLocks noGrp="1"/>
          </p:cNvSpPr>
          <p:nvPr>
            <p:ph type="title" idx="4294967295"/>
          </p:nvPr>
        </p:nvSpPr>
        <p:spPr>
          <a:xfrm>
            <a:off x="457200" y="152636"/>
            <a:ext cx="8229600" cy="666911"/>
          </a:xfrm>
        </p:spPr>
        <p:txBody>
          <a:bodyPr/>
          <a:lstStyle/>
          <a:p>
            <a:pPr>
              <a:defRPr/>
            </a:pPr>
            <a:r>
              <a:rPr lang="en-US" dirty="0">
                <a:latin typeface="+mj-lt"/>
                <a:ea typeface="+mj-ea"/>
                <a:cs typeface="+mj-cs"/>
              </a:rPr>
              <a:t>Which Faculty?</a:t>
            </a:r>
          </a:p>
        </p:txBody>
      </p:sp>
      <p:sp>
        <p:nvSpPr>
          <p:cNvPr id="3" name="Content Placeholder 2"/>
          <p:cNvSpPr>
            <a:spLocks noGrp="1"/>
          </p:cNvSpPr>
          <p:nvPr>
            <p:ph idx="4294967295"/>
          </p:nvPr>
        </p:nvSpPr>
        <p:spPr>
          <a:xfrm>
            <a:off x="251520" y="1088740"/>
            <a:ext cx="8640960" cy="5566060"/>
          </a:xfrm>
        </p:spPr>
        <p:txBody>
          <a:bodyPr/>
          <a:lstStyle/>
          <a:p>
            <a:r>
              <a:rPr lang="en-US" sz="2800"/>
              <a:t>Hume now declares his aim, to consider:</a:t>
            </a:r>
          </a:p>
          <a:p>
            <a:pPr lvl="1">
              <a:spcBef>
                <a:spcPts val="1200"/>
              </a:spcBef>
              <a:buFontTx/>
              <a:buNone/>
            </a:pPr>
            <a:r>
              <a:rPr lang="en-US" sz="2500"/>
              <a:t>	“whether it be the </a:t>
            </a:r>
            <a:r>
              <a:rPr lang="en-US" sz="2500" i="1"/>
              <a:t>senses</a:t>
            </a:r>
            <a:r>
              <a:rPr lang="en-US" sz="2500"/>
              <a:t>, </a:t>
            </a:r>
            <a:r>
              <a:rPr lang="en-US" sz="2500" i="1"/>
              <a:t>reason</a:t>
            </a:r>
            <a:r>
              <a:rPr lang="en-US" sz="2500"/>
              <a:t>, or the </a:t>
            </a:r>
            <a:r>
              <a:rPr lang="en-US" sz="2500" i="1"/>
              <a:t>imagination</a:t>
            </a:r>
            <a:r>
              <a:rPr lang="en-US" sz="2500"/>
              <a:t>, that produces the opinion of a </a:t>
            </a:r>
            <a:r>
              <a:rPr lang="en-US" sz="2500" i="1"/>
              <a:t>continu’d</a:t>
            </a:r>
            <a:r>
              <a:rPr lang="en-US" sz="2500"/>
              <a:t> or of a </a:t>
            </a:r>
            <a:r>
              <a:rPr lang="en-US" sz="2500" i="1"/>
              <a:t>distinct</a:t>
            </a:r>
            <a:r>
              <a:rPr lang="en-US" sz="2500"/>
              <a:t> existence.  These are the only questions, that are intelligible on the present subject.  For as to the notion of external existence, when taken for something specifically different from perceptions, we have already shewn its absurdity. [note: </a:t>
            </a:r>
            <a:r>
              <a:rPr lang="en-US" sz="2500" i="1"/>
              <a:t>T</a:t>
            </a:r>
            <a:r>
              <a:rPr lang="en-US" sz="2500"/>
              <a:t> 1.2.6]”  (</a:t>
            </a:r>
            <a:r>
              <a:rPr lang="en-US" sz="2500" i="1"/>
              <a:t>T</a:t>
            </a:r>
            <a:r>
              <a:rPr lang="en-US" sz="2500"/>
              <a:t> 1.4.2.2)</a:t>
            </a:r>
          </a:p>
          <a:p>
            <a:pPr>
              <a:spcBef>
                <a:spcPts val="1800"/>
              </a:spcBef>
            </a:pPr>
            <a:r>
              <a:rPr lang="en-US" sz="2800"/>
              <a:t>At </a:t>
            </a:r>
            <a:r>
              <a:rPr lang="en-US" sz="2800" i="1"/>
              <a:t>T</a:t>
            </a:r>
            <a:r>
              <a:rPr lang="en-US" sz="2800"/>
              <a:t> 1.2.6.8, Hume had appealed to the Copy Principle as proving “that ’tis impossible for us so much as to conceive or form an idea of any thing specifically different from ideas and impressions”.</a:t>
            </a:r>
            <a:endParaRPr lang="en-US" sz="28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FB8DA4B-BF7A-40A3-8B6E-08BE68C24B5F}" type="slidenum">
              <a:rPr lang="en-US" sz="1600">
                <a:effectLst>
                  <a:outerShdw blurRad="38100" dist="38100" dir="2700000" algn="tl">
                    <a:srgbClr val="000000"/>
                  </a:outerShdw>
                </a:effectLst>
                <a:ea typeface="ＭＳ Ｐゴシック" charset="-128"/>
              </a:rPr>
              <a:pPr eaLnBrk="1" hangingPunct="1"/>
              <a:t>242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786637118"/>
      </p:ext>
    </p:extLst>
  </p:cSld>
  <p:clrMapOvr>
    <a:masterClrMapping/>
  </p:clrMapOvr>
  <p:transition spd="med">
    <p:cover/>
  </p:transition>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6993D49-B0F5-4877-A6BF-31C095B23B11}" type="slidenum">
              <a:rPr lang="en-US"/>
              <a:pPr/>
              <a:t>243</a:t>
            </a:fld>
            <a:endParaRPr lang="en-US"/>
          </a:p>
        </p:txBody>
      </p:sp>
      <p:sp>
        <p:nvSpPr>
          <p:cNvPr id="2" name="Title 1"/>
          <p:cNvSpPr>
            <a:spLocks noGrp="1"/>
          </p:cNvSpPr>
          <p:nvPr>
            <p:ph type="title" idx="4294967295"/>
          </p:nvPr>
        </p:nvSpPr>
        <p:spPr>
          <a:xfrm>
            <a:off x="457200" y="277813"/>
            <a:ext cx="8229600" cy="954943"/>
          </a:xfrm>
        </p:spPr>
        <p:txBody>
          <a:bodyPr/>
          <a:lstStyle/>
          <a:p>
            <a:pPr>
              <a:defRPr/>
            </a:pPr>
            <a:r>
              <a:rPr lang="en-US" dirty="0">
                <a:latin typeface="+mj-lt"/>
                <a:ea typeface="+mj-ea"/>
                <a:cs typeface="+mj-cs"/>
              </a:rPr>
              <a:t>Eliminating the Senses</a:t>
            </a:r>
          </a:p>
        </p:txBody>
      </p:sp>
      <p:sp>
        <p:nvSpPr>
          <p:cNvPr id="3" name="Content Placeholder 2"/>
          <p:cNvSpPr>
            <a:spLocks noGrp="1"/>
          </p:cNvSpPr>
          <p:nvPr>
            <p:ph idx="4294967295"/>
          </p:nvPr>
        </p:nvSpPr>
        <p:spPr>
          <a:xfrm>
            <a:off x="230188" y="1484784"/>
            <a:ext cx="8628062" cy="5155729"/>
          </a:xfrm>
        </p:spPr>
        <p:txBody>
          <a:bodyPr/>
          <a:lstStyle/>
          <a:p>
            <a:r>
              <a:rPr lang="en-US" sz="2900" dirty="0"/>
              <a:t>In discussing the </a:t>
            </a:r>
            <a:r>
              <a:rPr lang="en-US" sz="2900" i="1" dirty="0"/>
              <a:t>senses</a:t>
            </a:r>
            <a:r>
              <a:rPr lang="en-US" sz="2900" dirty="0"/>
              <a:t> as a potential source of the belief in body, Hume seems to treat them as bare sources of impressions.  As such,</a:t>
            </a:r>
          </a:p>
          <a:p>
            <a:pPr lvl="1">
              <a:spcBef>
                <a:spcPts val="1200"/>
              </a:spcBef>
            </a:pPr>
            <a:r>
              <a:rPr lang="en-US" sz="2600" dirty="0"/>
              <a:t>They obviously cannot “give rise to the notion of the </a:t>
            </a:r>
            <a:r>
              <a:rPr lang="en-US" sz="2600" i="1" dirty="0" err="1"/>
              <a:t>continu’d</a:t>
            </a:r>
            <a:r>
              <a:rPr lang="en-US" sz="2600" dirty="0"/>
              <a:t> existence of their objects, after they no longer appear to the senses”.</a:t>
            </a:r>
            <a:r>
              <a:rPr lang="en-US" sz="2600" i="1" dirty="0"/>
              <a:t>  </a:t>
            </a:r>
            <a:r>
              <a:rPr lang="en-US" sz="2600" dirty="0"/>
              <a:t>(</a:t>
            </a:r>
            <a:r>
              <a:rPr lang="en-US" sz="2600" i="1" dirty="0"/>
              <a:t>T </a:t>
            </a:r>
            <a:r>
              <a:rPr lang="en-US" sz="2600" dirty="0"/>
              <a:t>1.4.2.3)</a:t>
            </a:r>
          </a:p>
          <a:p>
            <a:pPr lvl="1">
              <a:spcBef>
                <a:spcPts val="1200"/>
              </a:spcBef>
            </a:pPr>
            <a:r>
              <a:rPr lang="en-US" sz="2600" dirty="0"/>
              <a:t>Nor can they “offer … their impressions as the images of something </a:t>
            </a:r>
            <a:r>
              <a:rPr lang="en-US" sz="2600" i="1" dirty="0"/>
              <a:t>distinct</a:t>
            </a:r>
            <a:r>
              <a:rPr lang="en-US" sz="2600" dirty="0"/>
              <a:t>, or </a:t>
            </a:r>
            <a:r>
              <a:rPr lang="en-US" sz="2600" i="1" dirty="0"/>
              <a:t>independent</a:t>
            </a:r>
            <a:r>
              <a:rPr lang="en-US" sz="2600" dirty="0"/>
              <a:t>, and </a:t>
            </a:r>
            <a:r>
              <a:rPr lang="en-US" sz="2600" i="1" dirty="0"/>
              <a:t>external</a:t>
            </a:r>
            <a:r>
              <a:rPr lang="en-US" sz="2600" dirty="0"/>
              <a:t> … because they convey to us nothing but a single perception, and never give us the least intimation of any thing beyond.</a:t>
            </a:r>
            <a:r>
              <a:rPr lang="en-US" sz="2600" i="1" dirty="0"/>
              <a:t>”  </a:t>
            </a:r>
            <a:r>
              <a:rPr lang="en-US" sz="2600" dirty="0"/>
              <a:t>(</a:t>
            </a:r>
            <a:r>
              <a:rPr lang="en-US" sz="2600" i="1" dirty="0"/>
              <a:t>T </a:t>
            </a:r>
            <a:r>
              <a:rPr lang="en-US" sz="2600" dirty="0"/>
              <a:t>1.4.2.4)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9448F0D-874E-4BAA-AD83-2010FA6469AC}" type="slidenum">
              <a:rPr lang="en-US" sz="1600">
                <a:effectLst>
                  <a:outerShdw blurRad="38100" dist="38100" dir="2700000" algn="tl">
                    <a:srgbClr val="000000"/>
                  </a:outerShdw>
                </a:effectLst>
                <a:ea typeface="ＭＳ Ｐゴシック" charset="-128"/>
              </a:rPr>
              <a:pPr eaLnBrk="1" hangingPunct="1"/>
              <a:t>243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475754488"/>
      </p:ext>
    </p:extLst>
  </p:cSld>
  <p:clrMapOvr>
    <a:masterClrMapping/>
  </p:clrMapOvr>
  <p:transition spd="med">
    <p:cover/>
  </p:transition>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5728012-BB29-448A-B356-16DBB0F875E2}" type="slidenum">
              <a:rPr lang="en-US"/>
              <a:pPr/>
              <a:t>244</a:t>
            </a:fld>
            <a:endParaRPr lang="en-US"/>
          </a:p>
        </p:txBody>
      </p:sp>
      <p:sp>
        <p:nvSpPr>
          <p:cNvPr id="2" name="Title 1"/>
          <p:cNvSpPr>
            <a:spLocks noGrp="1"/>
          </p:cNvSpPr>
          <p:nvPr>
            <p:ph type="title" idx="4294967295"/>
          </p:nvPr>
        </p:nvSpPr>
        <p:spPr>
          <a:xfrm>
            <a:off x="260350" y="277813"/>
            <a:ext cx="8643938" cy="702915"/>
          </a:xfrm>
        </p:spPr>
        <p:txBody>
          <a:bodyPr/>
          <a:lstStyle/>
          <a:p>
            <a:pPr>
              <a:defRPr/>
            </a:pPr>
            <a:r>
              <a:rPr lang="en-US" sz="4200" dirty="0">
                <a:latin typeface="+mj-lt"/>
                <a:ea typeface="+mj-ea"/>
                <a:cs typeface="+mj-cs"/>
              </a:rPr>
              <a:t>Fallacy, Illusion, and Transparency</a:t>
            </a:r>
          </a:p>
        </p:txBody>
      </p:sp>
      <p:sp>
        <p:nvSpPr>
          <p:cNvPr id="3" name="Content Placeholder 2"/>
          <p:cNvSpPr>
            <a:spLocks noGrp="1"/>
          </p:cNvSpPr>
          <p:nvPr>
            <p:ph idx="4294967295"/>
          </p:nvPr>
        </p:nvSpPr>
        <p:spPr>
          <a:xfrm>
            <a:off x="457200" y="1268760"/>
            <a:ext cx="8462963" cy="5328592"/>
          </a:xfrm>
        </p:spPr>
        <p:txBody>
          <a:bodyPr/>
          <a:lstStyle/>
          <a:p>
            <a:r>
              <a:rPr lang="en-US" sz="2900" dirty="0"/>
              <a:t>“If our senses, therefore, suggest any idea of distinct existences, they must convey the impressions as those very existences, by a kind of fallacy and illusion.”  (</a:t>
            </a:r>
            <a:r>
              <a:rPr lang="en-US" sz="2900" i="1" dirty="0"/>
              <a:t>T</a:t>
            </a:r>
            <a:r>
              <a:rPr lang="en-US" sz="2900" dirty="0"/>
              <a:t> 1.4.2.5)</a:t>
            </a:r>
          </a:p>
          <a:p>
            <a:pPr>
              <a:spcBef>
                <a:spcPts val="1200"/>
              </a:spcBef>
            </a:pPr>
            <a:r>
              <a:rPr lang="en-US" sz="2900" dirty="0"/>
              <a:t>This is an illusion because the perceptions of the senses are, so to speak, </a:t>
            </a:r>
            <a:r>
              <a:rPr lang="en-US" sz="2900" i="1" dirty="0"/>
              <a:t>transparent:</a:t>
            </a:r>
          </a:p>
          <a:p>
            <a:pPr lvl="1">
              <a:spcBef>
                <a:spcPts val="1200"/>
              </a:spcBef>
            </a:pPr>
            <a:r>
              <a:rPr lang="en-US" sz="2500" dirty="0"/>
              <a:t>“all sensations are felt by the mind, such as they really are”  (</a:t>
            </a:r>
            <a:r>
              <a:rPr lang="en-US" sz="2500" i="1" dirty="0"/>
              <a:t>T</a:t>
            </a:r>
            <a:r>
              <a:rPr lang="en-US" sz="2500" dirty="0"/>
              <a:t> 1.4.2.5)</a:t>
            </a:r>
          </a:p>
          <a:p>
            <a:pPr lvl="1">
              <a:spcBef>
                <a:spcPts val="1200"/>
              </a:spcBef>
            </a:pPr>
            <a:r>
              <a:rPr lang="en-US" sz="2500" dirty="0"/>
              <a:t>“since all actions and sensations of the mind are known to us by consciousness, they must … appear in every particular what they are …”  (</a:t>
            </a:r>
            <a:r>
              <a:rPr lang="en-US" sz="2500" i="1" dirty="0"/>
              <a:t>T</a:t>
            </a:r>
            <a:r>
              <a:rPr lang="en-US" sz="2500" dirty="0"/>
              <a:t> 1.4.2.7)</a:t>
            </a:r>
          </a:p>
          <a:p>
            <a:pPr lvl="1"/>
            <a:endParaRPr lang="en-US" sz="26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0FB94BB-1305-4F82-A1D8-ECF11188CE75}" type="slidenum">
              <a:rPr lang="en-US" sz="1600">
                <a:effectLst>
                  <a:outerShdw blurRad="38100" dist="38100" dir="2700000" algn="tl">
                    <a:srgbClr val="000000"/>
                  </a:outerShdw>
                </a:effectLst>
                <a:ea typeface="ＭＳ Ｐゴシック" charset="-128"/>
              </a:rPr>
              <a:pPr eaLnBrk="1" hangingPunct="1"/>
              <a:t>244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27563989"/>
      </p:ext>
    </p:extLst>
  </p:cSld>
  <p:clrMapOvr>
    <a:masterClrMapping/>
  </p:clrMapOvr>
  <p:transition spd="med">
    <p:cover/>
  </p:transition>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8882D8F-0220-43C5-B10C-50EBDC9D0700}" type="slidenum">
              <a:rPr lang="en-US"/>
              <a:pPr/>
              <a:t>245</a:t>
            </a:fld>
            <a:endParaRPr lang="en-US"/>
          </a:p>
        </p:txBody>
      </p:sp>
      <p:sp>
        <p:nvSpPr>
          <p:cNvPr id="2" name="Title 1"/>
          <p:cNvSpPr>
            <a:spLocks noGrp="1"/>
          </p:cNvSpPr>
          <p:nvPr>
            <p:ph type="title" idx="4294967295"/>
          </p:nvPr>
        </p:nvSpPr>
        <p:spPr>
          <a:xfrm>
            <a:off x="457200" y="188640"/>
            <a:ext cx="8229600" cy="954943"/>
          </a:xfrm>
        </p:spPr>
        <p:txBody>
          <a:bodyPr/>
          <a:lstStyle/>
          <a:p>
            <a:pPr>
              <a:defRPr/>
            </a:pPr>
            <a:r>
              <a:rPr lang="en-US" dirty="0">
                <a:latin typeface="+mj-lt"/>
                <a:ea typeface="+mj-ea"/>
                <a:cs typeface="+mj-cs"/>
              </a:rPr>
              <a:t>Externality to the Body</a:t>
            </a:r>
          </a:p>
        </p:txBody>
      </p:sp>
      <p:sp>
        <p:nvSpPr>
          <p:cNvPr id="3" name="Content Placeholder 2"/>
          <p:cNvSpPr>
            <a:spLocks noGrp="1"/>
          </p:cNvSpPr>
          <p:nvPr>
            <p:ph idx="4294967295"/>
          </p:nvPr>
        </p:nvSpPr>
        <p:spPr>
          <a:xfrm>
            <a:off x="457200" y="1412776"/>
            <a:ext cx="8432800" cy="5211862"/>
          </a:xfrm>
        </p:spPr>
        <p:txBody>
          <a:bodyPr/>
          <a:lstStyle/>
          <a:p>
            <a:r>
              <a:rPr lang="en-US" sz="2900" dirty="0"/>
              <a:t>It might seem relatively unproblematic for our senses to present things as external to our body, but this presupposes that we have identified our body to start with:</a:t>
            </a:r>
          </a:p>
          <a:p>
            <a:pPr lvl="1">
              <a:spcBef>
                <a:spcPts val="1200"/>
              </a:spcBef>
              <a:buFontTx/>
              <a:buNone/>
            </a:pPr>
            <a:r>
              <a:rPr lang="en-US" dirty="0"/>
              <a:t>	</a:t>
            </a:r>
            <a:r>
              <a:rPr lang="en-US" sz="2500" dirty="0"/>
              <a:t>“ascribing a real and corporeal existence to [our limbs etc.] is an act of the mind as difficult to explain, as that which we examine at present.”  (</a:t>
            </a:r>
            <a:r>
              <a:rPr lang="en-US" sz="2500" i="1" dirty="0"/>
              <a:t>T</a:t>
            </a:r>
            <a:r>
              <a:rPr lang="en-US" sz="2500" dirty="0"/>
              <a:t> 1.4.2.9)</a:t>
            </a:r>
          </a:p>
          <a:p>
            <a:pPr>
              <a:spcBef>
                <a:spcPts val="1800"/>
              </a:spcBef>
            </a:pPr>
            <a:r>
              <a:rPr lang="en-US" sz="2900" dirty="0"/>
              <a:t>Hume adds considerations from the nature of our various senses, and the primary/secondary quality distinction (</a:t>
            </a:r>
            <a:r>
              <a:rPr lang="en-US" sz="2900" i="1" dirty="0"/>
              <a:t>T</a:t>
            </a:r>
            <a:r>
              <a:rPr lang="en-US" sz="2900" dirty="0"/>
              <a:t> 1.4.2.12-13).</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84C03F7-31E7-40EF-B5E9-B14D02B75BE6}" type="slidenum">
              <a:rPr lang="en-US" sz="1600">
                <a:effectLst>
                  <a:outerShdw blurRad="38100" dist="38100" dir="2700000" algn="tl">
                    <a:srgbClr val="000000"/>
                  </a:outerShdw>
                </a:effectLst>
                <a:ea typeface="ＭＳ Ｐゴシック" charset="-128"/>
              </a:rPr>
              <a:pPr eaLnBrk="1" hangingPunct="1"/>
              <a:t>245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839834748"/>
      </p:ext>
    </p:extLst>
  </p:cSld>
  <p:clrMapOvr>
    <a:masterClrMapping/>
  </p:clrMapOvr>
  <p:transition spd="med">
    <p:cover/>
  </p:transition>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A03AF0D-AE04-4548-8E21-37CFA6E73CA0}" type="slidenum">
              <a:rPr lang="en-US"/>
              <a:pPr/>
              <a:t>246</a:t>
            </a:fld>
            <a:endParaRPr lang="en-US"/>
          </a:p>
        </p:txBody>
      </p:sp>
      <p:sp>
        <p:nvSpPr>
          <p:cNvPr id="2" name="Title 1"/>
          <p:cNvSpPr>
            <a:spLocks noGrp="1"/>
          </p:cNvSpPr>
          <p:nvPr>
            <p:ph type="title" idx="4294967295"/>
          </p:nvPr>
        </p:nvSpPr>
        <p:spPr>
          <a:xfrm>
            <a:off x="457200" y="188640"/>
            <a:ext cx="8229600" cy="954943"/>
          </a:xfrm>
        </p:spPr>
        <p:txBody>
          <a:bodyPr/>
          <a:lstStyle/>
          <a:p>
            <a:pPr>
              <a:defRPr/>
            </a:pPr>
            <a:r>
              <a:rPr lang="en-US" dirty="0">
                <a:latin typeface="+mj-lt"/>
                <a:ea typeface="+mj-ea"/>
                <a:cs typeface="+mj-cs"/>
              </a:rPr>
              <a:t>Reason and the Vulgar View</a:t>
            </a:r>
          </a:p>
        </p:txBody>
      </p:sp>
      <p:sp>
        <p:nvSpPr>
          <p:cNvPr id="3" name="Content Placeholder 2"/>
          <p:cNvSpPr>
            <a:spLocks noGrp="1"/>
          </p:cNvSpPr>
          <p:nvPr>
            <p:ph idx="4294967295"/>
          </p:nvPr>
        </p:nvSpPr>
        <p:spPr>
          <a:xfrm>
            <a:off x="230188" y="1412776"/>
            <a:ext cx="8628062" cy="5227737"/>
          </a:xfrm>
        </p:spPr>
        <p:txBody>
          <a:bodyPr/>
          <a:lstStyle/>
          <a:p>
            <a:r>
              <a:rPr lang="en-US" sz="2900" dirty="0"/>
              <a:t>Children, peasants, and the “vulgar” in general clearly believe in the external world without consulting philosophical reason (</a:t>
            </a:r>
            <a:r>
              <a:rPr lang="en-US" sz="2900" i="1" dirty="0"/>
              <a:t>T</a:t>
            </a:r>
            <a:r>
              <a:rPr lang="en-US" sz="2900" dirty="0"/>
              <a:t> 1.4.2.14):</a:t>
            </a:r>
          </a:p>
          <a:p>
            <a:pPr lvl="1">
              <a:spcBef>
                <a:spcPts val="1800"/>
              </a:spcBef>
              <a:buFontTx/>
              <a:buNone/>
            </a:pPr>
            <a:r>
              <a:rPr lang="en-US" sz="2700" dirty="0"/>
              <a:t>	</a:t>
            </a:r>
            <a:r>
              <a:rPr lang="en-US" sz="2600" dirty="0"/>
              <a:t>“For philosophy informs us, that every thing, which appears to the mind, is nothing but a perception, and is interrupted, and dependent on the mind; whereas the vulgar confound perceptions and objects, and attribute a distinct </a:t>
            </a:r>
            <a:r>
              <a:rPr lang="en-US" sz="2600" dirty="0" err="1"/>
              <a:t>continu’d</a:t>
            </a:r>
            <a:r>
              <a:rPr lang="en-US" sz="2600" dirty="0"/>
              <a:t> existence to the very things they feel or see.  This sentiment, then, as it is entirely unreasonable, must proceed from some other faculty than the understanding.”</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19070AF-CC9F-4CD6-9D8A-D3F819F67B55}" type="slidenum">
              <a:rPr lang="en-US" sz="1600">
                <a:effectLst>
                  <a:outerShdw blurRad="38100" dist="38100" dir="2700000" algn="tl">
                    <a:srgbClr val="000000"/>
                  </a:outerShdw>
                </a:effectLst>
                <a:ea typeface="ＭＳ Ｐゴシック" charset="-128"/>
              </a:rPr>
              <a:pPr eaLnBrk="1" hangingPunct="1"/>
              <a:t>246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395053205"/>
      </p:ext>
    </p:extLst>
  </p:cSld>
  <p:clrMapOvr>
    <a:masterClrMapping/>
  </p:clrMapOvr>
  <p:transition spd="med">
    <p:cover/>
  </p:transition>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454C809-0E2B-40E9-A6C0-DAD67BF2B982}" type="slidenum">
              <a:rPr lang="en-US"/>
              <a:pPr/>
              <a:t>247</a:t>
            </a:fld>
            <a:endParaRPr lang="en-US"/>
          </a:p>
        </p:txBody>
      </p:sp>
      <p:sp>
        <p:nvSpPr>
          <p:cNvPr id="2" name="Title 1"/>
          <p:cNvSpPr>
            <a:spLocks noGrp="1"/>
          </p:cNvSpPr>
          <p:nvPr>
            <p:ph type="title" idx="4294967295"/>
          </p:nvPr>
        </p:nvSpPr>
        <p:spPr>
          <a:xfrm>
            <a:off x="482860" y="277813"/>
            <a:ext cx="8229600" cy="954943"/>
          </a:xfrm>
        </p:spPr>
        <p:txBody>
          <a:bodyPr/>
          <a:lstStyle/>
          <a:p>
            <a:pPr>
              <a:defRPr/>
            </a:pPr>
            <a:r>
              <a:rPr lang="en-US" dirty="0">
                <a:latin typeface="+mj-lt"/>
                <a:ea typeface="+mj-ea"/>
                <a:cs typeface="+mj-cs"/>
              </a:rPr>
              <a:t>Eliminating Reason</a:t>
            </a:r>
          </a:p>
        </p:txBody>
      </p:sp>
      <p:sp>
        <p:nvSpPr>
          <p:cNvPr id="3" name="Content Placeholder 2"/>
          <p:cNvSpPr>
            <a:spLocks noGrp="1"/>
          </p:cNvSpPr>
          <p:nvPr>
            <p:ph idx="4294967295"/>
          </p:nvPr>
        </p:nvSpPr>
        <p:spPr>
          <a:xfrm>
            <a:off x="382588" y="1484784"/>
            <a:ext cx="8491537" cy="5033491"/>
          </a:xfrm>
        </p:spPr>
        <p:txBody>
          <a:bodyPr/>
          <a:lstStyle/>
          <a:p>
            <a:r>
              <a:rPr lang="en-US" sz="2900" dirty="0"/>
              <a:t>Even if we adopt the philosophers’ view, and “distinguish our perceptions from our objects”, we still can’t reason from one to the other.</a:t>
            </a:r>
          </a:p>
          <a:p>
            <a:pPr>
              <a:spcBef>
                <a:spcPts val="1800"/>
              </a:spcBef>
            </a:pPr>
            <a:r>
              <a:rPr lang="en-US" sz="2900" dirty="0"/>
              <a:t>Hume spells this out at </a:t>
            </a:r>
            <a:r>
              <a:rPr lang="en-US" sz="2900" i="1" dirty="0"/>
              <a:t>T</a:t>
            </a:r>
            <a:r>
              <a:rPr lang="en-US" sz="2900" dirty="0"/>
              <a:t> 1.4.2.47 (cf. </a:t>
            </a:r>
            <a:r>
              <a:rPr lang="en-US" sz="2900" i="1" dirty="0"/>
              <a:t>E</a:t>
            </a:r>
            <a:r>
              <a:rPr lang="en-US" sz="2900" dirty="0"/>
              <a:t> 12.12), arguing that since we are directly acquainted only with the perceptions, we are unable to establish any causal correlation with objects, and so cannot infer the latter by causal reasoning, the only kind of “argument … that can assure us of matter of fact” (</a:t>
            </a:r>
            <a:r>
              <a:rPr lang="en-US" sz="2900" i="1" dirty="0"/>
              <a:t>T</a:t>
            </a:r>
            <a:r>
              <a:rPr lang="en-US" sz="2900" dirty="0"/>
              <a:t> 1.4.2.14).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7D7A064-CAEB-49DA-A576-9321AF65C239}" type="slidenum">
              <a:rPr lang="en-US" sz="1600">
                <a:effectLst>
                  <a:outerShdw blurRad="38100" dist="38100" dir="2700000" algn="tl">
                    <a:srgbClr val="000000"/>
                  </a:outerShdw>
                </a:effectLst>
                <a:ea typeface="ＭＳ Ｐゴシック" charset="-128"/>
              </a:rPr>
              <a:pPr eaLnBrk="1" hangingPunct="1"/>
              <a:t>247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555262836"/>
      </p:ext>
    </p:extLst>
  </p:cSld>
  <p:clrMapOvr>
    <a:masterClrMapping/>
  </p:clrMapOvr>
  <p:transition spd="med">
    <p:cover/>
  </p:transition>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904DC-9CBB-4F43-9930-D73DF3C8EA2D}" type="slidenum">
              <a:rPr lang="en-US"/>
              <a:pPr/>
              <a:t>248</a:t>
            </a:fld>
            <a:endParaRPr lang="en-US"/>
          </a:p>
        </p:txBody>
      </p:sp>
      <p:sp>
        <p:nvSpPr>
          <p:cNvPr id="2" name="Title 1"/>
          <p:cNvSpPr>
            <a:spLocks noGrp="1"/>
          </p:cNvSpPr>
          <p:nvPr>
            <p:ph type="title" idx="4294967295"/>
          </p:nvPr>
        </p:nvSpPr>
        <p:spPr>
          <a:xfrm>
            <a:off x="457200" y="277813"/>
            <a:ext cx="8229600" cy="810927"/>
          </a:xfrm>
        </p:spPr>
        <p:txBody>
          <a:bodyPr/>
          <a:lstStyle/>
          <a:p>
            <a:pPr>
              <a:defRPr/>
            </a:pPr>
            <a:r>
              <a:rPr lang="en-US" dirty="0">
                <a:latin typeface="+mj-lt"/>
                <a:ea typeface="+mj-ea"/>
                <a:cs typeface="+mj-cs"/>
              </a:rPr>
              <a:t>Turning to the Imagination</a:t>
            </a:r>
          </a:p>
        </p:txBody>
      </p:sp>
      <p:sp>
        <p:nvSpPr>
          <p:cNvPr id="3" name="Content Placeholder 2"/>
          <p:cNvSpPr>
            <a:spLocks noGrp="1"/>
          </p:cNvSpPr>
          <p:nvPr>
            <p:ph idx="4294967295"/>
          </p:nvPr>
        </p:nvSpPr>
        <p:spPr>
          <a:xfrm>
            <a:off x="626876" y="1412776"/>
            <a:ext cx="8229600" cy="4918075"/>
          </a:xfrm>
        </p:spPr>
        <p:txBody>
          <a:bodyPr/>
          <a:lstStyle/>
          <a:p>
            <a:r>
              <a:rPr lang="en-US" sz="2900" dirty="0"/>
              <a:t>With the senses and reason eliminated, our belief in “the </a:t>
            </a:r>
            <a:r>
              <a:rPr lang="en-US" sz="2900" dirty="0" err="1"/>
              <a:t>continu’d</a:t>
            </a:r>
            <a:r>
              <a:rPr lang="en-US" sz="2900" dirty="0"/>
              <a:t> and distinct existence of body … must be entirely owing to the IMAGINATION” (</a:t>
            </a:r>
            <a:r>
              <a:rPr lang="en-US" sz="2900" i="1" dirty="0"/>
              <a:t>T</a:t>
            </a:r>
            <a:r>
              <a:rPr lang="en-US" sz="2900" dirty="0"/>
              <a:t> 1.4.2.14).</a:t>
            </a:r>
          </a:p>
          <a:p>
            <a:pPr>
              <a:spcBef>
                <a:spcPts val="1200"/>
              </a:spcBef>
            </a:pPr>
            <a:r>
              <a:rPr lang="en-US" sz="2900" dirty="0"/>
              <a:t>Most of the rest of the section is devoted to an explanation of how the imagination generates the belief.</a:t>
            </a:r>
          </a:p>
          <a:p>
            <a:pPr>
              <a:spcBef>
                <a:spcPts val="1200"/>
              </a:spcBef>
            </a:pPr>
            <a:r>
              <a:rPr lang="en-US" sz="2900" dirty="0"/>
              <a:t>At </a:t>
            </a:r>
            <a:r>
              <a:rPr lang="en-US" sz="2900" i="1" dirty="0"/>
              <a:t>T</a:t>
            </a:r>
            <a:r>
              <a:rPr lang="en-US" sz="2900" dirty="0"/>
              <a:t> 1.4.2.18-19, Hume identifies </a:t>
            </a:r>
            <a:r>
              <a:rPr lang="en-US" sz="2900" i="1" dirty="0"/>
              <a:t>constancy</a:t>
            </a:r>
            <a:r>
              <a:rPr lang="en-US" sz="2900" dirty="0"/>
              <a:t> and </a:t>
            </a:r>
            <a:r>
              <a:rPr lang="en-US" sz="2900" i="1" dirty="0"/>
              <a:t>coherence</a:t>
            </a:r>
            <a:r>
              <a:rPr lang="en-US" sz="2900" dirty="0"/>
              <a:t> as the key factors that induce us to judge perceptions as external to us.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624DE0A-96CC-4EE9-BA1E-AD18AC87DBB8}" type="slidenum">
              <a:rPr lang="en-US" sz="1600">
                <a:effectLst>
                  <a:outerShdw blurRad="38100" dist="38100" dir="2700000" algn="tl">
                    <a:srgbClr val="000000"/>
                  </a:outerShdw>
                </a:effectLst>
                <a:ea typeface="ＭＳ Ｐゴシック" charset="-128"/>
              </a:rPr>
              <a:pPr eaLnBrk="1" hangingPunct="1"/>
              <a:t>248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011542579"/>
      </p:ext>
    </p:extLst>
  </p:cSld>
  <p:clrMapOvr>
    <a:masterClrMapping/>
  </p:clrMapOvr>
  <p:transition spd="med">
    <p:cover/>
  </p:transition>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E6CED60-89A2-426F-85D9-3D7BABCC5DD1}" type="slidenum">
              <a:rPr lang="en-US"/>
              <a:pPr/>
              <a:t>249</a:t>
            </a:fld>
            <a:endParaRPr lang="en-US"/>
          </a:p>
        </p:txBody>
      </p:sp>
      <p:sp>
        <p:nvSpPr>
          <p:cNvPr id="2" name="Title 1"/>
          <p:cNvSpPr>
            <a:spLocks noGrp="1"/>
          </p:cNvSpPr>
          <p:nvPr>
            <p:ph type="title" idx="4294967295"/>
          </p:nvPr>
        </p:nvSpPr>
        <p:spPr>
          <a:xfrm>
            <a:off x="457200" y="152636"/>
            <a:ext cx="8229600" cy="774923"/>
          </a:xfrm>
        </p:spPr>
        <p:txBody>
          <a:bodyPr/>
          <a:lstStyle/>
          <a:p>
            <a:pPr>
              <a:defRPr/>
            </a:pPr>
            <a:r>
              <a:rPr lang="en-US" dirty="0">
                <a:latin typeface="+mj-lt"/>
                <a:ea typeface="+mj-ea"/>
                <a:cs typeface="+mj-cs"/>
              </a:rPr>
              <a:t>Constancy and Coherence</a:t>
            </a:r>
          </a:p>
        </p:txBody>
      </p:sp>
      <p:sp>
        <p:nvSpPr>
          <p:cNvPr id="3" name="Content Placeholder 2"/>
          <p:cNvSpPr>
            <a:spLocks noGrp="1"/>
          </p:cNvSpPr>
          <p:nvPr>
            <p:ph idx="4294967295"/>
          </p:nvPr>
        </p:nvSpPr>
        <p:spPr>
          <a:xfrm>
            <a:off x="431540" y="1160748"/>
            <a:ext cx="8424936" cy="5400600"/>
          </a:xfrm>
        </p:spPr>
        <p:txBody>
          <a:bodyPr/>
          <a:lstStyle/>
          <a:p>
            <a:r>
              <a:rPr lang="en-US" sz="2900" i="1" dirty="0"/>
              <a:t>Constancy</a:t>
            </a:r>
            <a:r>
              <a:rPr lang="en-US" sz="2900" dirty="0"/>
              <a:t> of perceptions involves their similarity, when they “return upon me” (e.g. after closing then opening my eyes) “without the least alteration” (</a:t>
            </a:r>
            <a:r>
              <a:rPr lang="en-US" sz="2900" i="1" dirty="0"/>
              <a:t>T</a:t>
            </a:r>
            <a:r>
              <a:rPr lang="en-US" sz="2900" dirty="0"/>
              <a:t> 1.4.2.18).</a:t>
            </a:r>
          </a:p>
          <a:p>
            <a:pPr>
              <a:spcBef>
                <a:spcPts val="1200"/>
              </a:spcBef>
            </a:pPr>
            <a:r>
              <a:rPr lang="en-US" sz="2900" i="1" dirty="0"/>
              <a:t>Coherent</a:t>
            </a:r>
            <a:r>
              <a:rPr lang="en-US" sz="2900" dirty="0"/>
              <a:t> perceptions change, but in regular (and hence expected) or explicable patterns.</a:t>
            </a:r>
          </a:p>
          <a:p>
            <a:pPr lvl="1">
              <a:spcBef>
                <a:spcPts val="1200"/>
              </a:spcBef>
            </a:pPr>
            <a:r>
              <a:rPr lang="en-US" sz="2500"/>
              <a:t>§19 introduces coherence;  §20 gestures towards what we now call “inference to the best explanation”;  §21 says this is not standard induction (since it infers more regularity that is observed);  §22 ascribes it instead to a “galley principle”; but §23 then alleges that this is “too weak” to support our belief in body.</a:t>
            </a:r>
            <a:endParaRPr lang="en-US" sz="2500" i="1"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7492CA6-C7F0-4B32-A793-9779A36C2681}" type="slidenum">
              <a:rPr lang="en-US" sz="1600">
                <a:effectLst>
                  <a:outerShdw blurRad="38100" dist="38100" dir="2700000" algn="tl">
                    <a:srgbClr val="000000"/>
                  </a:outerShdw>
                </a:effectLst>
                <a:ea typeface="ＭＳ Ｐゴシック" charset="-128"/>
              </a:rPr>
              <a:pPr eaLnBrk="1" hangingPunct="1"/>
              <a:t>249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495734226"/>
      </p:ext>
    </p:extLst>
  </p:cSld>
  <p:clrMapOvr>
    <a:masterClrMapping/>
  </p:clrMapOvr>
  <p:transition spd="med">
    <p:cover/>
  </p:transition>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E31BA1B-F345-4DC4-A34A-28F5003B9BD0}" type="slidenum">
              <a:rPr lang="en-US"/>
              <a:pPr/>
              <a:t>250</a:t>
            </a:fld>
            <a:endParaRPr lang="en-US"/>
          </a:p>
        </p:txBody>
      </p:sp>
      <p:sp>
        <p:nvSpPr>
          <p:cNvPr id="2" name="Title 1"/>
          <p:cNvSpPr>
            <a:spLocks noGrp="1"/>
          </p:cNvSpPr>
          <p:nvPr>
            <p:ph type="title" idx="4294967295"/>
          </p:nvPr>
        </p:nvSpPr>
        <p:spPr>
          <a:xfrm>
            <a:off x="457200" y="133797"/>
            <a:ext cx="8229600" cy="774923"/>
          </a:xfrm>
        </p:spPr>
        <p:txBody>
          <a:bodyPr/>
          <a:lstStyle/>
          <a:p>
            <a:pPr>
              <a:defRPr/>
            </a:pPr>
            <a:r>
              <a:rPr lang="en-US" dirty="0">
                <a:latin typeface="+mj-lt"/>
                <a:ea typeface="+mj-ea"/>
                <a:cs typeface="+mj-cs"/>
              </a:rPr>
              <a:t>Explaining the Vulgar View</a:t>
            </a:r>
          </a:p>
        </p:txBody>
      </p:sp>
      <p:sp>
        <p:nvSpPr>
          <p:cNvPr id="3" name="Content Placeholder 2"/>
          <p:cNvSpPr>
            <a:spLocks noGrp="1"/>
          </p:cNvSpPr>
          <p:nvPr>
            <p:ph idx="4294967295"/>
          </p:nvPr>
        </p:nvSpPr>
        <p:spPr>
          <a:xfrm>
            <a:off x="457200" y="1232756"/>
            <a:ext cx="8435280" cy="5376007"/>
          </a:xfrm>
        </p:spPr>
        <p:txBody>
          <a:bodyPr/>
          <a:lstStyle/>
          <a:p>
            <a:r>
              <a:rPr lang="en-US" sz="2800"/>
              <a:t>Focusing now on </a:t>
            </a:r>
            <a:r>
              <a:rPr lang="en-US" sz="2800" i="1"/>
              <a:t>constancy</a:t>
            </a:r>
            <a:r>
              <a:rPr lang="en-US" sz="2800"/>
              <a:t>,</a:t>
            </a:r>
            <a:r>
              <a:rPr lang="en-US" sz="2800" i="1"/>
              <a:t> </a:t>
            </a:r>
            <a:r>
              <a:rPr lang="en-US" sz="2800"/>
              <a:t>Hume summarises the account he is about to give, explaining our natural and unreflective (“vulgar”) belief in body:</a:t>
            </a:r>
          </a:p>
          <a:p>
            <a:pPr lvl="1">
              <a:spcBef>
                <a:spcPts val="1800"/>
              </a:spcBef>
              <a:buNone/>
            </a:pPr>
            <a:r>
              <a:rPr lang="en-US" sz="2500"/>
              <a:t>	“When we have been accustom’d to observe a constancy in certain impressions, and have found, that the perception of the sun or ocean, for instance, returns upon us after an absence or annihilation with like parts and in a like order, as at its first appear-ance, we are not apt to regard these interrupted perceptions as different, (which they really are) but on the contrary consider them individually the same, upon account of their resemblance.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2773DB65-EA41-49DC-893C-8BE577A05A06}" type="slidenum">
              <a:rPr lang="en-US" sz="1600">
                <a:effectLst>
                  <a:outerShdw blurRad="38100" dist="38100" dir="2700000" algn="tl">
                    <a:srgbClr val="000000"/>
                  </a:outerShdw>
                </a:effectLst>
                <a:ea typeface="ＭＳ Ｐゴシック" charset="-128"/>
              </a:rPr>
              <a:pPr eaLnBrk="1" hangingPunct="1"/>
              <a:t>250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446921984"/>
      </p:ext>
    </p:extLst>
  </p:cSld>
  <p:clrMapOvr>
    <a:masterClrMapping/>
  </p:clrMapOvr>
  <p:transition spd="med">
    <p:cover/>
  </p:transition>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401C77C-BB2E-4ADD-8B00-4DF71DC1441C}" type="slidenum">
              <a:rPr lang="en-US"/>
              <a:pPr/>
              <a:t>251</a:t>
            </a:fld>
            <a:endParaRPr lang="en-US"/>
          </a:p>
        </p:txBody>
      </p:sp>
      <p:sp>
        <p:nvSpPr>
          <p:cNvPr id="3" name="Content Placeholder 2"/>
          <p:cNvSpPr>
            <a:spLocks noGrp="1"/>
          </p:cNvSpPr>
          <p:nvPr>
            <p:ph idx="4294967295"/>
          </p:nvPr>
        </p:nvSpPr>
        <p:spPr>
          <a:xfrm>
            <a:off x="745232" y="188640"/>
            <a:ext cx="7895220" cy="6272213"/>
          </a:xfrm>
        </p:spPr>
        <p:txBody>
          <a:bodyPr/>
          <a:lstStyle/>
          <a:p>
            <a:pPr>
              <a:buFont typeface="Wingdings" charset="2"/>
              <a:buNone/>
            </a:pPr>
            <a:r>
              <a:rPr lang="en-US"/>
              <a:t>	</a:t>
            </a:r>
            <a:r>
              <a:rPr lang="en-US" sz="2500"/>
              <a:t>“But as this interruption of their existence is contrary to their perfect identity, and makes us regard the first impression as annihilated, and the second as newly created, we find ourselves somewhat at a loss, and are involv’d in a kind of contradiction.  In order to free ourselves from this difficulty, we disguise, as much as possible, the interruption, or rather remove it entirely, by supposing that these interrupted perceptions are connected by a real existence, of which we are insensible.  This supposition, or idea of continu’d existence, acquires a force and vivacity from the memory of these broken impressions, and from that propensity, which they give us, to suppose them the same; and  … the very essence of belief consists in the force and vivacity of the conception.”  (</a:t>
            </a:r>
            <a:r>
              <a:rPr lang="en-US" sz="2500" i="1"/>
              <a:t>T</a:t>
            </a:r>
            <a:r>
              <a:rPr lang="en-US" sz="2500"/>
              <a:t> 1.4.2.24)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DED4156-CF7B-40F1-BDF7-0BF09EF959EF}" type="slidenum">
              <a:rPr lang="en-US" sz="1600">
                <a:effectLst>
                  <a:outerShdw blurRad="38100" dist="38100" dir="2700000" algn="tl">
                    <a:srgbClr val="000000"/>
                  </a:outerShdw>
                </a:effectLst>
                <a:ea typeface="ＭＳ Ｐゴシック" charset="-128"/>
              </a:rPr>
              <a:pPr eaLnBrk="1" hangingPunct="1"/>
              <a:t>251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138193599"/>
      </p:ext>
    </p:extLst>
  </p:cSld>
  <p:clrMapOvr>
    <a:masterClrMapping/>
  </p:clrMapOvr>
  <p:transition spd="med">
    <p:cover/>
  </p:transition>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4B856C-40ED-46C0-9794-756AD6CCDC81}" type="slidenum">
              <a:rPr lang="en-US"/>
              <a:pPr/>
              <a:t>252</a:t>
            </a:fld>
            <a:endParaRPr lang="en-US"/>
          </a:p>
        </p:txBody>
      </p:sp>
      <p:sp>
        <p:nvSpPr>
          <p:cNvPr id="2" name="Title 1"/>
          <p:cNvSpPr>
            <a:spLocks noGrp="1"/>
          </p:cNvSpPr>
          <p:nvPr>
            <p:ph type="title" idx="4294967295"/>
          </p:nvPr>
        </p:nvSpPr>
        <p:spPr>
          <a:xfrm>
            <a:off x="457200" y="277813"/>
            <a:ext cx="8229600" cy="882935"/>
          </a:xfrm>
        </p:spPr>
        <p:txBody>
          <a:bodyPr/>
          <a:lstStyle/>
          <a:p>
            <a:pPr>
              <a:defRPr/>
            </a:pPr>
            <a:r>
              <a:rPr lang="en-US" dirty="0">
                <a:latin typeface="+mj-lt"/>
                <a:ea typeface="+mj-ea"/>
                <a:cs typeface="+mj-cs"/>
              </a:rPr>
              <a:t>The Four-Part Account</a:t>
            </a:r>
          </a:p>
        </p:txBody>
      </p:sp>
      <p:sp>
        <p:nvSpPr>
          <p:cNvPr id="3" name="Content Placeholder 2"/>
          <p:cNvSpPr>
            <a:spLocks noGrp="1"/>
          </p:cNvSpPr>
          <p:nvPr>
            <p:ph idx="4294967295"/>
          </p:nvPr>
        </p:nvSpPr>
        <p:spPr>
          <a:xfrm>
            <a:off x="352425" y="1340768"/>
            <a:ext cx="8334375" cy="5364596"/>
          </a:xfrm>
        </p:spPr>
        <p:txBody>
          <a:bodyPr/>
          <a:lstStyle/>
          <a:p>
            <a:r>
              <a:rPr lang="en-US" dirty="0"/>
              <a:t>At </a:t>
            </a:r>
            <a:r>
              <a:rPr lang="en-US" i="1" dirty="0"/>
              <a:t>T</a:t>
            </a:r>
            <a:r>
              <a:rPr lang="en-US" dirty="0"/>
              <a:t> 1.4.2.25 (cf. </a:t>
            </a:r>
            <a:r>
              <a:rPr lang="en-US" i="1" dirty="0"/>
              <a:t>T</a:t>
            </a:r>
            <a:r>
              <a:rPr lang="en-US" dirty="0"/>
              <a:t> 1.4.2.43), Hume </a:t>
            </a:r>
            <a:r>
              <a:rPr lang="en-US" dirty="0" err="1"/>
              <a:t>summarises</a:t>
            </a:r>
            <a:r>
              <a:rPr lang="en-US" dirty="0"/>
              <a:t> the four parts of this account, which he then discusses in depth:</a:t>
            </a:r>
          </a:p>
          <a:p>
            <a:pPr lvl="1"/>
            <a:r>
              <a:rPr lang="en-US" sz="2700" dirty="0"/>
              <a:t>The principle of individuation, </a:t>
            </a:r>
            <a:r>
              <a:rPr lang="en-US" sz="2700" i="1" dirty="0"/>
              <a:t>T</a:t>
            </a:r>
            <a:r>
              <a:rPr lang="en-US" sz="2700" dirty="0"/>
              <a:t> 1.4.2.26-30</a:t>
            </a:r>
          </a:p>
          <a:p>
            <a:pPr lvl="1"/>
            <a:r>
              <a:rPr lang="en-US" sz="2700" dirty="0"/>
              <a:t>How resemblance leads us to attribute identity to interrupted perceptions, </a:t>
            </a:r>
            <a:r>
              <a:rPr lang="en-US" sz="2700" i="1" dirty="0"/>
              <a:t>T</a:t>
            </a:r>
            <a:r>
              <a:rPr lang="en-US" sz="2700" dirty="0"/>
              <a:t> 1.4.2.31-36</a:t>
            </a:r>
          </a:p>
          <a:p>
            <a:pPr lvl="1"/>
            <a:r>
              <a:rPr lang="en-US" sz="2700" dirty="0"/>
              <a:t>Why we unite interrupted perceptions by “feigning a </a:t>
            </a:r>
            <a:r>
              <a:rPr lang="en-US" sz="2700" dirty="0" err="1"/>
              <a:t>continu’d</a:t>
            </a:r>
            <a:r>
              <a:rPr lang="en-US" sz="2700" dirty="0"/>
              <a:t> being”, </a:t>
            </a:r>
            <a:r>
              <a:rPr lang="en-US" sz="2700" i="1" dirty="0"/>
              <a:t>T</a:t>
            </a:r>
            <a:r>
              <a:rPr lang="en-US" sz="2700" dirty="0"/>
              <a:t> 1.4.2.37-40</a:t>
            </a:r>
          </a:p>
          <a:p>
            <a:pPr lvl="1"/>
            <a:r>
              <a:rPr lang="en-US" sz="2700" dirty="0"/>
              <a:t>Explaining the force and vivacity of conception, which constitutes belief (though it’s a vivacious </a:t>
            </a:r>
            <a:r>
              <a:rPr lang="en-US" sz="2700" i="1" dirty="0"/>
              <a:t>fiction</a:t>
            </a:r>
            <a:r>
              <a:rPr lang="en-US" sz="2700" dirty="0"/>
              <a:t> rather than bona fide </a:t>
            </a:r>
            <a:r>
              <a:rPr lang="en-US" sz="2700" i="1" dirty="0"/>
              <a:t>idea</a:t>
            </a:r>
            <a:r>
              <a:rPr lang="en-US" sz="2700" dirty="0"/>
              <a:t>), </a:t>
            </a:r>
            <a:r>
              <a:rPr lang="en-US" sz="2700" i="1" dirty="0"/>
              <a:t>T</a:t>
            </a:r>
            <a:r>
              <a:rPr lang="en-US" sz="2700" dirty="0"/>
              <a:t> 1.4.2.41-42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29A17A0-C624-4AD0-8F77-FC04F05B21EA}" type="slidenum">
              <a:rPr lang="en-US" sz="1600">
                <a:effectLst>
                  <a:outerShdw blurRad="38100" dist="38100" dir="2700000" algn="tl">
                    <a:srgbClr val="000000"/>
                  </a:outerShdw>
                </a:effectLst>
                <a:ea typeface="ＭＳ Ｐゴシック" charset="-128"/>
              </a:rPr>
              <a:pPr eaLnBrk="1" hangingPunct="1"/>
              <a:t>252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67728004"/>
      </p:ext>
    </p:extLst>
  </p:cSld>
  <p:clrMapOvr>
    <a:masterClrMapping/>
  </p:clrMapOvr>
  <p:transition spd="med">
    <p:cover/>
  </p:transition>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79D3798-9916-4334-AFF1-534A57C2E8C2}" type="slidenum">
              <a:rPr lang="en-US"/>
              <a:pPr/>
              <a:t>253</a:t>
            </a:fld>
            <a:endParaRPr lang="en-US"/>
          </a:p>
        </p:txBody>
      </p:sp>
      <p:sp>
        <p:nvSpPr>
          <p:cNvPr id="2" name="Title 1"/>
          <p:cNvSpPr>
            <a:spLocks noGrp="1"/>
          </p:cNvSpPr>
          <p:nvPr>
            <p:ph type="title" idx="4294967295"/>
          </p:nvPr>
        </p:nvSpPr>
        <p:spPr>
          <a:xfrm>
            <a:off x="457200" y="277813"/>
            <a:ext cx="8229600" cy="738919"/>
          </a:xfrm>
        </p:spPr>
        <p:txBody>
          <a:bodyPr/>
          <a:lstStyle/>
          <a:p>
            <a:pPr>
              <a:defRPr/>
            </a:pPr>
            <a:r>
              <a:rPr lang="en-US" dirty="0">
                <a:latin typeface="+mj-lt"/>
                <a:ea typeface="+mj-ea"/>
                <a:cs typeface="+mj-cs"/>
              </a:rPr>
              <a:t>A Problematic Assumption</a:t>
            </a:r>
          </a:p>
        </p:txBody>
      </p:sp>
      <p:sp>
        <p:nvSpPr>
          <p:cNvPr id="3" name="Content Placeholder 2"/>
          <p:cNvSpPr>
            <a:spLocks noGrp="1"/>
          </p:cNvSpPr>
          <p:nvPr>
            <p:ph idx="4294967295"/>
          </p:nvPr>
        </p:nvSpPr>
        <p:spPr>
          <a:xfrm>
            <a:off x="457200" y="1232756"/>
            <a:ext cx="8340725" cy="5400600"/>
          </a:xfrm>
        </p:spPr>
        <p:txBody>
          <a:bodyPr/>
          <a:lstStyle/>
          <a:p>
            <a:r>
              <a:rPr lang="en-US" sz="2800" dirty="0"/>
              <a:t>In Hume’s complex discussion of parts two to four of his “system” – from paragraphs 31 to 46 – he speaks with the vulgar by supposing “that there is only a single existence, which I shall call indifferently </a:t>
            </a:r>
            <a:r>
              <a:rPr lang="en-US" sz="2800" i="1" dirty="0"/>
              <a:t>object</a:t>
            </a:r>
            <a:r>
              <a:rPr lang="en-US" sz="2800" dirty="0"/>
              <a:t> or </a:t>
            </a:r>
            <a:r>
              <a:rPr lang="en-US" sz="2800" i="1" dirty="0"/>
              <a:t>perception</a:t>
            </a:r>
            <a:r>
              <a:rPr lang="en-US" sz="2800" dirty="0"/>
              <a:t>, according as it shall seem best to suit my purpose” (§31).</a:t>
            </a:r>
          </a:p>
          <a:p>
            <a:pPr lvl="1">
              <a:spcBef>
                <a:spcPts val="1200"/>
              </a:spcBef>
            </a:pPr>
            <a:r>
              <a:rPr lang="en-US" sz="2400" dirty="0"/>
              <a:t>But the </a:t>
            </a:r>
            <a:r>
              <a:rPr lang="en-US" sz="2400" i="1" dirty="0"/>
              <a:t>causal</a:t>
            </a:r>
            <a:r>
              <a:rPr lang="en-US" sz="2400" dirty="0"/>
              <a:t> explanation of the vulgar belief is not a </a:t>
            </a:r>
            <a:r>
              <a:rPr lang="en-US" sz="2400" i="1" dirty="0"/>
              <a:t>rational </a:t>
            </a:r>
            <a:r>
              <a:rPr lang="en-US" sz="2400" dirty="0"/>
              <a:t>explanation: it turns out to involve </a:t>
            </a:r>
            <a:r>
              <a:rPr lang="en-US" sz="2400" i="1" dirty="0" err="1"/>
              <a:t>subcognitive</a:t>
            </a:r>
            <a:r>
              <a:rPr lang="en-US" sz="2400" dirty="0"/>
              <a:t> confusions and conflations on the part of the believer.</a:t>
            </a:r>
          </a:p>
          <a:p>
            <a:pPr lvl="1">
              <a:spcBef>
                <a:spcPts val="1200"/>
              </a:spcBef>
            </a:pPr>
            <a:r>
              <a:rPr lang="en-US" sz="2400" dirty="0"/>
              <a:t>So we should not expect this explanation to be </a:t>
            </a:r>
            <a:r>
              <a:rPr lang="en-US" sz="2400" dirty="0" err="1"/>
              <a:t>expres-sible</a:t>
            </a:r>
            <a:r>
              <a:rPr lang="en-US" sz="2400" dirty="0"/>
              <a:t> in vulgar terms: philosophical distinctions (e.g. between object and perception) might be essential.</a:t>
            </a:r>
          </a:p>
          <a:p>
            <a:endParaRPr lang="en-US" sz="28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F036498-ED18-4480-BBFF-6C1837873301}" type="slidenum">
              <a:rPr lang="en-US" sz="1600">
                <a:effectLst>
                  <a:outerShdw blurRad="38100" dist="38100" dir="2700000" algn="tl">
                    <a:srgbClr val="000000"/>
                  </a:outerShdw>
                </a:effectLst>
                <a:ea typeface="ＭＳ Ｐゴシック" charset="-128"/>
              </a:rPr>
              <a:pPr eaLnBrk="1" hangingPunct="1"/>
              <a:t>253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64781011"/>
      </p:ext>
    </p:extLst>
  </p:cSld>
  <p:clrMapOvr>
    <a:masterClrMapping/>
  </p:clrMapOvr>
  <p:transition spd="med">
    <p:cover/>
  </p:transition>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E850D15-84BE-481E-9CD9-5426FDDADF2A}" type="slidenum">
              <a:rPr lang="en-US"/>
              <a:pPr/>
              <a:t>254</a:t>
            </a:fld>
            <a:endParaRPr lang="en-US"/>
          </a:p>
        </p:txBody>
      </p:sp>
      <p:sp>
        <p:nvSpPr>
          <p:cNvPr id="2" name="Title 1"/>
          <p:cNvSpPr>
            <a:spLocks noGrp="1"/>
          </p:cNvSpPr>
          <p:nvPr>
            <p:ph type="title" idx="4294967295"/>
          </p:nvPr>
        </p:nvSpPr>
        <p:spPr>
          <a:xfrm>
            <a:off x="457200" y="152636"/>
            <a:ext cx="8229600" cy="774923"/>
          </a:xfrm>
        </p:spPr>
        <p:txBody>
          <a:bodyPr/>
          <a:lstStyle/>
          <a:p>
            <a:pPr>
              <a:defRPr/>
            </a:pPr>
            <a:r>
              <a:rPr lang="en-US" dirty="0">
                <a:latin typeface="+mj-lt"/>
                <a:ea typeface="+mj-ea"/>
                <a:cs typeface="+mj-cs"/>
              </a:rPr>
              <a:t>Fallacy and Fiction</a:t>
            </a:r>
          </a:p>
        </p:txBody>
      </p:sp>
      <p:sp>
        <p:nvSpPr>
          <p:cNvPr id="3" name="Content Placeholder 2"/>
          <p:cNvSpPr>
            <a:spLocks noGrp="1"/>
          </p:cNvSpPr>
          <p:nvPr>
            <p:ph idx="4294967295"/>
          </p:nvPr>
        </p:nvSpPr>
        <p:spPr>
          <a:xfrm>
            <a:off x="296044" y="1160748"/>
            <a:ext cx="8380412" cy="5472608"/>
          </a:xfrm>
        </p:spPr>
        <p:txBody>
          <a:bodyPr/>
          <a:lstStyle/>
          <a:p>
            <a:r>
              <a:rPr lang="en-US" dirty="0"/>
              <a:t>Having explained how the vulgar view arises, Hume </a:t>
            </a:r>
            <a:r>
              <a:rPr lang="en-US" dirty="0" err="1"/>
              <a:t>emphasises</a:t>
            </a:r>
            <a:r>
              <a:rPr lang="en-US" dirty="0"/>
              <a:t> (</a:t>
            </a:r>
            <a:r>
              <a:rPr lang="en-US" i="1" dirty="0"/>
              <a:t>T</a:t>
            </a:r>
            <a:r>
              <a:rPr lang="en-US" dirty="0"/>
              <a:t> 1.4.2.43) how much falsehood and error it involves:</a:t>
            </a:r>
          </a:p>
          <a:p>
            <a:pPr lvl="1">
              <a:spcBef>
                <a:spcPts val="1200"/>
              </a:spcBef>
            </a:pPr>
            <a:r>
              <a:rPr lang="en-US" sz="2600" dirty="0"/>
              <a:t>False attribution of identity, into which we are “seduced” by the resemblance of perceptions.</a:t>
            </a:r>
          </a:p>
          <a:p>
            <a:pPr lvl="1">
              <a:spcBef>
                <a:spcPts val="1200"/>
              </a:spcBef>
            </a:pPr>
            <a:r>
              <a:rPr lang="en-US" sz="2600" dirty="0"/>
              <a:t>The </a:t>
            </a:r>
            <a:r>
              <a:rPr lang="en-US" sz="2600" i="1" dirty="0"/>
              <a:t>fiction</a:t>
            </a:r>
            <a:r>
              <a:rPr lang="en-US" sz="2600" dirty="0"/>
              <a:t> of a continued existence, which “is really false” but serves “to remedy the interruption of our perceptions”.</a:t>
            </a:r>
          </a:p>
          <a:p>
            <a:pPr lvl="1">
              <a:spcBef>
                <a:spcPts val="1200"/>
              </a:spcBef>
            </a:pPr>
            <a:r>
              <a:rPr lang="en-US" sz="2600" dirty="0"/>
              <a:t>“experiments [reveal that] … the doctrine of the independent existence of our sensible perceptions is contrary to the plainest experience” (</a:t>
            </a:r>
            <a:r>
              <a:rPr lang="en-US" sz="2600" i="1" dirty="0"/>
              <a:t>T</a:t>
            </a:r>
            <a:r>
              <a:rPr lang="en-US" sz="2600" dirty="0"/>
              <a:t> 1.4.2.44).</a:t>
            </a:r>
          </a:p>
          <a:p>
            <a:pPr lvl="1"/>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062EE6F-C94C-4E81-AD39-A0F7CB68B568}" type="slidenum">
              <a:rPr lang="en-US" sz="1600">
                <a:effectLst>
                  <a:outerShdw blurRad="38100" dist="38100" dir="2700000" algn="tl">
                    <a:srgbClr val="000000"/>
                  </a:outerShdw>
                </a:effectLst>
                <a:ea typeface="ＭＳ Ｐゴシック" charset="-128"/>
              </a:rPr>
              <a:pPr eaLnBrk="1" hangingPunct="1"/>
              <a:t>254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961805009"/>
      </p:ext>
    </p:extLst>
  </p:cSld>
  <p:clrMapOvr>
    <a:masterClrMapping/>
  </p:clrMapOvr>
  <p:transition spd="med">
    <p:cover/>
  </p:transition>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E9DB595-E903-43DA-ABF6-02DA817C34CE}" type="slidenum">
              <a:rPr lang="en-US"/>
              <a:pPr/>
              <a:t>255</a:t>
            </a:fld>
            <a:endParaRPr lang="en-US"/>
          </a:p>
        </p:txBody>
      </p:sp>
      <p:sp>
        <p:nvSpPr>
          <p:cNvPr id="2" name="Title 1"/>
          <p:cNvSpPr>
            <a:spLocks noGrp="1"/>
          </p:cNvSpPr>
          <p:nvPr>
            <p:ph type="title" idx="4294967295"/>
          </p:nvPr>
        </p:nvSpPr>
        <p:spPr>
          <a:xfrm>
            <a:off x="457200" y="116632"/>
            <a:ext cx="8229600" cy="882935"/>
          </a:xfrm>
        </p:spPr>
        <p:txBody>
          <a:bodyPr/>
          <a:lstStyle/>
          <a:p>
            <a:pPr>
              <a:defRPr/>
            </a:pPr>
            <a:r>
              <a:rPr lang="en-US" dirty="0">
                <a:latin typeface="+mj-lt"/>
                <a:ea typeface="+mj-ea"/>
                <a:cs typeface="+mj-cs"/>
              </a:rPr>
              <a:t>The Key Experiment</a:t>
            </a:r>
          </a:p>
        </p:txBody>
      </p:sp>
      <p:sp>
        <p:nvSpPr>
          <p:cNvPr id="3" name="Content Placeholder 2"/>
          <p:cNvSpPr>
            <a:spLocks noGrp="1"/>
          </p:cNvSpPr>
          <p:nvPr>
            <p:ph idx="4294967295"/>
          </p:nvPr>
        </p:nvSpPr>
        <p:spPr>
          <a:xfrm>
            <a:off x="806896" y="1268760"/>
            <a:ext cx="7797552" cy="5364596"/>
          </a:xfrm>
        </p:spPr>
        <p:txBody>
          <a:bodyPr/>
          <a:lstStyle/>
          <a:p>
            <a:r>
              <a:rPr lang="en-US" sz="2800" dirty="0"/>
              <a:t>“When we press one eye with a finger, we immediately perceive all the objects to become double” (</a:t>
            </a:r>
            <a:r>
              <a:rPr lang="en-US" sz="2800" i="1" dirty="0"/>
              <a:t>T</a:t>
            </a:r>
            <a:r>
              <a:rPr lang="en-US" sz="2800" dirty="0"/>
              <a:t> 1.4.2.45)</a:t>
            </a:r>
          </a:p>
          <a:p>
            <a:pPr lvl="1">
              <a:spcBef>
                <a:spcPts val="1500"/>
              </a:spcBef>
            </a:pPr>
            <a:r>
              <a:rPr lang="en-US" sz="2500" dirty="0"/>
              <a:t>“But as we do not attribute a </a:t>
            </a:r>
            <a:r>
              <a:rPr lang="en-US" sz="2500" dirty="0" err="1"/>
              <a:t>continu’d</a:t>
            </a:r>
            <a:r>
              <a:rPr lang="en-US" sz="2500" dirty="0"/>
              <a:t> existence to both these perceptions”</a:t>
            </a:r>
          </a:p>
          <a:p>
            <a:pPr lvl="1">
              <a:spcBef>
                <a:spcPts val="1500"/>
              </a:spcBef>
            </a:pPr>
            <a:r>
              <a:rPr lang="en-US" sz="2500" dirty="0"/>
              <a:t>“and as they are both of the same nature”</a:t>
            </a:r>
          </a:p>
          <a:p>
            <a:pPr lvl="1">
              <a:spcBef>
                <a:spcPts val="1500"/>
              </a:spcBef>
            </a:pPr>
            <a:r>
              <a:rPr lang="en-US" sz="2500" dirty="0"/>
              <a:t>“we clearly perceive that all our perceptions are dependent on our organs, and the disposition of our nerves and animal spirits.”</a:t>
            </a:r>
          </a:p>
          <a:p>
            <a:pPr>
              <a:spcBef>
                <a:spcPts val="2400"/>
              </a:spcBef>
            </a:pPr>
            <a:r>
              <a:rPr lang="en-US" sz="2800" dirty="0"/>
              <a:t>A similar argument will come at </a:t>
            </a:r>
            <a:r>
              <a:rPr lang="en-US" sz="2800" i="1" dirty="0"/>
              <a:t>T</a:t>
            </a:r>
            <a:r>
              <a:rPr lang="en-US" sz="2800" dirty="0"/>
              <a:t> 1.4.4.4.</a:t>
            </a:r>
          </a:p>
          <a:p>
            <a:pPr lvl="1"/>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1D13966-9682-4A97-AAF4-86E04768F3E6}" type="slidenum">
              <a:rPr lang="en-US" sz="1600">
                <a:effectLst>
                  <a:outerShdw blurRad="38100" dist="38100" dir="2700000" algn="tl">
                    <a:srgbClr val="000000"/>
                  </a:outerShdw>
                </a:effectLst>
                <a:ea typeface="ＭＳ Ｐゴシック" charset="-128"/>
              </a:rPr>
              <a:pPr eaLnBrk="1" hangingPunct="1"/>
              <a:t>255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77270842"/>
      </p:ext>
    </p:extLst>
  </p:cSld>
  <p:clrMapOvr>
    <a:masterClrMapping/>
  </p:clrMapOvr>
  <p:transition spd="med">
    <p:cover/>
  </p:transition>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BB260FC-C811-4D94-A389-05AF38F72AD8}" type="slidenum">
              <a:rPr lang="en-US"/>
              <a:pPr/>
              <a:t>256</a:t>
            </a:fld>
            <a:endParaRPr lang="en-US"/>
          </a:p>
        </p:txBody>
      </p:sp>
      <p:sp>
        <p:nvSpPr>
          <p:cNvPr id="2" name="Title 1"/>
          <p:cNvSpPr>
            <a:spLocks noGrp="1"/>
          </p:cNvSpPr>
          <p:nvPr>
            <p:ph type="title" idx="4294967295"/>
          </p:nvPr>
        </p:nvSpPr>
        <p:spPr>
          <a:xfrm>
            <a:off x="457200" y="152636"/>
            <a:ext cx="8229600" cy="990947"/>
          </a:xfrm>
        </p:spPr>
        <p:txBody>
          <a:bodyPr/>
          <a:lstStyle/>
          <a:p>
            <a:pPr>
              <a:defRPr/>
            </a:pPr>
            <a:r>
              <a:rPr lang="en-US" dirty="0">
                <a:latin typeface="+mj-lt"/>
                <a:ea typeface="+mj-ea"/>
                <a:cs typeface="+mj-cs"/>
              </a:rPr>
              <a:t>The Philosophical System</a:t>
            </a:r>
          </a:p>
        </p:txBody>
      </p:sp>
      <p:sp>
        <p:nvSpPr>
          <p:cNvPr id="3" name="Content Placeholder 2"/>
          <p:cNvSpPr>
            <a:spLocks noGrp="1"/>
          </p:cNvSpPr>
          <p:nvPr>
            <p:ph idx="4294967295"/>
          </p:nvPr>
        </p:nvSpPr>
        <p:spPr>
          <a:xfrm>
            <a:off x="637220" y="1412776"/>
            <a:ext cx="8039236" cy="5096446"/>
          </a:xfrm>
        </p:spPr>
        <p:txBody>
          <a:bodyPr/>
          <a:lstStyle/>
          <a:p>
            <a:r>
              <a:rPr lang="en-US" sz="2800" dirty="0"/>
              <a:t>Philosophers </a:t>
            </a:r>
            <a:r>
              <a:rPr lang="en-US" sz="2800" dirty="0" err="1"/>
              <a:t>realise</a:t>
            </a:r>
            <a:r>
              <a:rPr lang="en-US" sz="2800" dirty="0"/>
              <a:t> that perceptions are </a:t>
            </a:r>
            <a:r>
              <a:rPr lang="en-US" sz="2800"/>
              <a:t>not independent of us, </a:t>
            </a:r>
            <a:r>
              <a:rPr lang="en-US" sz="2800" dirty="0"/>
              <a:t>but they are very reluctant (or psychologically unable) to give up belief in the continued and distinct existence of body.</a:t>
            </a:r>
          </a:p>
          <a:p>
            <a:pPr>
              <a:spcBef>
                <a:spcPts val="1800"/>
              </a:spcBef>
            </a:pPr>
            <a:r>
              <a:rPr lang="en-US" sz="2800" dirty="0"/>
              <a:t>Hence they invent a new theory “of the double existence of perceptions and objects” as a “palliative remedy” (</a:t>
            </a:r>
            <a:r>
              <a:rPr lang="en-US" sz="2800" i="1" dirty="0"/>
              <a:t>T</a:t>
            </a:r>
            <a:r>
              <a:rPr lang="en-US" sz="2800" dirty="0"/>
              <a:t> 1.4.2.46).</a:t>
            </a:r>
          </a:p>
          <a:p>
            <a:pPr>
              <a:spcBef>
                <a:spcPts val="1800"/>
              </a:spcBef>
            </a:pPr>
            <a:r>
              <a:rPr lang="en-US" sz="2800" dirty="0"/>
              <a:t>This “</a:t>
            </a:r>
            <a:r>
              <a:rPr lang="en-US" sz="2800" i="1" dirty="0"/>
              <a:t>has no primary recommendation either to reason or the imagination</a:t>
            </a:r>
            <a:r>
              <a:rPr lang="en-US" sz="2800" dirty="0"/>
              <a:t>”, and acquires all its imaginative appeal from the vulgar view.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38A0F553-AB71-4EF0-8D46-6EBDA8B2E472}" type="slidenum">
              <a:rPr lang="en-US" sz="1600">
                <a:effectLst>
                  <a:outerShdw blurRad="38100" dist="38100" dir="2700000" algn="tl">
                    <a:srgbClr val="000000"/>
                  </a:outerShdw>
                </a:effectLst>
                <a:ea typeface="ＭＳ Ｐゴシック" charset="-128"/>
              </a:rPr>
              <a:pPr eaLnBrk="1" hangingPunct="1"/>
              <a:t>256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710787733"/>
      </p:ext>
    </p:extLst>
  </p:cSld>
  <p:clrMapOvr>
    <a:masterClrMapping/>
  </p:clrMapOvr>
  <p:transition spd="med">
    <p:cover/>
  </p:transition>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4185F3F-2214-4038-B9A0-EC8F136B7805}" type="slidenum">
              <a:rPr lang="en-US"/>
              <a:pPr/>
              <a:t>257</a:t>
            </a:fld>
            <a:endParaRPr lang="en-US"/>
          </a:p>
        </p:txBody>
      </p:sp>
      <p:sp>
        <p:nvSpPr>
          <p:cNvPr id="2" name="Title 1"/>
          <p:cNvSpPr>
            <a:spLocks noGrp="1"/>
          </p:cNvSpPr>
          <p:nvPr>
            <p:ph type="title" idx="4294967295"/>
          </p:nvPr>
        </p:nvSpPr>
        <p:spPr>
          <a:xfrm>
            <a:off x="457200" y="188640"/>
            <a:ext cx="8229600" cy="774923"/>
          </a:xfrm>
        </p:spPr>
        <p:txBody>
          <a:bodyPr/>
          <a:lstStyle/>
          <a:p>
            <a:pPr>
              <a:defRPr/>
            </a:pPr>
            <a:r>
              <a:rPr lang="en-US" dirty="0">
                <a:latin typeface="+mj-lt"/>
                <a:ea typeface="+mj-ea"/>
                <a:cs typeface="+mj-cs"/>
              </a:rPr>
              <a:t>Recapitulation and Overview</a:t>
            </a:r>
          </a:p>
        </p:txBody>
      </p:sp>
      <p:sp>
        <p:nvSpPr>
          <p:cNvPr id="3" name="Content Placeholder 2"/>
          <p:cNvSpPr>
            <a:spLocks noGrp="1"/>
          </p:cNvSpPr>
          <p:nvPr>
            <p:ph idx="4294967295"/>
          </p:nvPr>
        </p:nvSpPr>
        <p:spPr>
          <a:xfrm>
            <a:off x="431540" y="1268760"/>
            <a:ext cx="8229600" cy="5256337"/>
          </a:xfrm>
        </p:spPr>
        <p:txBody>
          <a:bodyPr/>
          <a:lstStyle/>
          <a:p>
            <a:r>
              <a:rPr lang="en-US" dirty="0"/>
              <a:t>In spelling out these points, Hume repeats or expands some of his earlier arguments:</a:t>
            </a:r>
          </a:p>
          <a:p>
            <a:pPr lvl="1">
              <a:spcBef>
                <a:spcPts val="1200"/>
              </a:spcBef>
            </a:pPr>
            <a:r>
              <a:rPr lang="en-US" dirty="0"/>
              <a:t>Reason cannot establish continuing objects causing our perceptions (</a:t>
            </a:r>
            <a:r>
              <a:rPr lang="en-US" i="1" dirty="0"/>
              <a:t>T</a:t>
            </a:r>
            <a:r>
              <a:rPr lang="en-US" dirty="0"/>
              <a:t> 1.4.2.47).</a:t>
            </a:r>
          </a:p>
          <a:p>
            <a:pPr lvl="1">
              <a:spcBef>
                <a:spcPts val="1200"/>
              </a:spcBef>
            </a:pPr>
            <a:r>
              <a:rPr lang="en-US" dirty="0"/>
              <a:t>The imagination leads naturally to the vulgar, rather than philosophical, view (</a:t>
            </a:r>
            <a:r>
              <a:rPr lang="en-US" i="1" dirty="0"/>
              <a:t>T</a:t>
            </a:r>
            <a:r>
              <a:rPr lang="en-US" dirty="0"/>
              <a:t> 1.4.2.48).</a:t>
            </a:r>
          </a:p>
          <a:p>
            <a:pPr lvl="1">
              <a:spcBef>
                <a:spcPts val="1200"/>
              </a:spcBef>
            </a:pPr>
            <a:r>
              <a:rPr lang="en-US" dirty="0"/>
              <a:t>Hence the philosophical view must acquire its force from the vulgar view (</a:t>
            </a:r>
            <a:r>
              <a:rPr lang="en-US" i="1" dirty="0"/>
              <a:t>T</a:t>
            </a:r>
            <a:r>
              <a:rPr lang="en-US" dirty="0"/>
              <a:t> 1.4.2.49-52).</a:t>
            </a:r>
          </a:p>
          <a:p>
            <a:pPr lvl="1">
              <a:spcBef>
                <a:spcPts val="1200"/>
              </a:spcBef>
            </a:pPr>
            <a:r>
              <a:rPr lang="en-US" dirty="0"/>
              <a:t>This explains various aspects of the philosophical view (</a:t>
            </a:r>
            <a:r>
              <a:rPr lang="en-US" i="1" dirty="0"/>
              <a:t>T</a:t>
            </a:r>
            <a:r>
              <a:rPr lang="en-US" dirty="0"/>
              <a:t> 1.4.2.53-55).</a:t>
            </a:r>
          </a:p>
          <a:p>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76348FF-9BE3-4301-8383-99CACBB5FD37}" type="slidenum">
              <a:rPr lang="en-US" sz="1600">
                <a:effectLst>
                  <a:outerShdw blurRad="38100" dist="38100" dir="2700000" algn="tl">
                    <a:srgbClr val="000000"/>
                  </a:outerShdw>
                </a:effectLst>
                <a:ea typeface="ＭＳ Ｐゴシック" charset="-128"/>
              </a:rPr>
              <a:pPr eaLnBrk="1" hangingPunct="1"/>
              <a:t>257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808219577"/>
      </p:ext>
    </p:extLst>
  </p:cSld>
  <p:clrMapOvr>
    <a:masterClrMapping/>
  </p:clrMapOvr>
  <p:transition spd="med">
    <p:cover/>
  </p:transition>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C6F3B23-98B5-46C0-A2D8-E774DFAB017A}" type="slidenum">
              <a:rPr lang="en-US"/>
              <a:pPr/>
              <a:t>258</a:t>
            </a:fld>
            <a:endParaRPr lang="en-US"/>
          </a:p>
        </p:txBody>
      </p:sp>
      <p:sp>
        <p:nvSpPr>
          <p:cNvPr id="2" name="Title 1"/>
          <p:cNvSpPr>
            <a:spLocks noGrp="1"/>
          </p:cNvSpPr>
          <p:nvPr>
            <p:ph type="title" idx="4294967295"/>
          </p:nvPr>
        </p:nvSpPr>
        <p:spPr>
          <a:xfrm>
            <a:off x="457200" y="152636"/>
            <a:ext cx="8229600" cy="882935"/>
          </a:xfrm>
        </p:spPr>
        <p:txBody>
          <a:bodyPr/>
          <a:lstStyle/>
          <a:p>
            <a:pPr>
              <a:defRPr/>
            </a:pPr>
            <a:r>
              <a:rPr lang="en-US" dirty="0">
                <a:latin typeface="+mj-lt"/>
                <a:ea typeface="+mj-ea"/>
                <a:cs typeface="+mj-cs"/>
              </a:rPr>
              <a:t>The Despairing Conclusion</a:t>
            </a:r>
          </a:p>
        </p:txBody>
      </p:sp>
      <p:sp>
        <p:nvSpPr>
          <p:cNvPr id="3" name="Content Placeholder 2"/>
          <p:cNvSpPr>
            <a:spLocks noGrp="1"/>
          </p:cNvSpPr>
          <p:nvPr>
            <p:ph idx="4294967295"/>
          </p:nvPr>
        </p:nvSpPr>
        <p:spPr>
          <a:xfrm>
            <a:off x="179512" y="1376772"/>
            <a:ext cx="8551862" cy="5178487"/>
          </a:xfrm>
        </p:spPr>
        <p:txBody>
          <a:bodyPr/>
          <a:lstStyle/>
          <a:p>
            <a:pPr>
              <a:buFont typeface="Wingdings" charset="2"/>
              <a:buNone/>
            </a:pPr>
            <a:r>
              <a:rPr lang="en-US" sz="2400" dirty="0"/>
              <a:t>	“I cannot conceive how such trivial qualities of the fancy, conducted by such false suppositions, can ever lead to any solid and rational system.  …  Philosophers deny our resembling perceptions to be identically the same, and uninterrupted; and yet have so great a propensity to believe them such, that they arbitrarily invent a new set of perceptions, to which they attribute these qualities.  I say, a new set of perceptions [because] … ’tis impossible for us distinctly to conceive, objects to be in their nature any thing but exactly the same with perceptions.  What then can we look for from this confusion of groundless and extraordinary opinions but error and </a:t>
            </a:r>
            <a:r>
              <a:rPr lang="en-US" sz="2400" dirty="0" err="1"/>
              <a:t>falshood</a:t>
            </a:r>
            <a:r>
              <a:rPr lang="en-US" sz="2400" dirty="0"/>
              <a:t>?  And how can we justify to ourselves any belief we repose in them?”  (</a:t>
            </a:r>
            <a:r>
              <a:rPr lang="en-US" sz="2400" i="1" dirty="0"/>
              <a:t>T</a:t>
            </a:r>
            <a:r>
              <a:rPr lang="en-US" sz="2400" dirty="0"/>
              <a:t> 1.4.2.56)</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B8B7234-1938-4727-B192-17784DA1E139}" type="slidenum">
              <a:rPr lang="en-US" sz="1600">
                <a:effectLst>
                  <a:outerShdw blurRad="38100" dist="38100" dir="2700000" algn="tl">
                    <a:srgbClr val="000000"/>
                  </a:outerShdw>
                </a:effectLst>
                <a:ea typeface="ＭＳ Ｐゴシック" charset="-128"/>
              </a:rPr>
              <a:pPr eaLnBrk="1" hangingPunct="1"/>
              <a:t>258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124672499"/>
      </p:ext>
    </p:extLst>
  </p:cSld>
  <p:clrMapOvr>
    <a:masterClrMapping/>
  </p:clrMapOvr>
  <p:transition spd="med">
    <p:cover/>
  </p:transition>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010DEA1-38F9-4503-B9CE-32F09FD55D50}" type="slidenum">
              <a:rPr lang="en-US"/>
              <a:pPr/>
              <a:t>259</a:t>
            </a:fld>
            <a:endParaRPr lang="en-US"/>
          </a:p>
        </p:txBody>
      </p:sp>
      <p:sp>
        <p:nvSpPr>
          <p:cNvPr id="2" name="Title 1"/>
          <p:cNvSpPr>
            <a:spLocks noGrp="1"/>
          </p:cNvSpPr>
          <p:nvPr>
            <p:ph type="title" idx="4294967295"/>
          </p:nvPr>
        </p:nvSpPr>
        <p:spPr>
          <a:xfrm>
            <a:off x="457200" y="44624"/>
            <a:ext cx="8229600" cy="1476164"/>
          </a:xfrm>
        </p:spPr>
        <p:txBody>
          <a:bodyPr/>
          <a:lstStyle/>
          <a:p>
            <a:pPr>
              <a:defRPr/>
            </a:pPr>
            <a:r>
              <a:rPr lang="en-US" dirty="0">
                <a:latin typeface="+mj-lt"/>
                <a:ea typeface="+mj-ea"/>
                <a:cs typeface="+mj-cs"/>
              </a:rPr>
              <a:t>Carelessness and Inattention</a:t>
            </a:r>
            <a:br>
              <a:rPr lang="en-US" dirty="0">
                <a:latin typeface="+mj-lt"/>
                <a:ea typeface="+mj-ea"/>
                <a:cs typeface="+mj-cs"/>
              </a:rPr>
            </a:br>
            <a:r>
              <a:rPr lang="en-US" dirty="0">
                <a:latin typeface="+mj-lt"/>
                <a:ea typeface="+mj-ea"/>
                <a:cs typeface="+mj-cs"/>
              </a:rPr>
              <a:t>are the only “Remedy”</a:t>
            </a:r>
          </a:p>
        </p:txBody>
      </p:sp>
      <p:sp>
        <p:nvSpPr>
          <p:cNvPr id="3" name="Content Placeholder 2"/>
          <p:cNvSpPr>
            <a:spLocks noGrp="1"/>
          </p:cNvSpPr>
          <p:nvPr>
            <p:ph idx="4294967295"/>
          </p:nvPr>
        </p:nvSpPr>
        <p:spPr>
          <a:xfrm>
            <a:off x="179512" y="1634889"/>
            <a:ext cx="8606730" cy="4962463"/>
          </a:xfrm>
        </p:spPr>
        <p:txBody>
          <a:bodyPr/>
          <a:lstStyle/>
          <a:p>
            <a:pPr>
              <a:buFont typeface="Wingdings" charset="2"/>
              <a:buNone/>
            </a:pPr>
            <a:r>
              <a:rPr lang="en-US" sz="2400" dirty="0"/>
              <a:t>	“As long as our attention is bent upon the subject, the philosophical and </a:t>
            </a:r>
            <a:r>
              <a:rPr lang="en-US" sz="2400" dirty="0" err="1"/>
              <a:t>study’d</a:t>
            </a:r>
            <a:r>
              <a:rPr lang="en-US" sz="2400" dirty="0"/>
              <a:t> principle may prevail; but the moment we relax our thoughts, nature will display herself, and draw us back to our former opinion.”  (</a:t>
            </a:r>
            <a:r>
              <a:rPr lang="en-US" sz="2400" i="1" dirty="0"/>
              <a:t>T</a:t>
            </a:r>
            <a:r>
              <a:rPr lang="en-US" sz="2400" dirty="0"/>
              <a:t> 1.4.2.51 cf. 53)</a:t>
            </a:r>
          </a:p>
          <a:p>
            <a:pPr>
              <a:buFont typeface="Wingdings" charset="2"/>
              <a:buNone/>
            </a:pPr>
            <a:endParaRPr lang="en-US" sz="1200" dirty="0"/>
          </a:p>
          <a:p>
            <a:pPr>
              <a:buFont typeface="Wingdings" charset="2"/>
              <a:buNone/>
            </a:pPr>
            <a:r>
              <a:rPr lang="en-US" sz="2400" dirty="0"/>
              <a:t>	“</a:t>
            </a:r>
            <a:r>
              <a:rPr lang="en-US" sz="2400" dirty="0" err="1">
                <a:solidFill>
                  <a:srgbClr val="FF9999"/>
                </a:solidFill>
              </a:rPr>
              <a:t>’Tis</a:t>
            </a:r>
            <a:r>
              <a:rPr lang="en-US" sz="2400" dirty="0">
                <a:solidFill>
                  <a:srgbClr val="FF9999"/>
                </a:solidFill>
              </a:rPr>
              <a:t> impossible upon any system to defend either our understanding or senses</a:t>
            </a:r>
            <a:r>
              <a:rPr lang="en-US" sz="2400" dirty="0"/>
              <a:t>; and we but expose them farther when we </a:t>
            </a:r>
            <a:r>
              <a:rPr lang="en-US" sz="2400" dirty="0" err="1"/>
              <a:t>endeavour</a:t>
            </a:r>
            <a:r>
              <a:rPr lang="en-US" sz="2400" dirty="0"/>
              <a:t> to justify them in that manner.  As the </a:t>
            </a:r>
            <a:r>
              <a:rPr lang="en-US" sz="2400" dirty="0" err="1"/>
              <a:t>sceptical</a:t>
            </a:r>
            <a:r>
              <a:rPr lang="en-US" sz="2400" dirty="0"/>
              <a:t> doubt arises naturally from a profound and intense reflection on those subjects, it </a:t>
            </a:r>
            <a:r>
              <a:rPr lang="en-US" sz="2400" dirty="0" err="1"/>
              <a:t>aways</a:t>
            </a:r>
            <a:r>
              <a:rPr lang="en-US" sz="2400" dirty="0"/>
              <a:t> </a:t>
            </a:r>
            <a:r>
              <a:rPr lang="en-US" sz="2400" dirty="0" err="1"/>
              <a:t>encreases</a:t>
            </a:r>
            <a:r>
              <a:rPr lang="en-US" sz="2400" dirty="0"/>
              <a:t>, the farther we carry our reflections, whether in opposition or conformity to it.  </a:t>
            </a:r>
            <a:r>
              <a:rPr lang="en-US" sz="2400" dirty="0">
                <a:solidFill>
                  <a:srgbClr val="FF9999"/>
                </a:solidFill>
              </a:rPr>
              <a:t>Carelessness and in-attention alone can afford us any remedy</a:t>
            </a:r>
            <a:r>
              <a:rPr lang="en-US" sz="2400" dirty="0"/>
              <a:t>.”  (</a:t>
            </a:r>
            <a:r>
              <a:rPr lang="en-US" sz="2400" i="1" dirty="0"/>
              <a:t>T</a:t>
            </a:r>
            <a:r>
              <a:rPr lang="en-US" sz="2400" dirty="0"/>
              <a:t> 1.4.2.57)</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F609B42-D16D-4633-8942-80D335138E8B}" type="slidenum">
              <a:rPr lang="en-US" sz="1600">
                <a:effectLst>
                  <a:outerShdw blurRad="38100" dist="38100" dir="2700000" algn="tl">
                    <a:srgbClr val="000000"/>
                  </a:outerShdw>
                </a:effectLst>
                <a:ea typeface="ＭＳ Ｐゴシック" charset="-128"/>
              </a:rPr>
              <a:pPr eaLnBrk="1" hangingPunct="1"/>
              <a:t>259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655323891"/>
      </p:ext>
    </p:extLst>
  </p:cSld>
  <p:clrMapOvr>
    <a:masterClrMapping/>
  </p:clrMapOvr>
  <p:transition spd="med">
    <p:cover/>
  </p:transition>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E9DB595-E903-43DA-ABF6-02DA817C34CE}" type="slidenum">
              <a:rPr lang="en-US"/>
              <a:pPr/>
              <a:t>260</a:t>
            </a:fld>
            <a:endParaRPr lang="en-US"/>
          </a:p>
        </p:txBody>
      </p:sp>
      <p:sp>
        <p:nvSpPr>
          <p:cNvPr id="2" name="Title 1"/>
          <p:cNvSpPr>
            <a:spLocks noGrp="1"/>
          </p:cNvSpPr>
          <p:nvPr>
            <p:ph type="title" idx="4294967295"/>
          </p:nvPr>
        </p:nvSpPr>
        <p:spPr>
          <a:xfrm>
            <a:off x="457200" y="205805"/>
            <a:ext cx="8229600" cy="1278979"/>
          </a:xfrm>
        </p:spPr>
        <p:txBody>
          <a:bodyPr/>
          <a:lstStyle/>
          <a:p>
            <a:pPr>
              <a:defRPr/>
            </a:pPr>
            <a:r>
              <a:rPr lang="en-US" sz="4000" dirty="0"/>
              <a:t>“</a:t>
            </a:r>
            <a:r>
              <a:rPr lang="en-US" sz="4000" dirty="0" err="1"/>
              <a:t>’Tis</a:t>
            </a:r>
            <a:r>
              <a:rPr lang="en-US" sz="4000" dirty="0"/>
              <a:t> impossible … to defend either our understanding or senses”</a:t>
            </a:r>
            <a:endParaRPr lang="en-US" sz="4000" dirty="0">
              <a:latin typeface="+mj-lt"/>
              <a:ea typeface="+mj-ea"/>
              <a:cs typeface="+mj-cs"/>
            </a:endParaRPr>
          </a:p>
        </p:txBody>
      </p:sp>
      <p:sp>
        <p:nvSpPr>
          <p:cNvPr id="3" name="Content Placeholder 2"/>
          <p:cNvSpPr>
            <a:spLocks noGrp="1"/>
          </p:cNvSpPr>
          <p:nvPr>
            <p:ph idx="4294967295"/>
          </p:nvPr>
        </p:nvSpPr>
        <p:spPr>
          <a:xfrm>
            <a:off x="251520" y="1844824"/>
            <a:ext cx="8640960" cy="4795689"/>
          </a:xfrm>
        </p:spPr>
        <p:txBody>
          <a:bodyPr/>
          <a:lstStyle/>
          <a:p>
            <a:r>
              <a:rPr lang="en-US" sz="2600" dirty="0"/>
              <a:t>The passage just quoted implicitly refers back to the “</a:t>
            </a:r>
            <a:r>
              <a:rPr lang="en-US" sz="2600" dirty="0" err="1"/>
              <a:t>scepticism</a:t>
            </a:r>
            <a:r>
              <a:rPr lang="en-US" sz="2600" dirty="0"/>
              <a:t> with regard to reason” of </a:t>
            </a:r>
            <a:r>
              <a:rPr lang="en-US" sz="2600" i="1" dirty="0"/>
              <a:t>T</a:t>
            </a:r>
            <a:r>
              <a:rPr lang="en-US" sz="2600" dirty="0"/>
              <a:t> 1.4.1 (note that “the understanding” and “reason” are the same).</a:t>
            </a:r>
          </a:p>
          <a:p>
            <a:pPr>
              <a:spcBef>
                <a:spcPts val="1800"/>
              </a:spcBef>
            </a:pPr>
            <a:r>
              <a:rPr lang="en-US" sz="2600" i="1" dirty="0"/>
              <a:t>T</a:t>
            </a:r>
            <a:r>
              <a:rPr lang="en-US" sz="2600" dirty="0"/>
              <a:t> 1.4.1 and 1.4.2 thus </a:t>
            </a:r>
            <a:r>
              <a:rPr lang="en-US" sz="2600" i="1" dirty="0"/>
              <a:t>combine</a:t>
            </a:r>
            <a:r>
              <a:rPr lang="en-US" sz="2600" dirty="0"/>
              <a:t> to deliver a radically </a:t>
            </a:r>
            <a:r>
              <a:rPr lang="en-US" sz="2600" dirty="0" err="1"/>
              <a:t>sceptical</a:t>
            </a:r>
            <a:r>
              <a:rPr lang="en-US" sz="2600" dirty="0"/>
              <a:t> message: that the only thing able to protect us from extreme </a:t>
            </a:r>
            <a:r>
              <a:rPr lang="en-US" sz="2600" dirty="0" err="1"/>
              <a:t>scepticism</a:t>
            </a:r>
            <a:r>
              <a:rPr lang="en-US" sz="2600" dirty="0"/>
              <a:t> is our own failure to attend to, or follow, the </a:t>
            </a:r>
            <a:r>
              <a:rPr lang="en-US" sz="2600" dirty="0" err="1"/>
              <a:t>sceptical</a:t>
            </a:r>
            <a:r>
              <a:rPr lang="en-US" sz="2600" dirty="0"/>
              <a:t> arguments (cf. </a:t>
            </a:r>
            <a:r>
              <a:rPr lang="en-US" sz="2600" i="1" dirty="0"/>
              <a:t>T</a:t>
            </a:r>
            <a:r>
              <a:rPr lang="en-US" sz="2600" dirty="0"/>
              <a:t> 1.4.1.9-11).</a:t>
            </a:r>
          </a:p>
          <a:p>
            <a:pPr>
              <a:spcBef>
                <a:spcPts val="1800"/>
              </a:spcBef>
            </a:pPr>
            <a:r>
              <a:rPr lang="en-US" sz="2600" dirty="0"/>
              <a:t>Laying such </a:t>
            </a:r>
            <a:r>
              <a:rPr lang="en-US" sz="2600" dirty="0" err="1"/>
              <a:t>scepticism</a:t>
            </a:r>
            <a:r>
              <a:rPr lang="en-US" sz="2600" dirty="0"/>
              <a:t> aside, Hume will now go on to consider some philosophical systems, “</a:t>
            </a:r>
            <a:r>
              <a:rPr lang="en-US" sz="2600" dirty="0" err="1"/>
              <a:t>antient</a:t>
            </a:r>
            <a:r>
              <a:rPr lang="en-US" sz="2600" dirty="0"/>
              <a:t> and modern” (</a:t>
            </a:r>
            <a:r>
              <a:rPr lang="en-US" sz="2600" i="1" dirty="0"/>
              <a:t>T</a:t>
            </a:r>
            <a:r>
              <a:rPr lang="en-US" sz="2600" dirty="0"/>
              <a:t> 1.4.2.57) regarding the external world.</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1D13966-9682-4A97-AAF4-86E04768F3E6}" type="slidenum">
              <a:rPr lang="en-US" sz="1600">
                <a:effectLst>
                  <a:outerShdw blurRad="38100" dist="38100" dir="2700000" algn="tl">
                    <a:srgbClr val="000000"/>
                  </a:outerShdw>
                </a:effectLst>
                <a:ea typeface="ＭＳ Ｐゴシック" charset="-128"/>
              </a:rPr>
              <a:pPr eaLnBrk="1" hangingPunct="1"/>
              <a:t>260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049278298"/>
      </p:ext>
    </p:extLst>
  </p:cSld>
  <p:clrMapOvr>
    <a:masterClrMapping/>
  </p:clrMapOvr>
  <p:transition spd="med">
    <p:cover/>
  </p:transition>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486CBCB4-0C8B-48D3-B62F-4A4EBC46A731}" type="slidenum">
              <a:rPr lang="en-US"/>
              <a:pPr/>
              <a:t>261</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a:t>6(c)</a:t>
            </a:r>
            <a:br>
              <a:rPr lang="en-GB" sz="4800"/>
            </a:br>
            <a:br>
              <a:rPr lang="en-GB" sz="2400"/>
            </a:br>
            <a:r>
              <a:rPr lang="en-GB" sz="4800" i="1"/>
              <a:t>Treatise </a:t>
            </a:r>
            <a:r>
              <a:rPr lang="en-GB" sz="4800"/>
              <a:t>1.4.3</a:t>
            </a:r>
            <a:br>
              <a:rPr lang="en-GB" sz="4800"/>
            </a:br>
            <a:br>
              <a:rPr lang="en-GB" sz="2400"/>
            </a:br>
            <a:r>
              <a:rPr lang="en-GB" sz="4800"/>
              <a:t>“Of the Antient Philosophy”</a:t>
            </a:r>
            <a:endParaRPr lang="en-US" sz="4800" dirty="0"/>
          </a:p>
        </p:txBody>
      </p:sp>
      <p:pic>
        <p:nvPicPr>
          <p:cNvPr id="110489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2801650632"/>
      </p:ext>
    </p:extLst>
  </p:cSld>
  <p:clrMapOvr>
    <a:masterClrMapping/>
  </p:clrMapOvr>
  <p:transition spd="med">
    <p:cover/>
  </p:transition>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630880A-5F8E-41AA-8A9D-947FCFC5889F}" type="slidenum">
              <a:rPr lang="en-US"/>
              <a:pPr/>
              <a:t>262</a:t>
            </a:fld>
            <a:endParaRPr lang="en-US"/>
          </a:p>
        </p:txBody>
      </p:sp>
      <p:sp>
        <p:nvSpPr>
          <p:cNvPr id="2" name="Title 1"/>
          <p:cNvSpPr>
            <a:spLocks noGrp="1"/>
          </p:cNvSpPr>
          <p:nvPr>
            <p:ph type="title" idx="4294967295"/>
          </p:nvPr>
        </p:nvSpPr>
        <p:spPr>
          <a:xfrm>
            <a:off x="457200" y="277813"/>
            <a:ext cx="8229600" cy="810927"/>
          </a:xfrm>
        </p:spPr>
        <p:txBody>
          <a:bodyPr/>
          <a:lstStyle/>
          <a:p>
            <a:r>
              <a:rPr lang="en-US" dirty="0"/>
              <a:t>Of the Antient Philosophy</a:t>
            </a:r>
          </a:p>
        </p:txBody>
      </p:sp>
      <p:sp>
        <p:nvSpPr>
          <p:cNvPr id="3" name="Content Placeholder 2"/>
          <p:cNvSpPr>
            <a:spLocks noGrp="1"/>
          </p:cNvSpPr>
          <p:nvPr>
            <p:ph idx="4294967295"/>
          </p:nvPr>
        </p:nvSpPr>
        <p:spPr>
          <a:xfrm>
            <a:off x="457200" y="1484784"/>
            <a:ext cx="8542338" cy="5181129"/>
          </a:xfrm>
        </p:spPr>
        <p:txBody>
          <a:bodyPr/>
          <a:lstStyle/>
          <a:p>
            <a:r>
              <a:rPr lang="en-US" sz="2800" dirty="0"/>
              <a:t>Section 1.4.3 of the </a:t>
            </a:r>
            <a:r>
              <a:rPr lang="en-US" sz="2800" i="1" dirty="0"/>
              <a:t>Treatise</a:t>
            </a:r>
            <a:r>
              <a:rPr lang="en-US" sz="2800" dirty="0"/>
              <a:t> is largely devoted to debunking </a:t>
            </a:r>
            <a:r>
              <a:rPr lang="en-US" sz="2800" dirty="0" err="1"/>
              <a:t>Aristotelianism</a:t>
            </a:r>
            <a:r>
              <a:rPr lang="en-US" sz="2800" dirty="0"/>
              <a:t>:</a:t>
            </a:r>
          </a:p>
          <a:p>
            <a:pPr lvl="1">
              <a:buFontTx/>
              <a:buNone/>
            </a:pPr>
            <a:r>
              <a:rPr lang="en-US" dirty="0"/>
              <a:t>	</a:t>
            </a:r>
            <a:r>
              <a:rPr lang="en-US" sz="2400" dirty="0"/>
              <a:t>“the fictions of the </a:t>
            </a:r>
            <a:r>
              <a:rPr lang="en-US" sz="2400" dirty="0" err="1"/>
              <a:t>antient</a:t>
            </a:r>
            <a:r>
              <a:rPr lang="en-US" sz="2400" dirty="0"/>
              <a:t> philosophy, concerning </a:t>
            </a:r>
            <a:r>
              <a:rPr lang="en-US" sz="2400" i="1" dirty="0"/>
              <a:t>substances</a:t>
            </a:r>
            <a:r>
              <a:rPr lang="en-US" sz="2400" dirty="0"/>
              <a:t>, and </a:t>
            </a:r>
            <a:r>
              <a:rPr lang="en-US" sz="2400" i="1" dirty="0"/>
              <a:t>substantial forms</a:t>
            </a:r>
            <a:r>
              <a:rPr lang="en-US" sz="2400" dirty="0"/>
              <a:t>, and </a:t>
            </a:r>
            <a:r>
              <a:rPr lang="en-US" sz="2400" i="1" dirty="0"/>
              <a:t>accidents</a:t>
            </a:r>
            <a:r>
              <a:rPr lang="en-US" sz="2400" dirty="0"/>
              <a:t>, and </a:t>
            </a:r>
            <a:r>
              <a:rPr lang="en-US" sz="2400" i="1" dirty="0"/>
              <a:t>occult qualities</a:t>
            </a:r>
            <a:r>
              <a:rPr lang="en-US" sz="2400" dirty="0"/>
              <a:t>; which, however unreasonable and capricious, have a very intimate </a:t>
            </a:r>
            <a:r>
              <a:rPr lang="en-US" sz="2400" dirty="0" err="1"/>
              <a:t>connexion</a:t>
            </a:r>
            <a:r>
              <a:rPr lang="en-US" sz="2400" dirty="0"/>
              <a:t> with the principles of human nature.”  (</a:t>
            </a:r>
            <a:r>
              <a:rPr lang="en-US" sz="2400" i="1" dirty="0"/>
              <a:t>T</a:t>
            </a:r>
            <a:r>
              <a:rPr lang="en-US" sz="2400" dirty="0"/>
              <a:t> 1.4.3.1)</a:t>
            </a:r>
          </a:p>
          <a:p>
            <a:pPr>
              <a:spcBef>
                <a:spcPts val="1800"/>
              </a:spcBef>
            </a:pPr>
            <a:r>
              <a:rPr lang="en-US" sz="2800" dirty="0"/>
              <a:t>Hume explains these “fictions” as naturally arising from the imagination, by which the “</a:t>
            </a:r>
            <a:r>
              <a:rPr lang="en-US" sz="2800" dirty="0" err="1"/>
              <a:t>Peripatetics</a:t>
            </a:r>
            <a:r>
              <a:rPr lang="en-US" sz="2800" dirty="0"/>
              <a:t>” (i.e. Aristotelians) allowed themselves – far too easily and naively – to be seduced.</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4625EC5-F6C4-4468-B731-56B3CE06E63D}" type="slidenum">
              <a:rPr lang="en-US" sz="1600">
                <a:effectLst>
                  <a:outerShdw blurRad="38100" dist="38100" dir="2700000" algn="tl">
                    <a:srgbClr val="000000"/>
                  </a:outerShdw>
                </a:effectLst>
                <a:ea typeface="ＭＳ Ｐゴシック" charset="-128"/>
              </a:rPr>
              <a:pPr eaLnBrk="1" hangingPunct="1"/>
              <a:t>262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80155541"/>
      </p:ext>
    </p:extLst>
  </p:cSld>
  <p:clrMapOvr>
    <a:masterClrMapping/>
  </p:clrMapOvr>
  <p:transition spd="med">
    <p:cover/>
  </p:transition>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F1C0B14-AB30-4078-84B2-318D6FE04F07}" type="slidenum">
              <a:rPr lang="en-US"/>
              <a:pPr/>
              <a:t>263</a:t>
            </a:fld>
            <a:endParaRPr lang="en-US"/>
          </a:p>
        </p:txBody>
      </p:sp>
      <p:sp>
        <p:nvSpPr>
          <p:cNvPr id="2" name="Title 1"/>
          <p:cNvSpPr>
            <a:spLocks noGrp="1"/>
          </p:cNvSpPr>
          <p:nvPr>
            <p:ph type="title" idx="4294967295"/>
          </p:nvPr>
        </p:nvSpPr>
        <p:spPr>
          <a:xfrm>
            <a:off x="457200" y="224644"/>
            <a:ext cx="8229600" cy="918939"/>
          </a:xfrm>
        </p:spPr>
        <p:txBody>
          <a:bodyPr/>
          <a:lstStyle/>
          <a:p>
            <a:r>
              <a:rPr lang="en-US" dirty="0"/>
              <a:t>False Simplicity and Identity</a:t>
            </a:r>
          </a:p>
        </p:txBody>
      </p:sp>
      <p:sp>
        <p:nvSpPr>
          <p:cNvPr id="3" name="Content Placeholder 2"/>
          <p:cNvSpPr>
            <a:spLocks noGrp="1"/>
          </p:cNvSpPr>
          <p:nvPr>
            <p:ph idx="4294967295"/>
          </p:nvPr>
        </p:nvSpPr>
        <p:spPr>
          <a:xfrm>
            <a:off x="457200" y="1340768"/>
            <a:ext cx="8367713" cy="5172745"/>
          </a:xfrm>
        </p:spPr>
        <p:txBody>
          <a:bodyPr/>
          <a:lstStyle/>
          <a:p>
            <a:r>
              <a:rPr lang="en-US" sz="2800" dirty="0"/>
              <a:t>“The most judicious philosophers” [e.g. Locke, </a:t>
            </a:r>
            <a:r>
              <a:rPr lang="en-US" sz="2800" i="1" dirty="0"/>
              <a:t>Essay</a:t>
            </a:r>
            <a:r>
              <a:rPr lang="en-US" sz="2800" dirty="0"/>
              <a:t> II xxiii] consider “that our ideas of bodies are nothing but collections </a:t>
            </a:r>
            <a:r>
              <a:rPr lang="en-US" sz="2800" dirty="0" err="1"/>
              <a:t>form’d</a:t>
            </a:r>
            <a:r>
              <a:rPr lang="en-US" sz="2800" dirty="0"/>
              <a:t> by the mind of the ideas of the several distinct sensible qualities, of which objects are </a:t>
            </a:r>
            <a:r>
              <a:rPr lang="en-US" sz="2800" dirty="0" err="1"/>
              <a:t>compos’d</a:t>
            </a:r>
            <a:r>
              <a:rPr lang="en-US" sz="2800" dirty="0"/>
              <a:t>”.</a:t>
            </a:r>
          </a:p>
          <a:p>
            <a:pPr>
              <a:spcBef>
                <a:spcPts val="1800"/>
              </a:spcBef>
            </a:pPr>
            <a:r>
              <a:rPr lang="en-US" sz="2800" dirty="0"/>
              <a:t>But the sorts of confusions outlined in </a:t>
            </a:r>
            <a:r>
              <a:rPr lang="en-US" sz="2800" i="1" dirty="0"/>
              <a:t>T</a:t>
            </a:r>
            <a:r>
              <a:rPr lang="en-US" sz="2800" dirty="0"/>
              <a:t> 1.4.2 lead us naturally to think of objects as </a:t>
            </a:r>
            <a:r>
              <a:rPr lang="en-US" sz="2800" i="1" dirty="0"/>
              <a:t>simple </a:t>
            </a:r>
            <a:r>
              <a:rPr lang="en-US" sz="2800" dirty="0"/>
              <a:t>things that retain their </a:t>
            </a:r>
            <a:r>
              <a:rPr lang="en-US" sz="2800" i="1" dirty="0"/>
              <a:t>identity</a:t>
            </a:r>
            <a:r>
              <a:rPr lang="en-US" sz="2800" dirty="0"/>
              <a:t> through time:</a:t>
            </a:r>
          </a:p>
          <a:p>
            <a:pPr lvl="1">
              <a:spcBef>
                <a:spcPts val="1200"/>
              </a:spcBef>
              <a:buFontTx/>
              <a:buNone/>
            </a:pPr>
            <a:r>
              <a:rPr lang="en-US" sz="2500" dirty="0"/>
              <a:t>	</a:t>
            </a:r>
            <a:r>
              <a:rPr lang="en-US" sz="2400" dirty="0"/>
              <a:t>“The smooth and uninterrupted progress of the thought … readily deceives the mind, and makes us ascribe an identity to the changeable succession …”  (</a:t>
            </a:r>
            <a:r>
              <a:rPr lang="en-US" sz="2400" i="1" dirty="0"/>
              <a:t>T</a:t>
            </a:r>
            <a:r>
              <a:rPr lang="en-US" sz="2400" dirty="0"/>
              <a:t> 1.4.3.3)</a:t>
            </a:r>
          </a:p>
          <a:p>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D873F9D-C710-4F3A-A3EC-A811DB6D2EAD}" type="slidenum">
              <a:rPr lang="en-US" sz="1600">
                <a:effectLst>
                  <a:outerShdw blurRad="38100" dist="38100" dir="2700000" algn="tl">
                    <a:srgbClr val="000000"/>
                  </a:outerShdw>
                </a:effectLst>
                <a:ea typeface="ＭＳ Ｐゴシック" charset="-128"/>
              </a:rPr>
              <a:pPr eaLnBrk="1" hangingPunct="1"/>
              <a:t>263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222290685"/>
      </p:ext>
    </p:extLst>
  </p:cSld>
  <p:clrMapOvr>
    <a:masterClrMapping/>
  </p:clrMapOvr>
  <p:transition spd="med">
    <p:cover/>
  </p:transition>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BD2D2C8-3460-4FF6-99DE-48C383091402}" type="slidenum">
              <a:rPr lang="en-US"/>
              <a:pPr/>
              <a:t>264</a:t>
            </a:fld>
            <a:endParaRPr lang="en-US"/>
          </a:p>
        </p:txBody>
      </p:sp>
      <p:sp>
        <p:nvSpPr>
          <p:cNvPr id="2" name="Title 1"/>
          <p:cNvSpPr>
            <a:spLocks noGrp="1"/>
          </p:cNvSpPr>
          <p:nvPr>
            <p:ph type="title" idx="4294967295"/>
          </p:nvPr>
        </p:nvSpPr>
        <p:spPr>
          <a:xfrm>
            <a:off x="457200" y="152636"/>
            <a:ext cx="8229600" cy="918939"/>
          </a:xfrm>
        </p:spPr>
        <p:txBody>
          <a:bodyPr/>
          <a:lstStyle/>
          <a:p>
            <a:r>
              <a:rPr lang="en-US" dirty="0"/>
              <a:t>Inventing Substance</a:t>
            </a:r>
          </a:p>
        </p:txBody>
      </p:sp>
      <p:sp>
        <p:nvSpPr>
          <p:cNvPr id="3" name="Content Placeholder 2"/>
          <p:cNvSpPr>
            <a:spLocks noGrp="1"/>
          </p:cNvSpPr>
          <p:nvPr>
            <p:ph idx="4294967295"/>
          </p:nvPr>
        </p:nvSpPr>
        <p:spPr>
          <a:xfrm>
            <a:off x="457200" y="1232756"/>
            <a:ext cx="8229600" cy="5466494"/>
          </a:xfrm>
        </p:spPr>
        <p:txBody>
          <a:bodyPr/>
          <a:lstStyle/>
          <a:p>
            <a:r>
              <a:rPr lang="en-US" sz="3100" dirty="0"/>
              <a:t>When we </a:t>
            </a:r>
            <a:r>
              <a:rPr lang="en-US" sz="3100" dirty="0" err="1"/>
              <a:t>realise</a:t>
            </a:r>
            <a:r>
              <a:rPr lang="en-US" sz="3100" dirty="0"/>
              <a:t> these supposedly identical things have actually changed over time,</a:t>
            </a:r>
          </a:p>
          <a:p>
            <a:pPr lvl="1">
              <a:buFontTx/>
              <a:buNone/>
            </a:pPr>
            <a:r>
              <a:rPr lang="en-US" dirty="0"/>
              <a:t>	</a:t>
            </a:r>
            <a:r>
              <a:rPr lang="en-US" sz="2500" dirty="0"/>
              <a:t>“the imagination is apt to feign something unknown and invisible, which it supposes to continue the same under all these variations; and this unintelligible something it calls a </a:t>
            </a:r>
            <a:r>
              <a:rPr lang="en-US" sz="2500" i="1" dirty="0"/>
              <a:t>substance</a:t>
            </a:r>
            <a:r>
              <a:rPr lang="en-US" sz="2500" dirty="0"/>
              <a:t>, or </a:t>
            </a:r>
            <a:r>
              <a:rPr lang="en-US" sz="2500" i="1" dirty="0"/>
              <a:t>original and first matter</a:t>
            </a:r>
            <a:r>
              <a:rPr lang="en-US" sz="2500" dirty="0"/>
              <a:t>.”  (</a:t>
            </a:r>
            <a:r>
              <a:rPr lang="en-US" sz="2500" i="1" dirty="0"/>
              <a:t>T</a:t>
            </a:r>
            <a:r>
              <a:rPr lang="en-US" sz="2500" dirty="0"/>
              <a:t> 1.4.3.4)</a:t>
            </a:r>
          </a:p>
          <a:p>
            <a:pPr>
              <a:spcBef>
                <a:spcPts val="2400"/>
              </a:spcBef>
            </a:pPr>
            <a:r>
              <a:rPr lang="en-US" sz="3100" dirty="0"/>
              <a:t>We likewise imagine this </a:t>
            </a:r>
            <a:r>
              <a:rPr lang="en-US" sz="3100" i="1" dirty="0"/>
              <a:t>original substance</a:t>
            </a:r>
            <a:r>
              <a:rPr lang="en-US" sz="3100" dirty="0"/>
              <a:t> to be simple and uncompounded, supplying</a:t>
            </a:r>
          </a:p>
          <a:p>
            <a:pPr lvl="1">
              <a:buFontTx/>
              <a:buNone/>
            </a:pPr>
            <a:r>
              <a:rPr lang="en-US" sz="2700" dirty="0"/>
              <a:t>	“</a:t>
            </a:r>
            <a:r>
              <a:rPr lang="en-US" sz="2500" dirty="0"/>
              <a:t>a principle of union or cohesion among [the object’s] qualities”  (</a:t>
            </a:r>
            <a:r>
              <a:rPr lang="en-US" sz="2500" i="1" dirty="0"/>
              <a:t>T</a:t>
            </a:r>
            <a:r>
              <a:rPr lang="en-US" sz="2500" dirty="0"/>
              <a:t> 1.4.3.5)</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B801D92-0B9D-46F1-ABA5-632466E73369}" type="slidenum">
              <a:rPr lang="en-US" sz="1600">
                <a:effectLst>
                  <a:outerShdw blurRad="38100" dist="38100" dir="2700000" algn="tl">
                    <a:srgbClr val="000000"/>
                  </a:outerShdw>
                </a:effectLst>
                <a:ea typeface="ＭＳ Ｐゴシック" charset="-128"/>
              </a:rPr>
              <a:pPr eaLnBrk="1" hangingPunct="1"/>
              <a:t>264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00123166"/>
      </p:ext>
    </p:extLst>
  </p:cSld>
  <p:clrMapOvr>
    <a:masterClrMapping/>
  </p:clrMapOvr>
  <p:transition spd="med">
    <p:cover/>
  </p:transition>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ACE8828-13F9-4E80-BEF7-3E5F0EA0A627}" type="slidenum">
              <a:rPr lang="en-US"/>
              <a:pPr/>
              <a:t>265</a:t>
            </a:fld>
            <a:endParaRPr lang="en-US"/>
          </a:p>
        </p:txBody>
      </p:sp>
      <p:sp>
        <p:nvSpPr>
          <p:cNvPr id="2" name="Title 1"/>
          <p:cNvSpPr>
            <a:spLocks noGrp="1"/>
          </p:cNvSpPr>
          <p:nvPr>
            <p:ph type="title" idx="4294967295"/>
          </p:nvPr>
        </p:nvSpPr>
        <p:spPr>
          <a:xfrm>
            <a:off x="220663" y="152636"/>
            <a:ext cx="8669337" cy="918939"/>
          </a:xfrm>
        </p:spPr>
        <p:txBody>
          <a:bodyPr/>
          <a:lstStyle/>
          <a:p>
            <a:r>
              <a:rPr lang="en-US" dirty="0"/>
              <a:t>Substantial Forms and Accidents</a:t>
            </a:r>
          </a:p>
        </p:txBody>
      </p:sp>
      <p:sp>
        <p:nvSpPr>
          <p:cNvPr id="3" name="Content Placeholder 2"/>
          <p:cNvSpPr>
            <a:spLocks noGrp="1"/>
          </p:cNvSpPr>
          <p:nvPr>
            <p:ph idx="4294967295"/>
          </p:nvPr>
        </p:nvSpPr>
        <p:spPr>
          <a:xfrm>
            <a:off x="323528" y="1376772"/>
            <a:ext cx="8416677" cy="5105164"/>
          </a:xfrm>
        </p:spPr>
        <p:txBody>
          <a:bodyPr/>
          <a:lstStyle/>
          <a:p>
            <a:r>
              <a:rPr lang="en-US" sz="2900" dirty="0"/>
              <a:t>The </a:t>
            </a:r>
            <a:r>
              <a:rPr lang="en-US" sz="2900" dirty="0" err="1"/>
              <a:t>Peripatetics</a:t>
            </a:r>
            <a:r>
              <a:rPr lang="en-US" sz="2900" dirty="0"/>
              <a:t> (i.e. Aristotelians) then ascribe the differences between substances to their different </a:t>
            </a:r>
            <a:r>
              <a:rPr lang="en-US" sz="2900" i="1" dirty="0"/>
              <a:t>substantial forms</a:t>
            </a:r>
            <a:r>
              <a:rPr lang="en-US" sz="2900" dirty="0"/>
              <a:t> (</a:t>
            </a:r>
            <a:r>
              <a:rPr lang="en-US" sz="2900" i="1" dirty="0"/>
              <a:t>T</a:t>
            </a:r>
            <a:r>
              <a:rPr lang="en-US" sz="2900" dirty="0"/>
              <a:t> 1.4.3.6).</a:t>
            </a:r>
          </a:p>
          <a:p>
            <a:pPr>
              <a:spcBef>
                <a:spcPts val="1800"/>
              </a:spcBef>
            </a:pPr>
            <a:r>
              <a:rPr lang="en-US" sz="2900" dirty="0"/>
              <a:t>Qualities of objects such as </a:t>
            </a:r>
            <a:r>
              <a:rPr lang="en-US" sz="2900" dirty="0" err="1"/>
              <a:t>colour</a:t>
            </a:r>
            <a:r>
              <a:rPr lang="en-US" sz="2900" dirty="0"/>
              <a:t> and figure are then considered as </a:t>
            </a:r>
            <a:r>
              <a:rPr lang="en-US" sz="2900" i="1" dirty="0"/>
              <a:t>accidents</a:t>
            </a:r>
            <a:r>
              <a:rPr lang="en-US" sz="2900" dirty="0"/>
              <a:t> (i.e. accidental as opposed to essential qualities) “inhering in” the substance, so these philosophers:</a:t>
            </a:r>
          </a:p>
          <a:p>
            <a:pPr lvl="1">
              <a:spcBef>
                <a:spcPts val="900"/>
              </a:spcBef>
              <a:buFontTx/>
              <a:buNone/>
            </a:pPr>
            <a:r>
              <a:rPr lang="en-US" sz="2600" dirty="0"/>
              <a:t>	</a:t>
            </a:r>
            <a:r>
              <a:rPr lang="en-US" sz="2500" dirty="0"/>
              <a:t>“suppose a substance supporting, which they do not understand, and an accident supported, of which they have as imperfect an idea.  The whole system, therefore, is entirely incomprehensible.”  (</a:t>
            </a:r>
            <a:r>
              <a:rPr lang="en-US" sz="2500" i="1" dirty="0"/>
              <a:t>T</a:t>
            </a:r>
            <a:r>
              <a:rPr lang="en-US" sz="2500" dirty="0"/>
              <a:t> 1.4.3.8)</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CC32B36-AF86-4838-B2C0-DB542BF1341B}" type="slidenum">
              <a:rPr lang="en-US" sz="1600">
                <a:effectLst>
                  <a:outerShdw blurRad="38100" dist="38100" dir="2700000" algn="tl">
                    <a:srgbClr val="000000"/>
                  </a:outerShdw>
                </a:effectLst>
                <a:ea typeface="ＭＳ Ｐゴシック" charset="-128"/>
              </a:rPr>
              <a:pPr eaLnBrk="1" hangingPunct="1"/>
              <a:t>265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496387658"/>
      </p:ext>
    </p:extLst>
  </p:cSld>
  <p:clrMapOvr>
    <a:masterClrMapping/>
  </p:clrMapOvr>
  <p:transition spd="med">
    <p:cover/>
  </p:transition>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FCA3CB0-0050-45EA-97BE-31B54A9D05FF}" type="slidenum">
              <a:rPr lang="en-US"/>
              <a:pPr/>
              <a:t>266</a:t>
            </a:fld>
            <a:endParaRPr lang="en-US"/>
          </a:p>
        </p:txBody>
      </p:sp>
      <p:sp>
        <p:nvSpPr>
          <p:cNvPr id="2" name="Title 1"/>
          <p:cNvSpPr>
            <a:spLocks noGrp="1"/>
          </p:cNvSpPr>
          <p:nvPr>
            <p:ph type="title" idx="4294967295"/>
          </p:nvPr>
        </p:nvSpPr>
        <p:spPr>
          <a:xfrm>
            <a:off x="457200" y="277813"/>
            <a:ext cx="8229600" cy="882935"/>
          </a:xfrm>
        </p:spPr>
        <p:txBody>
          <a:bodyPr/>
          <a:lstStyle/>
          <a:p>
            <a:r>
              <a:rPr lang="en-US" dirty="0"/>
              <a:t>Faculties and Occult Qualities</a:t>
            </a:r>
          </a:p>
        </p:txBody>
      </p:sp>
      <p:sp>
        <p:nvSpPr>
          <p:cNvPr id="3" name="Content Placeholder 2"/>
          <p:cNvSpPr>
            <a:spLocks noGrp="1"/>
          </p:cNvSpPr>
          <p:nvPr>
            <p:ph idx="4294967295"/>
          </p:nvPr>
        </p:nvSpPr>
        <p:spPr>
          <a:xfrm>
            <a:off x="395536" y="1412776"/>
            <a:ext cx="8316924" cy="5060950"/>
          </a:xfrm>
        </p:spPr>
        <p:txBody>
          <a:bodyPr/>
          <a:lstStyle/>
          <a:p>
            <a:r>
              <a:rPr lang="en-US" sz="2900" dirty="0"/>
              <a:t>Alluding back to his theory of causal inference, Hume remarks that men naturally “imagine they perceive a </a:t>
            </a:r>
            <a:r>
              <a:rPr lang="en-US" sz="2900" dirty="0" err="1"/>
              <a:t>connexion</a:t>
            </a:r>
            <a:r>
              <a:rPr lang="en-US" sz="2900" dirty="0"/>
              <a:t>” between constantly con-joined objects.  Philosophers who investigate further cannot find any such </a:t>
            </a:r>
            <a:r>
              <a:rPr lang="en-US" sz="2900" dirty="0" err="1"/>
              <a:t>connexion</a:t>
            </a:r>
            <a:r>
              <a:rPr lang="en-US" sz="2900" dirty="0"/>
              <a:t>,</a:t>
            </a:r>
          </a:p>
          <a:p>
            <a:pPr lvl="1">
              <a:spcBef>
                <a:spcPts val="1200"/>
              </a:spcBef>
              <a:buFontTx/>
              <a:buNone/>
            </a:pPr>
            <a:r>
              <a:rPr lang="en-US" dirty="0"/>
              <a:t>	</a:t>
            </a:r>
            <a:r>
              <a:rPr lang="en-US" sz="2400" dirty="0"/>
              <a:t>“But … instead of drawing a just inference from this observation, and concluding, that we have no idea of power or agency, separate from the mind, and belonging to causes …, they … [invent] the words </a:t>
            </a:r>
            <a:r>
              <a:rPr lang="en-US" sz="2400" i="1" dirty="0"/>
              <a:t>faculty</a:t>
            </a:r>
            <a:r>
              <a:rPr lang="en-US" sz="2400" dirty="0"/>
              <a:t> and </a:t>
            </a:r>
            <a:r>
              <a:rPr lang="en-US" sz="2400" i="1" dirty="0"/>
              <a:t>occult quality</a:t>
            </a:r>
            <a:r>
              <a:rPr lang="en-US" sz="2400" dirty="0"/>
              <a:t>.  …  They need only say, that any </a:t>
            </a:r>
            <a:r>
              <a:rPr lang="en-US" sz="2400" dirty="0" err="1"/>
              <a:t>phaenomenon</a:t>
            </a:r>
            <a:r>
              <a:rPr lang="en-US" sz="2400" dirty="0"/>
              <a:t>, which puzzles them, arises from a faculty or an occult quality …”  (</a:t>
            </a:r>
            <a:r>
              <a:rPr lang="en-US" sz="2400" i="1" dirty="0"/>
              <a:t>T</a:t>
            </a:r>
            <a:r>
              <a:rPr lang="en-US" sz="2400" dirty="0"/>
              <a:t> 1.4.3.9-10)</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6C3012A-C7F8-453C-8B6D-F95E4C2E81D1}" type="slidenum">
              <a:rPr lang="en-US" sz="1600">
                <a:effectLst>
                  <a:outerShdw blurRad="38100" dist="38100" dir="2700000" algn="tl">
                    <a:srgbClr val="000000"/>
                  </a:outerShdw>
                </a:effectLst>
                <a:ea typeface="ＭＳ Ｐゴシック" charset="-128"/>
              </a:rPr>
              <a:pPr eaLnBrk="1" hangingPunct="1"/>
              <a:t>266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812578308"/>
      </p:ext>
    </p:extLst>
  </p:cSld>
  <p:clrMapOvr>
    <a:masterClrMapping/>
  </p:clrMapOvr>
  <p:transition spd="med">
    <p:cover/>
  </p:transition>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F5A0676-3D89-4C8B-9EA8-FC8606E885E5}" type="slidenum">
              <a:rPr lang="en-US"/>
              <a:pPr/>
              <a:t>267</a:t>
            </a:fld>
            <a:endParaRPr lang="en-US"/>
          </a:p>
        </p:txBody>
      </p:sp>
      <p:sp>
        <p:nvSpPr>
          <p:cNvPr id="2" name="Title 1"/>
          <p:cNvSpPr>
            <a:spLocks noGrp="1"/>
          </p:cNvSpPr>
          <p:nvPr>
            <p:ph type="title" idx="4294967295"/>
          </p:nvPr>
        </p:nvSpPr>
        <p:spPr>
          <a:xfrm>
            <a:off x="143508" y="277813"/>
            <a:ext cx="8856984" cy="810927"/>
          </a:xfrm>
        </p:spPr>
        <p:txBody>
          <a:bodyPr/>
          <a:lstStyle/>
          <a:p>
            <a:r>
              <a:rPr lang="en-US" sz="4000" dirty="0"/>
              <a:t>Ridiculing Sympathies and Antipathies</a:t>
            </a:r>
          </a:p>
        </p:txBody>
      </p:sp>
      <p:sp>
        <p:nvSpPr>
          <p:cNvPr id="3" name="Content Placeholder 2"/>
          <p:cNvSpPr>
            <a:spLocks noGrp="1"/>
          </p:cNvSpPr>
          <p:nvPr>
            <p:ph idx="4294967295"/>
          </p:nvPr>
        </p:nvSpPr>
        <p:spPr>
          <a:xfrm>
            <a:off x="35496" y="1376772"/>
            <a:ext cx="8656638" cy="4983163"/>
          </a:xfrm>
        </p:spPr>
        <p:txBody>
          <a:bodyPr/>
          <a:lstStyle/>
          <a:p>
            <a:pPr lvl="1">
              <a:buFontTx/>
              <a:buNone/>
            </a:pPr>
            <a:r>
              <a:rPr lang="en-US" sz="2400" dirty="0"/>
              <a:t>	“But among all the instances, wherein the </a:t>
            </a:r>
            <a:r>
              <a:rPr lang="en-US" sz="2400" dirty="0" err="1"/>
              <a:t>Peripatetics</a:t>
            </a:r>
            <a:r>
              <a:rPr lang="en-US" sz="2400" dirty="0"/>
              <a:t> have shown they were guided by every trivial propensity of the imagination, no one is more remarkable that their </a:t>
            </a:r>
            <a:r>
              <a:rPr lang="en-US" sz="2400" i="1" dirty="0">
                <a:solidFill>
                  <a:srgbClr val="FF9999"/>
                </a:solidFill>
              </a:rPr>
              <a:t>sympathies</a:t>
            </a:r>
            <a:r>
              <a:rPr lang="en-US" sz="2400" dirty="0"/>
              <a:t>, </a:t>
            </a:r>
            <a:r>
              <a:rPr lang="en-US" sz="2400" i="1" dirty="0">
                <a:solidFill>
                  <a:srgbClr val="FF9999"/>
                </a:solidFill>
              </a:rPr>
              <a:t>antipathies</a:t>
            </a:r>
            <a:r>
              <a:rPr lang="en-US" sz="2400" dirty="0"/>
              <a:t>, and </a:t>
            </a:r>
            <a:r>
              <a:rPr lang="en-US" sz="2400" i="1" dirty="0">
                <a:solidFill>
                  <a:srgbClr val="FF9999"/>
                </a:solidFill>
              </a:rPr>
              <a:t>horrors of a vacuum</a:t>
            </a:r>
            <a:r>
              <a:rPr lang="en-US" sz="2400" dirty="0"/>
              <a:t>.  There is a very remarkable inclination in human nature, to bestow on external objects the same emotions, which it observes in itself …  This inclination, ’tis true, is </a:t>
            </a:r>
            <a:r>
              <a:rPr lang="en-US" sz="2400" dirty="0" err="1"/>
              <a:t>suppress’d</a:t>
            </a:r>
            <a:r>
              <a:rPr lang="en-US" sz="2400" dirty="0"/>
              <a:t> by a little reflection, and only takes place in </a:t>
            </a:r>
            <a:r>
              <a:rPr lang="en-US" sz="2400" dirty="0">
                <a:solidFill>
                  <a:srgbClr val="FF9999"/>
                </a:solidFill>
              </a:rPr>
              <a:t>children</a:t>
            </a:r>
            <a:r>
              <a:rPr lang="en-US" sz="2400" dirty="0"/>
              <a:t>, </a:t>
            </a:r>
            <a:r>
              <a:rPr lang="en-US" sz="2400" dirty="0">
                <a:solidFill>
                  <a:srgbClr val="FF9999"/>
                </a:solidFill>
              </a:rPr>
              <a:t>poets</a:t>
            </a:r>
            <a:r>
              <a:rPr lang="en-US" sz="2400" dirty="0"/>
              <a:t>, and the </a:t>
            </a:r>
            <a:r>
              <a:rPr lang="en-US" sz="2400" dirty="0" err="1">
                <a:solidFill>
                  <a:srgbClr val="FF9999"/>
                </a:solidFill>
              </a:rPr>
              <a:t>antient</a:t>
            </a:r>
            <a:r>
              <a:rPr lang="en-US" sz="2400" dirty="0">
                <a:solidFill>
                  <a:srgbClr val="FF9999"/>
                </a:solidFill>
              </a:rPr>
              <a:t> philosophers</a:t>
            </a:r>
            <a:r>
              <a:rPr lang="en-US" sz="2400" dirty="0"/>
              <a:t>.  … We must pardon children, because of their age; poets, because they profess to follow implicitly the suggestions of their fancy:  But what excuse shall we find to justify our philosophers in so signal a weakness?”  (</a:t>
            </a:r>
            <a:r>
              <a:rPr lang="en-US" sz="2400" i="1" dirty="0"/>
              <a:t>T</a:t>
            </a:r>
            <a:r>
              <a:rPr lang="en-US" sz="2400" dirty="0"/>
              <a:t> 1.4.3.11)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7DEB9F3-A0BB-4C4D-92E3-7AB00122EBC2}" type="slidenum">
              <a:rPr lang="en-US" sz="1600">
                <a:effectLst>
                  <a:outerShdw blurRad="38100" dist="38100" dir="2700000" algn="tl">
                    <a:srgbClr val="000000"/>
                  </a:outerShdw>
                </a:effectLst>
                <a:ea typeface="ＭＳ Ｐゴシック" charset="-128"/>
              </a:rPr>
              <a:pPr eaLnBrk="1" hangingPunct="1"/>
              <a:t>267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79573851"/>
      </p:ext>
    </p:extLst>
  </p:cSld>
  <p:clrMapOvr>
    <a:masterClrMapping/>
  </p:clrMapOvr>
  <p:transition spd="med">
    <p:cover/>
  </p:transition>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486CBCB4-0C8B-48D3-B62F-4A4EBC46A731}" type="slidenum">
              <a:rPr lang="en-US"/>
              <a:pPr/>
              <a:t>268</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a:t>6(d)</a:t>
            </a:r>
            <a:br>
              <a:rPr lang="en-GB" sz="4800"/>
            </a:br>
            <a:br>
              <a:rPr lang="en-GB" sz="2400"/>
            </a:br>
            <a:r>
              <a:rPr lang="en-GB" sz="4800" i="1"/>
              <a:t>Treatise </a:t>
            </a:r>
            <a:r>
              <a:rPr lang="en-GB" sz="4800"/>
              <a:t>1.4.4</a:t>
            </a:r>
            <a:br>
              <a:rPr lang="en-GB" sz="4800"/>
            </a:br>
            <a:br>
              <a:rPr lang="en-GB" sz="2400"/>
            </a:br>
            <a:r>
              <a:rPr lang="en-GB" sz="4800"/>
              <a:t>“Of the Modern Philosophy”</a:t>
            </a:r>
            <a:endParaRPr lang="en-US" sz="4800" dirty="0"/>
          </a:p>
        </p:txBody>
      </p:sp>
      <p:pic>
        <p:nvPicPr>
          <p:cNvPr id="110489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2900643976"/>
      </p:ext>
    </p:extLst>
  </p:cSld>
  <p:clrMapOvr>
    <a:masterClrMapping/>
  </p:clrMapOvr>
  <p:transition spd="med">
    <p:cover/>
  </p:transition>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40C98EC-F855-466D-9A40-808C9333B53B}" type="slidenum">
              <a:rPr lang="en-US"/>
              <a:pPr/>
              <a:t>269</a:t>
            </a:fld>
            <a:endParaRPr lang="en-US"/>
          </a:p>
        </p:txBody>
      </p:sp>
      <p:sp>
        <p:nvSpPr>
          <p:cNvPr id="2" name="Title 1"/>
          <p:cNvSpPr>
            <a:spLocks noGrp="1"/>
          </p:cNvSpPr>
          <p:nvPr>
            <p:ph type="title" idx="4294967295"/>
          </p:nvPr>
        </p:nvSpPr>
        <p:spPr>
          <a:xfrm>
            <a:off x="168275" y="205805"/>
            <a:ext cx="8812213" cy="882935"/>
          </a:xfrm>
        </p:spPr>
        <p:txBody>
          <a:bodyPr/>
          <a:lstStyle/>
          <a:p>
            <a:r>
              <a:rPr lang="en-US" sz="4000" dirty="0"/>
              <a:t>Imaginative Principles, Good and Bad</a:t>
            </a:r>
          </a:p>
        </p:txBody>
      </p:sp>
      <p:sp>
        <p:nvSpPr>
          <p:cNvPr id="3" name="Content Placeholder 2"/>
          <p:cNvSpPr>
            <a:spLocks noGrp="1"/>
          </p:cNvSpPr>
          <p:nvPr>
            <p:ph idx="4294967295"/>
          </p:nvPr>
        </p:nvSpPr>
        <p:spPr>
          <a:xfrm>
            <a:off x="468312" y="1304764"/>
            <a:ext cx="8316155" cy="5109654"/>
          </a:xfrm>
        </p:spPr>
        <p:txBody>
          <a:bodyPr/>
          <a:lstStyle/>
          <a:p>
            <a:r>
              <a:rPr lang="en-US" sz="2600" dirty="0"/>
              <a:t>Hume has </a:t>
            </a:r>
            <a:r>
              <a:rPr lang="en-US" sz="2600" dirty="0" err="1"/>
              <a:t>criticised</a:t>
            </a:r>
            <a:r>
              <a:rPr lang="en-US" sz="2600" dirty="0"/>
              <a:t> the Aristotelians for basing their philosophy on the imagination.  But this might seem very unfair, when he has earlier (in </a:t>
            </a:r>
            <a:r>
              <a:rPr lang="en-US" sz="2600" i="1" dirty="0"/>
              <a:t>T</a:t>
            </a:r>
            <a:r>
              <a:rPr lang="en-US" sz="2600" dirty="0"/>
              <a:t> 1.3.6) argued that all inductive “experimental reasoning” – which he advocates as the only legitimate basis of science (and trumpets in the subtitle of the </a:t>
            </a:r>
            <a:r>
              <a:rPr lang="en-US" sz="2600" i="1" dirty="0"/>
              <a:t>Treatise</a:t>
            </a:r>
            <a:r>
              <a:rPr lang="en-US" sz="2600" dirty="0"/>
              <a:t>) – is itself founded on custom, which he seems to view as a principle of the imagination (</a:t>
            </a:r>
            <a:r>
              <a:rPr lang="en-US" sz="2600" i="1" dirty="0"/>
              <a:t>T</a:t>
            </a:r>
            <a:r>
              <a:rPr lang="en-US" sz="2600" dirty="0"/>
              <a:t> 1.3.6.4, 1.3.7.6).</a:t>
            </a:r>
          </a:p>
          <a:p>
            <a:pPr>
              <a:spcBef>
                <a:spcPts val="1800"/>
              </a:spcBef>
            </a:pPr>
            <a:r>
              <a:rPr lang="en-US" sz="2600" dirty="0"/>
              <a:t>He addresses this objection in a famous passage at</a:t>
            </a:r>
            <a:br>
              <a:rPr lang="en-US" sz="2600" dirty="0"/>
            </a:br>
            <a:r>
              <a:rPr lang="en-US" sz="2600" i="1" dirty="0"/>
              <a:t>T</a:t>
            </a:r>
            <a:r>
              <a:rPr lang="en-US" sz="2600" dirty="0"/>
              <a:t> 1.4.4.1, distinguishing between two sorts of imaginative principles, one sort philosophically respectable and the other disreputable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C7333E3-1A98-4F77-831F-F2C03F0B5C4A}" type="slidenum">
              <a:rPr lang="en-US" sz="1600">
                <a:effectLst>
                  <a:outerShdw blurRad="38100" dist="38100" dir="2700000" algn="tl">
                    <a:srgbClr val="000000"/>
                  </a:outerShdw>
                </a:effectLst>
                <a:ea typeface="ＭＳ Ｐゴシック" charset="-128"/>
              </a:rPr>
              <a:pPr eaLnBrk="1" hangingPunct="1"/>
              <a:t>269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976743249"/>
      </p:ext>
    </p:extLst>
  </p:cSld>
  <p:clrMapOvr>
    <a:masterClrMapping/>
  </p:clrMapOvr>
  <p:transition spd="med">
    <p:cover/>
  </p:transition>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76E7A5F-1A79-4419-8805-011A7BE214C1}" type="slidenum">
              <a:rPr lang="en-US"/>
              <a:pPr/>
              <a:t>270</a:t>
            </a:fld>
            <a:endParaRPr lang="en-US"/>
          </a:p>
        </p:txBody>
      </p:sp>
      <p:sp>
        <p:nvSpPr>
          <p:cNvPr id="3" name="Content Placeholder 2"/>
          <p:cNvSpPr>
            <a:spLocks noGrp="1"/>
          </p:cNvSpPr>
          <p:nvPr>
            <p:ph idx="4294967295"/>
          </p:nvPr>
        </p:nvSpPr>
        <p:spPr>
          <a:xfrm>
            <a:off x="220663" y="233363"/>
            <a:ext cx="8669337" cy="6375400"/>
          </a:xfrm>
        </p:spPr>
        <p:txBody>
          <a:bodyPr/>
          <a:lstStyle/>
          <a:p>
            <a:pPr>
              <a:buFont typeface="Wingdings" charset="2"/>
              <a:buNone/>
            </a:pPr>
            <a:r>
              <a:rPr lang="en-US" sz="2500" dirty="0"/>
              <a:t>	“In order to justify myself, I must distinguish in the imagination betwixt </a:t>
            </a:r>
            <a:r>
              <a:rPr lang="en-US" sz="2500" u="sng" dirty="0">
                <a:solidFill>
                  <a:srgbClr val="92D050"/>
                </a:solidFill>
              </a:rPr>
              <a:t>the principles which are permanent, irresistible, and universal</a:t>
            </a:r>
            <a:r>
              <a:rPr lang="en-US" sz="2500" u="sng" dirty="0"/>
              <a:t>;</a:t>
            </a:r>
            <a:r>
              <a:rPr lang="en-US" sz="2500" dirty="0"/>
              <a:t> such as the customary transition from causes to effects, and from effects to causes:  And </a:t>
            </a:r>
            <a:r>
              <a:rPr lang="en-US" sz="2500" u="sng" dirty="0">
                <a:solidFill>
                  <a:srgbClr val="FF9999"/>
                </a:solidFill>
              </a:rPr>
              <a:t>the principles, which are changeable, weak, and irregular</a:t>
            </a:r>
            <a:r>
              <a:rPr lang="en-US" sz="2500" dirty="0"/>
              <a:t>; such as those I have just now taken notice of.  </a:t>
            </a:r>
            <a:r>
              <a:rPr lang="en-US" sz="2500" dirty="0">
                <a:solidFill>
                  <a:srgbClr val="92D050"/>
                </a:solidFill>
              </a:rPr>
              <a:t>The former are the foundation of all our thoughts and actions</a:t>
            </a:r>
            <a:r>
              <a:rPr lang="en-US" sz="2500" dirty="0"/>
              <a:t>, so that upon their removal human nature must immediately perish and go to ruin.  </a:t>
            </a:r>
            <a:r>
              <a:rPr lang="en-US" sz="2500" dirty="0">
                <a:solidFill>
                  <a:srgbClr val="FF9999"/>
                </a:solidFill>
              </a:rPr>
              <a:t>The latter are neither unavoidable to mankind, nor necessary, or so much as useful in the conduct of life</a:t>
            </a:r>
            <a:r>
              <a:rPr lang="en-US" sz="2500" dirty="0"/>
              <a:t>; but on the contrary are </a:t>
            </a:r>
            <a:r>
              <a:rPr lang="en-US" sz="2500" dirty="0" err="1"/>
              <a:t>observ’d</a:t>
            </a:r>
            <a:r>
              <a:rPr lang="en-US" sz="2500" dirty="0"/>
              <a:t> only to take place in weak minds, and being opposite to the other principles of conduct and reasoning, may easily be subverted by a due contrast and opposition.  </a:t>
            </a:r>
            <a:r>
              <a:rPr lang="en-US" sz="2500" dirty="0">
                <a:solidFill>
                  <a:srgbClr val="92D050"/>
                </a:solidFill>
              </a:rPr>
              <a:t>For this reason the former are </a:t>
            </a:r>
            <a:r>
              <a:rPr lang="en-US" sz="2500" dirty="0" err="1">
                <a:solidFill>
                  <a:srgbClr val="92D050"/>
                </a:solidFill>
              </a:rPr>
              <a:t>receiv’d</a:t>
            </a:r>
            <a:r>
              <a:rPr lang="en-US" sz="2500" dirty="0">
                <a:solidFill>
                  <a:srgbClr val="92D050"/>
                </a:solidFill>
              </a:rPr>
              <a:t> by philosophy, </a:t>
            </a:r>
            <a:r>
              <a:rPr lang="en-US" sz="2500" dirty="0">
                <a:solidFill>
                  <a:srgbClr val="FF9999"/>
                </a:solidFill>
              </a:rPr>
              <a:t>and the latter rejected</a:t>
            </a:r>
            <a:r>
              <a:rPr lang="en-US" sz="2500" dirty="0"/>
              <a:t>.”  (</a:t>
            </a:r>
            <a:r>
              <a:rPr lang="en-US" sz="2500" i="1" dirty="0"/>
              <a:t>T</a:t>
            </a:r>
            <a:r>
              <a:rPr lang="en-US" sz="2500" dirty="0"/>
              <a:t> 1.4.4.1)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C5F282F-6436-47C7-AF37-CA695D7B71B0}" type="slidenum">
              <a:rPr lang="en-US" sz="1600">
                <a:effectLst>
                  <a:outerShdw blurRad="38100" dist="38100" dir="2700000" algn="tl">
                    <a:srgbClr val="000000"/>
                  </a:outerShdw>
                </a:effectLst>
                <a:ea typeface="ＭＳ Ｐゴシック" charset="-128"/>
              </a:rPr>
              <a:pPr eaLnBrk="1" hangingPunct="1"/>
              <a:t>270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547246173"/>
      </p:ext>
    </p:extLst>
  </p:cSld>
  <p:clrMapOvr>
    <a:masterClrMapping/>
  </p:clrMapOvr>
  <p:transition spd="med">
    <p:cover/>
  </p:transition>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40C98EC-F855-466D-9A40-808C9333B53B}" type="slidenum">
              <a:rPr lang="en-US"/>
              <a:pPr/>
              <a:t>271</a:t>
            </a:fld>
            <a:endParaRPr lang="en-US"/>
          </a:p>
        </p:txBody>
      </p:sp>
      <p:sp>
        <p:nvSpPr>
          <p:cNvPr id="2" name="Title 1"/>
          <p:cNvSpPr>
            <a:spLocks noGrp="1"/>
          </p:cNvSpPr>
          <p:nvPr>
            <p:ph type="title" idx="4294967295"/>
          </p:nvPr>
        </p:nvSpPr>
        <p:spPr>
          <a:xfrm>
            <a:off x="168275" y="188640"/>
            <a:ext cx="8812213" cy="594903"/>
          </a:xfrm>
        </p:spPr>
        <p:txBody>
          <a:bodyPr/>
          <a:lstStyle/>
          <a:p>
            <a:r>
              <a:rPr lang="en-US" sz="4000"/>
              <a:t>Hume’s Way Out?</a:t>
            </a:r>
            <a:endParaRPr lang="en-US" sz="4000" dirty="0"/>
          </a:p>
        </p:txBody>
      </p:sp>
      <p:sp>
        <p:nvSpPr>
          <p:cNvPr id="3" name="Content Placeholder 2"/>
          <p:cNvSpPr>
            <a:spLocks noGrp="1"/>
          </p:cNvSpPr>
          <p:nvPr>
            <p:ph idx="4294967295"/>
          </p:nvPr>
        </p:nvSpPr>
        <p:spPr>
          <a:xfrm>
            <a:off x="366775" y="1088740"/>
            <a:ext cx="8489701" cy="5436604"/>
          </a:xfrm>
        </p:spPr>
        <p:txBody>
          <a:bodyPr/>
          <a:lstStyle/>
          <a:p>
            <a:r>
              <a:rPr lang="en-US" sz="2600"/>
              <a:t>It initially seems as though the distinction at </a:t>
            </a:r>
            <a:r>
              <a:rPr lang="en-US" sz="2600" i="1"/>
              <a:t>T</a:t>
            </a:r>
            <a:r>
              <a:rPr lang="en-US" sz="2600"/>
              <a:t> 1.4.4.1 is intended to give Hume a way of distinguishing his own positive scientific position (based on causal inference and probability etc.) from the “fancies” and “fictions” of the ancient philosophers and others.</a:t>
            </a:r>
          </a:p>
          <a:p>
            <a:pPr>
              <a:spcBef>
                <a:spcPts val="1800"/>
              </a:spcBef>
            </a:pPr>
            <a:r>
              <a:rPr lang="en-US" sz="2600"/>
              <a:t>If so, this paragraph is one of the most important in the entire </a:t>
            </a:r>
            <a:r>
              <a:rPr lang="en-US" sz="2600" i="1"/>
              <a:t>Treatise</a:t>
            </a:r>
            <a:r>
              <a:rPr lang="en-US" sz="2600"/>
              <a:t>, providing a basis for rational normativity by distinguishing between the respectable and disreputable “principles of the imagination”.</a:t>
            </a:r>
          </a:p>
          <a:p>
            <a:pPr>
              <a:spcBef>
                <a:spcPts val="1800"/>
              </a:spcBef>
            </a:pPr>
            <a:r>
              <a:rPr lang="en-US" sz="2600"/>
              <a:t>But as we shall see, Hume himself proceeds to cast doubt on the distinction, both in </a:t>
            </a:r>
            <a:r>
              <a:rPr lang="en-US" sz="2600" i="1"/>
              <a:t>Treatise</a:t>
            </a:r>
            <a:r>
              <a:rPr lang="en-US" sz="2600"/>
              <a:t> 1.4.4 and – more radically – in </a:t>
            </a:r>
            <a:r>
              <a:rPr lang="en-US" sz="2600" i="1"/>
              <a:t>Treatise</a:t>
            </a:r>
            <a:r>
              <a:rPr lang="en-US" sz="2600"/>
              <a:t> 1.4.7.</a:t>
            </a:r>
          </a:p>
          <a:p>
            <a:endParaRPr lang="en-US" sz="26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C7333E3-1A98-4F77-831F-F2C03F0B5C4A}" type="slidenum">
              <a:rPr lang="en-US" sz="1600">
                <a:effectLst>
                  <a:outerShdw blurRad="38100" dist="38100" dir="2700000" algn="tl">
                    <a:srgbClr val="000000"/>
                  </a:outerShdw>
                </a:effectLst>
                <a:ea typeface="ＭＳ Ｐゴシック" charset="-128"/>
              </a:rPr>
              <a:pPr eaLnBrk="1" hangingPunct="1"/>
              <a:t>271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334228267"/>
      </p:ext>
    </p:extLst>
  </p:cSld>
  <p:clrMapOvr>
    <a:masterClrMapping/>
  </p:clrMapOvr>
  <p:transition spd="med">
    <p:cover/>
  </p:transition>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E3A1192-295B-480B-815D-72EBABF56B27}" type="slidenum">
              <a:rPr lang="en-US"/>
              <a:pPr/>
              <a:t>272</a:t>
            </a:fld>
            <a:endParaRPr lang="en-US"/>
          </a:p>
        </p:txBody>
      </p:sp>
      <p:sp>
        <p:nvSpPr>
          <p:cNvPr id="2" name="Title 1"/>
          <p:cNvSpPr>
            <a:spLocks noGrp="1"/>
          </p:cNvSpPr>
          <p:nvPr>
            <p:ph type="title" idx="4294967295"/>
          </p:nvPr>
        </p:nvSpPr>
        <p:spPr>
          <a:xfrm>
            <a:off x="457200" y="152636"/>
            <a:ext cx="8229600" cy="702915"/>
          </a:xfrm>
        </p:spPr>
        <p:txBody>
          <a:bodyPr/>
          <a:lstStyle/>
          <a:p>
            <a:r>
              <a:rPr lang="en-US"/>
              <a:t>“Of the Modern Philosophy”</a:t>
            </a:r>
          </a:p>
        </p:txBody>
      </p:sp>
      <p:sp>
        <p:nvSpPr>
          <p:cNvPr id="3" name="Content Placeholder 2"/>
          <p:cNvSpPr>
            <a:spLocks noGrp="1"/>
          </p:cNvSpPr>
          <p:nvPr>
            <p:ph idx="4294967295"/>
          </p:nvPr>
        </p:nvSpPr>
        <p:spPr>
          <a:xfrm>
            <a:off x="421196" y="1124744"/>
            <a:ext cx="8291264" cy="5363307"/>
          </a:xfrm>
        </p:spPr>
        <p:txBody>
          <a:bodyPr/>
          <a:lstStyle/>
          <a:p>
            <a:r>
              <a:rPr lang="en-US" sz="2700"/>
              <a:t>Modern (Lockean) philosophy claims to be based on the “solid, permanent, and consistent principles of the imagination”  (</a:t>
            </a:r>
            <a:r>
              <a:rPr lang="en-US" sz="2700" i="1"/>
              <a:t>T</a:t>
            </a:r>
            <a:r>
              <a:rPr lang="en-US" sz="2700"/>
              <a:t> 1.4.4.2).  But now Hume will argue – by attacking the primary/secondary quality distinction – that it has no such secure foundation.</a:t>
            </a:r>
          </a:p>
          <a:p>
            <a:pPr>
              <a:spcBef>
                <a:spcPts val="1800"/>
              </a:spcBef>
            </a:pPr>
            <a:r>
              <a:rPr lang="en-US" sz="2700"/>
              <a:t>He suggests that the only “satisfactory” argument for the distinction “is deriv’d from the variations of [sensory] impressions” depending upon our health, constitution, situation etc. (</a:t>
            </a:r>
            <a:r>
              <a:rPr lang="en-US" sz="2700" i="1"/>
              <a:t>T</a:t>
            </a:r>
            <a:r>
              <a:rPr lang="en-US" sz="2700"/>
              <a:t> 1.4.4.2).</a:t>
            </a:r>
          </a:p>
          <a:p>
            <a:pPr lvl="1">
              <a:spcBef>
                <a:spcPts val="1200"/>
              </a:spcBef>
            </a:pPr>
            <a:r>
              <a:rPr lang="en-US" sz="2300"/>
              <a:t>This is actually a bit unfair to Locke, who argued for the distinction on </a:t>
            </a:r>
            <a:r>
              <a:rPr lang="en-US" sz="2300" i="1"/>
              <a:t>explanatory </a:t>
            </a:r>
            <a:r>
              <a:rPr lang="en-US" sz="2300"/>
              <a:t>grounds: the primary qualities of objects </a:t>
            </a:r>
            <a:r>
              <a:rPr lang="en-US" sz="2300" i="1"/>
              <a:t>explain</a:t>
            </a:r>
            <a:r>
              <a:rPr lang="en-US" sz="2300"/>
              <a:t> how they appear (e.g. </a:t>
            </a:r>
            <a:r>
              <a:rPr lang="en-US" sz="2300" i="1"/>
              <a:t>Essay</a:t>
            </a:r>
            <a:r>
              <a:rPr lang="en-US" sz="2300"/>
              <a:t> II viii 21).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0E0B54F-75F7-45E6-A6A2-FD611268175C}" type="slidenum">
              <a:rPr lang="en-US" sz="1600">
                <a:effectLst>
                  <a:outerShdw blurRad="38100" dist="38100" dir="2700000" algn="tl">
                    <a:srgbClr val="000000"/>
                  </a:outerShdw>
                </a:effectLst>
                <a:ea typeface="ＭＳ Ｐゴシック" charset="-128"/>
              </a:rPr>
              <a:pPr eaLnBrk="1" hangingPunct="1"/>
              <a:t>272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74929151"/>
      </p:ext>
    </p:extLst>
  </p:cSld>
  <p:clrMapOvr>
    <a:masterClrMapping/>
  </p:clrMapOvr>
  <p:transition spd="med">
    <p:cover/>
  </p:transition>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9BA50AD-878F-4D4B-82B6-D799264E306D}" type="slidenum">
              <a:rPr lang="en-US"/>
              <a:pPr/>
              <a:t>273</a:t>
            </a:fld>
            <a:endParaRPr lang="en-US"/>
          </a:p>
        </p:txBody>
      </p:sp>
      <p:sp>
        <p:nvSpPr>
          <p:cNvPr id="2" name="Title 1"/>
          <p:cNvSpPr>
            <a:spLocks noGrp="1"/>
          </p:cNvSpPr>
          <p:nvPr>
            <p:ph type="title" idx="4294967295"/>
          </p:nvPr>
        </p:nvSpPr>
        <p:spPr>
          <a:xfrm>
            <a:off x="107504" y="116633"/>
            <a:ext cx="8892988" cy="972108"/>
          </a:xfrm>
        </p:spPr>
        <p:txBody>
          <a:bodyPr/>
          <a:lstStyle/>
          <a:p>
            <a:r>
              <a:rPr lang="en-US" dirty="0"/>
              <a:t>A Causal Argument from Variation</a:t>
            </a:r>
          </a:p>
        </p:txBody>
      </p:sp>
      <p:sp>
        <p:nvSpPr>
          <p:cNvPr id="3" name="Content Placeholder 2"/>
          <p:cNvSpPr>
            <a:spLocks noGrp="1"/>
          </p:cNvSpPr>
          <p:nvPr>
            <p:ph idx="4294967295"/>
          </p:nvPr>
        </p:nvSpPr>
        <p:spPr>
          <a:xfrm>
            <a:off x="508695" y="1304764"/>
            <a:ext cx="8131757" cy="4983163"/>
          </a:xfrm>
        </p:spPr>
        <p:txBody>
          <a:bodyPr/>
          <a:lstStyle/>
          <a:p>
            <a:pPr>
              <a:buFont typeface="Wingdings" charset="2"/>
              <a:buNone/>
            </a:pPr>
            <a:r>
              <a:rPr lang="en-US" sz="2700"/>
              <a:t>	“’Tis certain, that </a:t>
            </a:r>
            <a:r>
              <a:rPr lang="en-US" sz="2700">
                <a:solidFill>
                  <a:srgbClr val="FF7C80"/>
                </a:solidFill>
              </a:rPr>
              <a:t>when different impressions of the same sense arise from any object</a:t>
            </a:r>
            <a:r>
              <a:rPr lang="en-US" sz="2700"/>
              <a:t>, every one of these impressions has not a resembling quality existent in the object.  …  Now </a:t>
            </a:r>
            <a:r>
              <a:rPr lang="en-US" sz="2700" u="sng">
                <a:solidFill>
                  <a:srgbClr val="FF7C80"/>
                </a:solidFill>
              </a:rPr>
              <a:t>from like effects we presume like causes</a:t>
            </a:r>
            <a:r>
              <a:rPr lang="en-US" sz="2700"/>
              <a:t>.  Many of the impressions of colour, sound, </a:t>
            </a:r>
            <a:r>
              <a:rPr lang="en-US" sz="2700" i="1"/>
              <a:t>&amp;c.</a:t>
            </a:r>
            <a:r>
              <a:rPr lang="en-US" sz="2700"/>
              <a:t> are confest to be nothing but internal existences, and to arise from causes, which in no way resemble them.  These impressions are in appearance nothing different from the other impressions of colour, sound, </a:t>
            </a:r>
            <a:r>
              <a:rPr lang="en-US" sz="2700" i="1"/>
              <a:t>&amp;c</a:t>
            </a:r>
            <a:r>
              <a:rPr lang="en-US" sz="2700"/>
              <a:t>.  We conclude, therefore, that they are, all of them, deriv’d from a like origin.”  (</a:t>
            </a:r>
            <a:r>
              <a:rPr lang="en-US" sz="2700" i="1"/>
              <a:t>T</a:t>
            </a:r>
            <a:r>
              <a:rPr lang="en-US" sz="2700"/>
              <a:t> 1.4.4.4)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3DC071F-011A-458C-B744-36B16CDFE3FE}" type="slidenum">
              <a:rPr lang="en-US" sz="1600">
                <a:effectLst>
                  <a:outerShdw blurRad="38100" dist="38100" dir="2700000" algn="tl">
                    <a:srgbClr val="000000"/>
                  </a:outerShdw>
                </a:effectLst>
                <a:ea typeface="ＭＳ Ｐゴシック" charset="-128"/>
              </a:rPr>
              <a:pPr eaLnBrk="1" hangingPunct="1"/>
              <a:t>273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683943600"/>
      </p:ext>
    </p:extLst>
  </p:cSld>
  <p:clrMapOvr>
    <a:masterClrMapping/>
  </p:clrMapOvr>
  <p:transition spd="med">
    <p:cover/>
  </p:transition>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EB47D1D-0AA9-476A-BBE7-29E0F9FF3F67}" type="slidenum">
              <a:rPr lang="en-US"/>
              <a:pPr/>
              <a:t>274</a:t>
            </a:fld>
            <a:endParaRPr lang="en-US"/>
          </a:p>
        </p:txBody>
      </p:sp>
      <p:sp>
        <p:nvSpPr>
          <p:cNvPr id="2" name="Title 1"/>
          <p:cNvSpPr>
            <a:spLocks noGrp="1"/>
          </p:cNvSpPr>
          <p:nvPr>
            <p:ph type="title" idx="4294967295"/>
          </p:nvPr>
        </p:nvSpPr>
        <p:spPr>
          <a:xfrm>
            <a:off x="457200" y="116632"/>
            <a:ext cx="8229600" cy="828092"/>
          </a:xfrm>
        </p:spPr>
        <p:txBody>
          <a:bodyPr/>
          <a:lstStyle/>
          <a:p>
            <a:r>
              <a:rPr lang="en-US" dirty="0"/>
              <a:t>A </a:t>
            </a:r>
            <a:r>
              <a:rPr lang="en-US" dirty="0" err="1"/>
              <a:t>Berkeleian</a:t>
            </a:r>
            <a:r>
              <a:rPr lang="en-US" dirty="0"/>
              <a:t> Objection</a:t>
            </a:r>
          </a:p>
        </p:txBody>
      </p:sp>
      <p:sp>
        <p:nvSpPr>
          <p:cNvPr id="3" name="Content Placeholder 2"/>
          <p:cNvSpPr>
            <a:spLocks noGrp="1"/>
          </p:cNvSpPr>
          <p:nvPr>
            <p:ph idx="4294967295"/>
          </p:nvPr>
        </p:nvSpPr>
        <p:spPr>
          <a:xfrm>
            <a:off x="503548" y="1052736"/>
            <a:ext cx="8388932" cy="5363307"/>
          </a:xfrm>
        </p:spPr>
        <p:txBody>
          <a:bodyPr/>
          <a:lstStyle/>
          <a:p>
            <a:r>
              <a:rPr lang="en-US" sz="2800"/>
              <a:t>Against the primary/secondary quality distinction, Hume focuses on one objection, which </a:t>
            </a:r>
            <a:r>
              <a:rPr lang="en-US" sz="2800" dirty="0"/>
              <a:t>takes inspiration from George Berkeley:</a:t>
            </a:r>
          </a:p>
          <a:p>
            <a:pPr lvl="1">
              <a:buFontTx/>
              <a:buNone/>
            </a:pPr>
            <a:r>
              <a:rPr lang="en-US" dirty="0"/>
              <a:t>	</a:t>
            </a:r>
            <a:r>
              <a:rPr lang="en-US" sz="2400" dirty="0"/>
              <a:t>“If </a:t>
            </a:r>
            <a:r>
              <a:rPr lang="en-US" sz="2400" dirty="0" err="1"/>
              <a:t>colours</a:t>
            </a:r>
            <a:r>
              <a:rPr lang="en-US" sz="2400" dirty="0"/>
              <a:t>, sounds, tastes, and smells be merely perceptions, nothing we can conceive is </a:t>
            </a:r>
            <a:r>
              <a:rPr lang="en-US" sz="2400" dirty="0" err="1"/>
              <a:t>possest</a:t>
            </a:r>
            <a:r>
              <a:rPr lang="en-US" sz="2400" dirty="0"/>
              <a:t> of a real, </a:t>
            </a:r>
            <a:r>
              <a:rPr lang="en-US" sz="2400" dirty="0" err="1"/>
              <a:t>continu’d</a:t>
            </a:r>
            <a:r>
              <a:rPr lang="en-US" sz="2400" dirty="0"/>
              <a:t>, and independent existence; not even motion, extension and solidity, which are the primary qualities chiefly insisted on [by </a:t>
            </a:r>
            <a:r>
              <a:rPr lang="en-US" sz="2400" dirty="0" err="1"/>
              <a:t>Lockeans</a:t>
            </a:r>
            <a:r>
              <a:rPr lang="en-US" sz="2400" dirty="0"/>
              <a:t>].”  (</a:t>
            </a:r>
            <a:r>
              <a:rPr lang="en-US" sz="2400" i="1" dirty="0"/>
              <a:t>T</a:t>
            </a:r>
            <a:r>
              <a:rPr lang="en-US" sz="2400" dirty="0"/>
              <a:t> 1.4.4.6)</a:t>
            </a:r>
          </a:p>
          <a:p>
            <a:pPr>
              <a:spcBef>
                <a:spcPts val="1800"/>
              </a:spcBef>
            </a:pPr>
            <a:r>
              <a:rPr lang="en-US" sz="2800" dirty="0"/>
              <a:t>To form an idea of a moving extended body,</a:t>
            </a:r>
            <a:br>
              <a:rPr lang="en-US" sz="2800" dirty="0"/>
            </a:br>
            <a:r>
              <a:rPr lang="en-US" sz="2800" dirty="0"/>
              <a:t>my idea of extension must have some content, which can only come from sight or touch, hence ultimately from </a:t>
            </a:r>
            <a:r>
              <a:rPr lang="en-US" sz="2800" dirty="0" err="1"/>
              <a:t>coloured</a:t>
            </a:r>
            <a:r>
              <a:rPr lang="en-US" sz="2800" dirty="0"/>
              <a:t> or solid simples.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9B53475-E4C7-4EBF-9780-18C9D1061F8F}" type="slidenum">
              <a:rPr lang="en-US" sz="1600">
                <a:effectLst>
                  <a:outerShdw blurRad="38100" dist="38100" dir="2700000" algn="tl">
                    <a:srgbClr val="000000"/>
                  </a:outerShdw>
                </a:effectLst>
                <a:ea typeface="ＭＳ Ｐゴシック" charset="-128"/>
              </a:rPr>
              <a:pPr eaLnBrk="1" hangingPunct="1"/>
              <a:t>274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221561833"/>
      </p:ext>
    </p:extLst>
  </p:cSld>
  <p:clrMapOvr>
    <a:masterClrMapping/>
  </p:clrMapOvr>
  <p:transition spd="med">
    <p:cover/>
  </p:transition>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298B6EA-969B-438A-959D-7870318F48C0}" type="slidenum">
              <a:rPr lang="en-US"/>
              <a:pPr/>
              <a:t>275</a:t>
            </a:fld>
            <a:endParaRPr lang="en-US"/>
          </a:p>
        </p:txBody>
      </p:sp>
      <p:sp>
        <p:nvSpPr>
          <p:cNvPr id="2" name="Title 1"/>
          <p:cNvSpPr>
            <a:spLocks noGrp="1"/>
          </p:cNvSpPr>
          <p:nvPr>
            <p:ph type="title" idx="4294967295"/>
          </p:nvPr>
        </p:nvSpPr>
        <p:spPr>
          <a:xfrm>
            <a:off x="457200" y="169801"/>
            <a:ext cx="8229600" cy="702915"/>
          </a:xfrm>
        </p:spPr>
        <p:txBody>
          <a:bodyPr/>
          <a:lstStyle/>
          <a:p>
            <a:r>
              <a:rPr lang="en-US" dirty="0"/>
              <a:t>Annihilating Matter</a:t>
            </a:r>
          </a:p>
        </p:txBody>
      </p:sp>
      <p:sp>
        <p:nvSpPr>
          <p:cNvPr id="3" name="Content Placeholder 2"/>
          <p:cNvSpPr>
            <a:spLocks noGrp="1"/>
          </p:cNvSpPr>
          <p:nvPr>
            <p:ph idx="4294967295"/>
          </p:nvPr>
        </p:nvSpPr>
        <p:spPr>
          <a:xfrm>
            <a:off x="745232" y="1293353"/>
            <a:ext cx="8003232" cy="5376007"/>
          </a:xfrm>
        </p:spPr>
        <p:txBody>
          <a:bodyPr/>
          <a:lstStyle/>
          <a:p>
            <a:pPr>
              <a:spcBef>
                <a:spcPts val="1500"/>
              </a:spcBef>
            </a:pPr>
            <a:r>
              <a:rPr lang="en-US" sz="2800" dirty="0" err="1"/>
              <a:t>Colour</a:t>
            </a:r>
            <a:r>
              <a:rPr lang="en-US" sz="2800" dirty="0"/>
              <a:t> “is excluded from any real existence”</a:t>
            </a:r>
            <a:br>
              <a:rPr lang="en-US" sz="2800" dirty="0"/>
            </a:br>
            <a:r>
              <a:rPr lang="en-US" sz="2800" dirty="0"/>
              <a:t>(as a subjective secondary quality).</a:t>
            </a:r>
          </a:p>
          <a:p>
            <a:pPr>
              <a:spcBef>
                <a:spcPts val="1800"/>
              </a:spcBef>
            </a:pPr>
            <a:r>
              <a:rPr lang="en-US" sz="2800" dirty="0"/>
              <a:t>“The idea of solidity is that of two objects, which … cannot penetrate each other”</a:t>
            </a:r>
            <a:br>
              <a:rPr lang="en-US" sz="2800" dirty="0"/>
            </a:br>
            <a:r>
              <a:rPr lang="en-US" sz="2800" dirty="0"/>
              <a:t>(</a:t>
            </a:r>
            <a:r>
              <a:rPr lang="en-US" sz="2800" i="1" dirty="0"/>
              <a:t>T</a:t>
            </a:r>
            <a:r>
              <a:rPr lang="en-US" sz="2800" dirty="0"/>
              <a:t> 1.4.4.9).  So understanding solidity requires some </a:t>
            </a:r>
            <a:r>
              <a:rPr lang="en-US" sz="2800" i="1" dirty="0"/>
              <a:t>antecedent </a:t>
            </a:r>
            <a:r>
              <a:rPr lang="en-US" sz="2800" dirty="0"/>
              <a:t>grasp of what an object is, and with </a:t>
            </a:r>
            <a:r>
              <a:rPr lang="en-US" sz="2800" dirty="0" err="1"/>
              <a:t>colour</a:t>
            </a:r>
            <a:r>
              <a:rPr lang="en-US" sz="2800" dirty="0"/>
              <a:t> and solidity itself excluded, there’s nothing left which can give this.</a:t>
            </a:r>
          </a:p>
          <a:p>
            <a:pPr>
              <a:spcBef>
                <a:spcPts val="1800"/>
              </a:spcBef>
            </a:pPr>
            <a:r>
              <a:rPr lang="en-US" sz="2800" dirty="0"/>
              <a:t>“Our modern philosophy, therefore leaves us no just nor satisfactory idea … of matter.”</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F984445-4203-47C8-BC76-591A96DFA289}" type="slidenum">
              <a:rPr lang="en-US" sz="1600">
                <a:effectLst>
                  <a:outerShdw blurRad="38100" dist="38100" dir="2700000" algn="tl">
                    <a:srgbClr val="000000"/>
                  </a:outerShdw>
                </a:effectLst>
                <a:ea typeface="ＭＳ Ｐゴシック" charset="-128"/>
              </a:rPr>
              <a:pPr eaLnBrk="1" hangingPunct="1"/>
              <a:t>275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935063202"/>
      </p:ext>
    </p:extLst>
  </p:cSld>
  <p:clrMapOvr>
    <a:masterClrMapping/>
  </p:clrMapOvr>
  <p:transition spd="med">
    <p:cover/>
  </p:transition>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276</a:t>
            </a:fld>
            <a:endParaRPr lang="en-US"/>
          </a:p>
        </p:txBody>
      </p:sp>
      <p:sp>
        <p:nvSpPr>
          <p:cNvPr id="2" name="Title 1"/>
          <p:cNvSpPr>
            <a:spLocks noGrp="1"/>
          </p:cNvSpPr>
          <p:nvPr>
            <p:ph type="title" idx="4294967295"/>
          </p:nvPr>
        </p:nvSpPr>
        <p:spPr>
          <a:xfrm>
            <a:off x="168275" y="116632"/>
            <a:ext cx="8772525" cy="810927"/>
          </a:xfrm>
        </p:spPr>
        <p:txBody>
          <a:bodyPr/>
          <a:lstStyle/>
          <a:p>
            <a:r>
              <a:rPr lang="en-US" dirty="0"/>
              <a:t>Reason Against the Senses</a:t>
            </a:r>
          </a:p>
        </p:txBody>
      </p:sp>
      <p:sp>
        <p:nvSpPr>
          <p:cNvPr id="3" name="Content Placeholder 2"/>
          <p:cNvSpPr>
            <a:spLocks noGrp="1"/>
          </p:cNvSpPr>
          <p:nvPr>
            <p:ph idx="4294967295"/>
          </p:nvPr>
        </p:nvSpPr>
        <p:spPr>
          <a:xfrm>
            <a:off x="457200" y="1268760"/>
            <a:ext cx="8291264" cy="5300315"/>
          </a:xfrm>
        </p:spPr>
        <p:txBody>
          <a:bodyPr/>
          <a:lstStyle/>
          <a:p>
            <a:r>
              <a:rPr lang="en-US" sz="2800" dirty="0"/>
              <a:t>Hume elaborates this argument further over</a:t>
            </a:r>
            <a:br>
              <a:rPr lang="en-US" sz="2800" dirty="0"/>
            </a:br>
            <a:r>
              <a:rPr lang="en-US" sz="2800" i="1" dirty="0"/>
              <a:t>T</a:t>
            </a:r>
            <a:r>
              <a:rPr lang="en-US" sz="2800" dirty="0"/>
              <a:t> 1.4.4.10-14, and then sums up:</a:t>
            </a:r>
          </a:p>
          <a:p>
            <a:pPr lvl="1">
              <a:spcBef>
                <a:spcPts val="1200"/>
              </a:spcBef>
              <a:buFontTx/>
              <a:buNone/>
            </a:pPr>
            <a:r>
              <a:rPr lang="en-US" sz="2500" dirty="0"/>
              <a:t>	“Thus there is a direct and total opposition betwixt our reason and our senses; or more properly speaking, betwixt those conclusions we form from cause and effect, and those that </a:t>
            </a:r>
            <a:r>
              <a:rPr lang="en-US" sz="2500" dirty="0" err="1"/>
              <a:t>perswade</a:t>
            </a:r>
            <a:r>
              <a:rPr lang="en-US" sz="2500" dirty="0"/>
              <a:t> us of the </a:t>
            </a:r>
            <a:r>
              <a:rPr lang="en-US" sz="2500" dirty="0" err="1"/>
              <a:t>continu’d</a:t>
            </a:r>
            <a:r>
              <a:rPr lang="en-US" sz="2500" dirty="0"/>
              <a:t> and independent existence of body.” (§15)</a:t>
            </a:r>
          </a:p>
          <a:p>
            <a:pPr>
              <a:spcBef>
                <a:spcPts val="1800"/>
              </a:spcBef>
            </a:pPr>
            <a:r>
              <a:rPr lang="en-US" sz="2800" dirty="0"/>
              <a:t>Causal reasoning concludes that secondary qualities aren’t objective; </a:t>
            </a:r>
            <a:r>
              <a:rPr lang="en-US" sz="2800"/>
              <a:t>but then without </a:t>
            </a:r>
            <a:r>
              <a:rPr lang="en-US" sz="2800" dirty="0"/>
              <a:t>appeal to (subjective) </a:t>
            </a:r>
            <a:r>
              <a:rPr lang="en-US" sz="2800" dirty="0" err="1"/>
              <a:t>colour</a:t>
            </a:r>
            <a:r>
              <a:rPr lang="en-US" sz="2800" dirty="0"/>
              <a:t> and feel, we cannot form any coherent notion of an extended body.</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276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93538311"/>
      </p:ext>
    </p:extLst>
  </p:cSld>
  <p:clrMapOvr>
    <a:masterClrMapping/>
  </p:clrMapOvr>
  <p:transition spd="med">
    <p:cover/>
  </p:transition>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7814-9ADE-E056-85A7-BA50842DC57E}"/>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1B1404D5-ECC3-5167-D948-1CCCDF56A720}"/>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E6092A3E-9267-E5D4-AA5C-BB96D21418EE}"/>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6913D493-0501-EDE1-8593-BD26E97C79FA}"/>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845AF70C-6E61-B8B7-DFBA-E942F7803F35}"/>
              </a:ext>
            </a:extLst>
          </p:cNvPr>
          <p:cNvSpPr>
            <a:spLocks noChangeArrowheads="1"/>
          </p:cNvSpPr>
          <p:nvPr/>
        </p:nvSpPr>
        <p:spPr bwMode="auto">
          <a:xfrm>
            <a:off x="3203848" y="2960948"/>
            <a:ext cx="5724636" cy="1656184"/>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a:solidFill>
                  <a:srgbClr val="FF9999"/>
                </a:solidFill>
                <a:effectLst>
                  <a:outerShdw blurRad="38100" dist="38100" dir="2700000" algn="tl">
                    <a:srgbClr val="000000"/>
                  </a:outerShdw>
                </a:effectLst>
              </a:rPr>
              <a:t>7. Hume’s View of Body,</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Mental Substance,</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and Personal Identity</a:t>
            </a:r>
            <a:endParaRPr lang="en-GB" sz="3000" i="1" dirty="0">
              <a:solidFill>
                <a:srgbClr val="FF9999"/>
              </a:solidFill>
              <a:effectLst>
                <a:outerShdw blurRad="38100" dist="38100" dir="2700000" algn="tl">
                  <a:srgbClr val="000000"/>
                </a:outerShdw>
              </a:effectLst>
            </a:endParaRPr>
          </a:p>
          <a:p>
            <a:pPr algn="ctr" eaLnBrk="1" hangingPunct="1">
              <a:spcBef>
                <a:spcPts val="1800"/>
              </a:spcBef>
              <a:buClr>
                <a:schemeClr val="hlink"/>
              </a:buClr>
              <a:buSzPct val="90000"/>
              <a:buFont typeface="Wingdings" charset="2"/>
              <a:buNone/>
            </a:pPr>
            <a:endParaRPr lang="en-US" sz="3000" i="1" dirty="0">
              <a:solidFill>
                <a:srgbClr val="FF9999"/>
              </a:solidFill>
              <a:effectLst>
                <a:outerShdw blurRad="38100" dist="38100" dir="2700000" algn="tl">
                  <a:srgbClr val="000000"/>
                </a:outerShdw>
              </a:effectLst>
            </a:endParaRPr>
          </a:p>
        </p:txBody>
      </p:sp>
    </p:spTree>
    <p:extLst>
      <p:ext uri="{BB962C8B-B14F-4D97-AF65-F5344CB8AC3E}">
        <p14:creationId xmlns:p14="http://schemas.microsoft.com/office/powerpoint/2010/main" val="1530636092"/>
      </p:ext>
    </p:extLst>
  </p:cSld>
  <p:clrMapOvr>
    <a:masterClrMapping/>
  </p:clrMapOvr>
  <p:transition spd="med">
    <p:cover/>
  </p:transition>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D9871-B326-E11C-F282-6CEAD11586C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0AC0AE-566F-CEE6-7A30-3D095F77689E}"/>
              </a:ext>
            </a:extLst>
          </p:cNvPr>
          <p:cNvSpPr>
            <a:spLocks noGrp="1"/>
          </p:cNvSpPr>
          <p:nvPr>
            <p:ph type="sldNum" sz="quarter" idx="10"/>
          </p:nvPr>
        </p:nvSpPr>
        <p:spPr/>
        <p:txBody>
          <a:bodyPr/>
          <a:lstStyle/>
          <a:p>
            <a:fld id="{7B192E7B-86B2-4036-A92F-86C49A118DAF}" type="slidenum">
              <a:rPr lang="en-US" altLang="en-US"/>
              <a:pPr/>
              <a:t>278</a:t>
            </a:fld>
            <a:endParaRPr lang="en-US" altLang="en-US"/>
          </a:p>
        </p:txBody>
      </p:sp>
      <p:sp>
        <p:nvSpPr>
          <p:cNvPr id="899074" name="Rectangle 2">
            <a:extLst>
              <a:ext uri="{FF2B5EF4-FFF2-40B4-BE49-F238E27FC236}">
                <a16:creationId xmlns:a16="http://schemas.microsoft.com/office/drawing/2014/main" id="{113E5470-EDF9-74A5-D368-5F18FFF6D64E}"/>
              </a:ext>
            </a:extLst>
          </p:cNvPr>
          <p:cNvSpPr>
            <a:spLocks noGrp="1" noChangeArrowheads="1"/>
          </p:cNvSpPr>
          <p:nvPr>
            <p:ph type="title"/>
          </p:nvPr>
        </p:nvSpPr>
        <p:spPr>
          <a:xfrm>
            <a:off x="457200" y="44624"/>
            <a:ext cx="8229600" cy="702915"/>
          </a:xfrm>
        </p:spPr>
        <p:txBody>
          <a:bodyPr/>
          <a:lstStyle/>
          <a:p>
            <a:r>
              <a:rPr lang="en-GB" altLang="en-US" sz="4000" dirty="0"/>
              <a:t>From Last Time …</a:t>
            </a:r>
          </a:p>
        </p:txBody>
      </p:sp>
      <p:sp>
        <p:nvSpPr>
          <p:cNvPr id="6" name="Rectangle 3">
            <a:extLst>
              <a:ext uri="{FF2B5EF4-FFF2-40B4-BE49-F238E27FC236}">
                <a16:creationId xmlns:a16="http://schemas.microsoft.com/office/drawing/2014/main" id="{E86D1D7E-7D61-43A0-41F0-4B7DC422F428}"/>
              </a:ext>
            </a:extLst>
          </p:cNvPr>
          <p:cNvSpPr txBox="1">
            <a:spLocks noChangeArrowheads="1"/>
          </p:cNvSpPr>
          <p:nvPr/>
        </p:nvSpPr>
        <p:spPr bwMode="auto">
          <a:xfrm>
            <a:off x="395537" y="1016732"/>
            <a:ext cx="8604956" cy="5688632"/>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r>
              <a:rPr kumimoji="0" lang="en-GB" sz="25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After looking at Hume’s </a:t>
            </a:r>
            <a:r>
              <a:rPr kumimoji="0" lang="en-GB" sz="2500" b="0" i="1"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applications </a:t>
            </a:r>
            <a:r>
              <a:rPr kumimoji="0" lang="en-GB" sz="2500" b="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of his theory of causation, we moved on to </a:t>
            </a:r>
            <a:r>
              <a:rPr kumimoji="0" lang="en-GB" sz="2500" b="0" i="1"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Treatise</a:t>
            </a:r>
            <a:r>
              <a:rPr kumimoji="0" lang="en-GB" sz="2500" b="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 Book 1 Part 4.</a:t>
            </a:r>
            <a:endParaRPr kumimoji="0" lang="en-GB" sz="2500" b="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500" kern="0">
                <a:effectLst>
                  <a:outerShdw blurRad="38100" dist="38100" dir="2700000" algn="tl">
                    <a:srgbClr val="000000"/>
                  </a:outerShdw>
                </a:effectLst>
                <a:latin typeface="+mn-lt"/>
              </a:rPr>
              <a:t>We noted Hume’s extreme “scepticism with regard to reason” of </a:t>
            </a:r>
            <a:r>
              <a:rPr lang="en-GB" sz="2500" i="1" kern="0">
                <a:effectLst>
                  <a:outerShdw blurRad="38100" dist="38100" dir="2700000" algn="tl">
                    <a:srgbClr val="000000"/>
                  </a:outerShdw>
                </a:effectLst>
                <a:latin typeface="+mn-lt"/>
              </a:rPr>
              <a:t>T</a:t>
            </a:r>
            <a:r>
              <a:rPr lang="en-GB" sz="2500" kern="0">
                <a:effectLst>
                  <a:outerShdw blurRad="38100" dist="38100" dir="2700000" algn="tl">
                    <a:srgbClr val="000000"/>
                  </a:outerShdw>
                </a:effectLst>
                <a:latin typeface="+mn-lt"/>
              </a:rPr>
              <a:t> 1.4.1 (which will return in </a:t>
            </a:r>
            <a:r>
              <a:rPr lang="en-GB" sz="2500" i="1" kern="0">
                <a:effectLst>
                  <a:outerShdw blurRad="38100" dist="38100" dir="2700000" algn="tl">
                    <a:srgbClr val="000000"/>
                  </a:outerShdw>
                </a:effectLst>
                <a:latin typeface="+mn-lt"/>
              </a:rPr>
              <a:t>T</a:t>
            </a:r>
            <a:r>
              <a:rPr lang="en-GB" sz="2500" kern="0">
                <a:effectLst>
                  <a:outerShdw blurRad="38100" dist="38100" dir="2700000" algn="tl">
                    <a:srgbClr val="000000"/>
                  </a:outerShdw>
                </a:effectLst>
                <a:latin typeface="+mn-lt"/>
              </a:rPr>
              <a:t> 1.4.7), and moved on to survey his complex “Scepticism with Regard to the Senses” of </a:t>
            </a:r>
            <a:r>
              <a:rPr lang="en-GB" sz="2500" i="1" kern="0">
                <a:effectLst>
                  <a:outerShdw blurRad="38100" dist="38100" dir="2700000" algn="tl">
                    <a:srgbClr val="000000"/>
                  </a:outerShdw>
                </a:effectLst>
                <a:latin typeface="+mn-lt"/>
              </a:rPr>
              <a:t>T</a:t>
            </a:r>
            <a:r>
              <a:rPr lang="en-GB" sz="2500" kern="0">
                <a:effectLst>
                  <a:outerShdw blurRad="38100" dist="38100" dir="2700000" algn="tl">
                    <a:srgbClr val="000000"/>
                  </a:outerShdw>
                </a:effectLst>
                <a:latin typeface="+mn-lt"/>
              </a:rPr>
              <a:t> 1.4.2, which seems to offer no remedy to scepticism but “carelessness and inattention”.</a:t>
            </a: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500" kern="0">
                <a:effectLst>
                  <a:outerShdw blurRad="38100" dist="38100" dir="2700000" algn="tl">
                    <a:srgbClr val="000000"/>
                  </a:outerShdw>
                </a:effectLst>
                <a:latin typeface="+mn-lt"/>
              </a:rPr>
              <a:t>“Of the Antient Philosophy” (</a:t>
            </a:r>
            <a:r>
              <a:rPr lang="en-GB" sz="2500" i="1" kern="0">
                <a:effectLst>
                  <a:outerShdw blurRad="38100" dist="38100" dir="2700000" algn="tl">
                    <a:srgbClr val="000000"/>
                  </a:outerShdw>
                </a:effectLst>
                <a:latin typeface="+mn-lt"/>
              </a:rPr>
              <a:t>T</a:t>
            </a:r>
            <a:r>
              <a:rPr lang="en-GB" sz="2500" kern="0">
                <a:effectLst>
                  <a:outerShdw blurRad="38100" dist="38100" dir="2700000" algn="tl">
                    <a:srgbClr val="000000"/>
                  </a:outerShdw>
                </a:effectLst>
                <a:latin typeface="+mn-lt"/>
              </a:rPr>
              <a:t> 1.4.3) and “Of the Modern Philosophy” (</a:t>
            </a:r>
            <a:r>
              <a:rPr lang="en-GB" sz="2500" i="1" kern="0">
                <a:effectLst>
                  <a:outerShdw blurRad="38100" dist="38100" dir="2700000" algn="tl">
                    <a:srgbClr val="000000"/>
                  </a:outerShdw>
                </a:effectLst>
                <a:latin typeface="+mn-lt"/>
              </a:rPr>
              <a:t>T</a:t>
            </a:r>
            <a:r>
              <a:rPr lang="en-GB" sz="2500" kern="0">
                <a:effectLst>
                  <a:outerShdw blurRad="38100" dist="38100" dir="2700000" algn="tl">
                    <a:srgbClr val="000000"/>
                  </a:outerShdw>
                </a:effectLst>
                <a:latin typeface="+mn-lt"/>
              </a:rPr>
              <a:t> 1.4.4) together raised the question of how far we should submit to principles of the imagination.  An initially promising distinction between respectable and disreputable principles seemed to be undermined when considering ideas of primary and secondary qualities.</a:t>
            </a: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endParaRPr lang="en-GB" sz="2600" kern="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endParaRPr lang="en-GB" sz="2600" kern="0" dirty="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endParaRPr kumimoji="0" lang="en-GB" sz="26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2362145526"/>
      </p:ext>
    </p:extLst>
  </p:cSld>
  <p:clrMapOvr>
    <a:masterClrMapping/>
  </p:clrMapOvr>
  <p:transition spd="med">
    <p:cover/>
  </p:transition>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486CBCB4-0C8B-48D3-B62F-4A4EBC46A731}" type="slidenum">
              <a:rPr lang="en-US"/>
              <a:pPr/>
              <a:t>279</a:t>
            </a:fld>
            <a:endParaRPr lang="en-US"/>
          </a:p>
        </p:txBody>
      </p:sp>
      <p:sp>
        <p:nvSpPr>
          <p:cNvPr id="748548" name="Rectangle 4"/>
          <p:cNvSpPr>
            <a:spLocks noGrp="1" noChangeArrowheads="1"/>
          </p:cNvSpPr>
          <p:nvPr>
            <p:ph type="ctrTitle" idx="4294967295"/>
          </p:nvPr>
        </p:nvSpPr>
        <p:spPr>
          <a:xfrm>
            <a:off x="107504" y="296863"/>
            <a:ext cx="4680396" cy="6300787"/>
          </a:xfrm>
        </p:spPr>
        <p:txBody>
          <a:bodyPr/>
          <a:lstStyle/>
          <a:p>
            <a:r>
              <a:rPr lang="en-GB" sz="4200"/>
              <a:t>7(a)</a:t>
            </a:r>
            <a:br>
              <a:rPr lang="en-GB" sz="4200"/>
            </a:br>
            <a:br>
              <a:rPr lang="en-GB" sz="4200"/>
            </a:br>
            <a:r>
              <a:rPr lang="en-GB" sz="4200"/>
              <a:t>How Does Hume View the Belief in the Continued and Distinct Existence of Body?</a:t>
            </a:r>
            <a:endParaRPr lang="en-US" sz="4200" dirty="0"/>
          </a:p>
        </p:txBody>
      </p:sp>
      <p:pic>
        <p:nvPicPr>
          <p:cNvPr id="110489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523982545"/>
      </p:ext>
    </p:extLst>
  </p:cSld>
  <p:clrMapOvr>
    <a:masterClrMapping/>
  </p:clrMapOvr>
  <p:transition spd="med">
    <p:cover/>
  </p:transition>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280</a:t>
            </a:fld>
            <a:endParaRPr lang="en-US"/>
          </a:p>
        </p:txBody>
      </p:sp>
      <p:sp>
        <p:nvSpPr>
          <p:cNvPr id="2" name="Title 1"/>
          <p:cNvSpPr>
            <a:spLocks noGrp="1"/>
          </p:cNvSpPr>
          <p:nvPr>
            <p:ph type="title" idx="4294967295"/>
          </p:nvPr>
        </p:nvSpPr>
        <p:spPr>
          <a:xfrm>
            <a:off x="168275" y="277813"/>
            <a:ext cx="8772525" cy="846931"/>
          </a:xfrm>
        </p:spPr>
        <p:txBody>
          <a:bodyPr/>
          <a:lstStyle/>
          <a:p>
            <a:r>
              <a:rPr lang="en-US" sz="4200"/>
              <a:t>(i) The Belief is Dubiously Coherent</a:t>
            </a:r>
            <a:endParaRPr lang="en-US" sz="4200" dirty="0"/>
          </a:p>
        </p:txBody>
      </p:sp>
      <p:sp>
        <p:nvSpPr>
          <p:cNvPr id="3" name="Content Placeholder 2"/>
          <p:cNvSpPr>
            <a:spLocks noGrp="1"/>
          </p:cNvSpPr>
          <p:nvPr>
            <p:ph idx="4294967295"/>
          </p:nvPr>
        </p:nvSpPr>
        <p:spPr>
          <a:xfrm>
            <a:off x="457200" y="1484784"/>
            <a:ext cx="8291264" cy="5084291"/>
          </a:xfrm>
        </p:spPr>
        <p:txBody>
          <a:bodyPr/>
          <a:lstStyle/>
          <a:p>
            <a:pPr>
              <a:lnSpc>
                <a:spcPct val="115000"/>
              </a:lnSpc>
              <a:spcBef>
                <a:spcPts val="1800"/>
              </a:spcBef>
            </a:pPr>
            <a:r>
              <a:rPr lang="en-GB" sz="2100">
                <a:effectLst/>
                <a:ea typeface="Calibri" panose="020F0502020204030204" pitchFamily="34" charset="0"/>
                <a:cs typeface="Times New Roman" panose="02020603050405020304" pitchFamily="18" charset="0"/>
              </a:rPr>
              <a:t>“I cannot conceive how such trivial qualities of the fancy, conducted by such false suppositions, can ever lead to any solid and rational system.  …  </a:t>
            </a:r>
            <a:r>
              <a:rPr lang="en-GB" sz="2100">
                <a:solidFill>
                  <a:srgbClr val="FF9999"/>
                </a:solidFill>
                <a:effectLst/>
                <a:ea typeface="Calibri" panose="020F0502020204030204" pitchFamily="34" charset="0"/>
                <a:cs typeface="Times New Roman" panose="02020603050405020304" pitchFamily="18" charset="0"/>
              </a:rPr>
              <a:t>’Tis a gross illusion</a:t>
            </a:r>
            <a:r>
              <a:rPr lang="en-GB" sz="2100">
                <a:effectLst/>
                <a:ea typeface="Calibri" panose="020F0502020204030204" pitchFamily="34" charset="0"/>
                <a:cs typeface="Times New Roman" panose="02020603050405020304" pitchFamily="18" charset="0"/>
              </a:rPr>
              <a:t> to suppose, that our resembling perceptions are numerically the same; and ’tis this illusion, which leads us into the opinion, that these perceptions … are still existent, even when they are not present to the senses.  …  </a:t>
            </a:r>
            <a:r>
              <a:rPr lang="en-GB" sz="2100" u="sng">
                <a:solidFill>
                  <a:srgbClr val="FF9999"/>
                </a:solidFill>
                <a:effectLst/>
                <a:ea typeface="Calibri" panose="020F0502020204030204" pitchFamily="34" charset="0"/>
                <a:cs typeface="Times New Roman" panose="02020603050405020304" pitchFamily="18" charset="0"/>
              </a:rPr>
              <a:t>What … can we look for from this confusion of groundless and extraordinary opinions but error and falshood?</a:t>
            </a:r>
            <a:r>
              <a:rPr lang="en-GB" sz="2100">
                <a:effectLst/>
                <a:ea typeface="Calibri" panose="020F0502020204030204" pitchFamily="34" charset="0"/>
                <a:cs typeface="Times New Roman" panose="02020603050405020304" pitchFamily="18" charset="0"/>
              </a:rPr>
              <a:t>”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1.4.2.56)</a:t>
            </a:r>
          </a:p>
          <a:p>
            <a:pPr>
              <a:lnSpc>
                <a:spcPct val="115000"/>
              </a:lnSpc>
              <a:spcBef>
                <a:spcPts val="1800"/>
              </a:spcBef>
            </a:pPr>
            <a:r>
              <a:rPr lang="en-GB" sz="2100">
                <a:effectLst/>
                <a:ea typeface="Calibri" panose="020F0502020204030204" pitchFamily="34" charset="0"/>
                <a:cs typeface="Times New Roman" panose="02020603050405020304" pitchFamily="18" charset="0"/>
              </a:rPr>
              <a:t>“Thus there is </a:t>
            </a:r>
            <a:r>
              <a:rPr lang="en-GB" sz="2100" u="sng">
                <a:solidFill>
                  <a:srgbClr val="FF9999"/>
                </a:solidFill>
                <a:effectLst/>
                <a:ea typeface="Calibri" panose="020F0502020204030204" pitchFamily="34" charset="0"/>
                <a:cs typeface="Times New Roman" panose="02020603050405020304" pitchFamily="18" charset="0"/>
              </a:rPr>
              <a:t>a direct and total opposition betwixt our reason and our senses</a:t>
            </a:r>
            <a:r>
              <a:rPr lang="en-GB" sz="2100">
                <a:effectLst/>
                <a:ea typeface="Calibri" panose="020F0502020204030204" pitchFamily="34" charset="0"/>
                <a:cs typeface="Times New Roman" panose="02020603050405020304" pitchFamily="18" charset="0"/>
              </a:rPr>
              <a:t>; or more properly speaking, betwixt those conclusions we form from cause and effect, and those that persuade us of the continu’d and independent existence of body.”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1.4.4.15)</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990567799"/>
      </p:ext>
    </p:extLst>
  </p:cSld>
  <p:clrMapOvr>
    <a:masterClrMapping/>
  </p:clrMapOvr>
  <p:transition spd="med">
    <p:cover/>
  </p:transition>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281</a:t>
            </a:fld>
            <a:endParaRPr lang="en-US"/>
          </a:p>
        </p:txBody>
      </p:sp>
      <p:sp>
        <p:nvSpPr>
          <p:cNvPr id="2" name="Title 1"/>
          <p:cNvSpPr>
            <a:spLocks noGrp="1"/>
          </p:cNvSpPr>
          <p:nvPr>
            <p:ph type="title" idx="4294967295"/>
          </p:nvPr>
        </p:nvSpPr>
        <p:spPr>
          <a:xfrm>
            <a:off x="168275" y="277813"/>
            <a:ext cx="8772525" cy="846931"/>
          </a:xfrm>
        </p:spPr>
        <p:txBody>
          <a:bodyPr/>
          <a:lstStyle/>
          <a:p>
            <a:r>
              <a:rPr lang="en-US" sz="4200"/>
              <a:t>(ii) Clearly False in its Vulgar Form</a:t>
            </a:r>
            <a:endParaRPr lang="en-US" sz="4200" dirty="0"/>
          </a:p>
        </p:txBody>
      </p:sp>
      <p:sp>
        <p:nvSpPr>
          <p:cNvPr id="3" name="Content Placeholder 2"/>
          <p:cNvSpPr>
            <a:spLocks noGrp="1"/>
          </p:cNvSpPr>
          <p:nvPr>
            <p:ph idx="4294967295"/>
          </p:nvPr>
        </p:nvSpPr>
        <p:spPr>
          <a:xfrm>
            <a:off x="457200" y="1484784"/>
            <a:ext cx="8291264" cy="5084291"/>
          </a:xfrm>
        </p:spPr>
        <p:txBody>
          <a:bodyPr/>
          <a:lstStyle/>
          <a:p>
            <a:pPr>
              <a:lnSpc>
                <a:spcPct val="115000"/>
              </a:lnSpc>
              <a:spcBef>
                <a:spcPts val="1800"/>
              </a:spcBef>
            </a:pPr>
            <a:r>
              <a:rPr lang="en-GB" sz="2200">
                <a:effectLst/>
                <a:ea typeface="Calibri" panose="020F0502020204030204" pitchFamily="34" charset="0"/>
                <a:cs typeface="Times New Roman" panose="02020603050405020304" pitchFamily="18" charset="0"/>
              </a:rPr>
              <a:t>“the vulgar </a:t>
            </a:r>
            <a:r>
              <a:rPr lang="en-GB" sz="2200" i="1">
                <a:effectLst/>
                <a:ea typeface="Calibri" panose="020F0502020204030204" pitchFamily="34" charset="0"/>
                <a:cs typeface="Times New Roman" panose="02020603050405020304" pitchFamily="18" charset="0"/>
              </a:rPr>
              <a:t>suppose</a:t>
            </a:r>
            <a:r>
              <a:rPr lang="en-GB" sz="2200">
                <a:effectLst/>
                <a:ea typeface="Calibri" panose="020F0502020204030204" pitchFamily="34" charset="0"/>
                <a:cs typeface="Times New Roman" panose="02020603050405020304" pitchFamily="18" charset="0"/>
              </a:rPr>
              <a:t> their perceptions to be their only objects, and at the same time </a:t>
            </a:r>
            <a:r>
              <a:rPr lang="en-GB" sz="2200" i="1">
                <a:effectLst/>
                <a:ea typeface="Calibri" panose="020F0502020204030204" pitchFamily="34" charset="0"/>
                <a:cs typeface="Times New Roman" panose="02020603050405020304" pitchFamily="18" charset="0"/>
              </a:rPr>
              <a:t>believe</a:t>
            </a:r>
            <a:r>
              <a:rPr lang="en-GB" sz="2200">
                <a:effectLst/>
                <a:ea typeface="Calibri" panose="020F0502020204030204" pitchFamily="34" charset="0"/>
                <a:cs typeface="Times New Roman" panose="02020603050405020304" pitchFamily="18" charset="0"/>
              </a:rPr>
              <a:t> the continu’d existence of matter …  Now upon that supposition, </a:t>
            </a:r>
            <a:r>
              <a:rPr lang="en-GB" sz="2200" u="sng">
                <a:solidFill>
                  <a:srgbClr val="FF9999"/>
                </a:solidFill>
                <a:effectLst/>
                <a:ea typeface="Calibri" panose="020F0502020204030204" pitchFamily="34" charset="0"/>
                <a:cs typeface="Times New Roman" panose="02020603050405020304" pitchFamily="18" charset="0"/>
              </a:rPr>
              <a:t>’tis a false opinion</a:t>
            </a:r>
            <a:r>
              <a:rPr lang="en-GB" sz="2200">
                <a:effectLst/>
                <a:ea typeface="Calibri" panose="020F0502020204030204" pitchFamily="34" charset="0"/>
                <a:cs typeface="Times New Roman" panose="02020603050405020304" pitchFamily="18" charset="0"/>
              </a:rPr>
              <a:t> that any of our objects, or perceptions, are identically the same after an interruption; and consequently the opinion … can never arise from reason, but must arise from the imagination”  (</a:t>
            </a:r>
            <a:r>
              <a:rPr lang="en-GB" sz="2200" i="1">
                <a:effectLst/>
                <a:ea typeface="Calibri" panose="020F0502020204030204" pitchFamily="34" charset="0"/>
                <a:cs typeface="Times New Roman" panose="02020603050405020304" pitchFamily="18" charset="0"/>
              </a:rPr>
              <a:t>T</a:t>
            </a:r>
            <a:r>
              <a:rPr lang="en-GB" sz="2200">
                <a:effectLst/>
                <a:ea typeface="Calibri" panose="020F0502020204030204" pitchFamily="34" charset="0"/>
                <a:cs typeface="Times New Roman" panose="02020603050405020304" pitchFamily="18" charset="0"/>
              </a:rPr>
              <a:t> 1.4.2.43)</a:t>
            </a:r>
          </a:p>
          <a:p>
            <a:pPr>
              <a:lnSpc>
                <a:spcPct val="115000"/>
              </a:lnSpc>
              <a:spcBef>
                <a:spcPts val="1800"/>
              </a:spcBef>
            </a:pPr>
            <a:r>
              <a:rPr lang="en-GB" sz="2200">
                <a:effectLst/>
                <a:ea typeface="Calibri" panose="020F0502020204030204" pitchFamily="34" charset="0"/>
                <a:cs typeface="Times New Roman" panose="02020603050405020304" pitchFamily="18" charset="0"/>
              </a:rPr>
              <a:t>“a very little reflection and philosophy is sufficient to make us perceive </a:t>
            </a:r>
            <a:r>
              <a:rPr lang="en-GB" sz="2200" u="sng">
                <a:solidFill>
                  <a:srgbClr val="FF9999"/>
                </a:solidFill>
                <a:effectLst/>
                <a:ea typeface="Calibri" panose="020F0502020204030204" pitchFamily="34" charset="0"/>
                <a:cs typeface="Times New Roman" panose="02020603050405020304" pitchFamily="18" charset="0"/>
              </a:rPr>
              <a:t>the fallacy of that opinion</a:t>
            </a:r>
            <a:r>
              <a:rPr lang="en-GB" sz="2200">
                <a:effectLst/>
                <a:ea typeface="Calibri" panose="020F0502020204030204" pitchFamily="34" charset="0"/>
                <a:cs typeface="Times New Roman" panose="02020603050405020304" pitchFamily="18" charset="0"/>
              </a:rPr>
              <a:t> … we quickly perceive, that the doctrine of the independent existence of our sensible perceptions is </a:t>
            </a:r>
            <a:r>
              <a:rPr lang="en-GB" sz="2200" u="sng">
                <a:solidFill>
                  <a:srgbClr val="FF9999"/>
                </a:solidFill>
                <a:effectLst/>
                <a:ea typeface="Calibri" panose="020F0502020204030204" pitchFamily="34" charset="0"/>
                <a:cs typeface="Times New Roman" panose="02020603050405020304" pitchFamily="18" charset="0"/>
              </a:rPr>
              <a:t>contrary to the plainest experience</a:t>
            </a:r>
            <a:r>
              <a:rPr lang="en-GB" sz="2200">
                <a:effectLst/>
                <a:ea typeface="Calibri" panose="020F0502020204030204" pitchFamily="34" charset="0"/>
                <a:cs typeface="Times New Roman" panose="02020603050405020304" pitchFamily="18" charset="0"/>
              </a:rPr>
              <a:t>”  (</a:t>
            </a:r>
            <a:r>
              <a:rPr lang="en-GB" sz="2200" i="1">
                <a:effectLst/>
                <a:ea typeface="Calibri" panose="020F0502020204030204" pitchFamily="34" charset="0"/>
                <a:cs typeface="Times New Roman" panose="02020603050405020304" pitchFamily="18" charset="0"/>
              </a:rPr>
              <a:t>T</a:t>
            </a:r>
            <a:r>
              <a:rPr lang="en-GB" sz="2200">
                <a:effectLst/>
                <a:ea typeface="Calibri" panose="020F0502020204030204" pitchFamily="34" charset="0"/>
                <a:cs typeface="Times New Roman" panose="02020603050405020304" pitchFamily="18" charset="0"/>
              </a:rPr>
              <a:t> 1.4.2.44)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666599247"/>
      </p:ext>
    </p:extLst>
  </p:cSld>
  <p:clrMapOvr>
    <a:masterClrMapping/>
  </p:clrMapOvr>
  <p:transition spd="med">
    <p:cover/>
  </p:transition>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282</a:t>
            </a:fld>
            <a:endParaRPr lang="en-US"/>
          </a:p>
        </p:txBody>
      </p:sp>
      <p:sp>
        <p:nvSpPr>
          <p:cNvPr id="3" name="Content Placeholder 2"/>
          <p:cNvSpPr>
            <a:spLocks noGrp="1"/>
          </p:cNvSpPr>
          <p:nvPr>
            <p:ph idx="4294967295"/>
          </p:nvPr>
        </p:nvSpPr>
        <p:spPr>
          <a:xfrm>
            <a:off x="863588" y="332656"/>
            <a:ext cx="7704856" cy="6128407"/>
          </a:xfrm>
        </p:spPr>
        <p:txBody>
          <a:bodyPr/>
          <a:lstStyle/>
          <a:p>
            <a:pPr>
              <a:lnSpc>
                <a:spcPct val="115000"/>
              </a:lnSpc>
              <a:spcBef>
                <a:spcPts val="1800"/>
              </a:spcBef>
            </a:pPr>
            <a:r>
              <a:rPr lang="en-GB" sz="2300">
                <a:effectLst/>
                <a:ea typeface="Calibri" panose="020F0502020204030204" pitchFamily="34" charset="0"/>
                <a:cs typeface="Times New Roman" panose="02020603050405020304" pitchFamily="18" charset="0"/>
              </a:rPr>
              <a:t>“we clearly perceive, that </a:t>
            </a:r>
            <a:r>
              <a:rPr lang="en-GB" sz="2300" u="sng">
                <a:solidFill>
                  <a:srgbClr val="FF9999"/>
                </a:solidFill>
                <a:effectLst/>
                <a:ea typeface="Calibri" panose="020F0502020204030204" pitchFamily="34" charset="0"/>
                <a:cs typeface="Times New Roman" panose="02020603050405020304" pitchFamily="18" charset="0"/>
              </a:rPr>
              <a:t>all our perceptions are dependent on our organs</a:t>
            </a:r>
            <a:r>
              <a:rPr lang="en-GB" sz="2300">
                <a:effectLst/>
                <a:ea typeface="Calibri" panose="020F0502020204030204" pitchFamily="34" charset="0"/>
                <a:cs typeface="Times New Roman" panose="02020603050405020304" pitchFamily="18" charset="0"/>
              </a:rPr>
              <a:t>, and … our nerves and animal spirits”  (</a:t>
            </a:r>
            <a:r>
              <a:rPr lang="en-GB" sz="2300" i="1">
                <a:effectLst/>
                <a:ea typeface="Calibri" panose="020F0502020204030204" pitchFamily="34" charset="0"/>
                <a:cs typeface="Times New Roman" panose="02020603050405020304" pitchFamily="18" charset="0"/>
              </a:rPr>
              <a:t>T</a:t>
            </a:r>
            <a:r>
              <a:rPr lang="en-GB" sz="2300">
                <a:effectLst/>
                <a:ea typeface="Calibri" panose="020F0502020204030204" pitchFamily="34" charset="0"/>
                <a:cs typeface="Times New Roman" panose="02020603050405020304" pitchFamily="18" charset="0"/>
              </a:rPr>
              <a:t> 1.4.2.45)</a:t>
            </a:r>
          </a:p>
          <a:p>
            <a:pPr>
              <a:lnSpc>
                <a:spcPct val="115000"/>
              </a:lnSpc>
              <a:spcBef>
                <a:spcPts val="1800"/>
              </a:spcBef>
            </a:pPr>
            <a:r>
              <a:rPr lang="en-GB" sz="2300">
                <a:effectLst/>
                <a:ea typeface="Calibri" panose="020F0502020204030204" pitchFamily="34" charset="0"/>
                <a:cs typeface="Times New Roman" panose="02020603050405020304" pitchFamily="18" charset="0"/>
              </a:rPr>
              <a:t>“Whoever wou’d explain the origin of the common opinion concerning the continu’d and distinct existence of body … must proceed upon the supposition, that our perceptions are our only objects, and continue to exist even when they are not perceiv’d.  </a:t>
            </a:r>
            <a:r>
              <a:rPr lang="en-GB" sz="2300" u="sng">
                <a:solidFill>
                  <a:srgbClr val="FF9999"/>
                </a:solidFill>
                <a:effectLst/>
                <a:ea typeface="Calibri" panose="020F0502020204030204" pitchFamily="34" charset="0"/>
                <a:cs typeface="Times New Roman" panose="02020603050405020304" pitchFamily="18" charset="0"/>
              </a:rPr>
              <a:t>Tho’ this opinion be false</a:t>
            </a:r>
            <a:r>
              <a:rPr lang="en-GB" sz="2300">
                <a:effectLst/>
                <a:ea typeface="Calibri" panose="020F0502020204030204" pitchFamily="34" charset="0"/>
                <a:cs typeface="Times New Roman" panose="02020603050405020304" pitchFamily="18" charset="0"/>
              </a:rPr>
              <a:t>, ’tis the most natural of any, and has alone any primary recommendation to the fancy.”  (</a:t>
            </a:r>
            <a:r>
              <a:rPr lang="en-GB" sz="2300" i="1">
                <a:effectLst/>
                <a:ea typeface="Calibri" panose="020F0502020204030204" pitchFamily="34" charset="0"/>
                <a:cs typeface="Times New Roman" panose="02020603050405020304" pitchFamily="18" charset="0"/>
              </a:rPr>
              <a:t>T</a:t>
            </a:r>
            <a:r>
              <a:rPr lang="en-GB" sz="2300">
                <a:effectLst/>
                <a:ea typeface="Calibri" panose="020F0502020204030204" pitchFamily="34" charset="0"/>
                <a:cs typeface="Times New Roman" panose="02020603050405020304" pitchFamily="18" charset="0"/>
              </a:rPr>
              <a:t> 1.4.2.48)</a:t>
            </a:r>
          </a:p>
          <a:p>
            <a:pPr>
              <a:lnSpc>
                <a:spcPct val="115000"/>
              </a:lnSpc>
              <a:spcBef>
                <a:spcPts val="1800"/>
              </a:spcBef>
            </a:pPr>
            <a:r>
              <a:rPr lang="en-GB" sz="2300">
                <a:effectLst/>
                <a:ea typeface="Calibri" panose="020F0502020204030204" pitchFamily="34" charset="0"/>
                <a:cs typeface="Times New Roman" panose="02020603050405020304" pitchFamily="18" charset="0"/>
              </a:rPr>
              <a:t>“</a:t>
            </a:r>
            <a:r>
              <a:rPr lang="en-GB" sz="2300" u="sng">
                <a:solidFill>
                  <a:srgbClr val="FF9999"/>
                </a:solidFill>
                <a:effectLst/>
                <a:ea typeface="Calibri" panose="020F0502020204030204" pitchFamily="34" charset="0"/>
                <a:cs typeface="Times New Roman" panose="02020603050405020304" pitchFamily="18" charset="0"/>
              </a:rPr>
              <a:t>a little reflection destroys this conclusion</a:t>
            </a:r>
            <a:r>
              <a:rPr lang="en-GB" sz="2300">
                <a:effectLst/>
                <a:ea typeface="Calibri" panose="020F0502020204030204" pitchFamily="34" charset="0"/>
                <a:cs typeface="Times New Roman" panose="02020603050405020304" pitchFamily="18" charset="0"/>
              </a:rPr>
              <a:t>, that our perceptions have a continu’d existence, by shewing that they have a dependent one”  (</a:t>
            </a:r>
            <a:r>
              <a:rPr lang="en-GB" sz="2300" i="1">
                <a:effectLst/>
                <a:ea typeface="Calibri" panose="020F0502020204030204" pitchFamily="34" charset="0"/>
                <a:cs typeface="Times New Roman" panose="02020603050405020304" pitchFamily="18" charset="0"/>
              </a:rPr>
              <a:t>T</a:t>
            </a:r>
            <a:r>
              <a:rPr lang="en-GB" sz="2300">
                <a:effectLst/>
                <a:ea typeface="Calibri" panose="020F0502020204030204" pitchFamily="34" charset="0"/>
                <a:cs typeface="Times New Roman" panose="02020603050405020304" pitchFamily="18" charset="0"/>
              </a:rPr>
              <a:t> 1.4.2.50)</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938770720"/>
      </p:ext>
    </p:extLst>
  </p:cSld>
  <p:clrMapOvr>
    <a:masterClrMapping/>
  </p:clrMapOvr>
  <p:transition spd="med">
    <p:cover/>
  </p:transition>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283</a:t>
            </a:fld>
            <a:endParaRPr lang="en-US"/>
          </a:p>
        </p:txBody>
      </p:sp>
      <p:sp>
        <p:nvSpPr>
          <p:cNvPr id="2" name="Title 1"/>
          <p:cNvSpPr>
            <a:spLocks noGrp="1"/>
          </p:cNvSpPr>
          <p:nvPr>
            <p:ph type="title" idx="4294967295"/>
          </p:nvPr>
        </p:nvSpPr>
        <p:spPr>
          <a:xfrm>
            <a:off x="71500" y="152636"/>
            <a:ext cx="9000999" cy="630907"/>
          </a:xfrm>
        </p:spPr>
        <p:txBody>
          <a:bodyPr/>
          <a:lstStyle/>
          <a:p>
            <a:r>
              <a:rPr lang="en-US" sz="3600"/>
              <a:t>(iii) Nevertheless Universal and Irresistible</a:t>
            </a:r>
            <a:endParaRPr lang="en-US" sz="3600" dirty="0"/>
          </a:p>
        </p:txBody>
      </p:sp>
      <p:sp>
        <p:nvSpPr>
          <p:cNvPr id="3" name="Content Placeholder 2"/>
          <p:cNvSpPr>
            <a:spLocks noGrp="1"/>
          </p:cNvSpPr>
          <p:nvPr>
            <p:ph idx="4294967295"/>
          </p:nvPr>
        </p:nvSpPr>
        <p:spPr>
          <a:xfrm>
            <a:off x="529208" y="1045009"/>
            <a:ext cx="8291264" cy="5444331"/>
          </a:xfrm>
        </p:spPr>
        <p:txBody>
          <a:bodyPr/>
          <a:lstStyle/>
          <a:p>
            <a:pPr algn="just">
              <a:lnSpc>
                <a:spcPct val="115000"/>
              </a:lnSpc>
              <a:spcBef>
                <a:spcPts val="600"/>
              </a:spcBef>
            </a:pPr>
            <a:r>
              <a:rPr lang="en-GB" sz="2100">
                <a:effectLst/>
                <a:ea typeface="Calibri" panose="020F0502020204030204" pitchFamily="34" charset="0"/>
                <a:cs typeface="Times New Roman" panose="02020603050405020304" pitchFamily="18" charset="0"/>
              </a:rPr>
              <a:t>“The persons, who entertain this opinion … are in general all the unthinking and unphilosophical part of mankind, (that is, </a:t>
            </a:r>
            <a:r>
              <a:rPr lang="en-GB" sz="2100" u="sng">
                <a:solidFill>
                  <a:srgbClr val="FF9999"/>
                </a:solidFill>
                <a:effectLst/>
                <a:ea typeface="Calibri" panose="020F0502020204030204" pitchFamily="34" charset="0"/>
                <a:cs typeface="Times New Roman" panose="02020603050405020304" pitchFamily="18" charset="0"/>
              </a:rPr>
              <a:t>all of us</a:t>
            </a:r>
            <a:r>
              <a:rPr lang="en-GB" sz="2100">
                <a:effectLst/>
                <a:ea typeface="Calibri" panose="020F0502020204030204" pitchFamily="34" charset="0"/>
                <a:cs typeface="Times New Roman" panose="02020603050405020304" pitchFamily="18" charset="0"/>
              </a:rPr>
              <a:t>, at one time or other) …”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1.4.2.36)</a:t>
            </a:r>
          </a:p>
          <a:p>
            <a:pPr algn="just">
              <a:lnSpc>
                <a:spcPct val="115000"/>
              </a:lnSpc>
              <a:spcBef>
                <a:spcPts val="600"/>
              </a:spcBef>
            </a:pPr>
            <a:r>
              <a:rPr lang="en-GB" sz="2100">
                <a:effectLst/>
                <a:ea typeface="Calibri" panose="020F0502020204030204" pitchFamily="34" charset="0"/>
                <a:cs typeface="Times New Roman" panose="02020603050405020304" pitchFamily="18" charset="0"/>
              </a:rPr>
              <a:t>“almost all mankind, and </a:t>
            </a:r>
            <a:r>
              <a:rPr lang="en-GB" sz="2100" u="sng">
                <a:solidFill>
                  <a:srgbClr val="FF9999"/>
                </a:solidFill>
                <a:effectLst/>
                <a:ea typeface="Calibri" panose="020F0502020204030204" pitchFamily="34" charset="0"/>
                <a:cs typeface="Times New Roman" panose="02020603050405020304" pitchFamily="18" charset="0"/>
              </a:rPr>
              <a:t>even philosophers themselves, for the greatest part of their lives</a:t>
            </a:r>
            <a:r>
              <a:rPr lang="en-GB" sz="2100">
                <a:effectLst/>
                <a:ea typeface="Calibri" panose="020F0502020204030204" pitchFamily="34" charset="0"/>
                <a:cs typeface="Times New Roman" panose="02020603050405020304" pitchFamily="18" charset="0"/>
              </a:rPr>
              <a:t>, take their perceptions to be their only objects, and suppose, that the very being, which is intimately present to the mind, is the real body …”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1.4.2.38)</a:t>
            </a:r>
          </a:p>
          <a:p>
            <a:pPr algn="just">
              <a:lnSpc>
                <a:spcPct val="115000"/>
              </a:lnSpc>
              <a:spcBef>
                <a:spcPts val="600"/>
              </a:spcBef>
            </a:pPr>
            <a:r>
              <a:rPr lang="en-GB" sz="2100">
                <a:effectLst/>
                <a:ea typeface="Calibri" panose="020F0502020204030204" pitchFamily="34" charset="0"/>
                <a:cs typeface="Times New Roman" panose="02020603050405020304" pitchFamily="18" charset="0"/>
              </a:rPr>
              <a:t>“</a:t>
            </a:r>
            <a:r>
              <a:rPr lang="en-GB" sz="2100" u="sng">
                <a:solidFill>
                  <a:srgbClr val="FF9999"/>
                </a:solidFill>
                <a:effectLst/>
                <a:ea typeface="Calibri" panose="020F0502020204030204" pitchFamily="34" charset="0"/>
                <a:cs typeface="Times New Roman" panose="02020603050405020304" pitchFamily="18" charset="0"/>
              </a:rPr>
              <a:t>philosophers … upon leaving their closets, mingle with the rest of mankind in those exploded opinions</a:t>
            </a:r>
            <a:r>
              <a:rPr lang="en-GB" sz="2100">
                <a:effectLst/>
                <a:ea typeface="Calibri" panose="020F0502020204030204" pitchFamily="34" charset="0"/>
                <a:cs typeface="Times New Roman" panose="02020603050405020304" pitchFamily="18" charset="0"/>
              </a:rPr>
              <a:t>, that our perceptions are our only objects, and continue identically and uninterruptedly the same in all their interrupted appearances”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1.4.2.53)</a:t>
            </a:r>
          </a:p>
          <a:p>
            <a:pPr algn="just">
              <a:lnSpc>
                <a:spcPct val="115000"/>
              </a:lnSpc>
              <a:spcBef>
                <a:spcPts val="600"/>
              </a:spcBef>
            </a:pPr>
            <a:r>
              <a:rPr lang="en-GB" sz="2100">
                <a:effectLst/>
                <a:ea typeface="Calibri" panose="020F0502020204030204" pitchFamily="34" charset="0"/>
                <a:cs typeface="Times New Roman" panose="02020603050405020304" pitchFamily="18" charset="0"/>
              </a:rPr>
              <a:t>“I … take it for granted, whatever may be the reader's opinion at this present moment, that </a:t>
            </a:r>
            <a:r>
              <a:rPr lang="en-GB" sz="2100" u="sng">
                <a:solidFill>
                  <a:srgbClr val="FF9999"/>
                </a:solidFill>
                <a:effectLst/>
                <a:ea typeface="Calibri" panose="020F0502020204030204" pitchFamily="34" charset="0"/>
                <a:cs typeface="Times New Roman" panose="02020603050405020304" pitchFamily="18" charset="0"/>
              </a:rPr>
              <a:t>an hour hence he will be persuaded there is … an external … world</a:t>
            </a:r>
            <a:r>
              <a:rPr lang="en-GB" sz="2100">
                <a:effectLst/>
                <a:ea typeface="Calibri" panose="020F0502020204030204" pitchFamily="34" charset="0"/>
                <a:cs typeface="Times New Roman" panose="02020603050405020304" pitchFamily="18" charset="0"/>
              </a:rPr>
              <a:t>”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1.4.2.57)</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625408198"/>
      </p:ext>
    </p:extLst>
  </p:cSld>
  <p:clrMapOvr>
    <a:masterClrMapping/>
  </p:clrMapOvr>
  <p:transition spd="med">
    <p:cover/>
  </p:transition>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284</a:t>
            </a:fld>
            <a:endParaRPr lang="en-US"/>
          </a:p>
        </p:txBody>
      </p:sp>
      <p:sp>
        <p:nvSpPr>
          <p:cNvPr id="2" name="Title 1"/>
          <p:cNvSpPr>
            <a:spLocks noGrp="1"/>
          </p:cNvSpPr>
          <p:nvPr>
            <p:ph type="title" idx="4294967295"/>
          </p:nvPr>
        </p:nvSpPr>
        <p:spPr>
          <a:xfrm>
            <a:off x="168275" y="152636"/>
            <a:ext cx="8772525" cy="720080"/>
          </a:xfrm>
        </p:spPr>
        <p:txBody>
          <a:bodyPr/>
          <a:lstStyle/>
          <a:p>
            <a:r>
              <a:rPr lang="en-US" sz="4000"/>
              <a:t>(iv) Is the Philosophical Form Worse?</a:t>
            </a:r>
            <a:endParaRPr lang="en-US" sz="4000" dirty="0"/>
          </a:p>
        </p:txBody>
      </p:sp>
      <p:sp>
        <p:nvSpPr>
          <p:cNvPr id="3" name="Content Placeholder 2"/>
          <p:cNvSpPr>
            <a:spLocks noGrp="1"/>
          </p:cNvSpPr>
          <p:nvPr>
            <p:ph idx="4294967295"/>
          </p:nvPr>
        </p:nvSpPr>
        <p:spPr>
          <a:xfrm>
            <a:off x="565212" y="1088740"/>
            <a:ext cx="8291264" cy="5544616"/>
          </a:xfrm>
        </p:spPr>
        <p:txBody>
          <a:bodyPr/>
          <a:lstStyle/>
          <a:p>
            <a:pPr>
              <a:lnSpc>
                <a:spcPct val="115000"/>
              </a:lnSpc>
              <a:spcBef>
                <a:spcPts val="1200"/>
              </a:spcBef>
            </a:pPr>
            <a:r>
              <a:rPr lang="en-GB" sz="2100">
                <a:effectLst/>
                <a:ea typeface="Calibri" panose="020F0502020204030204" pitchFamily="34" charset="0"/>
                <a:cs typeface="Times New Roman" panose="02020603050405020304" pitchFamily="18" charset="0"/>
              </a:rPr>
              <a:t>The philosophical double-existence view “</a:t>
            </a:r>
            <a:r>
              <a:rPr lang="en-GB" sz="2100" i="1">
                <a:effectLst/>
                <a:ea typeface="Calibri" panose="020F0502020204030204" pitchFamily="34" charset="0"/>
                <a:cs typeface="Times New Roman" panose="02020603050405020304" pitchFamily="18" charset="0"/>
              </a:rPr>
              <a:t>has </a:t>
            </a:r>
            <a:r>
              <a:rPr lang="en-GB" sz="2100" i="1" u="sng">
                <a:solidFill>
                  <a:srgbClr val="FF9999"/>
                </a:solidFill>
                <a:effectLst/>
                <a:ea typeface="Calibri" panose="020F0502020204030204" pitchFamily="34" charset="0"/>
                <a:cs typeface="Times New Roman" panose="02020603050405020304" pitchFamily="18" charset="0"/>
              </a:rPr>
              <a:t>no primary recommendation either to reason or the imagination</a:t>
            </a:r>
            <a:r>
              <a:rPr lang="en-GB" sz="2100">
                <a:effectLst/>
                <a:ea typeface="Calibri" panose="020F0502020204030204" pitchFamily="34" charset="0"/>
                <a:cs typeface="Times New Roman" panose="02020603050405020304" pitchFamily="18" charset="0"/>
              </a:rPr>
              <a:t>”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1.4.2.46)</a:t>
            </a:r>
          </a:p>
          <a:p>
            <a:pPr>
              <a:lnSpc>
                <a:spcPct val="115000"/>
              </a:lnSpc>
              <a:spcBef>
                <a:spcPts val="1200"/>
              </a:spcBef>
            </a:pPr>
            <a:r>
              <a:rPr lang="en-GB" sz="2100">
                <a:effectLst/>
                <a:ea typeface="Calibri" panose="020F0502020204030204" pitchFamily="34" charset="0"/>
                <a:cs typeface="Times New Roman" panose="02020603050405020304" pitchFamily="18" charset="0"/>
              </a:rPr>
              <a:t>“’tis only a palliative remedy, and … </a:t>
            </a:r>
            <a:r>
              <a:rPr lang="en-GB" sz="2100" u="sng">
                <a:solidFill>
                  <a:srgbClr val="FF9999"/>
                </a:solidFill>
                <a:effectLst/>
                <a:ea typeface="Calibri" panose="020F0502020204030204" pitchFamily="34" charset="0"/>
                <a:cs typeface="Times New Roman" panose="02020603050405020304" pitchFamily="18" charset="0"/>
              </a:rPr>
              <a:t>contains all the difficulties of the vulgar system, with some others, that are peculiar to itself</a:t>
            </a:r>
            <a:r>
              <a:rPr lang="en-GB" sz="2100">
                <a:effectLst/>
                <a:ea typeface="Calibri" panose="020F0502020204030204" pitchFamily="34" charset="0"/>
                <a:cs typeface="Times New Roman" panose="02020603050405020304" pitchFamily="18" charset="0"/>
              </a:rPr>
              <a:t>.  There are no principles either of the understanding or fancy, which lead us directly to embrace this opinion of the double existence of perceptions and objects, …”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1.4.2.46)</a:t>
            </a:r>
          </a:p>
          <a:p>
            <a:pPr>
              <a:lnSpc>
                <a:spcPct val="115000"/>
              </a:lnSpc>
              <a:spcBef>
                <a:spcPts val="1200"/>
              </a:spcBef>
            </a:pPr>
            <a:r>
              <a:rPr lang="en-GB" sz="2100">
                <a:effectLst/>
                <a:ea typeface="Calibri" panose="020F0502020204030204" pitchFamily="34" charset="0"/>
                <a:cs typeface="Times New Roman" panose="02020603050405020304" pitchFamily="18" charset="0"/>
              </a:rPr>
              <a:t>“This philosophical system … is </a:t>
            </a:r>
            <a:r>
              <a:rPr lang="en-GB" sz="2100" u="sng">
                <a:solidFill>
                  <a:srgbClr val="FF9999"/>
                </a:solidFill>
                <a:effectLst/>
                <a:ea typeface="Calibri" panose="020F0502020204030204" pitchFamily="34" charset="0"/>
                <a:cs typeface="Times New Roman" panose="02020603050405020304" pitchFamily="18" charset="0"/>
              </a:rPr>
              <a:t>the monstrous offspring of two principles, which are contrary to each other</a:t>
            </a:r>
            <a:r>
              <a:rPr lang="en-GB" sz="2100">
                <a:effectLst/>
                <a:ea typeface="Calibri" panose="020F0502020204030204" pitchFamily="34" charset="0"/>
                <a:cs typeface="Times New Roman" panose="02020603050405020304" pitchFamily="18" charset="0"/>
              </a:rPr>
              <a:t>, which are both at once embrac’d by the mind, and which are unable mutually to destroy each other.  …  Not being able to reconcile these two enemies, we endeavour to set ourselves at ease as much as possible, … by feigning a double existence, where each may find something, that has all the conditions it desires.”  (</a:t>
            </a:r>
            <a:r>
              <a:rPr lang="en-GB" sz="2100" i="1">
                <a:effectLst/>
                <a:ea typeface="Calibri" panose="020F0502020204030204" pitchFamily="34" charset="0"/>
                <a:cs typeface="Times New Roman" panose="02020603050405020304" pitchFamily="18" charset="0"/>
              </a:rPr>
              <a:t>T</a:t>
            </a:r>
            <a:r>
              <a:rPr lang="en-GB" sz="2100">
                <a:effectLst/>
                <a:ea typeface="Calibri" panose="020F0502020204030204" pitchFamily="34" charset="0"/>
                <a:cs typeface="Times New Roman" panose="02020603050405020304" pitchFamily="18" charset="0"/>
              </a:rPr>
              <a:t> 1.4.2.52)</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303819808"/>
      </p:ext>
    </p:extLst>
  </p:cSld>
  <p:clrMapOvr>
    <a:masterClrMapping/>
  </p:clrMapOvr>
  <p:transition spd="med">
    <p:cover/>
  </p:transition>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285</a:t>
            </a:fld>
            <a:endParaRPr lang="en-US"/>
          </a:p>
        </p:txBody>
      </p:sp>
      <p:sp>
        <p:nvSpPr>
          <p:cNvPr id="2" name="Title 1"/>
          <p:cNvSpPr>
            <a:spLocks noGrp="1"/>
          </p:cNvSpPr>
          <p:nvPr>
            <p:ph type="title" idx="4294967295"/>
          </p:nvPr>
        </p:nvSpPr>
        <p:spPr>
          <a:xfrm>
            <a:off x="168275" y="152636"/>
            <a:ext cx="8772525" cy="720080"/>
          </a:xfrm>
        </p:spPr>
        <p:txBody>
          <a:bodyPr/>
          <a:lstStyle/>
          <a:p>
            <a:r>
              <a:rPr lang="en-US" sz="3800"/>
              <a:t>(v)  Rejecting Both Forms of the Belief?</a:t>
            </a:r>
            <a:endParaRPr lang="en-US" sz="3800" dirty="0"/>
          </a:p>
        </p:txBody>
      </p:sp>
      <p:sp>
        <p:nvSpPr>
          <p:cNvPr id="3" name="Content Placeholder 2"/>
          <p:cNvSpPr>
            <a:spLocks noGrp="1"/>
          </p:cNvSpPr>
          <p:nvPr>
            <p:ph idx="4294967295"/>
          </p:nvPr>
        </p:nvSpPr>
        <p:spPr>
          <a:xfrm>
            <a:off x="791580" y="1124744"/>
            <a:ext cx="7920880" cy="5544616"/>
          </a:xfrm>
        </p:spPr>
        <p:txBody>
          <a:bodyPr/>
          <a:lstStyle/>
          <a:p>
            <a:pPr>
              <a:lnSpc>
                <a:spcPct val="115000"/>
              </a:lnSpc>
              <a:spcBef>
                <a:spcPts val="1200"/>
              </a:spcBef>
            </a:pPr>
            <a:r>
              <a:rPr lang="en-GB" sz="2000">
                <a:effectLst/>
                <a:ea typeface="Calibri" panose="020F0502020204030204" pitchFamily="34" charset="0"/>
                <a:cs typeface="Times New Roman" panose="02020603050405020304" pitchFamily="18" charset="0"/>
              </a:rPr>
              <a:t>“</a:t>
            </a:r>
            <a:r>
              <a:rPr lang="en-GB" sz="2000" u="sng">
                <a:solidFill>
                  <a:srgbClr val="FF9999"/>
                </a:solidFill>
                <a:effectLst/>
                <a:ea typeface="Calibri" panose="020F0502020204030204" pitchFamily="34" charset="0"/>
                <a:cs typeface="Times New Roman" panose="02020603050405020304" pitchFamily="18" charset="0"/>
              </a:rPr>
              <a:t>’Tis a gross illusion to suppose, that our resembling perceptions are numerically the same</a:t>
            </a:r>
            <a:r>
              <a:rPr lang="en-GB" sz="2000">
                <a:effectLst/>
                <a:ea typeface="Calibri" panose="020F0502020204030204" pitchFamily="34" charset="0"/>
                <a:cs typeface="Times New Roman" panose="02020603050405020304" pitchFamily="18" charset="0"/>
              </a:rPr>
              <a:t> … [as does the] popular system.  And </a:t>
            </a:r>
            <a:r>
              <a:rPr lang="en-GB" sz="2000" u="sng">
                <a:solidFill>
                  <a:srgbClr val="FF9999"/>
                </a:solidFill>
                <a:effectLst/>
                <a:ea typeface="Calibri" panose="020F0502020204030204" pitchFamily="34" charset="0"/>
                <a:cs typeface="Times New Roman" panose="02020603050405020304" pitchFamily="18" charset="0"/>
              </a:rPr>
              <a:t>as to our philosophical one, ’tis liable to the same difficulties; and is over-and-above loaded with this absurdity, that it at once denies and establishes the vulgar supposition</a:t>
            </a:r>
            <a:r>
              <a:rPr lang="en-GB" sz="2000">
                <a:effectLst/>
                <a:ea typeface="Calibri" panose="020F0502020204030204" pitchFamily="34" charset="0"/>
                <a:cs typeface="Times New Roman" panose="02020603050405020304" pitchFamily="18" charset="0"/>
              </a:rPr>
              <a:t>.  </a:t>
            </a:r>
            <a:r>
              <a:rPr lang="en-GB" sz="2000" u="sng">
                <a:solidFill>
                  <a:srgbClr val="FF9999"/>
                </a:solidFill>
                <a:effectLst/>
                <a:ea typeface="Calibri" panose="020F0502020204030204" pitchFamily="34" charset="0"/>
                <a:cs typeface="Times New Roman" panose="02020603050405020304" pitchFamily="18" charset="0"/>
              </a:rPr>
              <a:t>Philosophers</a:t>
            </a:r>
            <a:r>
              <a:rPr lang="en-GB" sz="2000">
                <a:effectLst/>
                <a:ea typeface="Calibri" panose="020F0502020204030204" pitchFamily="34" charset="0"/>
                <a:cs typeface="Times New Roman" panose="02020603050405020304" pitchFamily="18" charset="0"/>
              </a:rPr>
              <a:t> deny our resembling perceptions to be identically the same, and uninterrupted; and yet have so great a propensity to believe them such, that they </a:t>
            </a:r>
            <a:r>
              <a:rPr lang="en-GB" sz="2000" u="sng">
                <a:solidFill>
                  <a:srgbClr val="FF9999"/>
                </a:solidFill>
                <a:effectLst/>
                <a:ea typeface="Calibri" panose="020F0502020204030204" pitchFamily="34" charset="0"/>
                <a:cs typeface="Times New Roman" panose="02020603050405020304" pitchFamily="18" charset="0"/>
              </a:rPr>
              <a:t>arbitrarily invent a new set of perceptions</a:t>
            </a:r>
            <a:r>
              <a:rPr lang="en-GB" sz="2000">
                <a:effectLst/>
                <a:ea typeface="Calibri" panose="020F0502020204030204" pitchFamily="34" charset="0"/>
                <a:cs typeface="Times New Roman" panose="02020603050405020304" pitchFamily="18" charset="0"/>
              </a:rPr>
              <a:t>, to which they attribute these qualities. I say, a new set of perceptions: For we may well suppose in general, but ’tis impossible for us distinctly to conceive, objects to be in their nature any thing but exactly the same with perceptions.  </a:t>
            </a:r>
            <a:r>
              <a:rPr lang="en-GB" sz="2000" u="sng">
                <a:solidFill>
                  <a:srgbClr val="FF9999"/>
                </a:solidFill>
                <a:effectLst/>
                <a:ea typeface="Calibri" panose="020F0502020204030204" pitchFamily="34" charset="0"/>
                <a:cs typeface="Times New Roman" panose="02020603050405020304" pitchFamily="18" charset="0"/>
              </a:rPr>
              <a:t>What then can we look for from this confusion of groundless and extraordinary opinions but error and falshood?</a:t>
            </a:r>
            <a:r>
              <a:rPr lang="en-GB" sz="2000">
                <a:effectLst/>
                <a:ea typeface="Calibri" panose="020F0502020204030204" pitchFamily="34" charset="0"/>
                <a:cs typeface="Times New Roman" panose="02020603050405020304" pitchFamily="18" charset="0"/>
              </a:rPr>
              <a:t>  And how can we justify to ourselves any belief we repose in them?”  (</a:t>
            </a:r>
            <a:r>
              <a:rPr lang="en-GB" sz="2000" i="1">
                <a:effectLst/>
                <a:ea typeface="Calibri" panose="020F0502020204030204" pitchFamily="34" charset="0"/>
                <a:cs typeface="Times New Roman" panose="02020603050405020304" pitchFamily="18" charset="0"/>
              </a:rPr>
              <a:t>T</a:t>
            </a:r>
            <a:r>
              <a:rPr lang="en-GB" sz="2000">
                <a:effectLst/>
                <a:ea typeface="Calibri" panose="020F0502020204030204" pitchFamily="34" charset="0"/>
                <a:cs typeface="Times New Roman" panose="02020603050405020304" pitchFamily="18" charset="0"/>
              </a:rPr>
              <a:t> 1.4.2.56)</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656353589"/>
      </p:ext>
    </p:extLst>
  </p:cSld>
  <p:clrMapOvr>
    <a:masterClrMapping/>
  </p:clrMapOvr>
  <p:transition spd="med">
    <p:cover/>
  </p:transition>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286</a:t>
            </a:fld>
            <a:endParaRPr lang="en-US"/>
          </a:p>
        </p:txBody>
      </p:sp>
      <p:sp>
        <p:nvSpPr>
          <p:cNvPr id="2" name="Title 1"/>
          <p:cNvSpPr>
            <a:spLocks noGrp="1"/>
          </p:cNvSpPr>
          <p:nvPr>
            <p:ph type="title" idx="4294967295"/>
          </p:nvPr>
        </p:nvSpPr>
        <p:spPr>
          <a:xfrm>
            <a:off x="168275" y="116632"/>
            <a:ext cx="8772525" cy="720080"/>
          </a:xfrm>
        </p:spPr>
        <p:txBody>
          <a:bodyPr/>
          <a:lstStyle/>
          <a:p>
            <a:r>
              <a:rPr lang="en-US" sz="4000"/>
              <a:t>(vi)  And Yet …</a:t>
            </a:r>
            <a:endParaRPr lang="en-US" sz="4000" dirty="0"/>
          </a:p>
        </p:txBody>
      </p:sp>
      <p:sp>
        <p:nvSpPr>
          <p:cNvPr id="3" name="Content Placeholder 2"/>
          <p:cNvSpPr>
            <a:spLocks noGrp="1"/>
          </p:cNvSpPr>
          <p:nvPr>
            <p:ph idx="4294967295"/>
          </p:nvPr>
        </p:nvSpPr>
        <p:spPr>
          <a:xfrm>
            <a:off x="323528" y="1016732"/>
            <a:ext cx="8640960" cy="5616624"/>
          </a:xfrm>
        </p:spPr>
        <p:txBody>
          <a:bodyPr/>
          <a:lstStyle/>
          <a:p>
            <a:pPr>
              <a:lnSpc>
                <a:spcPct val="115000"/>
              </a:lnSpc>
              <a:spcBef>
                <a:spcPts val="1200"/>
              </a:spcBef>
            </a:pPr>
            <a:r>
              <a:rPr lang="en-GB" sz="2300">
                <a:effectLst/>
                <a:ea typeface="Calibri" panose="020F0502020204030204" pitchFamily="34" charset="0"/>
                <a:cs typeface="Times New Roman" panose="02020603050405020304" pitchFamily="18" charset="0"/>
              </a:rPr>
              <a:t>If the vulgar view is </a:t>
            </a:r>
            <a:r>
              <a:rPr lang="en-GB" sz="2300" i="1">
                <a:solidFill>
                  <a:srgbClr val="FF9999"/>
                </a:solidFill>
                <a:effectLst/>
                <a:ea typeface="Calibri" panose="020F0502020204030204" pitchFamily="34" charset="0"/>
                <a:cs typeface="Times New Roman" panose="02020603050405020304" pitchFamily="18" charset="0"/>
              </a:rPr>
              <a:t>so obviously false</a:t>
            </a:r>
            <a:r>
              <a:rPr lang="en-GB" sz="2300">
                <a:effectLst/>
                <a:ea typeface="Calibri" panose="020F0502020204030204" pitchFamily="34" charset="0"/>
                <a:cs typeface="Times New Roman" panose="02020603050405020304" pitchFamily="18" charset="0"/>
              </a:rPr>
              <a:t>, can Hume really become a vulgar believer as soon as he leaves his study?</a:t>
            </a:r>
          </a:p>
          <a:p>
            <a:pPr>
              <a:lnSpc>
                <a:spcPct val="115000"/>
              </a:lnSpc>
              <a:spcBef>
                <a:spcPts val="1200"/>
              </a:spcBef>
            </a:pPr>
            <a:r>
              <a:rPr lang="en-GB" sz="2300">
                <a:effectLst/>
                <a:ea typeface="Calibri" panose="020F0502020204030204" pitchFamily="34" charset="0"/>
                <a:cs typeface="Times New Roman" panose="02020603050405020304" pitchFamily="18" charset="0"/>
              </a:rPr>
              <a:t>Even within his study – where he is clearly aware of the falsehood of the vulgar view – Hume generally evinces a firm belief in external objects such as billiard balls (</a:t>
            </a:r>
            <a:r>
              <a:rPr lang="en-GB" sz="2300" i="1">
                <a:effectLst/>
                <a:ea typeface="Calibri" panose="020F0502020204030204" pitchFamily="34" charset="0"/>
                <a:cs typeface="Times New Roman" panose="02020603050405020304" pitchFamily="18" charset="0"/>
              </a:rPr>
              <a:t>T</a:t>
            </a:r>
            <a:r>
              <a:rPr lang="en-GB" sz="2300">
                <a:effectLst/>
                <a:ea typeface="Calibri" panose="020F0502020204030204" pitchFamily="34" charset="0"/>
                <a:cs typeface="Times New Roman" panose="02020603050405020304" pitchFamily="18" charset="0"/>
              </a:rPr>
              <a:t> 1.3.14.18, </a:t>
            </a:r>
            <a:r>
              <a:rPr lang="en-GB" sz="2300" i="1">
                <a:effectLst/>
                <a:ea typeface="Calibri" panose="020F0502020204030204" pitchFamily="34" charset="0"/>
                <a:cs typeface="Times New Roman" panose="02020603050405020304" pitchFamily="18" charset="0"/>
              </a:rPr>
              <a:t>E</a:t>
            </a:r>
            <a:r>
              <a:rPr lang="en-GB" sz="2300">
                <a:effectLst/>
                <a:ea typeface="Calibri" panose="020F0502020204030204" pitchFamily="34" charset="0"/>
                <a:cs typeface="Times New Roman" panose="02020603050405020304" pitchFamily="18" charset="0"/>
              </a:rPr>
              <a:t> 4.8‑10) and dice (</a:t>
            </a:r>
            <a:r>
              <a:rPr lang="en-GB" sz="2300" i="1">
                <a:effectLst/>
                <a:ea typeface="Calibri" panose="020F0502020204030204" pitchFamily="34" charset="0"/>
                <a:cs typeface="Times New Roman" panose="02020603050405020304" pitchFamily="18" charset="0"/>
              </a:rPr>
              <a:t>T</a:t>
            </a:r>
            <a:r>
              <a:rPr lang="en-GB" sz="2300">
                <a:effectLst/>
                <a:ea typeface="Calibri" panose="020F0502020204030204" pitchFamily="34" charset="0"/>
                <a:cs typeface="Times New Roman" panose="02020603050405020304" pitchFamily="18" charset="0"/>
              </a:rPr>
              <a:t> 1.3.11.6‑13, </a:t>
            </a:r>
            <a:r>
              <a:rPr lang="en-GB" sz="2300" i="1">
                <a:effectLst/>
                <a:ea typeface="Calibri" panose="020F0502020204030204" pitchFamily="34" charset="0"/>
                <a:cs typeface="Times New Roman" panose="02020603050405020304" pitchFamily="18" charset="0"/>
              </a:rPr>
              <a:t>E</a:t>
            </a:r>
            <a:r>
              <a:rPr lang="en-GB" sz="2300">
                <a:effectLst/>
                <a:ea typeface="Calibri" panose="020F0502020204030204" pitchFamily="34" charset="0"/>
                <a:cs typeface="Times New Roman" panose="02020603050405020304" pitchFamily="18" charset="0"/>
              </a:rPr>
              <a:t> 6.2‑3).</a:t>
            </a:r>
          </a:p>
          <a:p>
            <a:pPr>
              <a:lnSpc>
                <a:spcPct val="115000"/>
              </a:lnSpc>
              <a:spcBef>
                <a:spcPts val="1200"/>
              </a:spcBef>
            </a:pPr>
            <a:r>
              <a:rPr lang="en-GB" sz="2300">
                <a:effectLst/>
                <a:ea typeface="Calibri" panose="020F0502020204030204" pitchFamily="34" charset="0"/>
                <a:cs typeface="Times New Roman" panose="02020603050405020304" pitchFamily="18" charset="0"/>
              </a:rPr>
              <a:t>Likewise in the people whose thought and behaviour constitutes the subject-matter of so much of his philosophy.</a:t>
            </a:r>
          </a:p>
          <a:p>
            <a:pPr>
              <a:lnSpc>
                <a:spcPct val="115000"/>
              </a:lnSpc>
              <a:spcBef>
                <a:spcPts val="1200"/>
              </a:spcBef>
            </a:pPr>
            <a:r>
              <a:rPr lang="en-GB" sz="2300">
                <a:effectLst/>
                <a:ea typeface="Calibri" panose="020F0502020204030204" pitchFamily="34" charset="0"/>
                <a:cs typeface="Times New Roman" panose="02020603050405020304" pitchFamily="18" charset="0"/>
              </a:rPr>
              <a:t>Thus many interpreters have considered that Hume must, in the end, be a “representative realist”, adopting the “double existence” or “philosophical” view (which, despite his harsh words, at least has the merit of </a:t>
            </a:r>
            <a:r>
              <a:rPr lang="en-GB" sz="2300" i="1">
                <a:solidFill>
                  <a:srgbClr val="FF9999"/>
                </a:solidFill>
                <a:effectLst/>
                <a:ea typeface="Calibri" panose="020F0502020204030204" pitchFamily="34" charset="0"/>
                <a:cs typeface="Times New Roman" panose="02020603050405020304" pitchFamily="18" charset="0"/>
              </a:rPr>
              <a:t>not being so obviously false</a:t>
            </a:r>
            <a:r>
              <a:rPr lang="en-GB" sz="2300" i="1">
                <a:effectLst/>
                <a:ea typeface="Calibri" panose="020F0502020204030204" pitchFamily="34" charset="0"/>
                <a:cs typeface="Times New Roman" panose="02020603050405020304" pitchFamily="18" charset="0"/>
              </a:rPr>
              <a:t>!</a:t>
            </a:r>
            <a:r>
              <a:rPr lang="en-GB" sz="2300">
                <a:effectLst/>
                <a:ea typeface="Calibri" panose="020F0502020204030204" pitchFamily="34" charset="0"/>
                <a:cs typeface="Times New Roman" panose="02020603050405020304" pitchFamily="18" charset="0"/>
              </a:rPr>
              <a:t>).</a:t>
            </a:r>
          </a:p>
          <a:p>
            <a:pPr>
              <a:lnSpc>
                <a:spcPct val="115000"/>
              </a:lnSpc>
              <a:spcBef>
                <a:spcPts val="1200"/>
              </a:spcBef>
            </a:pPr>
            <a:endParaRPr lang="en-GB" sz="2300">
              <a:effectLst/>
              <a:ea typeface="Calibri" panose="020F0502020204030204" pitchFamily="34" charset="0"/>
              <a:cs typeface="Times New Roman" panose="02020603050405020304" pitchFamily="18" charset="0"/>
            </a:endParaRP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33271907"/>
      </p:ext>
    </p:extLst>
  </p:cSld>
  <p:clrMapOvr>
    <a:masterClrMapping/>
  </p:clrMapOvr>
  <p:transition spd="med">
    <p:cover/>
  </p:transition>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287</a:t>
            </a:fld>
            <a:endParaRPr lang="en-US"/>
          </a:p>
        </p:txBody>
      </p:sp>
      <p:sp>
        <p:nvSpPr>
          <p:cNvPr id="2" name="Title 1"/>
          <p:cNvSpPr>
            <a:spLocks noGrp="1"/>
          </p:cNvSpPr>
          <p:nvPr>
            <p:ph type="title" idx="4294967295"/>
          </p:nvPr>
        </p:nvSpPr>
        <p:spPr>
          <a:xfrm>
            <a:off x="168275" y="152636"/>
            <a:ext cx="8772525" cy="720080"/>
          </a:xfrm>
        </p:spPr>
        <p:txBody>
          <a:bodyPr/>
          <a:lstStyle/>
          <a:p>
            <a:r>
              <a:rPr lang="en-US" sz="4000"/>
              <a:t>The Discussion in the </a:t>
            </a:r>
            <a:r>
              <a:rPr lang="en-US" sz="4000" i="1"/>
              <a:t>Enquiry</a:t>
            </a:r>
            <a:endParaRPr lang="en-US" sz="4000" dirty="0"/>
          </a:p>
        </p:txBody>
      </p:sp>
      <p:sp>
        <p:nvSpPr>
          <p:cNvPr id="3" name="Content Placeholder 2"/>
          <p:cNvSpPr>
            <a:spLocks noGrp="1"/>
          </p:cNvSpPr>
          <p:nvPr>
            <p:ph idx="4294967295"/>
          </p:nvPr>
        </p:nvSpPr>
        <p:spPr>
          <a:xfrm>
            <a:off x="215516" y="1088740"/>
            <a:ext cx="8676964" cy="5580620"/>
          </a:xfrm>
        </p:spPr>
        <p:txBody>
          <a:bodyPr/>
          <a:lstStyle/>
          <a:p>
            <a:pPr>
              <a:lnSpc>
                <a:spcPct val="115000"/>
              </a:lnSpc>
              <a:spcBef>
                <a:spcPts val="1200"/>
              </a:spcBef>
            </a:pPr>
            <a:r>
              <a:rPr lang="en-GB" sz="2700">
                <a:effectLst/>
                <a:ea typeface="Calibri" panose="020F0502020204030204" pitchFamily="34" charset="0"/>
                <a:cs typeface="Times New Roman" panose="02020603050405020304" pitchFamily="18" charset="0"/>
              </a:rPr>
              <a:t>Again the vulgar belief is natural and universal:</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“It seems evident, that men are carried, by a natural instinct …, to repose faith in their senses; and that, without any reasoning, or even almost before the use of reason, we always suppose an external universe, which depends not on our perception, … Even the animal creation are governed by a like opinion, …”  (</a:t>
            </a:r>
            <a:r>
              <a:rPr lang="en-GB" sz="2100" i="1">
                <a:effectLst/>
                <a:ea typeface="Calibri" panose="020F0502020204030204" pitchFamily="34" charset="0"/>
                <a:cs typeface="Times New Roman" panose="02020603050405020304" pitchFamily="18" charset="0"/>
              </a:rPr>
              <a:t>E</a:t>
            </a:r>
            <a:r>
              <a:rPr lang="en-GB" sz="2100">
                <a:effectLst/>
                <a:ea typeface="Calibri" panose="020F0502020204030204" pitchFamily="34" charset="0"/>
                <a:cs typeface="Times New Roman" panose="02020603050405020304" pitchFamily="18" charset="0"/>
              </a:rPr>
              <a:t> 12.7)</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It seems also evident, that, </a:t>
            </a:r>
            <a:r>
              <a:rPr lang="en-GB" sz="2100">
                <a:solidFill>
                  <a:srgbClr val="FF9999"/>
                </a:solidFill>
                <a:effectLst/>
                <a:ea typeface="Calibri" panose="020F0502020204030204" pitchFamily="34" charset="0"/>
                <a:cs typeface="Times New Roman" panose="02020603050405020304" pitchFamily="18" charset="0"/>
              </a:rPr>
              <a:t>when men follow this blind and powerful instinct of nature, they always suppose the very images, presented by the senses, to be the external objects</a:t>
            </a:r>
            <a:r>
              <a:rPr lang="en-GB" sz="2100">
                <a:effectLst/>
                <a:ea typeface="Calibri" panose="020F0502020204030204" pitchFamily="34" charset="0"/>
                <a:cs typeface="Times New Roman" panose="02020603050405020304" pitchFamily="18" charset="0"/>
              </a:rPr>
              <a:t>, and never entertain any suspicion, that the one are nothing but representations of the other.  This very table, which we see white, and which we feel hard, is believed to exist, independent of our perception, and to be something external to our mind”  (</a:t>
            </a:r>
            <a:r>
              <a:rPr lang="en-GB" sz="2100" i="1">
                <a:effectLst/>
                <a:ea typeface="Calibri" panose="020F0502020204030204" pitchFamily="34" charset="0"/>
                <a:cs typeface="Times New Roman" panose="02020603050405020304" pitchFamily="18" charset="0"/>
              </a:rPr>
              <a:t>E</a:t>
            </a:r>
            <a:r>
              <a:rPr lang="en-GB" sz="2100">
                <a:effectLst/>
                <a:ea typeface="Calibri" panose="020F0502020204030204" pitchFamily="34" charset="0"/>
                <a:cs typeface="Times New Roman" panose="02020603050405020304" pitchFamily="18" charset="0"/>
              </a:rPr>
              <a:t> 12.8)</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66550267"/>
      </p:ext>
    </p:extLst>
  </p:cSld>
  <p:clrMapOvr>
    <a:masterClrMapping/>
  </p:clrMapOvr>
  <p:transition spd="med">
    <p:cover/>
  </p:transition>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288</a:t>
            </a:fld>
            <a:endParaRPr lang="en-US"/>
          </a:p>
        </p:txBody>
      </p:sp>
      <p:sp>
        <p:nvSpPr>
          <p:cNvPr id="3" name="Content Placeholder 2"/>
          <p:cNvSpPr>
            <a:spLocks noGrp="1"/>
          </p:cNvSpPr>
          <p:nvPr>
            <p:ph idx="4294967295"/>
          </p:nvPr>
        </p:nvSpPr>
        <p:spPr>
          <a:xfrm>
            <a:off x="215516" y="224644"/>
            <a:ext cx="8676964" cy="6444716"/>
          </a:xfrm>
        </p:spPr>
        <p:txBody>
          <a:bodyPr/>
          <a:lstStyle/>
          <a:p>
            <a:pPr>
              <a:lnSpc>
                <a:spcPct val="115000"/>
              </a:lnSpc>
              <a:spcBef>
                <a:spcPts val="1200"/>
              </a:spcBef>
            </a:pPr>
            <a:r>
              <a:rPr lang="en-GB" sz="2700">
                <a:effectLst/>
                <a:ea typeface="Calibri" panose="020F0502020204030204" pitchFamily="34" charset="0"/>
                <a:cs typeface="Times New Roman" panose="02020603050405020304" pitchFamily="18" charset="0"/>
              </a:rPr>
              <a:t>And again the vulgar belief is easily seen to be false:</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“But this universal and primary opinion of all men is soon destroyed by the slightest philosophy, which teaches us, that nothing can ever be present to the mind but an image or perception, and that the senses are only the inlets, through which these images are conveyed …  The table, which we see, seems to diminish, as we remove farther from it: But the real table, which exists independent of us, suffers no alteration: It was, therefore, nothing but its image, which was present to the mind.  </a:t>
            </a:r>
            <a:r>
              <a:rPr lang="en-GB" sz="2100" u="sng">
                <a:solidFill>
                  <a:srgbClr val="FF9999"/>
                </a:solidFill>
                <a:effectLst/>
                <a:ea typeface="Calibri" panose="020F0502020204030204" pitchFamily="34" charset="0"/>
                <a:cs typeface="Times New Roman" panose="02020603050405020304" pitchFamily="18" charset="0"/>
              </a:rPr>
              <a:t>These are the obvious dictates of reason; and no man, who reflects, ever doubted, that the existences, which we consider, when we say, </a:t>
            </a:r>
            <a:r>
              <a:rPr lang="en-GB" sz="2100" i="1" u="sng">
                <a:solidFill>
                  <a:srgbClr val="FF9999"/>
                </a:solidFill>
                <a:effectLst/>
                <a:ea typeface="Calibri" panose="020F0502020204030204" pitchFamily="34" charset="0"/>
                <a:cs typeface="Times New Roman" panose="02020603050405020304" pitchFamily="18" charset="0"/>
              </a:rPr>
              <a:t>this house</a:t>
            </a:r>
            <a:r>
              <a:rPr lang="en-GB" sz="2100" u="sng">
                <a:solidFill>
                  <a:srgbClr val="FF9999"/>
                </a:solidFill>
                <a:effectLst/>
                <a:ea typeface="Calibri" panose="020F0502020204030204" pitchFamily="34" charset="0"/>
                <a:cs typeface="Times New Roman" panose="02020603050405020304" pitchFamily="18" charset="0"/>
              </a:rPr>
              <a:t> and </a:t>
            </a:r>
            <a:r>
              <a:rPr lang="en-GB" sz="2100" i="1" u="sng">
                <a:solidFill>
                  <a:srgbClr val="FF9999"/>
                </a:solidFill>
                <a:effectLst/>
                <a:ea typeface="Calibri" panose="020F0502020204030204" pitchFamily="34" charset="0"/>
                <a:cs typeface="Times New Roman" panose="02020603050405020304" pitchFamily="18" charset="0"/>
              </a:rPr>
              <a:t>that tree</a:t>
            </a:r>
            <a:r>
              <a:rPr lang="en-GB" sz="2100" u="sng">
                <a:solidFill>
                  <a:srgbClr val="FF9999"/>
                </a:solidFill>
                <a:effectLst/>
                <a:ea typeface="Calibri" panose="020F0502020204030204" pitchFamily="34" charset="0"/>
                <a:cs typeface="Times New Roman" panose="02020603050405020304" pitchFamily="18" charset="0"/>
              </a:rPr>
              <a:t>, are nothing but perceptions in the mind, and fleeting copies or representations of other existences, which remain uniform and independent.</a:t>
            </a:r>
            <a:r>
              <a:rPr lang="en-GB" sz="2100">
                <a:effectLst/>
                <a:ea typeface="Calibri" panose="020F0502020204030204" pitchFamily="34" charset="0"/>
                <a:cs typeface="Times New Roman" panose="02020603050405020304" pitchFamily="18" charset="0"/>
              </a:rPr>
              <a:t>”  (</a:t>
            </a:r>
            <a:r>
              <a:rPr lang="en-GB" sz="2100" i="1">
                <a:effectLst/>
                <a:ea typeface="Calibri" panose="020F0502020204030204" pitchFamily="34" charset="0"/>
                <a:cs typeface="Times New Roman" panose="02020603050405020304" pitchFamily="18" charset="0"/>
              </a:rPr>
              <a:t>E</a:t>
            </a:r>
            <a:r>
              <a:rPr lang="en-GB" sz="2100">
                <a:effectLst/>
                <a:ea typeface="Calibri" panose="020F0502020204030204" pitchFamily="34" charset="0"/>
                <a:cs typeface="Times New Roman" panose="02020603050405020304" pitchFamily="18" charset="0"/>
              </a:rPr>
              <a:t> 12.9)</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This last sentence, however, </a:t>
            </a:r>
            <a:r>
              <a:rPr lang="en-GB" sz="2100" i="1">
                <a:effectLst/>
                <a:ea typeface="Calibri" panose="020F0502020204030204" pitchFamily="34" charset="0"/>
                <a:cs typeface="Times New Roman" panose="02020603050405020304" pitchFamily="18" charset="0"/>
              </a:rPr>
              <a:t>appears</a:t>
            </a:r>
            <a:r>
              <a:rPr lang="en-GB" sz="2100">
                <a:effectLst/>
                <a:ea typeface="Calibri" panose="020F0502020204030204" pitchFamily="34" charset="0"/>
                <a:cs typeface="Times New Roman" panose="02020603050405020304" pitchFamily="18" charset="0"/>
              </a:rPr>
              <a:t> to commit Hume to some form of representative realism after all!</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163171833"/>
      </p:ext>
    </p:extLst>
  </p:cSld>
  <p:clrMapOvr>
    <a:masterClrMapping/>
  </p:clrMapOvr>
  <p:transition spd="med">
    <p:cover/>
  </p:transition>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289</a:t>
            </a:fld>
            <a:endParaRPr lang="en-US"/>
          </a:p>
        </p:txBody>
      </p:sp>
      <p:sp>
        <p:nvSpPr>
          <p:cNvPr id="3" name="Content Placeholder 2"/>
          <p:cNvSpPr>
            <a:spLocks noGrp="1"/>
          </p:cNvSpPr>
          <p:nvPr>
            <p:ph idx="4294967295"/>
          </p:nvPr>
        </p:nvSpPr>
        <p:spPr>
          <a:xfrm>
            <a:off x="215516" y="92075"/>
            <a:ext cx="8676964" cy="6577285"/>
          </a:xfrm>
        </p:spPr>
        <p:txBody>
          <a:bodyPr/>
          <a:lstStyle/>
          <a:p>
            <a:pPr>
              <a:lnSpc>
                <a:spcPct val="115000"/>
              </a:lnSpc>
              <a:spcBef>
                <a:spcPts val="1200"/>
              </a:spcBef>
            </a:pPr>
            <a:r>
              <a:rPr lang="en-GB" sz="2700">
                <a:effectLst/>
                <a:ea typeface="Calibri" panose="020F0502020204030204" pitchFamily="34" charset="0"/>
                <a:cs typeface="Times New Roman" panose="02020603050405020304" pitchFamily="18" charset="0"/>
              </a:rPr>
              <a:t>But then Hume goes on to say that the representative realist view cannot be justified either, with an elegant summary of the argument from </a:t>
            </a:r>
            <a:r>
              <a:rPr lang="en-GB" sz="2700" i="1">
                <a:effectLst/>
                <a:ea typeface="Calibri" panose="020F0502020204030204" pitchFamily="34" charset="0"/>
                <a:cs typeface="Times New Roman" panose="02020603050405020304" pitchFamily="18" charset="0"/>
              </a:rPr>
              <a:t>T</a:t>
            </a:r>
            <a:r>
              <a:rPr lang="en-GB" sz="2700">
                <a:effectLst/>
                <a:ea typeface="Calibri" panose="020F0502020204030204" pitchFamily="34" charset="0"/>
                <a:cs typeface="Times New Roman" panose="02020603050405020304" pitchFamily="18" charset="0"/>
              </a:rPr>
              <a:t> 1.4.2.47:</a:t>
            </a:r>
          </a:p>
          <a:p>
            <a:pPr lvl="1" algn="just">
              <a:lnSpc>
                <a:spcPct val="115000"/>
              </a:lnSpc>
              <a:spcBef>
                <a:spcPts val="1200"/>
              </a:spcBef>
            </a:pPr>
            <a:r>
              <a:rPr lang="en-GB" sz="2100">
                <a:effectLst/>
                <a:ea typeface="Calibri" panose="020F0502020204030204" pitchFamily="34" charset="0"/>
                <a:cs typeface="Times New Roman" panose="02020603050405020304" pitchFamily="18" charset="0"/>
              </a:rPr>
              <a:t>“</a:t>
            </a:r>
            <a:r>
              <a:rPr lang="en-US" sz="2100">
                <a:effectLst/>
                <a:ea typeface="Calibri" panose="020F0502020204030204" pitchFamily="34" charset="0"/>
                <a:cs typeface="Times New Roman" panose="02020603050405020304" pitchFamily="18" charset="0"/>
              </a:rPr>
              <a:t>By what argument can it be proved, that the perceptions of the mind must be caused by external objects, entirely different from them, though resembling them (if that be possible) [rather than] from the energy of the mind itself, or … some invisible … spirit, or … some other cause still more unknown to us?”  (</a:t>
            </a:r>
            <a:r>
              <a:rPr lang="en-US" sz="2100" i="1">
                <a:effectLst/>
                <a:ea typeface="Calibri" panose="020F0502020204030204" pitchFamily="34" charset="0"/>
                <a:cs typeface="Times New Roman" panose="02020603050405020304" pitchFamily="18" charset="0"/>
              </a:rPr>
              <a:t>E</a:t>
            </a:r>
            <a:r>
              <a:rPr lang="en-US" sz="2100">
                <a:effectLst/>
                <a:ea typeface="Calibri" panose="020F0502020204030204" pitchFamily="34" charset="0"/>
                <a:cs typeface="Times New Roman" panose="02020603050405020304" pitchFamily="18" charset="0"/>
              </a:rPr>
              <a:t> 12.11)</a:t>
            </a:r>
            <a:endParaRPr lang="en-GB" sz="2100">
              <a:effectLst/>
              <a:ea typeface="Calibri" panose="020F0502020204030204" pitchFamily="34" charset="0"/>
              <a:cs typeface="Times New Roman" panose="02020603050405020304" pitchFamily="18" charset="0"/>
            </a:endParaRPr>
          </a:p>
          <a:p>
            <a:pPr lvl="1" algn="just">
              <a:lnSpc>
                <a:spcPct val="115000"/>
              </a:lnSpc>
              <a:spcBef>
                <a:spcPts val="1200"/>
              </a:spcBef>
            </a:pPr>
            <a:r>
              <a:rPr lang="en-GB" sz="2100">
                <a:effectLst/>
                <a:ea typeface="Calibri" panose="020F0502020204030204" pitchFamily="34" charset="0"/>
                <a:cs typeface="Times New Roman" panose="02020603050405020304" pitchFamily="18" charset="0"/>
              </a:rPr>
              <a:t>“</a:t>
            </a:r>
            <a:r>
              <a:rPr lang="en-GB" sz="2100" u="sng">
                <a:solidFill>
                  <a:srgbClr val="FF9999"/>
                </a:solidFill>
                <a:effectLst/>
                <a:ea typeface="Calibri" panose="020F0502020204030204" pitchFamily="34" charset="0"/>
                <a:cs typeface="Times New Roman" panose="02020603050405020304" pitchFamily="18" charset="0"/>
              </a:rPr>
              <a:t>It is a question of fact</a:t>
            </a:r>
            <a:r>
              <a:rPr lang="en-GB" sz="2100">
                <a:effectLst/>
                <a:ea typeface="Calibri" panose="020F0502020204030204" pitchFamily="34" charset="0"/>
                <a:cs typeface="Times New Roman" panose="02020603050405020304" pitchFamily="18" charset="0"/>
              </a:rPr>
              <a:t>, whether the perceptions of the senses be produced by external objects, resembling them: How shall this question be determined?  By experience surely; as all other questions of a like nature.  But here experience is, and must be entirely silent.  </a:t>
            </a:r>
            <a:r>
              <a:rPr lang="en-GB" sz="2100">
                <a:solidFill>
                  <a:srgbClr val="FF9999"/>
                </a:solidFill>
                <a:effectLst/>
                <a:ea typeface="Calibri" panose="020F0502020204030204" pitchFamily="34" charset="0"/>
                <a:cs typeface="Times New Roman" panose="02020603050405020304" pitchFamily="18" charset="0"/>
              </a:rPr>
              <a:t>The mind has never any thing present to it but the perceptions, and cannot possibly reach any experience of their connexion with objects</a:t>
            </a:r>
            <a:r>
              <a:rPr lang="en-GB" sz="2100">
                <a:effectLst/>
                <a:ea typeface="Calibri" panose="020F0502020204030204" pitchFamily="34" charset="0"/>
                <a:cs typeface="Times New Roman" panose="02020603050405020304" pitchFamily="18" charset="0"/>
              </a:rPr>
              <a:t>.  The supposition of such a connexion is, therefore, without any foundation in reasoning.”  (</a:t>
            </a:r>
            <a:r>
              <a:rPr lang="en-GB" sz="2100" i="1">
                <a:effectLst/>
                <a:ea typeface="Calibri" panose="020F0502020204030204" pitchFamily="34" charset="0"/>
                <a:cs typeface="Times New Roman" panose="02020603050405020304" pitchFamily="18" charset="0"/>
              </a:rPr>
              <a:t>E</a:t>
            </a:r>
            <a:r>
              <a:rPr lang="en-GB" sz="2100">
                <a:effectLst/>
                <a:ea typeface="Calibri" panose="020F0502020204030204" pitchFamily="34" charset="0"/>
                <a:cs typeface="Times New Roman" panose="02020603050405020304" pitchFamily="18" charset="0"/>
              </a:rPr>
              <a:t> 12.12)</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289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874173472"/>
      </p:ext>
    </p:extLst>
  </p:cSld>
  <p:clrMapOvr>
    <a:masterClrMapping/>
  </p:clrMapOvr>
  <p:transition spd="med">
    <p:cover/>
  </p:transition>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290</a:t>
            </a:fld>
            <a:endParaRPr lang="en-US"/>
          </a:p>
        </p:txBody>
      </p:sp>
      <p:sp>
        <p:nvSpPr>
          <p:cNvPr id="3" name="Content Placeholder 2"/>
          <p:cNvSpPr>
            <a:spLocks noGrp="1"/>
          </p:cNvSpPr>
          <p:nvPr>
            <p:ph idx="4294967295"/>
          </p:nvPr>
        </p:nvSpPr>
        <p:spPr>
          <a:xfrm>
            <a:off x="251520" y="92075"/>
            <a:ext cx="8712968" cy="6577285"/>
          </a:xfrm>
        </p:spPr>
        <p:txBody>
          <a:bodyPr/>
          <a:lstStyle/>
          <a:p>
            <a:pPr>
              <a:lnSpc>
                <a:spcPct val="115000"/>
              </a:lnSpc>
              <a:spcBef>
                <a:spcPts val="1200"/>
              </a:spcBef>
            </a:pPr>
            <a:r>
              <a:rPr lang="en-GB" sz="2700">
                <a:effectLst/>
                <a:ea typeface="Calibri" panose="020F0502020204030204" pitchFamily="34" charset="0"/>
                <a:cs typeface="Times New Roman" panose="02020603050405020304" pitchFamily="18" charset="0"/>
              </a:rPr>
              <a:t>If the truth of the philosophical view “is a question of fact”, then that view must at least be </a:t>
            </a:r>
            <a:r>
              <a:rPr lang="en-GB" sz="2700" i="1">
                <a:effectLst/>
                <a:ea typeface="Calibri" panose="020F0502020204030204" pitchFamily="34" charset="0"/>
                <a:cs typeface="Times New Roman" panose="02020603050405020304" pitchFamily="18" charset="0"/>
              </a:rPr>
              <a:t>coherent</a:t>
            </a:r>
            <a:r>
              <a:rPr lang="en-GB" sz="2700">
                <a:effectLst/>
                <a:ea typeface="Calibri" panose="020F0502020204030204" pitchFamily="34" charset="0"/>
                <a:cs typeface="Times New Roman" panose="02020603050405020304" pitchFamily="18" charset="0"/>
              </a:rPr>
              <a:t>, which did not seem to be the view of the </a:t>
            </a:r>
            <a:r>
              <a:rPr lang="en-GB" sz="2700" i="1">
                <a:effectLst/>
                <a:ea typeface="Calibri" panose="020F0502020204030204" pitchFamily="34" charset="0"/>
                <a:cs typeface="Times New Roman" panose="02020603050405020304" pitchFamily="18" charset="0"/>
              </a:rPr>
              <a:t>Treatise</a:t>
            </a:r>
            <a:r>
              <a:rPr lang="en-GB" sz="2700">
                <a:effectLst/>
                <a:ea typeface="Calibri" panose="020F0502020204030204" pitchFamily="34" charset="0"/>
                <a:cs typeface="Times New Roman" panose="02020603050405020304" pitchFamily="18" charset="0"/>
              </a:rPr>
              <a:t>.</a:t>
            </a:r>
          </a:p>
          <a:p>
            <a:pPr lvl="1">
              <a:lnSpc>
                <a:spcPct val="115000"/>
              </a:lnSpc>
              <a:spcBef>
                <a:spcPts val="1200"/>
              </a:spcBef>
            </a:pPr>
            <a:r>
              <a:rPr lang="en-GB" sz="2400">
                <a:effectLst/>
                <a:ea typeface="Calibri" panose="020F0502020204030204" pitchFamily="34" charset="0"/>
                <a:cs typeface="Times New Roman" panose="02020603050405020304" pitchFamily="18" charset="0"/>
              </a:rPr>
              <a:t>Perhaps Hume has given up the view that identity of an object over time requires </a:t>
            </a:r>
            <a:r>
              <a:rPr lang="en-GB" sz="2400" i="1">
                <a:effectLst/>
                <a:ea typeface="Calibri" panose="020F0502020204030204" pitchFamily="34" charset="0"/>
                <a:cs typeface="Times New Roman" panose="02020603050405020304" pitchFamily="18" charset="0"/>
              </a:rPr>
              <a:t>invariableness</a:t>
            </a:r>
            <a:r>
              <a:rPr lang="en-GB" sz="2400">
                <a:effectLst/>
                <a:ea typeface="Calibri" panose="020F0502020204030204" pitchFamily="34" charset="0"/>
                <a:cs typeface="Times New Roman" panose="02020603050405020304" pitchFamily="18" charset="0"/>
              </a:rPr>
              <a:t> (cf. </a:t>
            </a:r>
            <a:r>
              <a:rPr lang="en-GB" sz="2400" i="1">
                <a:effectLst/>
                <a:ea typeface="Calibri" panose="020F0502020204030204" pitchFamily="34" charset="0"/>
                <a:cs typeface="Times New Roman" panose="02020603050405020304" pitchFamily="18" charset="0"/>
              </a:rPr>
              <a:t>T</a:t>
            </a:r>
            <a:r>
              <a:rPr lang="en-GB" sz="2400">
                <a:effectLst/>
                <a:ea typeface="Calibri" panose="020F0502020204030204" pitchFamily="34" charset="0"/>
                <a:cs typeface="Times New Roman" panose="02020603050405020304" pitchFamily="18" charset="0"/>
              </a:rPr>
              <a:t> 1.4.2.31, 1.4.3.2, 1.4.6.6)?  The </a:t>
            </a:r>
            <a:r>
              <a:rPr lang="en-GB" sz="2400" i="1">
                <a:effectLst/>
                <a:ea typeface="Calibri" panose="020F0502020204030204" pitchFamily="34" charset="0"/>
                <a:cs typeface="Times New Roman" panose="02020603050405020304" pitchFamily="18" charset="0"/>
              </a:rPr>
              <a:t>Enquiry</a:t>
            </a:r>
            <a:r>
              <a:rPr lang="en-GB" sz="2400">
                <a:effectLst/>
                <a:ea typeface="Calibri" panose="020F0502020204030204" pitchFamily="34" charset="0"/>
                <a:cs typeface="Times New Roman" panose="02020603050405020304" pitchFamily="18" charset="0"/>
              </a:rPr>
              <a:t> does not discuss identity.</a:t>
            </a:r>
          </a:p>
          <a:p>
            <a:pPr lvl="1">
              <a:lnSpc>
                <a:spcPct val="115000"/>
              </a:lnSpc>
              <a:spcBef>
                <a:spcPts val="1200"/>
              </a:spcBef>
            </a:pPr>
            <a:r>
              <a:rPr lang="en-GB" sz="2400" i="1">
                <a:effectLst/>
                <a:ea typeface="Calibri" panose="020F0502020204030204" pitchFamily="34" charset="0"/>
                <a:cs typeface="Times New Roman" panose="02020603050405020304" pitchFamily="18" charset="0"/>
              </a:rPr>
              <a:t>E</a:t>
            </a:r>
            <a:r>
              <a:rPr lang="en-GB" sz="2400">
                <a:effectLst/>
                <a:ea typeface="Calibri" panose="020F0502020204030204" pitchFamily="34" charset="0"/>
                <a:cs typeface="Times New Roman" panose="02020603050405020304" pitchFamily="18" charset="0"/>
              </a:rPr>
              <a:t> 12.16 also seems to imply that the philosophical view of </a:t>
            </a:r>
            <a:r>
              <a:rPr lang="en-GB" sz="2400" i="1">
                <a:effectLst/>
                <a:ea typeface="Calibri" panose="020F0502020204030204" pitchFamily="34" charset="0"/>
                <a:cs typeface="Times New Roman" panose="02020603050405020304" pitchFamily="18" charset="0"/>
              </a:rPr>
              <a:t>T</a:t>
            </a:r>
            <a:r>
              <a:rPr lang="en-GB" sz="2400">
                <a:effectLst/>
                <a:ea typeface="Calibri" panose="020F0502020204030204" pitchFamily="34" charset="0"/>
                <a:cs typeface="Times New Roman" panose="02020603050405020304" pitchFamily="18" charset="0"/>
              </a:rPr>
              <a:t> 1.4.2 is at least coherent, since (unlike the instinctive vulgar view) it is not said to be “contrary to reason”, but only “contrary to natural instinct” and without “rational evidence … to convince an impartial enquirer”.</a:t>
            </a:r>
          </a:p>
          <a:p>
            <a:pPr lvl="1">
              <a:lnSpc>
                <a:spcPct val="115000"/>
              </a:lnSpc>
              <a:spcBef>
                <a:spcPts val="1200"/>
              </a:spcBef>
            </a:pPr>
            <a:r>
              <a:rPr lang="en-GB" sz="2400">
                <a:effectLst/>
                <a:ea typeface="Calibri" panose="020F0502020204030204" pitchFamily="34" charset="0"/>
                <a:cs typeface="Times New Roman" panose="02020603050405020304" pitchFamily="18" charset="0"/>
              </a:rPr>
              <a:t>But apparently the “second objection” (descended from the discussion of </a:t>
            </a:r>
            <a:r>
              <a:rPr lang="en-GB" sz="2400" i="1">
                <a:effectLst/>
                <a:ea typeface="Calibri" panose="020F0502020204030204" pitchFamily="34" charset="0"/>
                <a:cs typeface="Times New Roman" panose="02020603050405020304" pitchFamily="18" charset="0"/>
              </a:rPr>
              <a:t>T</a:t>
            </a:r>
            <a:r>
              <a:rPr lang="en-GB" sz="2400">
                <a:effectLst/>
                <a:ea typeface="Calibri" panose="020F0502020204030204" pitchFamily="34" charset="0"/>
                <a:cs typeface="Times New Roman" panose="02020603050405020304" pitchFamily="18" charset="0"/>
              </a:rPr>
              <a:t> 1.4.4) “goes farther”, representing the belief in body as “contrary to reason” (</a:t>
            </a:r>
            <a:r>
              <a:rPr lang="en-GB" sz="2400" i="1">
                <a:effectLst/>
                <a:ea typeface="Calibri" panose="020F0502020204030204" pitchFamily="34" charset="0"/>
                <a:cs typeface="Times New Roman" panose="02020603050405020304" pitchFamily="18" charset="0"/>
              </a:rPr>
              <a:t>E</a:t>
            </a:r>
            <a:r>
              <a:rPr lang="en-GB" sz="2400">
                <a:effectLst/>
                <a:ea typeface="Calibri" panose="020F0502020204030204" pitchFamily="34" charset="0"/>
                <a:cs typeface="Times New Roman" panose="02020603050405020304" pitchFamily="18" charset="0"/>
              </a:rPr>
              <a:t> 12.16).</a:t>
            </a:r>
          </a:p>
          <a:p>
            <a:pPr lvl="1">
              <a:lnSpc>
                <a:spcPct val="115000"/>
              </a:lnSpc>
              <a:spcBef>
                <a:spcPts val="1200"/>
              </a:spcBef>
            </a:pPr>
            <a:endParaRPr lang="en-GB" sz="2400">
              <a:effectLst/>
              <a:ea typeface="Calibri" panose="020F0502020204030204" pitchFamily="34" charset="0"/>
              <a:cs typeface="Times New Roman" panose="02020603050405020304" pitchFamily="18" charset="0"/>
            </a:endParaRPr>
          </a:p>
          <a:p>
            <a:pPr lvl="1">
              <a:lnSpc>
                <a:spcPct val="115000"/>
              </a:lnSpc>
              <a:spcBef>
                <a:spcPts val="1200"/>
              </a:spcBef>
            </a:pPr>
            <a:endParaRPr lang="en-GB" sz="2400">
              <a:effectLst/>
              <a:ea typeface="Calibri" panose="020F0502020204030204" pitchFamily="34" charset="0"/>
              <a:cs typeface="Times New Roman" panose="02020603050405020304" pitchFamily="18" charset="0"/>
            </a:endParaRPr>
          </a:p>
          <a:p>
            <a:pPr lvl="1">
              <a:lnSpc>
                <a:spcPct val="115000"/>
              </a:lnSpc>
              <a:spcBef>
                <a:spcPts val="1200"/>
              </a:spcBef>
            </a:pPr>
            <a:endParaRPr lang="en-GB" sz="2400">
              <a:effectLst/>
              <a:ea typeface="Calibri" panose="020F0502020204030204" pitchFamily="34" charset="0"/>
              <a:cs typeface="Times New Roman" panose="02020603050405020304" pitchFamily="18" charset="0"/>
            </a:endParaRP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290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821509813"/>
      </p:ext>
    </p:extLst>
  </p:cSld>
  <p:clrMapOvr>
    <a:masterClrMapping/>
  </p:clrMapOvr>
  <p:transition spd="med">
    <p:cover/>
  </p:transition>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291</a:t>
            </a:fld>
            <a:endParaRPr lang="en-US"/>
          </a:p>
        </p:txBody>
      </p:sp>
      <p:sp>
        <p:nvSpPr>
          <p:cNvPr id="3" name="Content Placeholder 2"/>
          <p:cNvSpPr>
            <a:spLocks noGrp="1"/>
          </p:cNvSpPr>
          <p:nvPr>
            <p:ph idx="4294967295"/>
          </p:nvPr>
        </p:nvSpPr>
        <p:spPr>
          <a:xfrm>
            <a:off x="360301" y="92075"/>
            <a:ext cx="8496175" cy="6577285"/>
          </a:xfrm>
        </p:spPr>
        <p:txBody>
          <a:bodyPr/>
          <a:lstStyle/>
          <a:p>
            <a:pPr>
              <a:lnSpc>
                <a:spcPct val="115000"/>
              </a:lnSpc>
              <a:spcBef>
                <a:spcPts val="1200"/>
              </a:spcBef>
            </a:pPr>
            <a:r>
              <a:rPr lang="en-GB" sz="2400">
                <a:effectLst/>
                <a:ea typeface="Calibri" panose="020F0502020204030204" pitchFamily="34" charset="0"/>
                <a:cs typeface="Times New Roman" panose="02020603050405020304" pitchFamily="18" charset="0"/>
              </a:rPr>
              <a:t>This “second objection”, spelled out in </a:t>
            </a:r>
            <a:r>
              <a:rPr lang="en-GB" sz="2400" i="1">
                <a:effectLst/>
                <a:ea typeface="Calibri" panose="020F0502020204030204" pitchFamily="34" charset="0"/>
                <a:cs typeface="Times New Roman" panose="02020603050405020304" pitchFamily="18" charset="0"/>
              </a:rPr>
              <a:t>E</a:t>
            </a:r>
            <a:r>
              <a:rPr lang="en-GB" sz="2400">
                <a:effectLst/>
                <a:ea typeface="Calibri" panose="020F0502020204030204" pitchFamily="34" charset="0"/>
                <a:cs typeface="Times New Roman" panose="02020603050405020304" pitchFamily="18" charset="0"/>
              </a:rPr>
              <a:t> 12.15, focuses on the alleged impossibility of forming an idea of primary qualities – like extension – as </a:t>
            </a:r>
            <a:r>
              <a:rPr lang="en-GB" sz="2400">
                <a:solidFill>
                  <a:srgbClr val="FF9999"/>
                </a:solidFill>
                <a:effectLst/>
                <a:ea typeface="Calibri" panose="020F0502020204030204" pitchFamily="34" charset="0"/>
                <a:cs typeface="Times New Roman" panose="02020603050405020304" pitchFamily="18" charset="0"/>
              </a:rPr>
              <a:t>mind-independent</a:t>
            </a:r>
            <a:r>
              <a:rPr lang="en-GB" sz="2400">
                <a:effectLst/>
                <a:ea typeface="Calibri" panose="020F0502020204030204" pitchFamily="34" charset="0"/>
                <a:cs typeface="Times New Roman" panose="02020603050405020304" pitchFamily="18" charset="0"/>
              </a:rPr>
              <a:t>, given that </a:t>
            </a:r>
            <a:r>
              <a:rPr lang="en-GB" sz="2400">
                <a:solidFill>
                  <a:srgbClr val="FF9999"/>
                </a:solidFill>
                <a:effectLst/>
                <a:ea typeface="Calibri" panose="020F0502020204030204" pitchFamily="34" charset="0"/>
                <a:cs typeface="Times New Roman" panose="02020603050405020304" pitchFamily="18" charset="0"/>
              </a:rPr>
              <a:t>our visual idea of extension is inevitably </a:t>
            </a:r>
            <a:r>
              <a:rPr lang="en-GB" sz="2400" i="1">
                <a:solidFill>
                  <a:srgbClr val="FF9999"/>
                </a:solidFill>
                <a:effectLst/>
                <a:ea typeface="Calibri" panose="020F0502020204030204" pitchFamily="34" charset="0"/>
                <a:cs typeface="Times New Roman" panose="02020603050405020304" pitchFamily="18" charset="0"/>
              </a:rPr>
              <a:t>coloured</a:t>
            </a:r>
            <a:r>
              <a:rPr lang="en-GB" sz="2400">
                <a:effectLst/>
                <a:ea typeface="Calibri" panose="020F0502020204030204" pitchFamily="34" charset="0"/>
                <a:cs typeface="Times New Roman" panose="02020603050405020304" pitchFamily="18" charset="0"/>
              </a:rPr>
              <a:t>, </a:t>
            </a:r>
            <a:r>
              <a:rPr lang="en-GB" sz="2400">
                <a:solidFill>
                  <a:srgbClr val="FF9999"/>
                </a:solidFill>
                <a:effectLst/>
                <a:ea typeface="Calibri" panose="020F0502020204030204" pitchFamily="34" charset="0"/>
                <a:cs typeface="Times New Roman" panose="02020603050405020304" pitchFamily="18" charset="0"/>
              </a:rPr>
              <a:t>our tactile idea of extension is inevitably </a:t>
            </a:r>
            <a:r>
              <a:rPr lang="en-GB" sz="2400" i="1">
                <a:solidFill>
                  <a:srgbClr val="FF9999"/>
                </a:solidFill>
                <a:effectLst/>
                <a:ea typeface="Calibri" panose="020F0502020204030204" pitchFamily="34" charset="0"/>
                <a:cs typeface="Times New Roman" panose="02020603050405020304" pitchFamily="18" charset="0"/>
              </a:rPr>
              <a:t>felt</a:t>
            </a:r>
            <a:r>
              <a:rPr lang="en-GB" sz="2400">
                <a:effectLst/>
                <a:ea typeface="Calibri" panose="020F0502020204030204" pitchFamily="34" charset="0"/>
                <a:cs typeface="Times New Roman" panose="02020603050405020304" pitchFamily="18" charset="0"/>
              </a:rPr>
              <a:t>, while </a:t>
            </a:r>
            <a:r>
              <a:rPr lang="en-GB" sz="2400">
                <a:solidFill>
                  <a:srgbClr val="FF9999"/>
                </a:solidFill>
                <a:effectLst/>
                <a:ea typeface="Calibri" panose="020F0502020204030204" pitchFamily="34" charset="0"/>
                <a:cs typeface="Times New Roman" panose="02020603050405020304" pitchFamily="18" charset="0"/>
              </a:rPr>
              <a:t>both </a:t>
            </a:r>
            <a:r>
              <a:rPr lang="en-GB" sz="2400" i="1">
                <a:solidFill>
                  <a:srgbClr val="FF9999"/>
                </a:solidFill>
                <a:effectLst/>
                <a:ea typeface="Calibri" panose="020F0502020204030204" pitchFamily="34" charset="0"/>
                <a:cs typeface="Times New Roman" panose="02020603050405020304" pitchFamily="18" charset="0"/>
              </a:rPr>
              <a:t>colour</a:t>
            </a:r>
            <a:r>
              <a:rPr lang="en-GB" sz="2400">
                <a:solidFill>
                  <a:srgbClr val="FF9999"/>
                </a:solidFill>
                <a:effectLst/>
                <a:ea typeface="Calibri" panose="020F0502020204030204" pitchFamily="34" charset="0"/>
                <a:cs typeface="Times New Roman" panose="02020603050405020304" pitchFamily="18" charset="0"/>
              </a:rPr>
              <a:t> and </a:t>
            </a:r>
            <a:r>
              <a:rPr lang="en-GB" sz="2400" i="1">
                <a:solidFill>
                  <a:srgbClr val="FF9999"/>
                </a:solidFill>
                <a:effectLst/>
                <a:ea typeface="Calibri" panose="020F0502020204030204" pitchFamily="34" charset="0"/>
                <a:cs typeface="Times New Roman" panose="02020603050405020304" pitchFamily="18" charset="0"/>
              </a:rPr>
              <a:t>feeling</a:t>
            </a:r>
            <a:r>
              <a:rPr lang="en-GB" sz="2400">
                <a:solidFill>
                  <a:srgbClr val="FF9999"/>
                </a:solidFill>
                <a:effectLst/>
                <a:ea typeface="Calibri" panose="020F0502020204030204" pitchFamily="34" charset="0"/>
                <a:cs typeface="Times New Roman" panose="02020603050405020304" pitchFamily="18" charset="0"/>
              </a:rPr>
              <a:t> are </a:t>
            </a:r>
            <a:r>
              <a:rPr lang="en-GB" sz="2400">
                <a:effectLst/>
                <a:ea typeface="Calibri" panose="020F0502020204030204" pitchFamily="34" charset="0"/>
                <a:cs typeface="Times New Roman" panose="02020603050405020304" pitchFamily="18" charset="0"/>
              </a:rPr>
              <a:t>acknowledged by Lockean “modern philosophers” to be </a:t>
            </a:r>
            <a:r>
              <a:rPr lang="en-GB" sz="2400">
                <a:solidFill>
                  <a:srgbClr val="FF9999"/>
                </a:solidFill>
                <a:effectLst/>
                <a:ea typeface="Calibri" panose="020F0502020204030204" pitchFamily="34" charset="0"/>
                <a:cs typeface="Times New Roman" panose="02020603050405020304" pitchFamily="18" charset="0"/>
              </a:rPr>
              <a:t>only in the mind</a:t>
            </a:r>
            <a:r>
              <a:rPr lang="en-GB" sz="2400">
                <a:effectLst/>
                <a:ea typeface="Calibri" panose="020F0502020204030204" pitchFamily="34" charset="0"/>
                <a:cs typeface="Times New Roman" panose="02020603050405020304" pitchFamily="18" charset="0"/>
              </a:rPr>
              <a:t>.</a:t>
            </a:r>
          </a:p>
          <a:p>
            <a:pPr>
              <a:lnSpc>
                <a:spcPct val="115000"/>
              </a:lnSpc>
              <a:spcBef>
                <a:spcPts val="1200"/>
              </a:spcBef>
            </a:pPr>
            <a:r>
              <a:rPr lang="en-GB" sz="2400">
                <a:effectLst/>
                <a:ea typeface="Calibri" panose="020F0502020204030204" pitchFamily="34" charset="0"/>
                <a:cs typeface="Times New Roman" panose="02020603050405020304" pitchFamily="18" charset="0"/>
              </a:rPr>
              <a:t>The only way out of this, Hume suggests, is by appeal to </a:t>
            </a:r>
            <a:r>
              <a:rPr lang="en-GB" sz="2400" i="1" u="sng">
                <a:solidFill>
                  <a:srgbClr val="FF9999"/>
                </a:solidFill>
                <a:effectLst/>
                <a:ea typeface="Calibri" panose="020F0502020204030204" pitchFamily="34" charset="0"/>
                <a:cs typeface="Times New Roman" panose="02020603050405020304" pitchFamily="18" charset="0"/>
              </a:rPr>
              <a:t>abstraction</a:t>
            </a:r>
            <a:r>
              <a:rPr lang="en-GB" sz="2400">
                <a:effectLst/>
                <a:ea typeface="Calibri" panose="020F0502020204030204" pitchFamily="34" charset="0"/>
                <a:cs typeface="Times New Roman" panose="02020603050405020304" pitchFamily="18" charset="0"/>
              </a:rPr>
              <a:t> – e.g. abstracting the idea of the </a:t>
            </a:r>
            <a:r>
              <a:rPr lang="en-GB" sz="2400" i="1">
                <a:effectLst/>
                <a:ea typeface="Calibri" panose="020F0502020204030204" pitchFamily="34" charset="0"/>
                <a:cs typeface="Times New Roman" panose="02020603050405020304" pitchFamily="18" charset="0"/>
              </a:rPr>
              <a:t>shape</a:t>
            </a:r>
            <a:r>
              <a:rPr lang="en-GB" sz="2400">
                <a:effectLst/>
                <a:ea typeface="Calibri" panose="020F0502020204030204" pitchFamily="34" charset="0"/>
                <a:cs typeface="Times New Roman" panose="02020603050405020304" pitchFamily="18" charset="0"/>
              </a:rPr>
              <a:t> of a coloured rectangle without thinking about its </a:t>
            </a:r>
            <a:r>
              <a:rPr lang="en-GB" sz="2400" i="1">
                <a:effectLst/>
                <a:ea typeface="Calibri" panose="020F0502020204030204" pitchFamily="34" charset="0"/>
                <a:cs typeface="Times New Roman" panose="02020603050405020304" pitchFamily="18" charset="0"/>
              </a:rPr>
              <a:t>colour</a:t>
            </a:r>
            <a:r>
              <a:rPr lang="en-GB" sz="2400">
                <a:effectLst/>
                <a:ea typeface="Calibri" panose="020F0502020204030204" pitchFamily="34" charset="0"/>
                <a:cs typeface="Times New Roman" panose="02020603050405020304" pitchFamily="18" charset="0"/>
              </a:rPr>
              <a:t>.  But this, he thinks, has already been refuted by Berkeley:</a:t>
            </a:r>
          </a:p>
          <a:p>
            <a:pPr marL="857250" lvl="2" indent="0">
              <a:lnSpc>
                <a:spcPct val="115000"/>
              </a:lnSpc>
              <a:spcBef>
                <a:spcPts val="1200"/>
              </a:spcBef>
              <a:buNone/>
            </a:pPr>
            <a:r>
              <a:rPr lang="en-GB" sz="2200">
                <a:effectLst/>
                <a:ea typeface="Calibri" panose="020F0502020204030204" pitchFamily="34" charset="0"/>
                <a:cs typeface="Times New Roman" panose="02020603050405020304" pitchFamily="18" charset="0"/>
              </a:rPr>
              <a:t>“</a:t>
            </a:r>
            <a:r>
              <a:rPr lang="en-US" sz="2200">
                <a:effectLst/>
                <a:ea typeface="Calibri" panose="020F0502020204030204" pitchFamily="34" charset="0"/>
                <a:cs typeface="Times New Roman" panose="02020603050405020304" pitchFamily="18" charset="0"/>
              </a:rPr>
              <a:t>An extension, that is neither tangible nor visible, cannot possibly be conceived: And a tangible or visible extension, which is neither hard nor soft, black nor white, is equally beyond the reach of human conception.</a:t>
            </a:r>
            <a:r>
              <a:rPr lang="en-GB" sz="2200">
                <a:effectLst/>
                <a:ea typeface="Calibri" panose="020F0502020204030204" pitchFamily="34" charset="0"/>
                <a:cs typeface="Times New Roman" panose="02020603050405020304" pitchFamily="18" charset="0"/>
              </a:rPr>
              <a:t>”  (</a:t>
            </a:r>
            <a:r>
              <a:rPr lang="en-GB" sz="2200" i="1">
                <a:effectLst/>
                <a:ea typeface="Calibri" panose="020F0502020204030204" pitchFamily="34" charset="0"/>
                <a:cs typeface="Times New Roman" panose="02020603050405020304" pitchFamily="18" charset="0"/>
              </a:rPr>
              <a:t>E</a:t>
            </a:r>
            <a:r>
              <a:rPr lang="en-GB" sz="2200">
                <a:effectLst/>
                <a:ea typeface="Calibri" panose="020F0502020204030204" pitchFamily="34" charset="0"/>
                <a:cs typeface="Times New Roman" panose="02020603050405020304" pitchFamily="18" charset="0"/>
              </a:rPr>
              <a:t> 12.15)</a:t>
            </a:r>
          </a:p>
          <a:p>
            <a:pPr lvl="1">
              <a:lnSpc>
                <a:spcPct val="115000"/>
              </a:lnSpc>
              <a:spcBef>
                <a:spcPts val="1200"/>
              </a:spcBef>
            </a:pPr>
            <a:endParaRPr lang="en-GB" sz="2400">
              <a:effectLst/>
              <a:ea typeface="Calibri" panose="020F0502020204030204" pitchFamily="34" charset="0"/>
              <a:cs typeface="Times New Roman" panose="02020603050405020304" pitchFamily="18" charset="0"/>
            </a:endParaRPr>
          </a:p>
          <a:p>
            <a:pPr lvl="1">
              <a:lnSpc>
                <a:spcPct val="115000"/>
              </a:lnSpc>
              <a:spcBef>
                <a:spcPts val="1200"/>
              </a:spcBef>
            </a:pPr>
            <a:endParaRPr lang="en-GB" sz="2400">
              <a:effectLst/>
              <a:ea typeface="Calibri" panose="020F0502020204030204" pitchFamily="34" charset="0"/>
              <a:cs typeface="Times New Roman" panose="02020603050405020304" pitchFamily="18" charset="0"/>
            </a:endParaRP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291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384071118"/>
      </p:ext>
    </p:extLst>
  </p:cSld>
  <p:clrMapOvr>
    <a:masterClrMapping/>
  </p:clrMapOvr>
  <p:transition spd="med">
    <p:cover/>
  </p:transition>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292</a:t>
            </a:fld>
            <a:endParaRPr lang="en-US"/>
          </a:p>
        </p:txBody>
      </p:sp>
      <p:sp>
        <p:nvSpPr>
          <p:cNvPr id="2" name="Title 1"/>
          <p:cNvSpPr>
            <a:spLocks noGrp="1"/>
          </p:cNvSpPr>
          <p:nvPr>
            <p:ph type="title" idx="4294967295"/>
          </p:nvPr>
        </p:nvSpPr>
        <p:spPr>
          <a:xfrm>
            <a:off x="168275" y="152636"/>
            <a:ext cx="8772525" cy="720080"/>
          </a:xfrm>
        </p:spPr>
        <p:txBody>
          <a:bodyPr/>
          <a:lstStyle/>
          <a:p>
            <a:r>
              <a:rPr lang="en-US" sz="3800"/>
              <a:t>Hume’s Tantalizing Last Words on Body</a:t>
            </a:r>
            <a:endParaRPr lang="en-US" sz="3800" dirty="0"/>
          </a:p>
        </p:txBody>
      </p:sp>
      <p:sp>
        <p:nvSpPr>
          <p:cNvPr id="3" name="Content Placeholder 2"/>
          <p:cNvSpPr>
            <a:spLocks noGrp="1"/>
          </p:cNvSpPr>
          <p:nvPr>
            <p:ph idx="4294967295"/>
          </p:nvPr>
        </p:nvSpPr>
        <p:spPr>
          <a:xfrm>
            <a:off x="215516" y="1088740"/>
            <a:ext cx="8676964" cy="5580620"/>
          </a:xfrm>
        </p:spPr>
        <p:txBody>
          <a:bodyPr/>
          <a:lstStyle/>
          <a:p>
            <a:pPr marL="400050" lvl="1" indent="0">
              <a:lnSpc>
                <a:spcPct val="115000"/>
              </a:lnSpc>
              <a:spcBef>
                <a:spcPts val="1200"/>
              </a:spcBef>
              <a:buNone/>
            </a:pPr>
            <a:r>
              <a:rPr lang="en-GB" sz="2000">
                <a:effectLst/>
                <a:ea typeface="Calibri" panose="020F0502020204030204" pitchFamily="34" charset="0"/>
                <a:cs typeface="Times New Roman" panose="02020603050405020304" pitchFamily="18" charset="0"/>
              </a:rPr>
              <a:t>“</a:t>
            </a:r>
            <a:r>
              <a:rPr lang="en-US" sz="2000">
                <a:effectLst/>
                <a:ea typeface="Calibri" panose="020F0502020204030204" pitchFamily="34" charset="0"/>
                <a:cs typeface="Times New Roman" panose="02020603050405020304" pitchFamily="18" charset="0"/>
              </a:rPr>
              <a:t>The second objection goes farther, and represents this opinion as contrary to reason: </a:t>
            </a:r>
            <a:r>
              <a:rPr lang="en-US" sz="2000" u="sng">
                <a:solidFill>
                  <a:srgbClr val="FF9999"/>
                </a:solidFill>
                <a:effectLst/>
                <a:ea typeface="Calibri" panose="020F0502020204030204" pitchFamily="34" charset="0"/>
                <a:cs typeface="Times New Roman" panose="02020603050405020304" pitchFamily="18" charset="0"/>
              </a:rPr>
              <a:t>at least, if it be a principle of reason, that all sensible qualities are in the mind, not in the object</a:t>
            </a:r>
            <a:r>
              <a:rPr lang="en-US" sz="2000">
                <a:effectLst/>
                <a:ea typeface="Calibri" panose="020F0502020204030204" pitchFamily="34" charset="0"/>
                <a:cs typeface="Times New Roman" panose="02020603050405020304" pitchFamily="18" charset="0"/>
              </a:rPr>
              <a:t>.  Bereave matter of all its intelligible qualities, both primary and secondary, you in a manner annihilate it, and leave only </a:t>
            </a:r>
            <a:r>
              <a:rPr lang="en-US" sz="2000" u="sng">
                <a:solidFill>
                  <a:srgbClr val="FF9999"/>
                </a:solidFill>
                <a:effectLst/>
                <a:ea typeface="Calibri" panose="020F0502020204030204" pitchFamily="34" charset="0"/>
                <a:cs typeface="Times New Roman" panose="02020603050405020304" pitchFamily="18" charset="0"/>
              </a:rPr>
              <a:t>a certain unknown, inexplicable </a:t>
            </a:r>
            <a:r>
              <a:rPr lang="en-US" sz="2000" i="1" u="sng">
                <a:solidFill>
                  <a:srgbClr val="FF9999"/>
                </a:solidFill>
                <a:effectLst/>
                <a:ea typeface="Calibri" panose="020F0502020204030204" pitchFamily="34" charset="0"/>
                <a:cs typeface="Times New Roman" panose="02020603050405020304" pitchFamily="18" charset="0"/>
              </a:rPr>
              <a:t>something</a:t>
            </a:r>
            <a:r>
              <a:rPr lang="en-US" sz="2000" u="sng">
                <a:solidFill>
                  <a:srgbClr val="FF9999"/>
                </a:solidFill>
                <a:effectLst/>
                <a:ea typeface="Calibri" panose="020F0502020204030204" pitchFamily="34" charset="0"/>
                <a:cs typeface="Times New Roman" panose="02020603050405020304" pitchFamily="18" charset="0"/>
              </a:rPr>
              <a:t>, as the cause of our perceptions; a notion so imperfect, that no sceptic will think it worth while to contend against it</a:t>
            </a:r>
            <a:r>
              <a:rPr lang="en-US" sz="2000">
                <a:effectLst/>
                <a:ea typeface="Calibri" panose="020F0502020204030204" pitchFamily="34" charset="0"/>
                <a:cs typeface="Times New Roman" panose="02020603050405020304" pitchFamily="18" charset="0"/>
              </a:rPr>
              <a:t>.</a:t>
            </a:r>
            <a:r>
              <a:rPr lang="en-GB" sz="2000">
                <a:effectLst/>
                <a:ea typeface="Calibri" panose="020F0502020204030204" pitchFamily="34" charset="0"/>
                <a:cs typeface="Times New Roman" panose="02020603050405020304" pitchFamily="18" charset="0"/>
              </a:rPr>
              <a:t>”  (</a:t>
            </a:r>
            <a:r>
              <a:rPr lang="en-GB" sz="2000" i="1">
                <a:effectLst/>
                <a:ea typeface="Calibri" panose="020F0502020204030204" pitchFamily="34" charset="0"/>
                <a:cs typeface="Times New Roman" panose="02020603050405020304" pitchFamily="18" charset="0"/>
              </a:rPr>
              <a:t>E</a:t>
            </a:r>
            <a:r>
              <a:rPr lang="en-GB" sz="2000">
                <a:effectLst/>
                <a:ea typeface="Calibri" panose="020F0502020204030204" pitchFamily="34" charset="0"/>
                <a:cs typeface="Times New Roman" panose="02020603050405020304" pitchFamily="18" charset="0"/>
              </a:rPr>
              <a:t> 12.16)</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Question 1:  Does Hume think it is indeed a “principle of reason” that “all sensible qualities are in the mind, not in the object”?</a:t>
            </a:r>
          </a:p>
          <a:p>
            <a:pPr lvl="1">
              <a:lnSpc>
                <a:spcPct val="115000"/>
              </a:lnSpc>
              <a:spcBef>
                <a:spcPts val="1200"/>
              </a:spcBef>
            </a:pPr>
            <a:r>
              <a:rPr lang="en-GB" sz="2100">
                <a:effectLst/>
                <a:ea typeface="Calibri" panose="020F0502020204030204" pitchFamily="34" charset="0"/>
                <a:cs typeface="Times New Roman" panose="02020603050405020304" pitchFamily="18" charset="0"/>
              </a:rPr>
              <a:t>Question 2:  What is the final sentence – </a:t>
            </a:r>
            <a:r>
              <a:rPr lang="en-GB" sz="2100" i="1">
                <a:effectLst/>
                <a:ea typeface="Calibri" panose="020F0502020204030204" pitchFamily="34" charset="0"/>
                <a:cs typeface="Times New Roman" panose="02020603050405020304" pitchFamily="18" charset="0"/>
              </a:rPr>
              <a:t>added only in the posthumous 1777 edition of the Enquiry</a:t>
            </a:r>
            <a:r>
              <a:rPr lang="en-GB" sz="2100">
                <a:effectLst/>
                <a:ea typeface="Calibri" panose="020F0502020204030204" pitchFamily="34" charset="0"/>
                <a:cs typeface="Times New Roman" panose="02020603050405020304" pitchFamily="18" charset="0"/>
              </a:rPr>
              <a:t> – saying?  That the belief in “a certain unknown, inexplicable </a:t>
            </a:r>
            <a:r>
              <a:rPr lang="en-GB" sz="2100" i="1">
                <a:effectLst/>
                <a:ea typeface="Calibri" panose="020F0502020204030204" pitchFamily="34" charset="0"/>
                <a:cs typeface="Times New Roman" panose="02020603050405020304" pitchFamily="18" charset="0"/>
              </a:rPr>
              <a:t>something</a:t>
            </a:r>
            <a:r>
              <a:rPr lang="en-GB" sz="2100">
                <a:effectLst/>
                <a:ea typeface="Calibri" panose="020F0502020204030204" pitchFamily="34" charset="0"/>
                <a:cs typeface="Times New Roman" panose="02020603050405020304" pitchFamily="18" charset="0"/>
              </a:rPr>
              <a:t>, as the cause of our perceptions” is </a:t>
            </a:r>
            <a:r>
              <a:rPr lang="en-GB" sz="2100" i="1">
                <a:solidFill>
                  <a:srgbClr val="FF9999"/>
                </a:solidFill>
                <a:effectLst/>
                <a:ea typeface="Calibri" panose="020F0502020204030204" pitchFamily="34" charset="0"/>
                <a:cs typeface="Times New Roman" panose="02020603050405020304" pitchFamily="18" charset="0"/>
              </a:rPr>
              <a:t>so hopeless as to be unworthy of critical consideration</a:t>
            </a:r>
            <a:r>
              <a:rPr lang="en-GB" sz="2100">
                <a:effectLst/>
                <a:ea typeface="Calibri" panose="020F0502020204030204" pitchFamily="34" charset="0"/>
                <a:cs typeface="Times New Roman" panose="02020603050405020304" pitchFamily="18" charset="0"/>
              </a:rPr>
              <a:t>, or that it is </a:t>
            </a:r>
            <a:r>
              <a:rPr lang="en-GB" sz="2100" i="1">
                <a:solidFill>
                  <a:srgbClr val="FF9999"/>
                </a:solidFill>
                <a:effectLst/>
                <a:ea typeface="Calibri" panose="020F0502020204030204" pitchFamily="34" charset="0"/>
                <a:cs typeface="Times New Roman" panose="02020603050405020304" pitchFamily="18" charset="0"/>
              </a:rPr>
              <a:t>so thin as to be harmless</a:t>
            </a:r>
            <a:r>
              <a:rPr lang="en-GB" sz="2100">
                <a:effectLst/>
                <a:ea typeface="Calibri" panose="020F0502020204030204" pitchFamily="34" charset="0"/>
                <a:cs typeface="Times New Roman" panose="02020603050405020304" pitchFamily="18" charset="0"/>
              </a:rPr>
              <a:t>?</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292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248513104"/>
      </p:ext>
    </p:extLst>
  </p:cSld>
  <p:clrMapOvr>
    <a:masterClrMapping/>
  </p:clrMapOvr>
  <p:transition spd="med">
    <p:cover/>
  </p:transition>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696E52B4-42B8-44BB-889B-0F6BBFF33DA1}" type="slidenum">
              <a:rPr lang="en-US"/>
              <a:pPr/>
              <a:t>293</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5400"/>
              <a:t>7(b)</a:t>
            </a:r>
            <a:br>
              <a:rPr lang="en-GB" sz="5400" dirty="0"/>
            </a:br>
            <a:br>
              <a:rPr lang="en-GB" sz="5400" dirty="0"/>
            </a:br>
            <a:r>
              <a:rPr lang="en-GB" sz="5400" dirty="0"/>
              <a:t>Of the Immateriality of the Soul</a:t>
            </a:r>
            <a:endParaRPr lang="en-US" sz="5400" dirty="0"/>
          </a:p>
        </p:txBody>
      </p:sp>
      <p:pic>
        <p:nvPicPr>
          <p:cNvPr id="118681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3774370618"/>
      </p:ext>
    </p:extLst>
  </p:cSld>
  <p:clrMapOvr>
    <a:masterClrMapping/>
  </p:clrMapOvr>
  <p:transition spd="med">
    <p:cover/>
  </p:transition>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294</a:t>
            </a:fld>
            <a:endParaRPr lang="en-US"/>
          </a:p>
        </p:txBody>
      </p:sp>
      <p:sp>
        <p:nvSpPr>
          <p:cNvPr id="2" name="Title 1"/>
          <p:cNvSpPr>
            <a:spLocks noGrp="1"/>
          </p:cNvSpPr>
          <p:nvPr>
            <p:ph type="title" idx="4294967295"/>
          </p:nvPr>
        </p:nvSpPr>
        <p:spPr>
          <a:xfrm>
            <a:off x="457200" y="277813"/>
            <a:ext cx="8229600" cy="918939"/>
          </a:xfrm>
        </p:spPr>
        <p:txBody>
          <a:bodyPr/>
          <a:lstStyle/>
          <a:p>
            <a:r>
              <a:rPr lang="en-US" dirty="0"/>
              <a:t>Turning to the Internal World</a:t>
            </a:r>
          </a:p>
        </p:txBody>
      </p:sp>
      <p:sp>
        <p:nvSpPr>
          <p:cNvPr id="3" name="Content Placeholder 2"/>
          <p:cNvSpPr>
            <a:spLocks noGrp="1"/>
          </p:cNvSpPr>
          <p:nvPr>
            <p:ph idx="4294967295"/>
          </p:nvPr>
        </p:nvSpPr>
        <p:spPr>
          <a:xfrm>
            <a:off x="431540" y="1484784"/>
            <a:ext cx="8363272" cy="4995863"/>
          </a:xfrm>
        </p:spPr>
        <p:txBody>
          <a:bodyPr/>
          <a:lstStyle/>
          <a:p>
            <a:r>
              <a:rPr lang="en-US" sz="3000" dirty="0"/>
              <a:t>“Of the Immateriality of the Soul” marks a turn to “the intellectual world”.  This, “</a:t>
            </a:r>
            <a:r>
              <a:rPr lang="en-US" sz="3000" dirty="0" err="1"/>
              <a:t>tho</a:t>
            </a:r>
            <a:r>
              <a:rPr lang="en-US" sz="3000" dirty="0"/>
              <a:t>’ </a:t>
            </a:r>
            <a:r>
              <a:rPr lang="en-US" sz="3000" dirty="0" err="1"/>
              <a:t>involv’d</a:t>
            </a:r>
            <a:r>
              <a:rPr lang="en-US" sz="3000" dirty="0"/>
              <a:t> in infinite obscurities”, is not </a:t>
            </a:r>
            <a:r>
              <a:rPr lang="en-US" sz="3000" dirty="0" err="1"/>
              <a:t>perplex’d</a:t>
            </a:r>
            <a:r>
              <a:rPr lang="en-US" sz="3000" dirty="0"/>
              <a:t> with any such contradictions, as those we have discovered in the natural” (</a:t>
            </a:r>
            <a:r>
              <a:rPr lang="en-US" sz="3000" i="1" dirty="0"/>
              <a:t>T</a:t>
            </a:r>
            <a:r>
              <a:rPr lang="en-US" sz="3000" dirty="0"/>
              <a:t> 1.4.5.1).</a:t>
            </a:r>
          </a:p>
          <a:p>
            <a:pPr>
              <a:spcBef>
                <a:spcPts val="1200"/>
              </a:spcBef>
            </a:pPr>
            <a:r>
              <a:rPr lang="en-US" sz="3000" dirty="0"/>
              <a:t>From </a:t>
            </a:r>
            <a:r>
              <a:rPr lang="en-US" sz="3000" i="1" dirty="0"/>
              <a:t>T</a:t>
            </a:r>
            <a:r>
              <a:rPr lang="en-US" sz="3000" dirty="0"/>
              <a:t> 1.4.5.2-6, Hume attacks the notion of mental </a:t>
            </a:r>
            <a:r>
              <a:rPr lang="en-US" sz="3000" i="1" dirty="0"/>
              <a:t>substance </a:t>
            </a:r>
            <a:r>
              <a:rPr lang="en-US" sz="3000" dirty="0"/>
              <a:t>– and the related notion of </a:t>
            </a:r>
            <a:r>
              <a:rPr lang="en-US" sz="3000" i="1" dirty="0"/>
              <a:t>inhesion</a:t>
            </a:r>
            <a:r>
              <a:rPr lang="en-US" sz="3000" dirty="0"/>
              <a:t> – in various ways, including an appeal to the Copy Principle (at </a:t>
            </a:r>
            <a:r>
              <a:rPr lang="en-US" sz="3000" i="1" dirty="0"/>
              <a:t>T</a:t>
            </a:r>
            <a:r>
              <a:rPr lang="en-US" sz="3000" dirty="0"/>
              <a:t> 1.4.5.4).  Both notions are condemned as meaningless.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294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135806875"/>
      </p:ext>
    </p:extLst>
  </p:cSld>
  <p:clrMapOvr>
    <a:masterClrMapping/>
  </p:clrMapOvr>
  <p:transition spd="med">
    <p:cover/>
  </p:transition>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295</a:t>
            </a:fld>
            <a:endParaRPr lang="en-US"/>
          </a:p>
        </p:txBody>
      </p:sp>
      <p:sp>
        <p:nvSpPr>
          <p:cNvPr id="2" name="Title 1"/>
          <p:cNvSpPr>
            <a:spLocks noGrp="1"/>
          </p:cNvSpPr>
          <p:nvPr>
            <p:ph type="title" idx="4294967295"/>
          </p:nvPr>
        </p:nvSpPr>
        <p:spPr>
          <a:xfrm>
            <a:off x="457200" y="277813"/>
            <a:ext cx="8229600" cy="91893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412776"/>
            <a:ext cx="8363272" cy="5147283"/>
          </a:xfrm>
        </p:spPr>
        <p:txBody>
          <a:bodyPr/>
          <a:lstStyle/>
          <a:p>
            <a:r>
              <a:rPr lang="en-US" sz="2600" dirty="0"/>
              <a:t>At </a:t>
            </a:r>
            <a:r>
              <a:rPr lang="en-US" sz="2600" i="1" dirty="0"/>
              <a:t>T</a:t>
            </a:r>
            <a:r>
              <a:rPr lang="en-US" sz="2600" dirty="0"/>
              <a:t> 1.4.5.5, Hume responds to the attempt to </a:t>
            </a:r>
            <a:r>
              <a:rPr lang="en-GB" sz="2600" dirty="0"/>
              <a:t>“evade the difficulty, by saying, that the definition of a substance is </a:t>
            </a:r>
            <a:r>
              <a:rPr lang="en-GB" sz="2600" i="1" dirty="0"/>
              <a:t>something which may exist by itself”</a:t>
            </a:r>
            <a:r>
              <a:rPr lang="en-GB" sz="2600" dirty="0"/>
              <a:t>:</a:t>
            </a:r>
          </a:p>
          <a:p>
            <a:pPr lvl="1">
              <a:spcBef>
                <a:spcPts val="1200"/>
              </a:spcBef>
              <a:buNone/>
            </a:pPr>
            <a:r>
              <a:rPr lang="en-GB" sz="2200" dirty="0"/>
              <a:t>	“this definition agrees to every thing, that can possibly be </a:t>
            </a:r>
            <a:r>
              <a:rPr lang="en-GB" sz="2200" dirty="0" err="1"/>
              <a:t>conceiv’d</a:t>
            </a:r>
            <a:r>
              <a:rPr lang="en-GB" sz="2200" dirty="0"/>
              <a:t>; ...  Whatever is clearly </a:t>
            </a:r>
            <a:r>
              <a:rPr lang="en-GB" sz="2200" dirty="0" err="1"/>
              <a:t>conceiv’d</a:t>
            </a:r>
            <a:r>
              <a:rPr lang="en-GB" sz="22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200" dirty="0" err="1"/>
              <a:t>consider’d</a:t>
            </a:r>
            <a:r>
              <a:rPr lang="en-GB" sz="2200" dirty="0"/>
              <a:t> as separately existent, and may exist separately, and have no need of any thing else to support their existence.  They are, therefore, substances, as far as this definition explains a substance.</a:t>
            </a:r>
            <a:r>
              <a:rPr lang="en-US" sz="2200" dirty="0"/>
              <a:t>”</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295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942868396"/>
      </p:ext>
    </p:extLst>
  </p:cSld>
  <p:clrMapOvr>
    <a:masterClrMapping/>
  </p:clrMapOvr>
  <p:transition spd="med">
    <p:cover/>
  </p:transition>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296</a:t>
            </a:fld>
            <a:endParaRPr lang="en-US"/>
          </a:p>
        </p:txBody>
      </p:sp>
      <p:sp>
        <p:nvSpPr>
          <p:cNvPr id="2" name="Title 1"/>
          <p:cNvSpPr>
            <a:spLocks noGrp="1"/>
          </p:cNvSpPr>
          <p:nvPr>
            <p:ph type="title" idx="4294967295"/>
          </p:nvPr>
        </p:nvSpPr>
        <p:spPr>
          <a:xfrm>
            <a:off x="457200" y="277813"/>
            <a:ext cx="8229600" cy="918939"/>
          </a:xfrm>
        </p:spPr>
        <p:txBody>
          <a:bodyPr/>
          <a:lstStyle/>
          <a:p>
            <a:r>
              <a:rPr lang="en-US"/>
              <a:t>Reification of Perceptions</a:t>
            </a:r>
            <a:endParaRPr lang="en-US" dirty="0"/>
          </a:p>
        </p:txBody>
      </p:sp>
      <p:sp>
        <p:nvSpPr>
          <p:cNvPr id="3" name="Content Placeholder 2"/>
          <p:cNvSpPr>
            <a:spLocks noGrp="1"/>
          </p:cNvSpPr>
          <p:nvPr>
            <p:ph idx="4294967295"/>
          </p:nvPr>
        </p:nvSpPr>
        <p:spPr>
          <a:xfrm>
            <a:off x="215516" y="1412776"/>
            <a:ext cx="8507288" cy="5147283"/>
          </a:xfrm>
        </p:spPr>
        <p:txBody>
          <a:bodyPr/>
          <a:lstStyle/>
          <a:p>
            <a:r>
              <a:rPr lang="en-US" sz="2600"/>
              <a:t>Many have considered that Hume’s “reification” of perceptions – his assertion that impressions and ideas are “substances” that could exist without a perceiver, is utterly absurd</a:t>
            </a:r>
            <a:r>
              <a:rPr lang="en-GB" sz="2600"/>
              <a:t>, for example John Cook (1968, p. 8, quoted by Noonan 1999, p. 195):</a:t>
            </a:r>
            <a:endParaRPr lang="en-GB" sz="2600" dirty="0"/>
          </a:p>
          <a:p>
            <a:pPr lvl="1">
              <a:spcBef>
                <a:spcPts val="1800"/>
              </a:spcBef>
              <a:buNone/>
            </a:pPr>
            <a:r>
              <a:rPr lang="en-GB" sz="2200"/>
              <a:t>	</a:t>
            </a:r>
            <a:r>
              <a:rPr lang="en-GB" sz="2400"/>
              <a:t>“[It follows from Hume’s position] that there could be a scratch or a dent without there being anything scratched or dented.  Indeed if we take Hume at his word, we must take him to be saying that he would see no absurdity in Alice’s remark:  ‘Well, I’ve often seen a cat without a grin, but a grin without a cat!  It’s the most curious thing I ever saw in all my life!’</a:t>
            </a:r>
            <a:r>
              <a:rPr lang="en-US" sz="2400"/>
              <a:t>”</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296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51566110"/>
      </p:ext>
    </p:extLst>
  </p:cSld>
  <p:clrMapOvr>
    <a:masterClrMapping/>
  </p:clrMapOvr>
  <p:transition spd="med">
    <p:cover/>
  </p:transition>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4B919B9-F9DB-4CFF-8A2A-2C95EECC7FEE}" type="slidenum">
              <a:rPr lang="en-US"/>
              <a:pPr/>
              <a:t>297</a:t>
            </a:fld>
            <a:endParaRPr lang="en-US"/>
          </a:p>
        </p:txBody>
      </p:sp>
      <p:sp>
        <p:nvSpPr>
          <p:cNvPr id="2" name="Title 1"/>
          <p:cNvSpPr>
            <a:spLocks noGrp="1"/>
          </p:cNvSpPr>
          <p:nvPr>
            <p:ph type="title" idx="4294967295"/>
          </p:nvPr>
        </p:nvSpPr>
        <p:spPr>
          <a:xfrm>
            <a:off x="457200" y="224644"/>
            <a:ext cx="8229600" cy="954943"/>
          </a:xfrm>
        </p:spPr>
        <p:txBody>
          <a:bodyPr/>
          <a:lstStyle/>
          <a:p>
            <a:r>
              <a:rPr lang="en-US" dirty="0"/>
              <a:t>The Location of Perceptions</a:t>
            </a:r>
          </a:p>
        </p:txBody>
      </p:sp>
      <p:sp>
        <p:nvSpPr>
          <p:cNvPr id="3" name="Content Placeholder 2"/>
          <p:cNvSpPr>
            <a:spLocks noGrp="1"/>
          </p:cNvSpPr>
          <p:nvPr>
            <p:ph idx="4294967295"/>
          </p:nvPr>
        </p:nvSpPr>
        <p:spPr>
          <a:xfrm>
            <a:off x="287524" y="1340768"/>
            <a:ext cx="8448675" cy="5184576"/>
          </a:xfrm>
        </p:spPr>
        <p:txBody>
          <a:bodyPr/>
          <a:lstStyle/>
          <a:p>
            <a:r>
              <a:rPr lang="en-US" sz="3000" dirty="0"/>
              <a:t>From </a:t>
            </a:r>
            <a:r>
              <a:rPr lang="en-US" sz="3000" i="1" dirty="0"/>
              <a:t>T</a:t>
            </a:r>
            <a:r>
              <a:rPr lang="en-US" sz="3000" dirty="0"/>
              <a:t> 1.4.5.7-16, Hume discusses the issue of the location and extension of perceptions:</a:t>
            </a:r>
          </a:p>
          <a:p>
            <a:pPr lvl="1">
              <a:spcBef>
                <a:spcPts val="1200"/>
              </a:spcBef>
            </a:pPr>
            <a:r>
              <a:rPr lang="en-US" sz="2500" dirty="0"/>
              <a:t>Note in particular his insistence that only perceptions of sight and feeling have spatial location (</a:t>
            </a:r>
            <a:r>
              <a:rPr lang="en-US" sz="2500" i="1" dirty="0"/>
              <a:t>T</a:t>
            </a:r>
            <a:r>
              <a:rPr lang="en-US" sz="2500" dirty="0"/>
              <a:t> 1.4.5.10).  Other, non-spatial, perceptions prove that “</a:t>
            </a:r>
            <a:r>
              <a:rPr lang="en-US" sz="2500" i="1" dirty="0"/>
              <a:t>an object may exist, and yet be no where</a:t>
            </a:r>
            <a:r>
              <a:rPr lang="en-US" sz="2500" dirty="0"/>
              <a:t>”.  So causation cannot require spatial contiguity (cf. </a:t>
            </a:r>
            <a:r>
              <a:rPr lang="en-US" sz="2500" i="1" dirty="0"/>
              <a:t>T</a:t>
            </a:r>
            <a:r>
              <a:rPr lang="en-US" sz="2500" dirty="0"/>
              <a:t> 1.3.2.6 n.</a:t>
            </a:r>
            <a:r>
              <a:rPr lang="en-US" sz="1200" dirty="0"/>
              <a:t> </a:t>
            </a:r>
            <a:r>
              <a:rPr lang="en-US" sz="2500" dirty="0"/>
              <a:t>16).</a:t>
            </a:r>
          </a:p>
          <a:p>
            <a:pPr lvl="1">
              <a:spcBef>
                <a:spcPts val="1200"/>
              </a:spcBef>
            </a:pPr>
            <a:r>
              <a:rPr lang="en-US" sz="2500" dirty="0"/>
              <a:t>Note also the illusion whereby we are seduced by the imagination into ascribing sensations of taste (which have no physical location) to the object – e.g. a fig –that produces them (</a:t>
            </a:r>
            <a:r>
              <a:rPr lang="en-US" sz="2500" i="1" dirty="0"/>
              <a:t>T</a:t>
            </a:r>
            <a:r>
              <a:rPr lang="en-US" sz="2500" dirty="0"/>
              <a:t> 1.4.5.13-14); this discussion was referenced by the footnote at 1.3.14.25 n.</a:t>
            </a:r>
            <a:r>
              <a:rPr lang="en-US" sz="1200" dirty="0"/>
              <a:t> </a:t>
            </a:r>
            <a:r>
              <a:rPr lang="en-US" sz="2500" dirty="0"/>
              <a:t>32.</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741602C-A8A2-447E-AF15-B91FFFA1E65F}" type="slidenum">
              <a:rPr lang="en-US" sz="1600">
                <a:effectLst>
                  <a:outerShdw blurRad="38100" dist="38100" dir="2700000" algn="tl">
                    <a:srgbClr val="000000"/>
                  </a:outerShdw>
                </a:effectLst>
                <a:ea typeface="ＭＳ Ｐゴシック" charset="-128"/>
              </a:rPr>
              <a:pPr eaLnBrk="1" hangingPunct="1"/>
              <a:t>297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841294974"/>
      </p:ext>
    </p:extLst>
  </p:cSld>
  <p:clrMapOvr>
    <a:masterClrMapping/>
  </p:clrMapOvr>
  <p:transition spd="med">
    <p:cover/>
  </p:transition>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B74FA1B-F027-41DF-A59B-FB8DD5E43C67}" type="slidenum">
              <a:rPr lang="en-US"/>
              <a:pPr/>
              <a:t>298</a:t>
            </a:fld>
            <a:endParaRPr lang="en-US"/>
          </a:p>
        </p:txBody>
      </p:sp>
      <p:sp>
        <p:nvSpPr>
          <p:cNvPr id="2" name="Title 1"/>
          <p:cNvSpPr>
            <a:spLocks noGrp="1"/>
          </p:cNvSpPr>
          <p:nvPr>
            <p:ph type="title" idx="4294967295"/>
          </p:nvPr>
        </p:nvSpPr>
        <p:spPr>
          <a:xfrm>
            <a:off x="457200" y="277813"/>
            <a:ext cx="8229600" cy="954943"/>
          </a:xfrm>
        </p:spPr>
        <p:txBody>
          <a:bodyPr/>
          <a:lstStyle/>
          <a:p>
            <a:r>
              <a:rPr lang="en-US" dirty="0"/>
              <a:t>A </a:t>
            </a:r>
            <a:r>
              <a:rPr lang="en-US" dirty="0" err="1"/>
              <a:t>Spinozistic</a:t>
            </a:r>
            <a:r>
              <a:rPr lang="en-US" dirty="0"/>
              <a:t> Parody</a:t>
            </a:r>
          </a:p>
        </p:txBody>
      </p:sp>
      <p:sp>
        <p:nvSpPr>
          <p:cNvPr id="3" name="Content Placeholder 2"/>
          <p:cNvSpPr>
            <a:spLocks noGrp="1"/>
          </p:cNvSpPr>
          <p:nvPr>
            <p:ph idx="4294967295"/>
          </p:nvPr>
        </p:nvSpPr>
        <p:spPr>
          <a:xfrm>
            <a:off x="387734" y="1448780"/>
            <a:ext cx="8540750" cy="4983163"/>
          </a:xfrm>
        </p:spPr>
        <p:txBody>
          <a:bodyPr/>
          <a:lstStyle/>
          <a:p>
            <a:r>
              <a:rPr lang="en-US" sz="2800" dirty="0"/>
              <a:t>From </a:t>
            </a:r>
            <a:r>
              <a:rPr lang="en-US" sz="2800" i="1" dirty="0"/>
              <a:t>T</a:t>
            </a:r>
            <a:r>
              <a:rPr lang="en-US" sz="2800" dirty="0"/>
              <a:t> 1.4.5.17-28, Hume parodies standard arguments against the “hideous hypothesis”</a:t>
            </a:r>
            <a:br>
              <a:rPr lang="en-US" sz="2800" dirty="0"/>
            </a:br>
            <a:r>
              <a:rPr lang="en-US" sz="2800" dirty="0"/>
              <a:t>(</a:t>
            </a:r>
            <a:r>
              <a:rPr lang="en-US" sz="2800" i="1" dirty="0"/>
              <a:t>T</a:t>
            </a:r>
            <a:r>
              <a:rPr lang="en-US" sz="2800" dirty="0"/>
              <a:t> 1.4.5.19) of Spinoza, deploying them against the orthodox theological idea of a simple soul.</a:t>
            </a:r>
          </a:p>
          <a:p>
            <a:r>
              <a:rPr lang="en-US" sz="2800" dirty="0"/>
              <a:t>Spinoza sees “the universe of objects” as being modifications of a “simple, uncompounded, and indivisible” substance (</a:t>
            </a:r>
            <a:r>
              <a:rPr lang="en-US" sz="2800" i="1" dirty="0"/>
              <a:t>T</a:t>
            </a:r>
            <a:r>
              <a:rPr lang="en-US" sz="2800" dirty="0"/>
              <a:t> 1.4.5.21).  This is supposed to be outrageous.  And yet theologians see “the universe of thought” – my impressions and ideas – as being all modifications of a simple, uncompounded and indivisible soul.</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699748D-4844-46BA-A1CE-6BAB22C4AAD1}" type="slidenum">
              <a:rPr lang="en-US" sz="1600">
                <a:effectLst>
                  <a:outerShdw blurRad="38100" dist="38100" dir="2700000" algn="tl">
                    <a:srgbClr val="000000"/>
                  </a:outerShdw>
                </a:effectLst>
                <a:ea typeface="ＭＳ Ｐゴシック" charset="-128"/>
              </a:rPr>
              <a:pPr eaLnBrk="1" hangingPunct="1"/>
              <a:t>298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641961535"/>
      </p:ext>
    </p:extLst>
  </p:cSld>
  <p:clrMapOvr>
    <a:masterClrMapping/>
  </p:clrMapOvr>
  <p:transition spd="med">
    <p:cover/>
  </p:transition>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3D2698F-5C52-4694-B534-6E04BAAC9527}" type="slidenum">
              <a:rPr lang="en-US"/>
              <a:pPr/>
              <a:t>299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EE1EB71-99EB-4A04-ADAB-FA9D18490800}" type="slidenum">
              <a:rPr lang="en-US" sz="1600">
                <a:effectLst>
                  <a:outerShdw blurRad="38100" dist="38100" dir="2700000" algn="tl">
                    <a:srgbClr val="000000"/>
                  </a:outerShdw>
                </a:effectLst>
                <a:ea typeface="ＭＳ Ｐゴシック" charset="-128"/>
              </a:rPr>
              <a:pPr eaLnBrk="1" hangingPunct="1"/>
              <a:t>299</a:t>
            </a:fld>
            <a:endParaRPr lang="en-US" sz="1600">
              <a:effectLst>
                <a:outerShdw blurRad="38100" dist="38100" dir="2700000" algn="tl">
                  <a:srgbClr val="000000"/>
                </a:outerShdw>
              </a:effectLst>
              <a:ea typeface="ＭＳ Ｐゴシック" charset="-128"/>
            </a:endParaRPr>
          </a:p>
        </p:txBody>
      </p:sp>
      <p:sp>
        <p:nvSpPr>
          <p:cNvPr id="659458" name="Rectangle 2"/>
          <p:cNvSpPr>
            <a:spLocks noGrp="1" noChangeArrowheads="1"/>
          </p:cNvSpPr>
          <p:nvPr>
            <p:ph type="title" idx="4294967295"/>
          </p:nvPr>
        </p:nvSpPr>
        <p:spPr>
          <a:xfrm>
            <a:off x="457200" y="169801"/>
            <a:ext cx="8229600" cy="774923"/>
          </a:xfrm>
        </p:spPr>
        <p:txBody>
          <a:bodyPr/>
          <a:lstStyle/>
          <a:p>
            <a:r>
              <a:rPr lang="en-GB" dirty="0"/>
              <a:t>Defending Materialism</a:t>
            </a:r>
            <a:endParaRPr lang="en-GB" sz="2000" i="1" dirty="0"/>
          </a:p>
        </p:txBody>
      </p:sp>
      <p:sp>
        <p:nvSpPr>
          <p:cNvPr id="659459" name="Rectangle 3"/>
          <p:cNvSpPr>
            <a:spLocks noGrp="1" noChangeArrowheads="1"/>
          </p:cNvSpPr>
          <p:nvPr>
            <p:ph type="body" idx="4294967295"/>
          </p:nvPr>
        </p:nvSpPr>
        <p:spPr>
          <a:xfrm>
            <a:off x="467544" y="1268760"/>
            <a:ext cx="8100900" cy="5328592"/>
          </a:xfrm>
        </p:spPr>
        <p:txBody>
          <a:bodyPr/>
          <a:lstStyle/>
          <a:p>
            <a:r>
              <a:rPr lang="en-GB" sz="2800" dirty="0"/>
              <a:t>The most important part of </a:t>
            </a:r>
            <a:r>
              <a:rPr lang="en-GB" sz="2800" i="1" dirty="0"/>
              <a:t>Treatise</a:t>
            </a:r>
            <a:r>
              <a:rPr lang="en-GB" sz="2800" dirty="0"/>
              <a:t> 1.4.5 for Hume’s own philosophy – noted briefly in Lecture 5 on causation (slides 217 and 232) – is his attack on the popular argument standardly used against </a:t>
            </a:r>
            <a:r>
              <a:rPr lang="en-GB" sz="2800" dirty="0" err="1"/>
              <a:t>Hobbist</a:t>
            </a:r>
            <a:r>
              <a:rPr lang="en-GB" sz="2800" dirty="0"/>
              <a:t> materialism, where he crucially appeals to his own theory of causation as constant conjunction:</a:t>
            </a:r>
          </a:p>
          <a:p>
            <a:pPr lvl="1">
              <a:spcBef>
                <a:spcPts val="1200"/>
              </a:spcBef>
              <a:buFontTx/>
              <a:buNone/>
            </a:pPr>
            <a:r>
              <a:rPr lang="en-GB" sz="2600" dirty="0"/>
              <a:t>	</a:t>
            </a:r>
            <a:r>
              <a:rPr lang="en-GB" sz="2500" dirty="0"/>
              <a:t>“</a:t>
            </a:r>
            <a:r>
              <a:rPr lang="en-US" sz="2500" dirty="0"/>
              <a:t>Matter and motion, ’tis commonly said in the schools, however </a:t>
            </a:r>
            <a:r>
              <a:rPr lang="en-US" sz="2500" dirty="0" err="1"/>
              <a:t>vary’d</a:t>
            </a:r>
            <a:r>
              <a:rPr lang="en-US" sz="2500" dirty="0"/>
              <a:t>, are still matter and motion, and produce only a difference in the position and situation of objects.  Divide a body as often as you please, ’tis still body.  …</a:t>
            </a:r>
            <a:r>
              <a:rPr lang="en-GB" sz="2500" i="1" dirty="0"/>
              <a:t>”  </a:t>
            </a:r>
            <a:r>
              <a:rPr lang="en-GB" sz="2500" dirty="0"/>
              <a:t>(</a:t>
            </a:r>
            <a:r>
              <a:rPr lang="en-GB" sz="2500" i="1" dirty="0"/>
              <a:t>T</a:t>
            </a:r>
            <a:r>
              <a:rPr lang="en-GB" sz="2500" dirty="0"/>
              <a:t> 1.4.5.29)</a:t>
            </a:r>
            <a:endParaRPr lang="en-GB" sz="2500" i="1" dirty="0"/>
          </a:p>
        </p:txBody>
      </p:sp>
    </p:spTree>
    <p:extLst>
      <p:ext uri="{BB962C8B-B14F-4D97-AF65-F5344CB8AC3E}">
        <p14:creationId xmlns:p14="http://schemas.microsoft.com/office/powerpoint/2010/main" val="374078006"/>
      </p:ext>
    </p:extLst>
  </p:cSld>
  <p:clrMapOvr>
    <a:masterClrMapping/>
  </p:clrMapOvr>
  <p:transition spd="med">
    <p:cover/>
  </p:transition>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3D2698F-5C52-4694-B534-6E04BAAC9527}" type="slidenum">
              <a:rPr lang="en-US"/>
              <a:pPr/>
              <a:t>300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EE1EB71-99EB-4A04-ADAB-FA9D18490800}" type="slidenum">
              <a:rPr lang="en-US" sz="1600">
                <a:effectLst>
                  <a:outerShdw blurRad="38100" dist="38100" dir="2700000" algn="tl">
                    <a:srgbClr val="000000"/>
                  </a:outerShdw>
                </a:effectLst>
                <a:ea typeface="ＭＳ Ｐゴシック" charset="-128"/>
              </a:rPr>
              <a:pPr eaLnBrk="1" hangingPunct="1"/>
              <a:t>300</a:t>
            </a:fld>
            <a:endParaRPr lang="en-US" sz="1600">
              <a:effectLst>
                <a:outerShdw blurRad="38100" dist="38100" dir="2700000" algn="tl">
                  <a:srgbClr val="000000"/>
                </a:outerShdw>
              </a:effectLst>
              <a:ea typeface="ＭＳ Ｐゴシック" charset="-128"/>
            </a:endParaRPr>
          </a:p>
        </p:txBody>
      </p:sp>
      <p:sp>
        <p:nvSpPr>
          <p:cNvPr id="659459" name="Rectangle 3"/>
          <p:cNvSpPr>
            <a:spLocks noGrp="1" noChangeArrowheads="1"/>
          </p:cNvSpPr>
          <p:nvPr>
            <p:ph type="body" idx="4294967295"/>
          </p:nvPr>
        </p:nvSpPr>
        <p:spPr>
          <a:xfrm>
            <a:off x="457200" y="404664"/>
            <a:ext cx="8003232" cy="6192688"/>
          </a:xfrm>
        </p:spPr>
        <p:txBody>
          <a:bodyPr/>
          <a:lstStyle/>
          <a:p>
            <a:pPr lvl="1">
              <a:spcBef>
                <a:spcPts val="1200"/>
              </a:spcBef>
              <a:buFontTx/>
              <a:buNone/>
            </a:pPr>
            <a:r>
              <a:rPr lang="en-GB" sz="2400" dirty="0"/>
              <a:t>	“…  </a:t>
            </a:r>
            <a:r>
              <a:rPr lang="en-US" sz="2400" dirty="0"/>
              <a:t>Place it in any figure, nothing ever results but figure, or the relation of parts.  Move it in any manner, you still find motion or a change of relation.  ’Tis absurd to imagine, that motion in a circle, for instance, </a:t>
            </a:r>
            <a:r>
              <a:rPr lang="en-US" sz="2400" dirty="0" err="1"/>
              <a:t>shou’d</a:t>
            </a:r>
            <a:r>
              <a:rPr lang="en-US" sz="2400" dirty="0"/>
              <a:t> be nothing but merely motion in a circle; while motion in another direction, as in an ellipse, </a:t>
            </a:r>
            <a:r>
              <a:rPr lang="en-US" sz="2400" dirty="0" err="1"/>
              <a:t>shou'd</a:t>
            </a:r>
            <a:r>
              <a:rPr lang="en-US" sz="2400" dirty="0"/>
              <a:t> also be a passion or moral reflection: That the shocking of two globular particles </a:t>
            </a:r>
            <a:r>
              <a:rPr lang="en-US" sz="2400" dirty="0" err="1"/>
              <a:t>shou’d</a:t>
            </a:r>
            <a:r>
              <a:rPr lang="en-US" sz="2400" dirty="0"/>
              <a:t> become a sensation of pain, and that the meeting of two triangular ones </a:t>
            </a:r>
            <a:r>
              <a:rPr lang="en-US" sz="2400" dirty="0" err="1"/>
              <a:t>shou'd</a:t>
            </a:r>
            <a:r>
              <a:rPr lang="en-US" sz="2400" dirty="0"/>
              <a:t> afford a pleasure.  Now as these different shocks, and variations, and mixtures are the only changes, of which matter is susceptible, and as these never afford us any idea of thought or perception, </a:t>
            </a:r>
            <a:r>
              <a:rPr lang="en-US" sz="2400" dirty="0">
                <a:solidFill>
                  <a:srgbClr val="FF9999"/>
                </a:solidFill>
              </a:rPr>
              <a:t>’tis concluded to be impossible, that thought can ever be </a:t>
            </a:r>
            <a:r>
              <a:rPr lang="en-US" sz="2400" dirty="0" err="1">
                <a:solidFill>
                  <a:srgbClr val="FF9999"/>
                </a:solidFill>
              </a:rPr>
              <a:t>caus’d</a:t>
            </a:r>
            <a:r>
              <a:rPr lang="en-US" sz="2400" dirty="0">
                <a:solidFill>
                  <a:srgbClr val="FF9999"/>
                </a:solidFill>
              </a:rPr>
              <a:t> by matter</a:t>
            </a:r>
            <a:r>
              <a:rPr lang="en-US" sz="2400" dirty="0"/>
              <a:t>.</a:t>
            </a:r>
            <a:r>
              <a:rPr lang="en-GB" sz="2400" i="1" dirty="0"/>
              <a:t>”  </a:t>
            </a:r>
            <a:r>
              <a:rPr lang="en-GB" sz="2400" dirty="0"/>
              <a:t>(</a:t>
            </a:r>
            <a:r>
              <a:rPr lang="en-GB" sz="2400" i="1" dirty="0"/>
              <a:t>T</a:t>
            </a:r>
            <a:r>
              <a:rPr lang="en-GB" sz="2400" dirty="0"/>
              <a:t> 1.4.5.29)</a:t>
            </a:r>
            <a:endParaRPr lang="en-GB" sz="2400" i="1" dirty="0"/>
          </a:p>
        </p:txBody>
      </p:sp>
    </p:spTree>
    <p:extLst>
      <p:ext uri="{BB962C8B-B14F-4D97-AF65-F5344CB8AC3E}">
        <p14:creationId xmlns:p14="http://schemas.microsoft.com/office/powerpoint/2010/main" val="1293192037"/>
      </p:ext>
    </p:extLst>
  </p:cSld>
  <p:clrMapOvr>
    <a:masterClrMapping/>
  </p:clrMapOvr>
  <p:transition spd="med">
    <p:cover/>
  </p:transition>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80B7CBA-8BDB-4CEC-BB3F-4FF24CEAF2C2}"/>
              </a:ext>
            </a:extLst>
          </p:cNvPr>
          <p:cNvSpPr>
            <a:spLocks noGrp="1"/>
          </p:cNvSpPr>
          <p:nvPr>
            <p:ph type="sldNum" sz="quarter" idx="10"/>
          </p:nvPr>
        </p:nvSpPr>
        <p:spPr/>
        <p:txBody>
          <a:bodyPr/>
          <a:lstStyle/>
          <a:p>
            <a:pPr>
              <a:defRPr/>
            </a:pPr>
            <a:fld id="{5F8BA990-E780-4157-A8F1-02CBB6E49363}" type="slidenum">
              <a:rPr lang="en-US" altLang="en-US"/>
              <a:pPr>
                <a:defRPr/>
              </a:pPr>
              <a:t>301</a:t>
            </a:fld>
            <a:endParaRPr lang="en-US" altLang="en-US"/>
          </a:p>
        </p:txBody>
      </p:sp>
      <p:sp>
        <p:nvSpPr>
          <p:cNvPr id="4" name="Slide Number Placeholder 3">
            <a:extLst>
              <a:ext uri="{FF2B5EF4-FFF2-40B4-BE49-F238E27FC236}">
                <a16:creationId xmlns:a16="http://schemas.microsoft.com/office/drawing/2014/main" id="{1C932637-D614-44BB-978F-896F0CF3B7D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panose="020B0604020202020204" pitchFamily="34" charset="0"/>
              </a:defRPr>
            </a:lvl1pPr>
            <a:lvl2pPr marL="37931725" indent="-37474525">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marL="457200" fontAlgn="base">
              <a:spcBef>
                <a:spcPct val="0"/>
              </a:spcBef>
              <a:spcAft>
                <a:spcPct val="0"/>
              </a:spcAft>
              <a:defRPr>
                <a:solidFill>
                  <a:schemeClr val="tx1"/>
                </a:solidFill>
                <a:latin typeface="Arial" panose="020B0604020202020204" pitchFamily="34" charset="0"/>
              </a:defRPr>
            </a:lvl6pPr>
            <a:lvl7pPr marL="914400" fontAlgn="base">
              <a:spcBef>
                <a:spcPct val="0"/>
              </a:spcBef>
              <a:spcAft>
                <a:spcPct val="0"/>
              </a:spcAft>
              <a:defRPr>
                <a:solidFill>
                  <a:schemeClr val="tx1"/>
                </a:solidFill>
                <a:latin typeface="Arial" panose="020B0604020202020204" pitchFamily="34" charset="0"/>
              </a:defRPr>
            </a:lvl7pPr>
            <a:lvl8pPr marL="1371600" fontAlgn="base">
              <a:spcBef>
                <a:spcPct val="0"/>
              </a:spcBef>
              <a:spcAft>
                <a:spcPct val="0"/>
              </a:spcAft>
              <a:defRPr>
                <a:solidFill>
                  <a:schemeClr val="tx1"/>
                </a:solidFill>
                <a:latin typeface="Arial" panose="020B0604020202020204" pitchFamily="34" charset="0"/>
              </a:defRPr>
            </a:lvl8pPr>
            <a:lvl9pPr marL="1828800" fontAlgn="base">
              <a:spcBef>
                <a:spcPct val="0"/>
              </a:spcBef>
              <a:spcAft>
                <a:spcPct val="0"/>
              </a:spcAft>
              <a:defRPr>
                <a:solidFill>
                  <a:schemeClr val="tx1"/>
                </a:solidFill>
                <a:latin typeface="Arial" panose="020B0604020202020204" pitchFamily="34" charset="0"/>
              </a:defRPr>
            </a:lvl9pPr>
          </a:lstStyle>
          <a:p>
            <a:pPr eaLnBrk="1" hangingPunct="1">
              <a:defRPr/>
            </a:pPr>
            <a:fld id="{BDEFD786-6355-413B-BC90-8A0E54C99580}" type="slidenum">
              <a:rPr lang="en-US" altLang="en-US" sz="1600" smtClean="0">
                <a:effectLst>
                  <a:outerShdw blurRad="38100" dist="38100" dir="2700000" algn="tl">
                    <a:srgbClr val="000000"/>
                  </a:outerShdw>
                </a:effectLst>
                <a:ea typeface="ＭＳ Ｐゴシック" panose="020B0600070205080204" pitchFamily="34" charset="-128"/>
              </a:rPr>
              <a:pPr eaLnBrk="1" hangingPunct="1">
                <a:defRPr/>
              </a:pPr>
              <a:t>301</a:t>
            </a:fld>
            <a:endParaRPr lang="en-US" altLang="en-US" sz="1600">
              <a:effectLst>
                <a:outerShdw blurRad="38100" dist="38100" dir="2700000" algn="tl">
                  <a:srgbClr val="000000"/>
                </a:outerShdw>
              </a:effectLst>
              <a:ea typeface="ＭＳ Ｐゴシック" panose="020B0600070205080204" pitchFamily="34" charset="-128"/>
            </a:endParaRPr>
          </a:p>
        </p:txBody>
      </p:sp>
      <p:sp>
        <p:nvSpPr>
          <p:cNvPr id="659458" name="Rectangle 2">
            <a:extLst>
              <a:ext uri="{FF2B5EF4-FFF2-40B4-BE49-F238E27FC236}">
                <a16:creationId xmlns:a16="http://schemas.microsoft.com/office/drawing/2014/main" id="{774F382F-E80D-46CF-8754-9E63EDC98A2B}"/>
              </a:ext>
            </a:extLst>
          </p:cNvPr>
          <p:cNvSpPr>
            <a:spLocks noGrp="1" noChangeArrowheads="1"/>
          </p:cNvSpPr>
          <p:nvPr>
            <p:ph type="title" idx="4294967295"/>
          </p:nvPr>
        </p:nvSpPr>
        <p:spPr>
          <a:xfrm>
            <a:off x="215516" y="260648"/>
            <a:ext cx="8712968" cy="1728192"/>
          </a:xfrm>
        </p:spPr>
        <p:txBody>
          <a:bodyPr/>
          <a:lstStyle/>
          <a:p>
            <a:pPr eaLnBrk="1" hangingPunct="1">
              <a:defRPr/>
            </a:pPr>
            <a:r>
              <a:rPr lang="en-GB" altLang="en-US" sz="3600"/>
              <a:t>“</a:t>
            </a:r>
            <a:r>
              <a:rPr lang="en-US" altLang="en-US" sz="3600"/>
              <a:t>’tis only by our experience of …</a:t>
            </a:r>
            <a:br>
              <a:rPr lang="en-US" altLang="en-US" sz="3600"/>
            </a:br>
            <a:r>
              <a:rPr lang="en-US" altLang="en-US" sz="3600"/>
              <a:t>constant conjunction, we can arrive</a:t>
            </a:r>
            <a:br>
              <a:rPr lang="en-US" altLang="en-US" sz="3600"/>
            </a:br>
            <a:r>
              <a:rPr lang="en-US" altLang="en-US" sz="3600"/>
              <a:t>at any knowledge of causation</a:t>
            </a:r>
            <a:r>
              <a:rPr lang="en-GB" altLang="en-US" sz="3600"/>
              <a:t>”</a:t>
            </a:r>
            <a:endParaRPr lang="en-GB" altLang="en-US" sz="3600" i="1"/>
          </a:p>
        </p:txBody>
      </p:sp>
      <p:sp>
        <p:nvSpPr>
          <p:cNvPr id="659459" name="Rectangle 3">
            <a:extLst>
              <a:ext uri="{FF2B5EF4-FFF2-40B4-BE49-F238E27FC236}">
                <a16:creationId xmlns:a16="http://schemas.microsoft.com/office/drawing/2014/main" id="{18A6CADB-6301-46B2-8948-0F82552373DD}"/>
              </a:ext>
            </a:extLst>
          </p:cNvPr>
          <p:cNvSpPr>
            <a:spLocks noGrp="1" noChangeArrowheads="1"/>
          </p:cNvSpPr>
          <p:nvPr>
            <p:ph type="body" idx="4294967295"/>
          </p:nvPr>
        </p:nvSpPr>
        <p:spPr>
          <a:xfrm>
            <a:off x="287524" y="2348880"/>
            <a:ext cx="8399276" cy="4248472"/>
          </a:xfrm>
        </p:spPr>
        <p:txBody>
          <a:bodyPr/>
          <a:lstStyle/>
          <a:p>
            <a:pPr lvl="1" eaLnBrk="1" hangingPunct="1">
              <a:buFontTx/>
              <a:buNone/>
              <a:defRPr/>
            </a:pPr>
            <a:r>
              <a:rPr lang="en-GB" altLang="en-US" sz="2600"/>
              <a:t>	“</a:t>
            </a:r>
            <a:r>
              <a:rPr lang="en-GB" altLang="en-US" sz="2600">
                <a:solidFill>
                  <a:srgbClr val="FF9999"/>
                </a:solidFill>
              </a:rPr>
              <a:t>Few have been able to withstand the seeming evidence of this argument; and yet nothing in the world is more easy than to refute it</a:t>
            </a:r>
            <a:r>
              <a:rPr lang="en-GB" altLang="en-US" sz="2600"/>
              <a:t>.  We need only to reflect on what has been prov’d at large, </a:t>
            </a:r>
            <a:r>
              <a:rPr lang="en-US" altLang="en-US" sz="2600"/>
              <a:t>that we are never sensible of any connexion betwixt causes and effects, and that ’tis only by our experience of their constant conjunction, we can arrive at any knowledge of this relation.  Now as </a:t>
            </a:r>
            <a:r>
              <a:rPr lang="en-US" altLang="en-US" sz="2600">
                <a:solidFill>
                  <a:srgbClr val="FF9999"/>
                </a:solidFill>
              </a:rPr>
              <a:t>all objects, which are not contrary, are susceptible of a constant conjunction</a:t>
            </a:r>
            <a:r>
              <a:rPr lang="en-US" altLang="en-US" sz="2600"/>
              <a:t>, …”  (</a:t>
            </a:r>
            <a:r>
              <a:rPr lang="en-US" altLang="en-US" sz="2600" i="1"/>
              <a:t>T</a:t>
            </a:r>
            <a:r>
              <a:rPr lang="en-US" altLang="en-US" sz="2600"/>
              <a:t> 1.4.5.30)</a:t>
            </a:r>
            <a:endParaRPr lang="en-GB" altLang="en-US" sz="2600" i="1"/>
          </a:p>
        </p:txBody>
      </p:sp>
    </p:spTree>
    <p:extLst>
      <p:ext uri="{BB962C8B-B14F-4D97-AF65-F5344CB8AC3E}">
        <p14:creationId xmlns:p14="http://schemas.microsoft.com/office/powerpoint/2010/main" val="1164037438"/>
      </p:ext>
    </p:extLst>
  </p:cSld>
  <p:clrMapOvr>
    <a:masterClrMapping/>
  </p:clrMapOvr>
  <p:transition spd="med">
    <p:cover/>
  </p:transition>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80B7CBA-8BDB-4CEC-BB3F-4FF24CEAF2C2}"/>
              </a:ext>
            </a:extLst>
          </p:cNvPr>
          <p:cNvSpPr>
            <a:spLocks noGrp="1"/>
          </p:cNvSpPr>
          <p:nvPr>
            <p:ph type="sldNum" sz="quarter" idx="10"/>
          </p:nvPr>
        </p:nvSpPr>
        <p:spPr/>
        <p:txBody>
          <a:bodyPr/>
          <a:lstStyle/>
          <a:p>
            <a:pPr>
              <a:defRPr/>
            </a:pPr>
            <a:fld id="{5F8BA990-E780-4157-A8F1-02CBB6E49363}" type="slidenum">
              <a:rPr lang="en-US" altLang="en-US"/>
              <a:pPr>
                <a:defRPr/>
              </a:pPr>
              <a:t>302</a:t>
            </a:fld>
            <a:endParaRPr lang="en-US" altLang="en-US"/>
          </a:p>
        </p:txBody>
      </p:sp>
      <p:sp>
        <p:nvSpPr>
          <p:cNvPr id="4" name="Slide Number Placeholder 3">
            <a:extLst>
              <a:ext uri="{FF2B5EF4-FFF2-40B4-BE49-F238E27FC236}">
                <a16:creationId xmlns:a16="http://schemas.microsoft.com/office/drawing/2014/main" id="{1C932637-D614-44BB-978F-896F0CF3B7D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panose="020B0604020202020204" pitchFamily="34" charset="0"/>
              </a:defRPr>
            </a:lvl1pPr>
            <a:lvl2pPr marL="37931725" indent="-37474525">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marL="457200" fontAlgn="base">
              <a:spcBef>
                <a:spcPct val="0"/>
              </a:spcBef>
              <a:spcAft>
                <a:spcPct val="0"/>
              </a:spcAft>
              <a:defRPr>
                <a:solidFill>
                  <a:schemeClr val="tx1"/>
                </a:solidFill>
                <a:latin typeface="Arial" panose="020B0604020202020204" pitchFamily="34" charset="0"/>
              </a:defRPr>
            </a:lvl6pPr>
            <a:lvl7pPr marL="914400" fontAlgn="base">
              <a:spcBef>
                <a:spcPct val="0"/>
              </a:spcBef>
              <a:spcAft>
                <a:spcPct val="0"/>
              </a:spcAft>
              <a:defRPr>
                <a:solidFill>
                  <a:schemeClr val="tx1"/>
                </a:solidFill>
                <a:latin typeface="Arial" panose="020B0604020202020204" pitchFamily="34" charset="0"/>
              </a:defRPr>
            </a:lvl7pPr>
            <a:lvl8pPr marL="1371600" fontAlgn="base">
              <a:spcBef>
                <a:spcPct val="0"/>
              </a:spcBef>
              <a:spcAft>
                <a:spcPct val="0"/>
              </a:spcAft>
              <a:defRPr>
                <a:solidFill>
                  <a:schemeClr val="tx1"/>
                </a:solidFill>
                <a:latin typeface="Arial" panose="020B0604020202020204" pitchFamily="34" charset="0"/>
              </a:defRPr>
            </a:lvl8pPr>
            <a:lvl9pPr marL="1828800" fontAlgn="base">
              <a:spcBef>
                <a:spcPct val="0"/>
              </a:spcBef>
              <a:spcAft>
                <a:spcPct val="0"/>
              </a:spcAft>
              <a:defRPr>
                <a:solidFill>
                  <a:schemeClr val="tx1"/>
                </a:solidFill>
                <a:latin typeface="Arial" panose="020B0604020202020204" pitchFamily="34" charset="0"/>
              </a:defRPr>
            </a:lvl9pPr>
          </a:lstStyle>
          <a:p>
            <a:pPr eaLnBrk="1" hangingPunct="1">
              <a:defRPr/>
            </a:pPr>
            <a:fld id="{BDEFD786-6355-413B-BC90-8A0E54C99580}" type="slidenum">
              <a:rPr lang="en-US" altLang="en-US" sz="1600" smtClean="0">
                <a:effectLst>
                  <a:outerShdw blurRad="38100" dist="38100" dir="2700000" algn="tl">
                    <a:srgbClr val="000000"/>
                  </a:outerShdw>
                </a:effectLst>
                <a:ea typeface="ＭＳ Ｐゴシック" panose="020B0600070205080204" pitchFamily="34" charset="-128"/>
              </a:rPr>
              <a:pPr eaLnBrk="1" hangingPunct="1">
                <a:defRPr/>
              </a:pPr>
              <a:t>302</a:t>
            </a:fld>
            <a:endParaRPr lang="en-US" altLang="en-US" sz="1600">
              <a:effectLst>
                <a:outerShdw blurRad="38100" dist="38100" dir="2700000" algn="tl">
                  <a:srgbClr val="000000"/>
                </a:outerShdw>
              </a:effectLst>
              <a:ea typeface="ＭＳ Ｐゴシック" panose="020B0600070205080204" pitchFamily="34" charset="-128"/>
            </a:endParaRPr>
          </a:p>
        </p:txBody>
      </p:sp>
      <p:sp>
        <p:nvSpPr>
          <p:cNvPr id="659458" name="Rectangle 2">
            <a:extLst>
              <a:ext uri="{FF2B5EF4-FFF2-40B4-BE49-F238E27FC236}">
                <a16:creationId xmlns:a16="http://schemas.microsoft.com/office/drawing/2014/main" id="{774F382F-E80D-46CF-8754-9E63EDC98A2B}"/>
              </a:ext>
            </a:extLst>
          </p:cNvPr>
          <p:cNvSpPr>
            <a:spLocks noGrp="1" noChangeArrowheads="1"/>
          </p:cNvSpPr>
          <p:nvPr>
            <p:ph type="title" idx="4294967295"/>
          </p:nvPr>
        </p:nvSpPr>
        <p:spPr>
          <a:xfrm>
            <a:off x="971600" y="260648"/>
            <a:ext cx="7380820" cy="1206971"/>
          </a:xfrm>
        </p:spPr>
        <p:txBody>
          <a:bodyPr/>
          <a:lstStyle/>
          <a:p>
            <a:pPr eaLnBrk="1" hangingPunct="1">
              <a:defRPr/>
            </a:pPr>
            <a:r>
              <a:rPr lang="en-GB" altLang="en-US" sz="3600"/>
              <a:t>“To consider the matter </a:t>
            </a:r>
            <a:r>
              <a:rPr lang="en-GB" altLang="en-US" sz="3600" i="1"/>
              <a:t>a priori</a:t>
            </a:r>
            <a:r>
              <a:rPr lang="en-GB" altLang="en-US" sz="3600"/>
              <a:t>, any thing may produce any thing”</a:t>
            </a:r>
            <a:endParaRPr lang="en-GB" altLang="en-US" sz="3600" i="1"/>
          </a:p>
        </p:txBody>
      </p:sp>
      <p:sp>
        <p:nvSpPr>
          <p:cNvPr id="659459" name="Rectangle 3">
            <a:extLst>
              <a:ext uri="{FF2B5EF4-FFF2-40B4-BE49-F238E27FC236}">
                <a16:creationId xmlns:a16="http://schemas.microsoft.com/office/drawing/2014/main" id="{18A6CADB-6301-46B2-8948-0F82552373DD}"/>
              </a:ext>
            </a:extLst>
          </p:cNvPr>
          <p:cNvSpPr>
            <a:spLocks noGrp="1" noChangeArrowheads="1"/>
          </p:cNvSpPr>
          <p:nvPr>
            <p:ph type="body" idx="4294967295"/>
          </p:nvPr>
        </p:nvSpPr>
        <p:spPr>
          <a:xfrm>
            <a:off x="457200" y="1916832"/>
            <a:ext cx="8229600" cy="4536356"/>
          </a:xfrm>
        </p:spPr>
        <p:txBody>
          <a:bodyPr/>
          <a:lstStyle/>
          <a:p>
            <a:pPr lvl="1" eaLnBrk="1" hangingPunct="1">
              <a:buFontTx/>
              <a:buNone/>
              <a:defRPr/>
            </a:pPr>
            <a:r>
              <a:rPr lang="en-GB" altLang="en-US" sz="2600"/>
              <a:t>	“… and as no real objects are contrary; [note 48]</a:t>
            </a:r>
            <a:br>
              <a:rPr lang="en-GB" altLang="en-US" sz="2600"/>
            </a:br>
            <a:r>
              <a:rPr lang="en-GB" altLang="en-US" sz="2600"/>
              <a:t>I have inferr’d from these principles, that to consider the matter </a:t>
            </a:r>
            <a:r>
              <a:rPr lang="en-GB" altLang="en-US" sz="2600" i="1"/>
              <a:t>a priori</a:t>
            </a:r>
            <a:r>
              <a:rPr lang="en-GB" altLang="en-US" sz="2600"/>
              <a:t>, any thing may produce any thing, and that we shall never discover a reason, why any object may or may not be the cause of any other, however great, or however little the resemblance may be between them</a:t>
            </a:r>
            <a:r>
              <a:rPr lang="en-US" altLang="en-US" sz="2600"/>
              <a:t> </a:t>
            </a:r>
            <a:r>
              <a:rPr lang="en-GB" altLang="en-US" sz="2600"/>
              <a:t>”</a:t>
            </a:r>
            <a:r>
              <a:rPr lang="en-US" altLang="en-US" sz="2600"/>
              <a:t>  </a:t>
            </a:r>
            <a:r>
              <a:rPr lang="en-US" altLang="en-US" sz="2600" i="1"/>
              <a:t>(T</a:t>
            </a:r>
            <a:r>
              <a:rPr lang="en-US" altLang="en-US" sz="2600"/>
              <a:t> 1.4.5.30</a:t>
            </a:r>
            <a:r>
              <a:rPr lang="en-US" altLang="en-US" sz="2600" i="1"/>
              <a:t>)</a:t>
            </a:r>
          </a:p>
          <a:p>
            <a:pPr lvl="1" eaLnBrk="1" hangingPunct="1">
              <a:buFontTx/>
              <a:buNone/>
              <a:defRPr/>
            </a:pPr>
            <a:endParaRPr lang="en-US" altLang="en-US" sz="2600" i="1"/>
          </a:p>
          <a:p>
            <a:pPr lvl="2">
              <a:defRPr/>
            </a:pPr>
            <a:r>
              <a:rPr lang="en-GB" altLang="en-US" sz="2300"/>
              <a:t>Here note 48 refers to </a:t>
            </a:r>
            <a:r>
              <a:rPr lang="en-GB" altLang="en-US" sz="2300" i="1"/>
              <a:t>T</a:t>
            </a:r>
            <a:r>
              <a:rPr lang="en-GB" altLang="en-US" sz="2300"/>
              <a:t> 1.3.15, “Rules by which to judge of causes and effects”, paragraph 1.</a:t>
            </a:r>
          </a:p>
        </p:txBody>
      </p:sp>
    </p:spTree>
    <p:extLst>
      <p:ext uri="{BB962C8B-B14F-4D97-AF65-F5344CB8AC3E}">
        <p14:creationId xmlns:p14="http://schemas.microsoft.com/office/powerpoint/2010/main" val="3834187528"/>
      </p:ext>
    </p:extLst>
  </p:cSld>
  <p:clrMapOvr>
    <a:masterClrMapping/>
  </p:clrMapOvr>
  <p:transition spd="med">
    <p:cover/>
  </p:transition>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B8EBF1E8-75D2-4AA2-B966-D0A70A3EC132}"/>
              </a:ext>
            </a:extLst>
          </p:cNvPr>
          <p:cNvSpPr>
            <a:spLocks noGrp="1"/>
          </p:cNvSpPr>
          <p:nvPr>
            <p:ph type="sldNum" sz="quarter" idx="10"/>
          </p:nvPr>
        </p:nvSpPr>
        <p:spPr/>
        <p:txBody>
          <a:bodyPr/>
          <a:lstStyle/>
          <a:p>
            <a:pPr>
              <a:defRPr/>
            </a:pPr>
            <a:fld id="{BFF8FE1F-52A1-43EB-90E2-DFEF8959B7D4}" type="slidenum">
              <a:rPr lang="en-US" altLang="en-US"/>
              <a:pPr>
                <a:defRPr/>
              </a:pPr>
              <a:t>303</a:t>
            </a:fld>
            <a:endParaRPr lang="en-US" altLang="en-US"/>
          </a:p>
        </p:txBody>
      </p:sp>
      <p:sp>
        <p:nvSpPr>
          <p:cNvPr id="3" name="Slide Number Placeholder 3">
            <a:extLst>
              <a:ext uri="{FF2B5EF4-FFF2-40B4-BE49-F238E27FC236}">
                <a16:creationId xmlns:a16="http://schemas.microsoft.com/office/drawing/2014/main" id="{692462B4-8BC5-4FDA-AD97-297ED8F2F563}"/>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panose="020B0604020202020204" pitchFamily="34" charset="0"/>
              </a:defRPr>
            </a:lvl1pPr>
            <a:lvl2pPr marL="37931725" indent="-37474525">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marL="457200" fontAlgn="base">
              <a:spcBef>
                <a:spcPct val="0"/>
              </a:spcBef>
              <a:spcAft>
                <a:spcPct val="0"/>
              </a:spcAft>
              <a:defRPr>
                <a:solidFill>
                  <a:schemeClr val="tx1"/>
                </a:solidFill>
                <a:latin typeface="Arial" panose="020B0604020202020204" pitchFamily="34" charset="0"/>
              </a:defRPr>
            </a:lvl6pPr>
            <a:lvl7pPr marL="914400" fontAlgn="base">
              <a:spcBef>
                <a:spcPct val="0"/>
              </a:spcBef>
              <a:spcAft>
                <a:spcPct val="0"/>
              </a:spcAft>
              <a:defRPr>
                <a:solidFill>
                  <a:schemeClr val="tx1"/>
                </a:solidFill>
                <a:latin typeface="Arial" panose="020B0604020202020204" pitchFamily="34" charset="0"/>
              </a:defRPr>
            </a:lvl7pPr>
            <a:lvl8pPr marL="1371600" fontAlgn="base">
              <a:spcBef>
                <a:spcPct val="0"/>
              </a:spcBef>
              <a:spcAft>
                <a:spcPct val="0"/>
              </a:spcAft>
              <a:defRPr>
                <a:solidFill>
                  <a:schemeClr val="tx1"/>
                </a:solidFill>
                <a:latin typeface="Arial" panose="020B0604020202020204" pitchFamily="34" charset="0"/>
              </a:defRPr>
            </a:lvl8pPr>
            <a:lvl9pPr marL="1828800" fontAlgn="base">
              <a:spcBef>
                <a:spcPct val="0"/>
              </a:spcBef>
              <a:spcAft>
                <a:spcPct val="0"/>
              </a:spcAft>
              <a:defRPr>
                <a:solidFill>
                  <a:schemeClr val="tx1"/>
                </a:solidFill>
                <a:latin typeface="Arial" panose="020B0604020202020204" pitchFamily="34" charset="0"/>
              </a:defRPr>
            </a:lvl9pPr>
          </a:lstStyle>
          <a:p>
            <a:pPr eaLnBrk="1" hangingPunct="1">
              <a:defRPr/>
            </a:pPr>
            <a:fld id="{9EF195ED-1F5D-491D-8B16-79A2DF2EDE02}" type="slidenum">
              <a:rPr lang="en-US" altLang="en-US" sz="1600" smtClean="0">
                <a:effectLst>
                  <a:outerShdw blurRad="38100" dist="38100" dir="2700000" algn="tl">
                    <a:srgbClr val="000000"/>
                  </a:outerShdw>
                </a:effectLst>
                <a:ea typeface="ＭＳ Ｐゴシック" panose="020B0600070205080204" pitchFamily="34" charset="-128"/>
              </a:rPr>
              <a:pPr eaLnBrk="1" hangingPunct="1">
                <a:defRPr/>
              </a:pPr>
              <a:t>303</a:t>
            </a:fld>
            <a:endParaRPr lang="en-US" altLang="en-US" sz="1600">
              <a:effectLst>
                <a:outerShdw blurRad="38100" dist="38100" dir="2700000" algn="tl">
                  <a:srgbClr val="000000"/>
                </a:outerShdw>
              </a:effectLst>
              <a:ea typeface="ＭＳ Ｐゴシック" panose="020B0600070205080204" pitchFamily="34" charset="-128"/>
            </a:endParaRPr>
          </a:p>
        </p:txBody>
      </p:sp>
      <p:sp>
        <p:nvSpPr>
          <p:cNvPr id="661506" name="Rectangle 2">
            <a:extLst>
              <a:ext uri="{FF2B5EF4-FFF2-40B4-BE49-F238E27FC236}">
                <a16:creationId xmlns:a16="http://schemas.microsoft.com/office/drawing/2014/main" id="{8A410C6A-EC58-4BBA-B553-51DE9EFBA707}"/>
              </a:ext>
            </a:extLst>
          </p:cNvPr>
          <p:cNvSpPr>
            <a:spLocks noGrp="1" noChangeArrowheads="1"/>
          </p:cNvSpPr>
          <p:nvPr>
            <p:ph type="body" idx="4294967295"/>
          </p:nvPr>
        </p:nvSpPr>
        <p:spPr>
          <a:xfrm>
            <a:off x="457200" y="549275"/>
            <a:ext cx="8435975" cy="6308725"/>
          </a:xfrm>
        </p:spPr>
        <p:txBody>
          <a:bodyPr/>
          <a:lstStyle/>
          <a:p>
            <a:pPr eaLnBrk="1" hangingPunct="1">
              <a:defRPr/>
            </a:pPr>
            <a:r>
              <a:rPr lang="en-GB" altLang="en-US" sz="2800" dirty="0"/>
              <a:t>Hume then goes further, to insist that material motion </a:t>
            </a:r>
            <a:r>
              <a:rPr lang="en-GB" altLang="en-US" sz="2800" i="1" dirty="0"/>
              <a:t>is indeed</a:t>
            </a:r>
            <a:r>
              <a:rPr lang="en-GB" altLang="en-US" sz="2800" dirty="0"/>
              <a:t> found to be the cause of thought:</a:t>
            </a:r>
          </a:p>
          <a:p>
            <a:pPr lvl="1" eaLnBrk="1" hangingPunct="1">
              <a:spcBef>
                <a:spcPct val="50000"/>
              </a:spcBef>
              <a:defRPr/>
            </a:pPr>
            <a:r>
              <a:rPr lang="en-GB" altLang="en-US" sz="2600" dirty="0"/>
              <a:t>“we find … by experience, that they are constantly united; which being </a:t>
            </a:r>
            <a:r>
              <a:rPr lang="en-GB" altLang="en-US" sz="2600" i="1" dirty="0"/>
              <a:t>all the circumstances, that enter into the idea of cause and effect</a:t>
            </a:r>
            <a:r>
              <a:rPr lang="en-GB" altLang="en-US" sz="2600" dirty="0"/>
              <a:t> … we may </a:t>
            </a:r>
            <a:r>
              <a:rPr lang="en-GB" altLang="en-US" sz="2600" i="1" dirty="0"/>
              <a:t>certainly</a:t>
            </a:r>
            <a:r>
              <a:rPr lang="en-GB" altLang="en-US" sz="2600" dirty="0"/>
              <a:t> conclude, that motion may be, and </a:t>
            </a:r>
            <a:r>
              <a:rPr lang="en-GB" altLang="en-US" sz="2600" i="1" dirty="0"/>
              <a:t>actually is</a:t>
            </a:r>
            <a:r>
              <a:rPr lang="en-GB" altLang="en-US" sz="2600" dirty="0"/>
              <a:t>, the cause of thought and perception.”  (</a:t>
            </a:r>
            <a:r>
              <a:rPr lang="en-GB" altLang="en-US" sz="2600" i="1" dirty="0"/>
              <a:t>T</a:t>
            </a:r>
            <a:r>
              <a:rPr lang="en-GB" altLang="en-US" sz="2600" dirty="0"/>
              <a:t> 1.4.5.30, my emphasis)</a:t>
            </a:r>
          </a:p>
          <a:p>
            <a:pPr lvl="1" eaLnBrk="1" hangingPunct="1">
              <a:spcBef>
                <a:spcPct val="50000"/>
              </a:spcBef>
              <a:defRPr/>
            </a:pPr>
            <a:r>
              <a:rPr lang="en-GB" altLang="en-US" sz="2600" dirty="0"/>
              <a:t>“as </a:t>
            </a:r>
            <a:r>
              <a:rPr lang="en-GB" altLang="en-US" sz="2600" i="1" dirty="0"/>
              <a:t>the constant conjunction of objects constitutes the very essence of cause and effect</a:t>
            </a:r>
            <a:r>
              <a:rPr lang="en-GB" altLang="en-US" sz="2600" dirty="0"/>
              <a:t>, matter and motion may often be regarded as the causes of thought, as far as we have any notion of that relation.”  (</a:t>
            </a:r>
            <a:r>
              <a:rPr lang="en-GB" altLang="en-US" sz="2600" i="1" dirty="0"/>
              <a:t>T</a:t>
            </a:r>
            <a:r>
              <a:rPr lang="en-GB" altLang="en-US" sz="2600" dirty="0"/>
              <a:t> 1.4.5.33, my emphasis)</a:t>
            </a:r>
            <a:r>
              <a:rPr lang="en-US" altLang="en-US" sz="2600" dirty="0"/>
              <a:t>   </a:t>
            </a:r>
            <a:endParaRPr lang="en-GB" altLang="en-US" sz="2600" dirty="0"/>
          </a:p>
        </p:txBody>
      </p:sp>
    </p:spTree>
    <p:extLst>
      <p:ext uri="{BB962C8B-B14F-4D97-AF65-F5344CB8AC3E}">
        <p14:creationId xmlns:p14="http://schemas.microsoft.com/office/powerpoint/2010/main" val="209923528"/>
      </p:ext>
    </p:extLst>
  </p:cSld>
  <p:clrMapOvr>
    <a:masterClrMapping/>
  </p:clrMapOvr>
  <p:transition spd="med">
    <p:cover/>
  </p:transition>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A54C526-6C45-44B6-A57F-DEC9D8C5D96D}" type="slidenum">
              <a:rPr lang="en-US"/>
              <a:pPr/>
              <a:t>304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7732EFE-DBBC-4BF3-8FA8-F0AEBC7F9CAC}" type="slidenum">
              <a:rPr lang="en-US" sz="1600">
                <a:effectLst>
                  <a:outerShdw blurRad="38100" dist="38100" dir="2700000" algn="tl">
                    <a:srgbClr val="000000"/>
                  </a:outerShdw>
                </a:effectLst>
                <a:ea typeface="ＭＳ Ｐゴシック" charset="-128"/>
              </a:rPr>
              <a:pPr eaLnBrk="1" hangingPunct="1"/>
              <a:t>304</a:t>
            </a:fld>
            <a:endParaRPr lang="en-US" sz="1600">
              <a:effectLst>
                <a:outerShdw blurRad="38100" dist="38100" dir="2700000" algn="tl">
                  <a:srgbClr val="000000"/>
                </a:outerShdw>
              </a:effectLst>
              <a:ea typeface="ＭＳ Ｐゴシック" charset="-128"/>
            </a:endParaRPr>
          </a:p>
        </p:txBody>
      </p:sp>
      <p:sp>
        <p:nvSpPr>
          <p:cNvPr id="662531" name="Rectangle 3"/>
          <p:cNvSpPr>
            <a:spLocks noGrp="1" noChangeArrowheads="1"/>
          </p:cNvSpPr>
          <p:nvPr>
            <p:ph type="body" idx="4294967295"/>
          </p:nvPr>
        </p:nvSpPr>
        <p:spPr>
          <a:xfrm>
            <a:off x="252289" y="188640"/>
            <a:ext cx="8496175" cy="6373006"/>
          </a:xfrm>
        </p:spPr>
        <p:txBody>
          <a:bodyPr/>
          <a:lstStyle/>
          <a:p>
            <a:r>
              <a:rPr lang="en-GB" sz="2800" i="1" dirty="0"/>
              <a:t>T</a:t>
            </a:r>
            <a:r>
              <a:rPr lang="en-GB" sz="2800" dirty="0"/>
              <a:t> 1.4.5.31 poses a dilemma, whether causation is to be understood as involving some intelligible connexion, or instead just constant conjunction.</a:t>
            </a:r>
          </a:p>
          <a:p>
            <a:pPr>
              <a:spcBef>
                <a:spcPts val="1800"/>
              </a:spcBef>
            </a:pPr>
            <a:r>
              <a:rPr lang="en-GB" sz="2800" dirty="0"/>
              <a:t>Hume clearly opts for the second of these, thus implying that thought could have a material cause:</a:t>
            </a:r>
          </a:p>
          <a:p>
            <a:pPr lvl="1">
              <a:spcBef>
                <a:spcPts val="1200"/>
              </a:spcBef>
              <a:buNone/>
            </a:pPr>
            <a:r>
              <a:rPr lang="en-GB" dirty="0"/>
              <a:t>	</a:t>
            </a:r>
            <a:r>
              <a:rPr lang="en-GB" sz="2500" dirty="0"/>
              <a:t>“</a:t>
            </a:r>
            <a:r>
              <a:rPr lang="en-GB" sz="2500" dirty="0">
                <a:solidFill>
                  <a:srgbClr val="FF9999"/>
                </a:solidFill>
              </a:rPr>
              <a:t>all objects, which are found to be constantly </a:t>
            </a:r>
            <a:r>
              <a:rPr lang="en-GB" sz="2500" dirty="0" err="1">
                <a:solidFill>
                  <a:srgbClr val="FF9999"/>
                </a:solidFill>
              </a:rPr>
              <a:t>conjoin’d</a:t>
            </a:r>
            <a:r>
              <a:rPr lang="en-GB" sz="2500" dirty="0">
                <a:solidFill>
                  <a:srgbClr val="FF9999"/>
                </a:solidFill>
              </a:rPr>
              <a:t>, are upon that account only to be regarded as causes and effects</a:t>
            </a:r>
            <a:r>
              <a:rPr lang="en-GB" sz="2500" dirty="0"/>
              <a:t>.  Now as all objects, which are not contrary, are susceptible of a constant conjunction, and as no real objects are contrary; it follows, that for ought we can determine by the mere ideas, any thing may be the cause or effect of any thing; </a:t>
            </a:r>
            <a:r>
              <a:rPr lang="en-GB" sz="2500" dirty="0">
                <a:solidFill>
                  <a:srgbClr val="FF9999"/>
                </a:solidFill>
              </a:rPr>
              <a:t>which evidently gives the advantage to the materialists</a:t>
            </a:r>
            <a:r>
              <a:rPr lang="en-GB" sz="2500" dirty="0"/>
              <a:t> above their antagonists.”  (</a:t>
            </a:r>
            <a:r>
              <a:rPr lang="en-GB" sz="2500" i="1" dirty="0"/>
              <a:t>T</a:t>
            </a:r>
            <a:r>
              <a:rPr lang="en-GB" sz="2500" dirty="0"/>
              <a:t> 1.4.5.31)</a:t>
            </a:r>
            <a:r>
              <a:rPr lang="en-US" sz="2500" dirty="0"/>
              <a:t> </a:t>
            </a:r>
            <a:endParaRPr lang="en-GB" sz="2500" dirty="0"/>
          </a:p>
        </p:txBody>
      </p:sp>
    </p:spTree>
    <p:extLst>
      <p:ext uri="{BB962C8B-B14F-4D97-AF65-F5344CB8AC3E}">
        <p14:creationId xmlns:p14="http://schemas.microsoft.com/office/powerpoint/2010/main" val="4277167687"/>
      </p:ext>
    </p:extLst>
  </p:cSld>
  <p:clrMapOvr>
    <a:masterClrMapping/>
  </p:clrMapOvr>
  <p:transition spd="med">
    <p:cover/>
  </p:transition>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96415A51-B112-4C29-ACB3-E5EEA380B0A1}"/>
              </a:ext>
            </a:extLst>
          </p:cNvPr>
          <p:cNvSpPr>
            <a:spLocks noGrp="1"/>
          </p:cNvSpPr>
          <p:nvPr>
            <p:ph type="sldNum" sz="quarter" idx="10"/>
          </p:nvPr>
        </p:nvSpPr>
        <p:spPr/>
        <p:txBody>
          <a:bodyPr/>
          <a:lstStyle/>
          <a:p>
            <a:pPr>
              <a:defRPr/>
            </a:pPr>
            <a:fld id="{34759AAC-A369-4F91-BF0D-1D3BA4504670}" type="slidenum">
              <a:rPr lang="en-US" altLang="en-US"/>
              <a:pPr>
                <a:defRPr/>
              </a:pPr>
              <a:t>305</a:t>
            </a:fld>
            <a:endParaRPr lang="en-US" altLang="en-US"/>
          </a:p>
        </p:txBody>
      </p:sp>
      <p:sp>
        <p:nvSpPr>
          <p:cNvPr id="2" name="Title 1">
            <a:extLst>
              <a:ext uri="{FF2B5EF4-FFF2-40B4-BE49-F238E27FC236}">
                <a16:creationId xmlns:a16="http://schemas.microsoft.com/office/drawing/2014/main" id="{1F02B8C4-99CD-4C42-8A60-BC9E32178FD2}"/>
              </a:ext>
            </a:extLst>
          </p:cNvPr>
          <p:cNvSpPr>
            <a:spLocks noGrp="1"/>
          </p:cNvSpPr>
          <p:nvPr>
            <p:ph type="title" idx="4294967295"/>
          </p:nvPr>
        </p:nvSpPr>
        <p:spPr>
          <a:xfrm>
            <a:off x="457200" y="152636"/>
            <a:ext cx="8229600" cy="666911"/>
          </a:xfrm>
        </p:spPr>
        <p:txBody>
          <a:bodyPr/>
          <a:lstStyle/>
          <a:p>
            <a:pPr eaLnBrk="1" hangingPunct="1">
              <a:defRPr/>
            </a:pPr>
            <a:r>
              <a:rPr lang="en-US" altLang="en-US"/>
              <a:t>Applying the Definition of Cause</a:t>
            </a:r>
          </a:p>
        </p:txBody>
      </p:sp>
      <p:sp>
        <p:nvSpPr>
          <p:cNvPr id="3" name="Content Placeholder 2">
            <a:extLst>
              <a:ext uri="{FF2B5EF4-FFF2-40B4-BE49-F238E27FC236}">
                <a16:creationId xmlns:a16="http://schemas.microsoft.com/office/drawing/2014/main" id="{9BBD198C-C068-40EC-8EFC-B17460F5D7B9}"/>
              </a:ext>
            </a:extLst>
          </p:cNvPr>
          <p:cNvSpPr>
            <a:spLocks noGrp="1"/>
          </p:cNvSpPr>
          <p:nvPr>
            <p:ph idx="4294967295"/>
          </p:nvPr>
        </p:nvSpPr>
        <p:spPr>
          <a:xfrm>
            <a:off x="770892" y="1160748"/>
            <a:ext cx="7941568" cy="5472608"/>
          </a:xfrm>
        </p:spPr>
        <p:txBody>
          <a:bodyPr/>
          <a:lstStyle/>
          <a:p>
            <a:pPr eaLnBrk="1" hangingPunct="1">
              <a:spcBef>
                <a:spcPts val="1200"/>
              </a:spcBef>
              <a:defRPr/>
            </a:pPr>
            <a:r>
              <a:rPr lang="en-US" altLang="en-US" sz="2700" dirty="0"/>
              <a:t>Thus at the end of </a:t>
            </a:r>
            <a:r>
              <a:rPr lang="en-US" altLang="en-US" sz="2700" i="1" dirty="0"/>
              <a:t>Treatise</a:t>
            </a:r>
            <a:r>
              <a:rPr lang="en-US" altLang="en-US" sz="2700" dirty="0"/>
              <a:t> 1.4.5 – just as in the discussion of “Liberty and Necessity” which is to come in 2.3.1 and 2.3.2 (and </a:t>
            </a:r>
            <a:r>
              <a:rPr lang="en-US" altLang="en-US" sz="2700" i="1" dirty="0"/>
              <a:t>Enquiry</a:t>
            </a:r>
            <a:r>
              <a:rPr lang="en-US" altLang="en-US" sz="2700" dirty="0"/>
              <a:t> 8) – Hume is applying his (first) definition of cause in terms of constant conjunction.</a:t>
            </a:r>
          </a:p>
          <a:p>
            <a:pPr eaLnBrk="1" hangingPunct="1">
              <a:spcBef>
                <a:spcPts val="1200"/>
              </a:spcBef>
              <a:defRPr/>
            </a:pPr>
            <a:r>
              <a:rPr lang="en-US" altLang="en-US" sz="2700" dirty="0"/>
              <a:t>As </a:t>
            </a:r>
            <a:r>
              <a:rPr lang="en-US" altLang="en-US" sz="2700" dirty="0" err="1"/>
              <a:t>emphasised</a:t>
            </a:r>
            <a:r>
              <a:rPr lang="en-US" altLang="en-US" sz="2700" dirty="0"/>
              <a:t> in earlier lectures, these are </a:t>
            </a:r>
            <a:r>
              <a:rPr lang="en-US" altLang="en-US" sz="2700" i="1" dirty="0"/>
              <a:t>positive</a:t>
            </a:r>
            <a:r>
              <a:rPr lang="en-US" altLang="en-US" sz="2700" dirty="0"/>
              <a:t> (rather than </a:t>
            </a:r>
            <a:r>
              <a:rPr lang="en-US" altLang="en-US" sz="2700" dirty="0" err="1"/>
              <a:t>sceptical</a:t>
            </a:r>
            <a:r>
              <a:rPr lang="en-US" altLang="en-US" sz="2700" dirty="0"/>
              <a:t>) implications of his definition: they </a:t>
            </a:r>
            <a:r>
              <a:rPr lang="en-US" altLang="en-US" sz="2700" i="1" dirty="0"/>
              <a:t>vindicate</a:t>
            </a:r>
            <a:r>
              <a:rPr lang="en-US" altLang="en-US" sz="2700" dirty="0"/>
              <a:t> the application of causation to mental phenomena.</a:t>
            </a:r>
          </a:p>
          <a:p>
            <a:pPr eaLnBrk="1" hangingPunct="1">
              <a:spcBef>
                <a:spcPts val="1200"/>
              </a:spcBef>
              <a:defRPr/>
            </a:pPr>
            <a:r>
              <a:rPr lang="en-US" altLang="en-US" sz="2700" dirty="0"/>
              <a:t>Hume’s analysis of causation, culminating at </a:t>
            </a:r>
            <a:r>
              <a:rPr lang="en-US" altLang="en-US" sz="2700" i="1" dirty="0"/>
              <a:t>Treatise</a:t>
            </a:r>
            <a:r>
              <a:rPr lang="en-US" altLang="en-US" sz="2700" dirty="0"/>
              <a:t> 1.3.14-15, has thus served the purpose of supporting materialism and determinism.</a:t>
            </a:r>
            <a:endParaRPr lang="en-US" altLang="en-US" sz="2700" i="1" dirty="0"/>
          </a:p>
          <a:p>
            <a:pPr eaLnBrk="1" hangingPunct="1">
              <a:spcBef>
                <a:spcPts val="1200"/>
              </a:spcBef>
              <a:defRPr/>
            </a:pPr>
            <a:endParaRPr lang="en-US" altLang="en-US" sz="2800" dirty="0"/>
          </a:p>
          <a:p>
            <a:pPr eaLnBrk="1" hangingPunct="1">
              <a:spcBef>
                <a:spcPts val="1200"/>
              </a:spcBef>
              <a:defRPr/>
            </a:pPr>
            <a:endParaRPr lang="en-US" altLang="en-US" sz="2800" dirty="0"/>
          </a:p>
        </p:txBody>
      </p:sp>
      <p:sp>
        <p:nvSpPr>
          <p:cNvPr id="4" name="Slide Number Placeholder 3">
            <a:extLst>
              <a:ext uri="{FF2B5EF4-FFF2-40B4-BE49-F238E27FC236}">
                <a16:creationId xmlns:a16="http://schemas.microsoft.com/office/drawing/2014/main" id="{8EC6B3D1-6292-42D1-9F67-48FA79A8E94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panose="020B0604020202020204" pitchFamily="34" charset="0"/>
              </a:defRPr>
            </a:lvl1pPr>
            <a:lvl2pPr marL="37931725" indent="-37474525">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marL="457200" fontAlgn="base">
              <a:spcBef>
                <a:spcPct val="0"/>
              </a:spcBef>
              <a:spcAft>
                <a:spcPct val="0"/>
              </a:spcAft>
              <a:defRPr>
                <a:solidFill>
                  <a:schemeClr val="tx1"/>
                </a:solidFill>
                <a:latin typeface="Arial" panose="020B0604020202020204" pitchFamily="34" charset="0"/>
              </a:defRPr>
            </a:lvl6pPr>
            <a:lvl7pPr marL="914400" fontAlgn="base">
              <a:spcBef>
                <a:spcPct val="0"/>
              </a:spcBef>
              <a:spcAft>
                <a:spcPct val="0"/>
              </a:spcAft>
              <a:defRPr>
                <a:solidFill>
                  <a:schemeClr val="tx1"/>
                </a:solidFill>
                <a:latin typeface="Arial" panose="020B0604020202020204" pitchFamily="34" charset="0"/>
              </a:defRPr>
            </a:lvl7pPr>
            <a:lvl8pPr marL="1371600" fontAlgn="base">
              <a:spcBef>
                <a:spcPct val="0"/>
              </a:spcBef>
              <a:spcAft>
                <a:spcPct val="0"/>
              </a:spcAft>
              <a:defRPr>
                <a:solidFill>
                  <a:schemeClr val="tx1"/>
                </a:solidFill>
                <a:latin typeface="Arial" panose="020B0604020202020204" pitchFamily="34" charset="0"/>
              </a:defRPr>
            </a:lvl8pPr>
            <a:lvl9pPr marL="1828800" fontAlgn="base">
              <a:spcBef>
                <a:spcPct val="0"/>
              </a:spcBef>
              <a:spcAft>
                <a:spcPct val="0"/>
              </a:spcAft>
              <a:defRPr>
                <a:solidFill>
                  <a:schemeClr val="tx1"/>
                </a:solidFill>
                <a:latin typeface="Arial" panose="020B0604020202020204" pitchFamily="34" charset="0"/>
              </a:defRPr>
            </a:lvl9pPr>
          </a:lstStyle>
          <a:p>
            <a:pPr eaLnBrk="1" hangingPunct="1">
              <a:defRPr/>
            </a:pPr>
            <a:fld id="{A7961B62-93D2-407F-BBB9-075100B440B0}" type="slidenum">
              <a:rPr lang="en-US" altLang="en-US" sz="1600" smtClean="0">
                <a:effectLst>
                  <a:outerShdw blurRad="38100" dist="38100" dir="2700000" algn="tl">
                    <a:srgbClr val="000000"/>
                  </a:outerShdw>
                </a:effectLst>
                <a:ea typeface="ＭＳ Ｐゴシック" panose="020B0600070205080204" pitchFamily="34" charset="-128"/>
              </a:rPr>
              <a:pPr eaLnBrk="1" hangingPunct="1">
                <a:defRPr/>
              </a:pPr>
              <a:t>305</a:t>
            </a:fld>
            <a:endParaRPr lang="en-US" altLang="en-US" sz="1600">
              <a:effectLst>
                <a:outerShdw blurRad="38100" dist="38100" dir="2700000" algn="tl">
                  <a:srgbClr val="000000"/>
                </a:outerShdw>
              </a:effectLst>
              <a:ea typeface="ＭＳ Ｐゴシック" panose="020B0600070205080204" pitchFamily="34" charset="-128"/>
            </a:endParaRPr>
          </a:p>
        </p:txBody>
      </p:sp>
    </p:spTree>
    <p:extLst>
      <p:ext uri="{BB962C8B-B14F-4D97-AF65-F5344CB8AC3E}">
        <p14:creationId xmlns:p14="http://schemas.microsoft.com/office/powerpoint/2010/main" val="3567741888"/>
      </p:ext>
    </p:extLst>
  </p:cSld>
  <p:clrMapOvr>
    <a:masterClrMapping/>
  </p:clrMapOvr>
  <p:transition spd="med">
    <p:cover/>
  </p:transition>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0F75011-B8BE-46AE-A9A4-A9BD427B7AEC}" type="slidenum">
              <a:rPr lang="en-US"/>
              <a:pPr/>
              <a:t>306</a:t>
            </a:fld>
            <a:endParaRPr lang="en-US"/>
          </a:p>
        </p:txBody>
      </p:sp>
      <p:sp>
        <p:nvSpPr>
          <p:cNvPr id="2" name="Title 1"/>
          <p:cNvSpPr>
            <a:spLocks noGrp="1"/>
          </p:cNvSpPr>
          <p:nvPr>
            <p:ph type="title" idx="4294967295"/>
          </p:nvPr>
        </p:nvSpPr>
        <p:spPr>
          <a:xfrm>
            <a:off x="457200" y="188640"/>
            <a:ext cx="8229600" cy="882935"/>
          </a:xfrm>
        </p:spPr>
        <p:txBody>
          <a:bodyPr/>
          <a:lstStyle/>
          <a:p>
            <a:r>
              <a:rPr lang="en-US" dirty="0"/>
              <a:t>A Puzzling Conclusion</a:t>
            </a:r>
          </a:p>
        </p:txBody>
      </p:sp>
      <p:sp>
        <p:nvSpPr>
          <p:cNvPr id="3" name="Content Placeholder 2"/>
          <p:cNvSpPr>
            <a:spLocks noGrp="1"/>
          </p:cNvSpPr>
          <p:nvPr>
            <p:ph idx="4294967295"/>
          </p:nvPr>
        </p:nvSpPr>
        <p:spPr>
          <a:xfrm>
            <a:off x="457200" y="1412776"/>
            <a:ext cx="8342313" cy="5092799"/>
          </a:xfrm>
        </p:spPr>
        <p:txBody>
          <a:bodyPr/>
          <a:lstStyle/>
          <a:p>
            <a:r>
              <a:rPr lang="en-US" sz="2700" dirty="0"/>
              <a:t>The final paragraph, </a:t>
            </a:r>
            <a:r>
              <a:rPr lang="en-US" sz="2700" i="1" dirty="0"/>
              <a:t>T</a:t>
            </a:r>
            <a:r>
              <a:rPr lang="en-US" sz="2700" dirty="0"/>
              <a:t> 1.4.5.35, starts by repeating Hume’s key principle (</a:t>
            </a:r>
            <a:r>
              <a:rPr lang="en-US" sz="2700" dirty="0" err="1"/>
              <a:t>cf.</a:t>
            </a:r>
            <a:r>
              <a:rPr lang="en-US" sz="2700" i="1" dirty="0" err="1"/>
              <a:t>T</a:t>
            </a:r>
            <a:r>
              <a:rPr lang="en-US" sz="2700" dirty="0"/>
              <a:t> 1.3.15.1 and 1.4.5.30) that causes and effects can be known only by experience, since “</a:t>
            </a:r>
            <a:r>
              <a:rPr lang="en-US" sz="2700" i="1" dirty="0"/>
              <a:t>whatever we can imagine, is possible</a:t>
            </a:r>
            <a:r>
              <a:rPr lang="en-US" sz="2700" dirty="0"/>
              <a:t>” (i.e. the Conceivability Principle ).</a:t>
            </a:r>
          </a:p>
          <a:p>
            <a:pPr>
              <a:spcBef>
                <a:spcPts val="1200"/>
              </a:spcBef>
            </a:pPr>
            <a:r>
              <a:rPr lang="en-US" sz="2700" dirty="0"/>
              <a:t>However the last two sentences refer to “the immortality of the soul”, which hasn’t so far been mentioned!  This seems to be a trace of one of the “noble parts” on religion which Hume excised from the </a:t>
            </a:r>
            <a:r>
              <a:rPr lang="en-US" sz="2700" i="1" dirty="0"/>
              <a:t>Treatise</a:t>
            </a:r>
            <a:r>
              <a:rPr lang="en-US" sz="2700" dirty="0"/>
              <a:t> manuscript when he “castrated” it in 1737 (cf. letter to Henry Home, </a:t>
            </a:r>
            <a:r>
              <a:rPr lang="en-US" sz="2700" i="1" dirty="0"/>
              <a:t>NHL</a:t>
            </a:r>
            <a:r>
              <a:rPr lang="en-US" sz="2700" dirty="0"/>
              <a:t> 2)</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5710D88-5D46-4BEA-8E8B-363CEA0EEDE3}" type="slidenum">
              <a:rPr lang="en-US" sz="1600">
                <a:effectLst>
                  <a:outerShdw blurRad="38100" dist="38100" dir="2700000" algn="tl">
                    <a:srgbClr val="000000"/>
                  </a:outerShdw>
                </a:effectLst>
                <a:ea typeface="ＭＳ Ｐゴシック" charset="-128"/>
              </a:rPr>
              <a:pPr eaLnBrk="1" hangingPunct="1"/>
              <a:t>306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493345829"/>
      </p:ext>
    </p:extLst>
  </p:cSld>
  <p:clrMapOvr>
    <a:masterClrMapping/>
  </p:clrMapOvr>
  <p:transition spd="med">
    <p:cover/>
  </p:transition>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BFED542-C2DC-4488-B456-7D22B2EBD604}" type="slidenum">
              <a:rPr lang="en-US"/>
              <a:pPr/>
              <a:t>307</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5400"/>
              <a:t>7(c)</a:t>
            </a:r>
            <a:br>
              <a:rPr lang="en-GB" sz="5400" dirty="0"/>
            </a:br>
            <a:br>
              <a:rPr lang="en-GB" sz="5400" dirty="0"/>
            </a:br>
            <a:r>
              <a:rPr lang="en-GB" sz="5400" dirty="0"/>
              <a:t>Of Personal Identity</a:t>
            </a:r>
            <a:endParaRPr lang="en-US" sz="5400" dirty="0"/>
          </a:p>
        </p:txBody>
      </p:sp>
      <p:pic>
        <p:nvPicPr>
          <p:cNvPr id="1205251"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3532037344"/>
      </p:ext>
    </p:extLst>
  </p:cSld>
  <p:clrMapOvr>
    <a:masterClrMapping/>
  </p:clrMapOvr>
  <p:transition spd="med">
    <p:cover/>
  </p:transition>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759750F-E959-4688-88A4-7EEDCC839910}" type="slidenum">
              <a:rPr lang="en-US"/>
              <a:pPr/>
              <a:t>308</a:t>
            </a:fld>
            <a:endParaRPr lang="en-US"/>
          </a:p>
        </p:txBody>
      </p:sp>
      <p:sp>
        <p:nvSpPr>
          <p:cNvPr id="2" name="Title 1"/>
          <p:cNvSpPr>
            <a:spLocks noGrp="1"/>
          </p:cNvSpPr>
          <p:nvPr>
            <p:ph type="title" idx="4294967295"/>
          </p:nvPr>
        </p:nvSpPr>
        <p:spPr>
          <a:xfrm>
            <a:off x="457200" y="277813"/>
            <a:ext cx="8229600" cy="750367"/>
          </a:xfrm>
        </p:spPr>
        <p:txBody>
          <a:bodyPr/>
          <a:lstStyle/>
          <a:p>
            <a:r>
              <a:rPr lang="en-US" dirty="0"/>
              <a:t>Of Personal Identity</a:t>
            </a:r>
          </a:p>
        </p:txBody>
      </p:sp>
      <p:sp>
        <p:nvSpPr>
          <p:cNvPr id="3" name="Content Placeholder 2"/>
          <p:cNvSpPr>
            <a:spLocks noGrp="1"/>
          </p:cNvSpPr>
          <p:nvPr>
            <p:ph idx="4294967295"/>
          </p:nvPr>
        </p:nvSpPr>
        <p:spPr>
          <a:xfrm>
            <a:off x="518864" y="1268760"/>
            <a:ext cx="8229600" cy="5256585"/>
          </a:xfrm>
        </p:spPr>
        <p:txBody>
          <a:bodyPr/>
          <a:lstStyle/>
          <a:p>
            <a:r>
              <a:rPr lang="en-US" sz="2700" i="1" dirty="0"/>
              <a:t>Treatise</a:t>
            </a:r>
            <a:r>
              <a:rPr lang="en-US" sz="2700" dirty="0"/>
              <a:t> 1.4.6 addresses the topic of personal identity, wielding the Copy Principle (</a:t>
            </a:r>
            <a:r>
              <a:rPr lang="en-US" sz="2700" i="1" dirty="0"/>
              <a:t>T</a:t>
            </a:r>
            <a:r>
              <a:rPr lang="en-US" sz="2700" dirty="0"/>
              <a:t> 1.4.6.2) to deny that we have any idea of the self which is anything like the conventionally presumed notion with its “perfect identity and simplicity” (</a:t>
            </a:r>
            <a:r>
              <a:rPr lang="en-US" sz="2700" i="1" dirty="0"/>
              <a:t>T</a:t>
            </a:r>
            <a:r>
              <a:rPr lang="en-US" sz="2700" dirty="0"/>
              <a:t> 1.4.6.1).</a:t>
            </a:r>
          </a:p>
          <a:p>
            <a:pPr>
              <a:spcBef>
                <a:spcPts val="1200"/>
              </a:spcBef>
            </a:pPr>
            <a:r>
              <a:rPr lang="en-US" sz="2700" dirty="0"/>
              <a:t>There is no such impression, and hence no such idea, of </a:t>
            </a:r>
            <a:r>
              <a:rPr lang="en-US" sz="2700" i="1" dirty="0"/>
              <a:t>self </a:t>
            </a:r>
            <a:r>
              <a:rPr lang="en-US" sz="2700" dirty="0"/>
              <a:t>(</a:t>
            </a:r>
            <a:r>
              <a:rPr lang="en-US" sz="2700" i="1" dirty="0"/>
              <a:t>T</a:t>
            </a:r>
            <a:r>
              <a:rPr lang="en-US" sz="2700" dirty="0"/>
              <a:t> 1.4.6.2).  When I look inside myself, “I always stumble on some particular perception or other, of heat or cold, light or shade, love or hatred, pain or pleasure.  I never can catch </a:t>
            </a:r>
            <a:r>
              <a:rPr lang="en-US" sz="2700" i="1" dirty="0"/>
              <a:t>myself </a:t>
            </a:r>
            <a:r>
              <a:rPr lang="en-US" sz="2700" dirty="0"/>
              <a:t>at any time without a perception, and never can observe any thing but the perception.”  (</a:t>
            </a:r>
            <a:r>
              <a:rPr lang="en-US" sz="2700" i="1" dirty="0"/>
              <a:t>T</a:t>
            </a:r>
            <a:r>
              <a:rPr lang="en-US" sz="2700" dirty="0"/>
              <a:t> 1.4.6.3)</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7888AAC-C6E5-4008-AE03-DC80A3644EB1}" type="slidenum">
              <a:rPr lang="en-US" sz="1600">
                <a:effectLst>
                  <a:outerShdw blurRad="38100" dist="38100" dir="2700000" algn="tl">
                    <a:srgbClr val="000000"/>
                  </a:outerShdw>
                </a:effectLst>
                <a:ea typeface="ＭＳ Ｐゴシック" charset="-128"/>
              </a:rPr>
              <a:pPr eaLnBrk="1" hangingPunct="1"/>
              <a:t>308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656767277"/>
      </p:ext>
    </p:extLst>
  </p:cSld>
  <p:clrMapOvr>
    <a:masterClrMapping/>
  </p:clrMapOvr>
  <p:transition spd="med">
    <p:cover/>
  </p:transition>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6A436F6-70AE-447C-9F09-9E351D782732}" type="slidenum">
              <a:rPr lang="en-US"/>
              <a:pPr/>
              <a:t>309</a:t>
            </a:fld>
            <a:endParaRPr lang="en-US"/>
          </a:p>
        </p:txBody>
      </p:sp>
      <p:sp>
        <p:nvSpPr>
          <p:cNvPr id="2" name="Title 1"/>
          <p:cNvSpPr>
            <a:spLocks noGrp="1"/>
          </p:cNvSpPr>
          <p:nvPr>
            <p:ph type="title" idx="4294967295"/>
          </p:nvPr>
        </p:nvSpPr>
        <p:spPr>
          <a:xfrm>
            <a:off x="457200" y="277813"/>
            <a:ext cx="8229600" cy="882935"/>
          </a:xfrm>
        </p:spPr>
        <p:txBody>
          <a:bodyPr/>
          <a:lstStyle/>
          <a:p>
            <a:r>
              <a:rPr lang="en-US" dirty="0"/>
              <a:t>The Bundle Theory</a:t>
            </a:r>
          </a:p>
        </p:txBody>
      </p:sp>
      <p:sp>
        <p:nvSpPr>
          <p:cNvPr id="3" name="Content Placeholder 2"/>
          <p:cNvSpPr>
            <a:spLocks noGrp="1"/>
          </p:cNvSpPr>
          <p:nvPr>
            <p:ph idx="4294967295"/>
          </p:nvPr>
        </p:nvSpPr>
        <p:spPr>
          <a:xfrm>
            <a:off x="359532" y="1412776"/>
            <a:ext cx="8488362" cy="5103875"/>
          </a:xfrm>
        </p:spPr>
        <p:txBody>
          <a:bodyPr/>
          <a:lstStyle/>
          <a:p>
            <a:r>
              <a:rPr lang="en-US" sz="3000" dirty="0"/>
              <a:t>Hence the only genuine idea of self is that of:</a:t>
            </a:r>
          </a:p>
          <a:p>
            <a:pPr lvl="1">
              <a:spcBef>
                <a:spcPts val="1200"/>
              </a:spcBef>
              <a:buFontTx/>
              <a:buNone/>
            </a:pPr>
            <a:r>
              <a:rPr lang="en-US" dirty="0"/>
              <a:t>	</a:t>
            </a:r>
            <a:r>
              <a:rPr lang="en-US" sz="2400" dirty="0"/>
              <a:t>“</a:t>
            </a:r>
            <a:r>
              <a:rPr lang="en-US" sz="2400" dirty="0">
                <a:solidFill>
                  <a:srgbClr val="FF9999"/>
                </a:solidFill>
              </a:rPr>
              <a:t>nothing but a bundle or collection of different perceptions [impressions and ideas], which succeed each other with an inconceivable rapidity</a:t>
            </a:r>
            <a:r>
              <a:rPr lang="en-US" sz="2400" dirty="0"/>
              <a:t>, and are in a perpetual flux and movement.  …  The mind is a kind of theatre, where several perceptions successively make their appearance …  </a:t>
            </a:r>
            <a:r>
              <a:rPr lang="en-US" sz="2400" dirty="0">
                <a:solidFill>
                  <a:srgbClr val="FF9999"/>
                </a:solidFill>
              </a:rPr>
              <a:t>There is properly no </a:t>
            </a:r>
            <a:r>
              <a:rPr lang="en-US" sz="2400" i="1" dirty="0">
                <a:solidFill>
                  <a:srgbClr val="FF9999"/>
                </a:solidFill>
              </a:rPr>
              <a:t>simplicity</a:t>
            </a:r>
            <a:r>
              <a:rPr lang="en-US" sz="2400" dirty="0">
                <a:solidFill>
                  <a:srgbClr val="FF9999"/>
                </a:solidFill>
              </a:rPr>
              <a:t> in it at one time, nor </a:t>
            </a:r>
            <a:r>
              <a:rPr lang="en-US" sz="2400" i="1" dirty="0">
                <a:solidFill>
                  <a:srgbClr val="FF9999"/>
                </a:solidFill>
              </a:rPr>
              <a:t>identity</a:t>
            </a:r>
            <a:r>
              <a:rPr lang="en-US" sz="2400" dirty="0">
                <a:solidFill>
                  <a:srgbClr val="FF9999"/>
                </a:solidFill>
              </a:rPr>
              <a:t> in different</a:t>
            </a:r>
            <a:r>
              <a:rPr lang="en-US" sz="2400" dirty="0"/>
              <a:t>.  …  The comparison of the theatre must not mislead us.  </a:t>
            </a:r>
            <a:r>
              <a:rPr lang="en-US" sz="2400" dirty="0">
                <a:solidFill>
                  <a:srgbClr val="FF9999"/>
                </a:solidFill>
              </a:rPr>
              <a:t>They are the successive perceptions only, that constitute the mind; nor have we the most distant notion of the place, where these scenes are represented </a:t>
            </a:r>
            <a:r>
              <a:rPr lang="en-US" sz="2400" dirty="0"/>
              <a:t>…”  (</a:t>
            </a:r>
            <a:r>
              <a:rPr lang="en-US" sz="2400" i="1" dirty="0"/>
              <a:t>T</a:t>
            </a:r>
            <a:r>
              <a:rPr lang="en-US" sz="2400" dirty="0"/>
              <a:t> 1.4.6.4)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744B004-858E-4BAA-8638-F6C442F05EF4}" type="slidenum">
              <a:rPr lang="en-US" sz="1600">
                <a:effectLst>
                  <a:outerShdw blurRad="38100" dist="38100" dir="2700000" algn="tl">
                    <a:srgbClr val="000000"/>
                  </a:outerShdw>
                </a:effectLst>
                <a:ea typeface="ＭＳ Ｐゴシック" charset="-128"/>
              </a:rPr>
              <a:pPr eaLnBrk="1" hangingPunct="1"/>
              <a:t>309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51509815"/>
      </p:ext>
    </p:extLst>
  </p:cSld>
  <p:clrMapOvr>
    <a:masterClrMapping/>
  </p:clrMapOvr>
  <p:transition spd="med">
    <p:cover/>
  </p:transition>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6A436F6-70AE-447C-9F09-9E351D782732}" type="slidenum">
              <a:rPr lang="en-US"/>
              <a:pPr/>
              <a:t>310</a:t>
            </a:fld>
            <a:endParaRPr lang="en-US"/>
          </a:p>
        </p:txBody>
      </p:sp>
      <p:sp>
        <p:nvSpPr>
          <p:cNvPr id="3" name="Content Placeholder 2"/>
          <p:cNvSpPr>
            <a:spLocks noGrp="1"/>
          </p:cNvSpPr>
          <p:nvPr>
            <p:ph idx="4294967295"/>
          </p:nvPr>
        </p:nvSpPr>
        <p:spPr>
          <a:xfrm>
            <a:off x="143508" y="188640"/>
            <a:ext cx="8704386" cy="6444716"/>
          </a:xfrm>
        </p:spPr>
        <p:txBody>
          <a:bodyPr/>
          <a:lstStyle/>
          <a:p>
            <a:r>
              <a:rPr lang="en-US" sz="2800"/>
              <a:t>Later Hume suggests another comparison:</a:t>
            </a:r>
            <a:endParaRPr lang="en-US" sz="2800" dirty="0"/>
          </a:p>
          <a:p>
            <a:pPr lvl="1">
              <a:spcBef>
                <a:spcPts val="1200"/>
              </a:spcBef>
              <a:buFontTx/>
              <a:buNone/>
            </a:pPr>
            <a:r>
              <a:rPr lang="en-US"/>
              <a:t>	</a:t>
            </a:r>
            <a:r>
              <a:rPr lang="en-US" sz="2000"/>
              <a:t>“the true idea of the human mind, is to consider it as a system of different perceptions or different existences, which are link’d together by the relation of cause and effect, …  Our impressions give rise to their correspondent ideas; and these ideas in their turn produce other impressions.  …  In this respect, </a:t>
            </a:r>
            <a:r>
              <a:rPr lang="en-US" sz="2000">
                <a:solidFill>
                  <a:srgbClr val="FF9999"/>
                </a:solidFill>
              </a:rPr>
              <a:t>I cannot compare the soul more properly to any thing than to a republic or commonwealth</a:t>
            </a:r>
            <a:r>
              <a:rPr lang="en-US" sz="2000"/>
              <a:t>, in which the several members are united by the reciprocal ties of government and subordination, and give rise to other persons, who propagate the same republic in the incessant changes of its parts.  And as the same individual republic may not only change its members, but also its laws and constitutions; </a:t>
            </a:r>
            <a:r>
              <a:rPr lang="en-US" sz="2000">
                <a:solidFill>
                  <a:srgbClr val="FF9999"/>
                </a:solidFill>
              </a:rPr>
              <a:t>in like manner </a:t>
            </a:r>
            <a:r>
              <a:rPr lang="en-US" sz="2000" u="sng">
                <a:solidFill>
                  <a:srgbClr val="FF9999"/>
                </a:solidFill>
              </a:rPr>
              <a:t>the same person may vary his character and disposition, as well as his impressions and ideas, without losing his identity</a:t>
            </a:r>
            <a:r>
              <a:rPr lang="en-US" sz="2000"/>
              <a:t>.  Whatever changes he endures, his several parts are still connected by the relation of causation.  And in this view </a:t>
            </a:r>
            <a:r>
              <a:rPr lang="en-US" sz="2000">
                <a:solidFill>
                  <a:srgbClr val="FF9999"/>
                </a:solidFill>
              </a:rPr>
              <a:t>our identity with regard to the passions serves to corroborate that with regard to the imagination</a:t>
            </a:r>
            <a:r>
              <a:rPr lang="en-US" sz="2000"/>
              <a:t>, by the making our distant perceptions influence each other, and by giving us a present concern for our past or future pains or pleasures.…”  </a:t>
            </a:r>
            <a:r>
              <a:rPr lang="en-US" sz="2000" dirty="0"/>
              <a:t>(</a:t>
            </a:r>
            <a:r>
              <a:rPr lang="en-US" sz="2000" i="1"/>
              <a:t>T</a:t>
            </a:r>
            <a:r>
              <a:rPr lang="en-US" sz="2000"/>
              <a:t> 1.4.6.19)</a:t>
            </a:r>
            <a:endParaRPr lang="en-US" sz="20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744B004-858E-4BAA-8638-F6C442F05EF4}" type="slidenum">
              <a:rPr lang="en-US" sz="1600">
                <a:effectLst>
                  <a:outerShdw blurRad="38100" dist="38100" dir="2700000" algn="tl">
                    <a:srgbClr val="000000"/>
                  </a:outerShdw>
                </a:effectLst>
                <a:ea typeface="ＭＳ Ｐゴシック" charset="-128"/>
              </a:rPr>
              <a:pPr eaLnBrk="1" hangingPunct="1"/>
              <a:t>310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016565319"/>
      </p:ext>
    </p:extLst>
  </p:cSld>
  <p:clrMapOvr>
    <a:masterClrMapping/>
  </p:clrMapOvr>
  <p:transition spd="med">
    <p:cover/>
  </p:transition>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6A436F6-70AE-447C-9F09-9E351D782732}" type="slidenum">
              <a:rPr lang="en-US"/>
              <a:pPr/>
              <a:t>311</a:t>
            </a:fld>
            <a:endParaRPr lang="en-US"/>
          </a:p>
        </p:txBody>
      </p:sp>
      <p:sp>
        <p:nvSpPr>
          <p:cNvPr id="2" name="Title 1"/>
          <p:cNvSpPr>
            <a:spLocks noGrp="1"/>
          </p:cNvSpPr>
          <p:nvPr>
            <p:ph type="title" idx="4294967295"/>
          </p:nvPr>
        </p:nvSpPr>
        <p:spPr>
          <a:xfrm>
            <a:off x="251520" y="188640"/>
            <a:ext cx="8694042" cy="666911"/>
          </a:xfrm>
        </p:spPr>
        <p:txBody>
          <a:bodyPr/>
          <a:lstStyle/>
          <a:p>
            <a:r>
              <a:rPr lang="en-US"/>
              <a:t>But Identity Requires Constancy?</a:t>
            </a:r>
            <a:endParaRPr lang="en-US" dirty="0"/>
          </a:p>
        </p:txBody>
      </p:sp>
      <p:sp>
        <p:nvSpPr>
          <p:cNvPr id="3" name="Content Placeholder 2"/>
          <p:cNvSpPr>
            <a:spLocks noGrp="1"/>
          </p:cNvSpPr>
          <p:nvPr>
            <p:ph idx="4294967295"/>
          </p:nvPr>
        </p:nvSpPr>
        <p:spPr>
          <a:xfrm>
            <a:off x="359532" y="1124744"/>
            <a:ext cx="8488362" cy="5391907"/>
          </a:xfrm>
        </p:spPr>
        <p:txBody>
          <a:bodyPr/>
          <a:lstStyle/>
          <a:p>
            <a:r>
              <a:rPr lang="en-US" sz="2700" dirty="0"/>
              <a:t>In the passage just quoted, Hume </a:t>
            </a:r>
            <a:r>
              <a:rPr lang="en-US" sz="2700" i="1" dirty="0"/>
              <a:t>seems</a:t>
            </a:r>
            <a:r>
              <a:rPr lang="en-US" sz="2700" dirty="0"/>
              <a:t> to allow for qualitative change without loss of identity. But this is contrary to his more usual </a:t>
            </a:r>
            <a:r>
              <a:rPr lang="en-US" sz="2700" i="1" dirty="0"/>
              <a:t>Treatise</a:t>
            </a:r>
            <a:r>
              <a:rPr lang="en-US" sz="2700" dirty="0"/>
              <a:t> position:</a:t>
            </a:r>
          </a:p>
          <a:p>
            <a:pPr lvl="1">
              <a:spcBef>
                <a:spcPts val="1200"/>
              </a:spcBef>
              <a:buFontTx/>
              <a:buNone/>
            </a:pPr>
            <a:r>
              <a:rPr lang="en-US" dirty="0"/>
              <a:t>	</a:t>
            </a:r>
            <a:r>
              <a:rPr lang="en-US" sz="2400" dirty="0"/>
              <a:t>“one of the essential qualities of identity [is] </a:t>
            </a:r>
            <a:r>
              <a:rPr lang="en-US" sz="2400" i="1" dirty="0"/>
              <a:t>invariableness</a:t>
            </a:r>
            <a:r>
              <a:rPr lang="en-US" sz="2400" dirty="0"/>
              <a:t>”  (</a:t>
            </a:r>
            <a:r>
              <a:rPr lang="en-US" sz="2400" i="1" dirty="0"/>
              <a:t>T</a:t>
            </a:r>
            <a:r>
              <a:rPr lang="en-US" sz="2400" dirty="0"/>
              <a:t> 1.4.2.31)</a:t>
            </a:r>
          </a:p>
          <a:p>
            <a:pPr lvl="1">
              <a:spcBef>
                <a:spcPts val="1800"/>
              </a:spcBef>
              <a:buFontTx/>
              <a:buNone/>
            </a:pPr>
            <a:r>
              <a:rPr lang="en-US" sz="2400" dirty="0"/>
              <a:t>	“The </a:t>
            </a:r>
            <a:r>
              <a:rPr lang="en-US" sz="2400" dirty="0" err="1"/>
              <a:t>acknowledge’d</a:t>
            </a:r>
            <a:r>
              <a:rPr lang="en-US" sz="2400" dirty="0"/>
              <a:t> composition is evidently contrary to this </a:t>
            </a:r>
            <a:r>
              <a:rPr lang="en-US" sz="2400" dirty="0" err="1"/>
              <a:t>suppose’d</a:t>
            </a:r>
            <a:r>
              <a:rPr lang="en-US" sz="2400" dirty="0"/>
              <a:t> </a:t>
            </a:r>
            <a:r>
              <a:rPr lang="en-US" sz="2400" i="1" dirty="0"/>
              <a:t>simplicity</a:t>
            </a:r>
            <a:r>
              <a:rPr lang="en-US" sz="2400" dirty="0"/>
              <a:t>, and the variation to the </a:t>
            </a:r>
            <a:r>
              <a:rPr lang="en-US" sz="2400" i="1" dirty="0"/>
              <a:t>identity</a:t>
            </a:r>
            <a:r>
              <a:rPr lang="en-US" sz="2400" dirty="0"/>
              <a:t>.  … such evident contradictions”  (</a:t>
            </a:r>
            <a:r>
              <a:rPr lang="en-US" sz="2400" i="1" dirty="0"/>
              <a:t>T</a:t>
            </a:r>
            <a:r>
              <a:rPr lang="en-US" sz="2400" dirty="0"/>
              <a:t> 1.4.3.2)</a:t>
            </a:r>
          </a:p>
          <a:p>
            <a:pPr lvl="1">
              <a:spcBef>
                <a:spcPts val="1800"/>
              </a:spcBef>
              <a:buFontTx/>
              <a:buNone/>
            </a:pPr>
            <a:r>
              <a:rPr lang="en-US" sz="2400" dirty="0"/>
              <a:t>	“We have a distinct idea of an object, that remains invariable and uninterrupted thro’ a </a:t>
            </a:r>
            <a:r>
              <a:rPr lang="en-US" sz="2400" dirty="0" err="1"/>
              <a:t>suppos’d</a:t>
            </a:r>
            <a:r>
              <a:rPr lang="en-US" sz="2400" dirty="0"/>
              <a:t> variation of time; and this idea we call that of </a:t>
            </a:r>
            <a:r>
              <a:rPr lang="en-US" sz="2400" i="1" dirty="0"/>
              <a:t>identity</a:t>
            </a:r>
            <a:r>
              <a:rPr lang="en-US" sz="2400" dirty="0"/>
              <a:t> or </a:t>
            </a:r>
            <a:r>
              <a:rPr lang="en-US" sz="2400" i="1" dirty="0"/>
              <a:t>sameness</a:t>
            </a:r>
            <a:r>
              <a:rPr lang="en-US" sz="2400" dirty="0"/>
              <a:t>.”  (</a:t>
            </a:r>
            <a:r>
              <a:rPr lang="en-US" sz="2400" i="1" dirty="0"/>
              <a:t>T</a:t>
            </a:r>
            <a:r>
              <a:rPr lang="en-US" sz="2400" dirty="0"/>
              <a:t> 1.4.6.6)</a:t>
            </a:r>
          </a:p>
          <a:p>
            <a:pPr lvl="1">
              <a:spcBef>
                <a:spcPts val="1200"/>
              </a:spcBef>
              <a:buFontTx/>
              <a:buNone/>
            </a:pP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744B004-858E-4BAA-8638-F6C442F05EF4}" type="slidenum">
              <a:rPr lang="en-US" sz="1600">
                <a:effectLst>
                  <a:outerShdw blurRad="38100" dist="38100" dir="2700000" algn="tl">
                    <a:srgbClr val="000000"/>
                  </a:outerShdw>
                </a:effectLst>
                <a:ea typeface="ＭＳ Ｐゴシック" charset="-128"/>
              </a:rPr>
              <a:pPr eaLnBrk="1" hangingPunct="1"/>
              <a:t>311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174268726"/>
      </p:ext>
    </p:extLst>
  </p:cSld>
  <p:clrMapOvr>
    <a:masterClrMapping/>
  </p:clrMapOvr>
  <p:transition spd="med">
    <p:cover/>
  </p:transition>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B209AF3-73D1-47D8-B39B-AFD40B89653F}" type="slidenum">
              <a:rPr lang="en-US"/>
              <a:pPr/>
              <a:t>312</a:t>
            </a:fld>
            <a:endParaRPr lang="en-US"/>
          </a:p>
        </p:txBody>
      </p:sp>
      <p:sp>
        <p:nvSpPr>
          <p:cNvPr id="2" name="Title 1"/>
          <p:cNvSpPr>
            <a:spLocks noGrp="1"/>
          </p:cNvSpPr>
          <p:nvPr>
            <p:ph type="title" idx="4294967295"/>
          </p:nvPr>
        </p:nvSpPr>
        <p:spPr>
          <a:xfrm>
            <a:off x="179388" y="205805"/>
            <a:ext cx="8740775" cy="702915"/>
          </a:xfrm>
        </p:spPr>
        <p:txBody>
          <a:bodyPr/>
          <a:lstStyle/>
          <a:p>
            <a:r>
              <a:rPr lang="en-US" sz="4200" dirty="0"/>
              <a:t>Explaining the Attribution of Identity</a:t>
            </a:r>
          </a:p>
        </p:txBody>
      </p:sp>
      <p:sp>
        <p:nvSpPr>
          <p:cNvPr id="3" name="Content Placeholder 2"/>
          <p:cNvSpPr>
            <a:spLocks noGrp="1"/>
          </p:cNvSpPr>
          <p:nvPr>
            <p:ph idx="4294967295"/>
          </p:nvPr>
        </p:nvSpPr>
        <p:spPr>
          <a:xfrm>
            <a:off x="575556" y="1268760"/>
            <a:ext cx="8244916" cy="5184576"/>
          </a:xfrm>
        </p:spPr>
        <p:txBody>
          <a:bodyPr/>
          <a:lstStyle/>
          <a:p>
            <a:r>
              <a:rPr lang="en-US" sz="2500"/>
              <a:t>Hume accordingly sets out to explain what he takes to be (strictly speaking) our </a:t>
            </a:r>
            <a:r>
              <a:rPr lang="en-US" sz="2500" i="1">
                <a:solidFill>
                  <a:srgbClr val="FF9999"/>
                </a:solidFill>
              </a:rPr>
              <a:t>confused</a:t>
            </a:r>
            <a:r>
              <a:rPr lang="en-US" sz="2500"/>
              <a:t> </a:t>
            </a:r>
            <a:r>
              <a:rPr lang="en-US" sz="2500" dirty="0"/>
              <a:t>“</a:t>
            </a:r>
            <a:r>
              <a:rPr lang="en-US" sz="2500" dirty="0" err="1"/>
              <a:t>propension</a:t>
            </a:r>
            <a:r>
              <a:rPr lang="en-US" sz="2500" dirty="0"/>
              <a:t> to ascribe an identity to these successive perceptions, and to suppose ourselves </a:t>
            </a:r>
            <a:r>
              <a:rPr lang="en-US" sz="2500" dirty="0" err="1"/>
              <a:t>possest</a:t>
            </a:r>
            <a:r>
              <a:rPr lang="en-US" sz="2500" dirty="0"/>
              <a:t> of an invariable and uninterrupted existence” (</a:t>
            </a:r>
            <a:r>
              <a:rPr lang="en-US" sz="2500" i="1" dirty="0"/>
              <a:t>T</a:t>
            </a:r>
            <a:r>
              <a:rPr lang="en-US" sz="2500" dirty="0"/>
              <a:t> 1.4.6.5).</a:t>
            </a:r>
          </a:p>
          <a:p>
            <a:pPr>
              <a:spcBef>
                <a:spcPts val="1200"/>
              </a:spcBef>
            </a:pPr>
            <a:r>
              <a:rPr lang="en-US" sz="2500" dirty="0"/>
              <a:t>He takes this to involve the same sort of imaginative </a:t>
            </a:r>
            <a:r>
              <a:rPr lang="en-US" sz="2500"/>
              <a:t>principles at </a:t>
            </a:r>
            <a:r>
              <a:rPr lang="en-US" sz="2500" dirty="0"/>
              <a:t>play when we attribute identity “to plants and animals”.  </a:t>
            </a:r>
            <a:r>
              <a:rPr lang="en-US" sz="2500"/>
              <a:t>The similarity and very gradual change in </a:t>
            </a:r>
            <a:r>
              <a:rPr lang="en-US" sz="2500" dirty="0"/>
              <a:t>the sequence of perceptions over time “facilitates the transition of the mind from one object to another, and renders its passage as smooth as if </a:t>
            </a:r>
            <a:r>
              <a:rPr lang="en-US" sz="2500"/>
              <a:t>it contempla-ted </a:t>
            </a:r>
            <a:r>
              <a:rPr lang="en-US" sz="2500" dirty="0"/>
              <a:t>one </a:t>
            </a:r>
            <a:r>
              <a:rPr lang="en-US" sz="2500" dirty="0" err="1"/>
              <a:t>continu’d</a:t>
            </a:r>
            <a:r>
              <a:rPr lang="en-US" sz="2500" dirty="0"/>
              <a:t> object” (</a:t>
            </a:r>
            <a:r>
              <a:rPr lang="en-US" sz="2500" i="1" dirty="0"/>
              <a:t>T</a:t>
            </a:r>
            <a:r>
              <a:rPr lang="en-US" sz="2500" dirty="0"/>
              <a:t> 1.4.6.6).  Thus we come to think of them as “as invariable and uninterrupted”.</a:t>
            </a:r>
          </a:p>
          <a:p>
            <a:pPr lvl="1">
              <a:spcBef>
                <a:spcPts val="1200"/>
              </a:spcBef>
            </a:pPr>
            <a:endParaRPr lang="en-US" sz="25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322B39-096C-44AD-B8BE-A43F1D2F21AE}" type="slidenum">
              <a:rPr lang="en-US" sz="1600">
                <a:effectLst>
                  <a:outerShdw blurRad="38100" dist="38100" dir="2700000" algn="tl">
                    <a:srgbClr val="000000"/>
                  </a:outerShdw>
                </a:effectLst>
                <a:ea typeface="ＭＳ Ｐゴシック" charset="-128"/>
              </a:rPr>
              <a:pPr eaLnBrk="1" hangingPunct="1"/>
              <a:t>312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875848757"/>
      </p:ext>
    </p:extLst>
  </p:cSld>
  <p:clrMapOvr>
    <a:masterClrMapping/>
  </p:clrMapOvr>
  <p:transition spd="med">
    <p:cover/>
  </p:transition>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CE9AC6E-998E-4C36-AA64-AC3552DF009C}" type="slidenum">
              <a:rPr lang="en-US"/>
              <a:pPr/>
              <a:t>313</a:t>
            </a:fld>
            <a:endParaRPr lang="en-US"/>
          </a:p>
        </p:txBody>
      </p:sp>
      <p:sp>
        <p:nvSpPr>
          <p:cNvPr id="2" name="Title 1"/>
          <p:cNvSpPr>
            <a:spLocks noGrp="1"/>
          </p:cNvSpPr>
          <p:nvPr>
            <p:ph type="title" idx="4294967295"/>
          </p:nvPr>
        </p:nvSpPr>
        <p:spPr>
          <a:xfrm>
            <a:off x="179512" y="116632"/>
            <a:ext cx="8748972" cy="702915"/>
          </a:xfrm>
        </p:spPr>
        <p:txBody>
          <a:bodyPr/>
          <a:lstStyle/>
          <a:p>
            <a:r>
              <a:rPr lang="en-US" dirty="0"/>
              <a:t>Confusion, Absurdity, and Fictions</a:t>
            </a:r>
          </a:p>
        </p:txBody>
      </p:sp>
      <p:sp>
        <p:nvSpPr>
          <p:cNvPr id="3" name="Content Placeholder 2"/>
          <p:cNvSpPr>
            <a:spLocks noGrp="1"/>
          </p:cNvSpPr>
          <p:nvPr>
            <p:ph idx="4294967295"/>
          </p:nvPr>
        </p:nvSpPr>
        <p:spPr>
          <a:xfrm>
            <a:off x="575556" y="1088740"/>
            <a:ext cx="8172139" cy="5400600"/>
          </a:xfrm>
        </p:spPr>
        <p:txBody>
          <a:bodyPr/>
          <a:lstStyle/>
          <a:p>
            <a:r>
              <a:rPr lang="en-US" sz="2500" dirty="0"/>
              <a:t>So just as with external objects (cf. </a:t>
            </a:r>
            <a:r>
              <a:rPr lang="en-US" sz="2500" i="1" dirty="0"/>
              <a:t>T</a:t>
            </a:r>
            <a:r>
              <a:rPr lang="en-US" sz="2500" dirty="0"/>
              <a:t> 1.4.2 and 1.4.3), when we consider a gradually changing sequence of perceptions, we are apt to confuse this </a:t>
            </a:r>
            <a:r>
              <a:rPr lang="en-US" sz="2500"/>
              <a:t>with one that is self-identical, “uninterrupted and invariable” (1.4.6.6</a:t>
            </a:r>
            <a:r>
              <a:rPr lang="en-US" sz="2500" dirty="0"/>
              <a:t>).</a:t>
            </a:r>
          </a:p>
          <a:p>
            <a:pPr>
              <a:spcBef>
                <a:spcPts val="1200"/>
              </a:spcBef>
            </a:pPr>
            <a:r>
              <a:rPr lang="en-US" sz="2500" dirty="0"/>
              <a:t>Reflection on the changing </a:t>
            </a:r>
            <a:r>
              <a:rPr lang="en-US" sz="2500"/>
              <a:t>sequence reveals our error here, so </a:t>
            </a:r>
            <a:r>
              <a:rPr lang="en-US" sz="2500" dirty="0"/>
              <a:t>to resolve “this absurdity, we … feign some new and unintelligible principle, that connects </a:t>
            </a:r>
            <a:r>
              <a:rPr lang="en-US" sz="2500"/>
              <a:t>the objects </a:t>
            </a:r>
            <a:r>
              <a:rPr lang="en-US" sz="2500" dirty="0"/>
              <a:t>together </a:t>
            </a:r>
            <a:r>
              <a:rPr lang="en-US" sz="2500"/>
              <a:t>… and </a:t>
            </a:r>
            <a:r>
              <a:rPr lang="en-US" sz="2500" dirty="0"/>
              <a:t>run into the notion of a </a:t>
            </a:r>
            <a:r>
              <a:rPr lang="en-US" sz="2500" i="1" dirty="0"/>
              <a:t>soul</a:t>
            </a:r>
            <a:r>
              <a:rPr lang="en-US" sz="2500" dirty="0"/>
              <a:t>, and </a:t>
            </a:r>
            <a:r>
              <a:rPr lang="en-US" sz="2500" i="1" dirty="0"/>
              <a:t>self</a:t>
            </a:r>
            <a:r>
              <a:rPr lang="en-US" sz="2500" dirty="0"/>
              <a:t>, and </a:t>
            </a:r>
            <a:r>
              <a:rPr lang="en-US" sz="2500" i="1" dirty="0"/>
              <a:t>substance</a:t>
            </a:r>
            <a:r>
              <a:rPr lang="en-US" sz="2500" dirty="0"/>
              <a:t>, to disguise the </a:t>
            </a:r>
            <a:r>
              <a:rPr lang="en-US" sz="2500"/>
              <a:t>variation.”</a:t>
            </a:r>
          </a:p>
          <a:p>
            <a:pPr>
              <a:spcBef>
                <a:spcPts val="1200"/>
              </a:spcBef>
            </a:pPr>
            <a:r>
              <a:rPr lang="en-US" sz="2500"/>
              <a:t>So </a:t>
            </a:r>
            <a:r>
              <a:rPr lang="en-US" sz="2500" u="sng"/>
              <a:t>one</a:t>
            </a:r>
            <a:r>
              <a:rPr lang="en-US" sz="2500"/>
              <a:t> type of </a:t>
            </a:r>
            <a:r>
              <a:rPr lang="en-US" sz="2500" i="1"/>
              <a:t>fiction </a:t>
            </a:r>
            <a:r>
              <a:rPr lang="en-US" sz="2500"/>
              <a:t>arises from our propensity to merge perceptions together and consider them as unchanging; </a:t>
            </a:r>
            <a:r>
              <a:rPr lang="en-US" sz="2500" u="sng"/>
              <a:t>another</a:t>
            </a:r>
            <a:r>
              <a:rPr lang="en-US" sz="2500"/>
              <a:t> is when we “imagine something unknown and mysterious, connecting the parts”.</a:t>
            </a:r>
            <a:endParaRPr lang="en-US" sz="25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6A973A1-193F-43F4-9388-148988A8C3AE}" type="slidenum">
              <a:rPr lang="en-US" sz="1600">
                <a:effectLst>
                  <a:outerShdw blurRad="38100" dist="38100" dir="2700000" algn="tl">
                    <a:srgbClr val="000000"/>
                  </a:outerShdw>
                </a:effectLst>
                <a:ea typeface="ＭＳ Ｐゴシック" charset="-128"/>
              </a:rPr>
              <a:pPr eaLnBrk="1" hangingPunct="1"/>
              <a:t>313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56196621"/>
      </p:ext>
    </p:extLst>
  </p:cSld>
  <p:clrMapOvr>
    <a:masterClrMapping/>
  </p:clrMapOvr>
  <p:transition spd="med">
    <p:cover/>
  </p:transition>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0BA5E8C-96C6-435A-8EA0-2A6ADB559DB9}" type="slidenum">
              <a:rPr lang="en-US"/>
              <a:pPr/>
              <a:t>314</a:t>
            </a:fld>
            <a:endParaRPr lang="en-US"/>
          </a:p>
        </p:txBody>
      </p:sp>
      <p:sp>
        <p:nvSpPr>
          <p:cNvPr id="2" name="Title 1"/>
          <p:cNvSpPr>
            <a:spLocks noGrp="1"/>
          </p:cNvSpPr>
          <p:nvPr>
            <p:ph type="title" idx="4294967295"/>
          </p:nvPr>
        </p:nvSpPr>
        <p:spPr>
          <a:xfrm>
            <a:off x="457200" y="224644"/>
            <a:ext cx="8229600" cy="630907"/>
          </a:xfrm>
        </p:spPr>
        <p:txBody>
          <a:bodyPr/>
          <a:lstStyle/>
          <a:p>
            <a:r>
              <a:rPr lang="en-US" dirty="0"/>
              <a:t>Association and Identity</a:t>
            </a:r>
          </a:p>
        </p:txBody>
      </p:sp>
      <p:sp>
        <p:nvSpPr>
          <p:cNvPr id="3" name="Content Placeholder 2"/>
          <p:cNvSpPr>
            <a:spLocks noGrp="1"/>
          </p:cNvSpPr>
          <p:nvPr>
            <p:ph idx="4294967295"/>
          </p:nvPr>
        </p:nvSpPr>
        <p:spPr>
          <a:xfrm>
            <a:off x="481967" y="1196752"/>
            <a:ext cx="8266497" cy="5220580"/>
          </a:xfrm>
        </p:spPr>
        <p:txBody>
          <a:bodyPr/>
          <a:lstStyle/>
          <a:p>
            <a:r>
              <a:rPr lang="en-US" sz="2600" dirty="0"/>
              <a:t>“To prove this hypothesis”, Hume aims “to show … that the objects, which are variable or interrupted, and yet are </a:t>
            </a:r>
            <a:r>
              <a:rPr lang="en-US" sz="2600" dirty="0" err="1"/>
              <a:t>suppos’d</a:t>
            </a:r>
            <a:r>
              <a:rPr lang="en-US" sz="2600" dirty="0"/>
              <a:t> to continue the same, are such only as consist of a succession of parts, connected together by resemblance, contiguity, or causation”, that is, by the association of ideas (</a:t>
            </a:r>
            <a:r>
              <a:rPr lang="en-US" sz="2600" i="1" dirty="0"/>
              <a:t>T</a:t>
            </a:r>
            <a:r>
              <a:rPr lang="en-US" sz="2600" dirty="0"/>
              <a:t> 1.4.6.7).</a:t>
            </a:r>
          </a:p>
          <a:p>
            <a:pPr>
              <a:spcBef>
                <a:spcPts val="1200"/>
              </a:spcBef>
            </a:pPr>
            <a:r>
              <a:rPr lang="en-US" sz="2600" dirty="0"/>
              <a:t>We tend to attribute identity when changes are </a:t>
            </a:r>
            <a:r>
              <a:rPr lang="en-US" sz="2600" i="1" dirty="0"/>
              <a:t>proportionately</a:t>
            </a:r>
            <a:r>
              <a:rPr lang="en-US" sz="2600" dirty="0"/>
              <a:t> small and </a:t>
            </a:r>
            <a:r>
              <a:rPr lang="en-US" sz="2600" i="1" dirty="0"/>
              <a:t>gradual</a:t>
            </a:r>
            <a:r>
              <a:rPr lang="en-US" sz="2600" dirty="0"/>
              <a:t> (</a:t>
            </a:r>
            <a:r>
              <a:rPr lang="en-US" sz="2600" i="1" dirty="0"/>
              <a:t>T</a:t>
            </a:r>
            <a:r>
              <a:rPr lang="en-US" sz="2600" dirty="0"/>
              <a:t> 1.4.6.9-10), or when the changing parts are relevant to “some </a:t>
            </a:r>
            <a:r>
              <a:rPr lang="en-US" sz="2600" i="1" dirty="0"/>
              <a:t>common end</a:t>
            </a:r>
            <a:r>
              <a:rPr lang="en-US" sz="2600" dirty="0"/>
              <a:t> or purpose”, and all the more so when they bear “the reciprocal relation of cause and effect” to each other (</a:t>
            </a:r>
            <a:r>
              <a:rPr lang="en-US" sz="2600" i="1" dirty="0"/>
              <a:t>T</a:t>
            </a:r>
            <a:r>
              <a:rPr lang="en-US" sz="2600" dirty="0"/>
              <a:t> 1.4.6.11-12).</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0F57ACD-423B-40C6-86EC-3C5CDABC2999}" type="slidenum">
              <a:rPr lang="en-US" sz="1600">
                <a:effectLst>
                  <a:outerShdw blurRad="38100" dist="38100" dir="2700000" algn="tl">
                    <a:srgbClr val="000000"/>
                  </a:outerShdw>
                </a:effectLst>
                <a:ea typeface="ＭＳ Ｐゴシック" charset="-128"/>
              </a:rPr>
              <a:pPr eaLnBrk="1" hangingPunct="1"/>
              <a:t>314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500052695"/>
      </p:ext>
    </p:extLst>
  </p:cSld>
  <p:clrMapOvr>
    <a:masterClrMapping/>
  </p:clrMapOvr>
  <p:transition spd="med">
    <p:cover/>
  </p:transition>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5F5FB3B-45A2-4FF1-802F-AD1FAC9A79FC}" type="slidenum">
              <a:rPr lang="en-US"/>
              <a:pPr/>
              <a:t>315</a:t>
            </a:fld>
            <a:endParaRPr lang="en-US"/>
          </a:p>
        </p:txBody>
      </p:sp>
      <p:sp>
        <p:nvSpPr>
          <p:cNvPr id="2" name="Title 1"/>
          <p:cNvSpPr>
            <a:spLocks noGrp="1"/>
          </p:cNvSpPr>
          <p:nvPr>
            <p:ph type="title" idx="4294967295"/>
          </p:nvPr>
        </p:nvSpPr>
        <p:spPr>
          <a:xfrm>
            <a:off x="457200" y="97793"/>
            <a:ext cx="8229600" cy="810927"/>
          </a:xfrm>
        </p:spPr>
        <p:txBody>
          <a:bodyPr/>
          <a:lstStyle/>
          <a:p>
            <a:r>
              <a:rPr lang="en-US" dirty="0"/>
              <a:t>Explaining Personal Identity</a:t>
            </a:r>
          </a:p>
        </p:txBody>
      </p:sp>
      <p:sp>
        <p:nvSpPr>
          <p:cNvPr id="3" name="Content Placeholder 2"/>
          <p:cNvSpPr>
            <a:spLocks noGrp="1"/>
          </p:cNvSpPr>
          <p:nvPr>
            <p:ph idx="4294967295"/>
          </p:nvPr>
        </p:nvSpPr>
        <p:spPr>
          <a:xfrm>
            <a:off x="662880" y="1124744"/>
            <a:ext cx="8229600" cy="5574506"/>
          </a:xfrm>
        </p:spPr>
        <p:txBody>
          <a:bodyPr/>
          <a:lstStyle/>
          <a:p>
            <a:r>
              <a:rPr lang="en-US" sz="2600" dirty="0"/>
              <a:t>The attribution of personal identity is just another instance of this phenomenon: “The identity, which we ascribe to the mind of man, is only a fictitious one, and of a like kind with that which we ascribe to vegetables and animal bodies.” (</a:t>
            </a:r>
            <a:r>
              <a:rPr lang="en-US" sz="2600" i="1" dirty="0"/>
              <a:t>T</a:t>
            </a:r>
            <a:r>
              <a:rPr lang="en-US" sz="2600" dirty="0"/>
              <a:t> 1.4.6.15)</a:t>
            </a:r>
          </a:p>
          <a:p>
            <a:pPr>
              <a:spcBef>
                <a:spcPts val="1200"/>
              </a:spcBef>
            </a:pPr>
            <a:r>
              <a:rPr lang="en-US" sz="2600"/>
              <a:t>Hume appeals here </a:t>
            </a:r>
            <a:r>
              <a:rPr lang="en-US" sz="2600" dirty="0"/>
              <a:t>to his </a:t>
            </a:r>
            <a:r>
              <a:rPr lang="en-US" sz="2600" dirty="0" err="1"/>
              <a:t>Separability</a:t>
            </a:r>
            <a:r>
              <a:rPr lang="en-US" sz="2600" dirty="0"/>
              <a:t> Principle and his theory of causation, which tell us “that the understanding never observes any real </a:t>
            </a:r>
            <a:r>
              <a:rPr lang="en-US" sz="2600" dirty="0" err="1"/>
              <a:t>connexion</a:t>
            </a:r>
            <a:r>
              <a:rPr lang="en-US" sz="2600" dirty="0"/>
              <a:t> among objects, and that even the union of cause and effect … resolves itself  into a customary association of ideas”.  So identity cannot </a:t>
            </a:r>
            <a:r>
              <a:rPr lang="en-US" sz="2600" i="1" dirty="0"/>
              <a:t>really</a:t>
            </a:r>
            <a:r>
              <a:rPr lang="en-US" sz="2600" dirty="0"/>
              <a:t> apply between </a:t>
            </a:r>
            <a:r>
              <a:rPr lang="en-US" sz="2600"/>
              <a:t>our perceptions, but is something we attribute because of mental association </a:t>
            </a:r>
            <a:r>
              <a:rPr lang="en-US" sz="2600" dirty="0"/>
              <a:t>(</a:t>
            </a:r>
            <a:r>
              <a:rPr lang="en-US" sz="2600" i="1" dirty="0"/>
              <a:t>T</a:t>
            </a:r>
            <a:r>
              <a:rPr lang="en-US" sz="2600" dirty="0"/>
              <a:t> 1.4.6.16).</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C81D94A-8029-45D4-9A56-7D161608E571}" type="slidenum">
              <a:rPr lang="en-US" sz="1600">
                <a:effectLst>
                  <a:outerShdw blurRad="38100" dist="38100" dir="2700000" algn="tl">
                    <a:srgbClr val="000000"/>
                  </a:outerShdw>
                </a:effectLst>
                <a:ea typeface="ＭＳ Ｐゴシック" charset="-128"/>
              </a:rPr>
              <a:pPr eaLnBrk="1" hangingPunct="1"/>
              <a:t>315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064672504"/>
      </p:ext>
    </p:extLst>
  </p:cSld>
  <p:clrMapOvr>
    <a:masterClrMapping/>
  </p:clrMapOvr>
  <p:transition spd="med">
    <p:cover/>
  </p:transition>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A35BA07-886A-4DF5-9011-F11E93625A0A}" type="slidenum">
              <a:rPr lang="en-US"/>
              <a:pPr/>
              <a:t>316</a:t>
            </a:fld>
            <a:endParaRPr lang="en-US"/>
          </a:p>
        </p:txBody>
      </p:sp>
      <p:sp>
        <p:nvSpPr>
          <p:cNvPr id="2" name="Title 1"/>
          <p:cNvSpPr>
            <a:spLocks noGrp="1"/>
          </p:cNvSpPr>
          <p:nvPr>
            <p:ph type="title" idx="4294967295"/>
          </p:nvPr>
        </p:nvSpPr>
        <p:spPr>
          <a:xfrm>
            <a:off x="211138" y="152636"/>
            <a:ext cx="8731250" cy="594903"/>
          </a:xfrm>
        </p:spPr>
        <p:txBody>
          <a:bodyPr/>
          <a:lstStyle/>
          <a:p>
            <a:r>
              <a:rPr lang="en-US" sz="4200" dirty="0"/>
              <a:t>Resemblance, Causation, Memory</a:t>
            </a:r>
          </a:p>
        </p:txBody>
      </p:sp>
      <p:sp>
        <p:nvSpPr>
          <p:cNvPr id="3" name="Content Placeholder 2"/>
          <p:cNvSpPr>
            <a:spLocks noGrp="1"/>
          </p:cNvSpPr>
          <p:nvPr>
            <p:ph idx="4294967295"/>
          </p:nvPr>
        </p:nvSpPr>
        <p:spPr>
          <a:xfrm>
            <a:off x="422089" y="1052736"/>
            <a:ext cx="8434387" cy="5470203"/>
          </a:xfrm>
        </p:spPr>
        <p:txBody>
          <a:bodyPr/>
          <a:lstStyle/>
          <a:p>
            <a:r>
              <a:rPr lang="en-US" sz="2600" dirty="0"/>
              <a:t>So “our notions of personal identity, proceed entirely from the smooth and uninterrupted progress of the thought along a train of connected ideas” (</a:t>
            </a:r>
            <a:r>
              <a:rPr lang="en-US" sz="2600" i="1" dirty="0"/>
              <a:t>T</a:t>
            </a:r>
            <a:r>
              <a:rPr lang="en-US" sz="2600" dirty="0"/>
              <a:t> 1.4.6.16).</a:t>
            </a:r>
          </a:p>
          <a:p>
            <a:pPr>
              <a:spcBef>
                <a:spcPts val="1800"/>
              </a:spcBef>
            </a:pPr>
            <a:r>
              <a:rPr lang="en-US" sz="2600" dirty="0"/>
              <a:t>Contiguity plays little role here (maybe because most perceptions have no spatial relations – </a:t>
            </a:r>
            <a:r>
              <a:rPr lang="en-US" sz="2600" i="1" dirty="0"/>
              <a:t>T</a:t>
            </a:r>
            <a:r>
              <a:rPr lang="en-US" sz="2600" dirty="0"/>
              <a:t> 1.4.5.10),</a:t>
            </a:r>
            <a:br>
              <a:rPr lang="en-US" sz="2600" dirty="0"/>
            </a:br>
            <a:r>
              <a:rPr lang="en-US" sz="2600" dirty="0"/>
              <a:t>so it must be the mutual </a:t>
            </a:r>
            <a:r>
              <a:rPr lang="en-US" sz="2600" i="1" dirty="0"/>
              <a:t>resemblance</a:t>
            </a:r>
            <a:r>
              <a:rPr lang="en-US" sz="2600" dirty="0"/>
              <a:t> and </a:t>
            </a:r>
            <a:r>
              <a:rPr lang="en-US" sz="2600" i="1" dirty="0"/>
              <a:t>causation</a:t>
            </a:r>
            <a:r>
              <a:rPr lang="en-US" sz="2600" dirty="0"/>
              <a:t> between our perceptions that are crucial (</a:t>
            </a:r>
            <a:r>
              <a:rPr lang="en-US" sz="2600" i="1" dirty="0"/>
              <a:t>T</a:t>
            </a:r>
            <a:r>
              <a:rPr lang="en-US" sz="2600" dirty="0"/>
              <a:t> 1.4.6.17).</a:t>
            </a:r>
          </a:p>
          <a:p>
            <a:pPr>
              <a:spcBef>
                <a:spcPts val="1800"/>
              </a:spcBef>
            </a:pPr>
            <a:r>
              <a:rPr lang="en-US" sz="2600" dirty="0"/>
              <a:t>Memory produces resemblance between our perceptions, and our concern about our future adds to their causal linkages.  Memory also reveals to us the sequence of linked perceptions, and so is the chief “source of personal identity” (</a:t>
            </a:r>
            <a:r>
              <a:rPr lang="en-US" sz="2600" i="1" dirty="0"/>
              <a:t>T</a:t>
            </a:r>
            <a:r>
              <a:rPr lang="en-US" sz="2600" dirty="0"/>
              <a:t> 1.4.6.18-20).</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2ACD5F3-6044-4183-9BD1-0A51A52F957E}" type="slidenum">
              <a:rPr lang="en-US" sz="1600">
                <a:effectLst>
                  <a:outerShdw blurRad="38100" dist="38100" dir="2700000" algn="tl">
                    <a:srgbClr val="000000"/>
                  </a:outerShdw>
                </a:effectLst>
                <a:ea typeface="ＭＳ Ｐゴシック" charset="-128"/>
              </a:rPr>
              <a:pPr eaLnBrk="1" hangingPunct="1"/>
              <a:t>316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83180132"/>
      </p:ext>
    </p:extLst>
  </p:cSld>
  <p:clrMapOvr>
    <a:masterClrMapping/>
  </p:clrMapOvr>
  <p:transition spd="med">
    <p:cover/>
  </p:transition>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A35BA07-886A-4DF5-9011-F11E93625A0A}" type="slidenum">
              <a:rPr lang="en-US"/>
              <a:pPr/>
              <a:t>317</a:t>
            </a:fld>
            <a:endParaRPr lang="en-US"/>
          </a:p>
        </p:txBody>
      </p:sp>
      <p:sp>
        <p:nvSpPr>
          <p:cNvPr id="2" name="Title 1"/>
          <p:cNvSpPr>
            <a:spLocks noGrp="1"/>
          </p:cNvSpPr>
          <p:nvPr>
            <p:ph type="title" idx="4294967295"/>
          </p:nvPr>
        </p:nvSpPr>
        <p:spPr>
          <a:xfrm>
            <a:off x="211138" y="152636"/>
            <a:ext cx="8731250" cy="666911"/>
          </a:xfrm>
        </p:spPr>
        <p:txBody>
          <a:bodyPr/>
          <a:lstStyle/>
          <a:p>
            <a:r>
              <a:rPr lang="en-US" sz="4200"/>
              <a:t>Just </a:t>
            </a:r>
            <a:r>
              <a:rPr lang="en-US" sz="4200" i="1">
                <a:solidFill>
                  <a:srgbClr val="FF7C80"/>
                </a:solidFill>
              </a:rPr>
              <a:t>Who</a:t>
            </a:r>
            <a:r>
              <a:rPr lang="en-US" sz="4200"/>
              <a:t> is Confused Here?</a:t>
            </a:r>
            <a:endParaRPr lang="en-US" sz="4200" dirty="0"/>
          </a:p>
        </p:txBody>
      </p:sp>
      <p:sp>
        <p:nvSpPr>
          <p:cNvPr id="3" name="Content Placeholder 2"/>
          <p:cNvSpPr>
            <a:spLocks noGrp="1"/>
          </p:cNvSpPr>
          <p:nvPr>
            <p:ph idx="4294967295"/>
          </p:nvPr>
        </p:nvSpPr>
        <p:spPr>
          <a:xfrm>
            <a:off x="503548" y="1232756"/>
            <a:ext cx="8280920" cy="5290183"/>
          </a:xfrm>
        </p:spPr>
        <p:txBody>
          <a:bodyPr/>
          <a:lstStyle/>
          <a:p>
            <a:r>
              <a:rPr lang="en-US" sz="2600"/>
              <a:t>It is natural to ask: if “our </a:t>
            </a:r>
            <a:r>
              <a:rPr lang="en-US" sz="2600" dirty="0"/>
              <a:t>notions of personal identity, proceed entirely from the smooth </a:t>
            </a:r>
            <a:r>
              <a:rPr lang="en-US" sz="2600"/>
              <a:t>and uninterrupted </a:t>
            </a:r>
            <a:r>
              <a:rPr lang="en-US" sz="2600" dirty="0"/>
              <a:t>progress of </a:t>
            </a:r>
            <a:r>
              <a:rPr lang="en-US" sz="2600"/>
              <a:t>the thought </a:t>
            </a:r>
            <a:r>
              <a:rPr lang="en-US" sz="2600" dirty="0"/>
              <a:t>along a train of connected </a:t>
            </a:r>
            <a:r>
              <a:rPr lang="en-US" sz="2600"/>
              <a:t>ideas” leading to the confused view of them as identical, then </a:t>
            </a:r>
            <a:r>
              <a:rPr lang="en-US" sz="2600" i="1">
                <a:solidFill>
                  <a:srgbClr val="FF9999"/>
                </a:solidFill>
              </a:rPr>
              <a:t>who is the thinker whose thought is proceeding and getting confused in this way</a:t>
            </a:r>
            <a:r>
              <a:rPr lang="en-US" sz="2600"/>
              <a:t>?</a:t>
            </a:r>
            <a:endParaRPr lang="en-US" sz="2600" dirty="0"/>
          </a:p>
          <a:p>
            <a:pPr>
              <a:spcBef>
                <a:spcPts val="1800"/>
              </a:spcBef>
            </a:pPr>
            <a:r>
              <a:rPr lang="en-US" sz="2600"/>
              <a:t>For accessible discussion of this issue, see for example Harold Noonan, </a:t>
            </a:r>
            <a:r>
              <a:rPr lang="en-US" sz="2600" i="1"/>
              <a:t>Hume on Knowledge</a:t>
            </a:r>
            <a:r>
              <a:rPr lang="en-US" sz="2600"/>
              <a:t>, pp. 193-4, who goes on to link it (pp. 194-8) with the related issue of Hume’s reification of perceptions.  This is also related to the issue of “bundling”, discussed below and by Noonan at pp. 205-9.</a:t>
            </a:r>
            <a:endParaRPr lang="en-US" sz="26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2ACD5F3-6044-4183-9BD1-0A51A52F957E}" type="slidenum">
              <a:rPr lang="en-US" sz="1600">
                <a:effectLst>
                  <a:outerShdw blurRad="38100" dist="38100" dir="2700000" algn="tl">
                    <a:srgbClr val="000000"/>
                  </a:outerShdw>
                </a:effectLst>
                <a:ea typeface="ＭＳ Ｐゴシック" charset="-128"/>
              </a:rPr>
              <a:pPr eaLnBrk="1" hangingPunct="1"/>
              <a:t>317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177594634"/>
      </p:ext>
    </p:extLst>
  </p:cSld>
  <p:clrMapOvr>
    <a:masterClrMapping/>
  </p:clrMapOvr>
  <p:transition spd="med">
    <p:cover/>
  </p:transition>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BCFE522-A327-4B09-9181-68DF03736550}" type="slidenum">
              <a:rPr lang="en-US"/>
              <a:pPr/>
              <a:t>318</a:t>
            </a:fld>
            <a:endParaRPr lang="en-US"/>
          </a:p>
        </p:txBody>
      </p:sp>
      <p:sp>
        <p:nvSpPr>
          <p:cNvPr id="2" name="Title 1"/>
          <p:cNvSpPr>
            <a:spLocks noGrp="1"/>
          </p:cNvSpPr>
          <p:nvPr>
            <p:ph type="title" idx="4294967295"/>
          </p:nvPr>
        </p:nvSpPr>
        <p:spPr>
          <a:xfrm>
            <a:off x="457200" y="188640"/>
            <a:ext cx="8229600" cy="846931"/>
          </a:xfrm>
        </p:spPr>
        <p:txBody>
          <a:bodyPr/>
          <a:lstStyle/>
          <a:p>
            <a:r>
              <a:rPr lang="en-US" dirty="0"/>
              <a:t>Notorious Second Thoughts</a:t>
            </a:r>
          </a:p>
        </p:txBody>
      </p:sp>
      <p:sp>
        <p:nvSpPr>
          <p:cNvPr id="3" name="Content Placeholder 2"/>
          <p:cNvSpPr>
            <a:spLocks noGrp="1"/>
          </p:cNvSpPr>
          <p:nvPr>
            <p:ph idx="4294967295"/>
          </p:nvPr>
        </p:nvSpPr>
        <p:spPr>
          <a:xfrm>
            <a:off x="457200" y="1268760"/>
            <a:ext cx="8229600" cy="5328592"/>
          </a:xfrm>
        </p:spPr>
        <p:txBody>
          <a:bodyPr/>
          <a:lstStyle/>
          <a:p>
            <a:r>
              <a:rPr lang="en-US" sz="2800" dirty="0"/>
              <a:t>In the </a:t>
            </a:r>
            <a:r>
              <a:rPr lang="en-US" sz="2800" i="1" dirty="0"/>
              <a:t>Appendix</a:t>
            </a:r>
            <a:r>
              <a:rPr lang="en-US" sz="2800" dirty="0"/>
              <a:t> to the </a:t>
            </a:r>
            <a:r>
              <a:rPr lang="en-US" sz="2800" i="1" dirty="0"/>
              <a:t>Treatise</a:t>
            </a:r>
            <a:r>
              <a:rPr lang="en-US" sz="2800" dirty="0"/>
              <a:t>, published with Book 3 in late 1740 (just 21 months after Books 1 and 2), Hume famously expresses despair about his account:</a:t>
            </a:r>
          </a:p>
          <a:p>
            <a:pPr marL="742950" lvl="2" indent="-342900">
              <a:spcBef>
                <a:spcPts val="1200"/>
              </a:spcBef>
              <a:buClr>
                <a:schemeClr val="hlink"/>
              </a:buClr>
              <a:buFont typeface="Wingdings" charset="2"/>
              <a:buNone/>
            </a:pPr>
            <a:r>
              <a:rPr lang="en-US" dirty="0"/>
              <a:t>	</a:t>
            </a:r>
            <a:r>
              <a:rPr lang="en-US" sz="2500" dirty="0"/>
              <a:t>“upon a more strict review of the section concerning </a:t>
            </a:r>
            <a:r>
              <a:rPr lang="en-US" sz="2500" i="1" dirty="0"/>
              <a:t>personal identity</a:t>
            </a:r>
            <a:r>
              <a:rPr lang="en-US" sz="2500" dirty="0"/>
              <a:t>, I find myself </a:t>
            </a:r>
            <a:r>
              <a:rPr lang="en-US" sz="2500" dirty="0" err="1"/>
              <a:t>involv’d</a:t>
            </a:r>
            <a:r>
              <a:rPr lang="en-US" sz="2500" dirty="0"/>
              <a:t> in such a labyrinth, that, I must confess, I neither know how to correct my former opinions, nor how to render them consistent.”  (</a:t>
            </a:r>
            <a:r>
              <a:rPr lang="en-US" sz="2500" i="1" dirty="0"/>
              <a:t>T</a:t>
            </a:r>
            <a:r>
              <a:rPr lang="en-US" sz="2500" dirty="0"/>
              <a:t> </a:t>
            </a:r>
            <a:r>
              <a:rPr lang="en-US" sz="2500" i="1" dirty="0"/>
              <a:t>App</a:t>
            </a:r>
            <a:r>
              <a:rPr lang="en-US" sz="2500" dirty="0"/>
              <a:t> 10).</a:t>
            </a:r>
          </a:p>
          <a:p>
            <a:pPr>
              <a:spcBef>
                <a:spcPts val="1800"/>
              </a:spcBef>
            </a:pPr>
            <a:r>
              <a:rPr lang="en-US" sz="2800" dirty="0"/>
              <a:t>Unfortunately, Hume leaves it very obscure what exactly he takes the problem to be:</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0530DC7-5644-4743-9750-8D4AFCDA9E88}" type="slidenum">
              <a:rPr lang="en-US" sz="1600">
                <a:effectLst>
                  <a:outerShdw blurRad="38100" dist="38100" dir="2700000" algn="tl">
                    <a:srgbClr val="000000"/>
                  </a:outerShdw>
                </a:effectLst>
                <a:ea typeface="ＭＳ Ｐゴシック" charset="-128"/>
              </a:rPr>
              <a:pPr eaLnBrk="1" hangingPunct="1"/>
              <a:t>318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539927508"/>
      </p:ext>
    </p:extLst>
  </p:cSld>
  <p:clrMapOvr>
    <a:masterClrMapping/>
  </p:clrMapOvr>
  <p:transition spd="med">
    <p:cover/>
  </p:transition>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59062B7-AC4B-4741-9442-75E65E9AB1B6}" type="slidenum">
              <a:rPr lang="en-US"/>
              <a:pPr/>
              <a:t>319</a:t>
            </a:fld>
            <a:endParaRPr lang="en-US"/>
          </a:p>
        </p:txBody>
      </p:sp>
      <p:sp>
        <p:nvSpPr>
          <p:cNvPr id="2" name="Title 1"/>
          <p:cNvSpPr>
            <a:spLocks noGrp="1"/>
          </p:cNvSpPr>
          <p:nvPr>
            <p:ph type="title" idx="4294967295"/>
          </p:nvPr>
        </p:nvSpPr>
        <p:spPr>
          <a:xfrm>
            <a:off x="457200" y="195114"/>
            <a:ext cx="8229600" cy="713606"/>
          </a:xfrm>
        </p:spPr>
        <p:txBody>
          <a:bodyPr/>
          <a:lstStyle/>
          <a:p>
            <a:r>
              <a:rPr lang="en-US" dirty="0"/>
              <a:t>Two Inconsistent Principles?</a:t>
            </a:r>
          </a:p>
        </p:txBody>
      </p:sp>
      <p:sp>
        <p:nvSpPr>
          <p:cNvPr id="3" name="Content Placeholder 2"/>
          <p:cNvSpPr>
            <a:spLocks noGrp="1"/>
          </p:cNvSpPr>
          <p:nvPr>
            <p:ph idx="4294967295"/>
          </p:nvPr>
        </p:nvSpPr>
        <p:spPr>
          <a:xfrm>
            <a:off x="611560" y="1196752"/>
            <a:ext cx="8229600" cy="5436604"/>
          </a:xfrm>
        </p:spPr>
        <p:txBody>
          <a:bodyPr/>
          <a:lstStyle/>
          <a:p>
            <a:pPr lvl="1">
              <a:buFontTx/>
              <a:buNone/>
            </a:pPr>
            <a:r>
              <a:rPr lang="en-US" dirty="0"/>
              <a:t>	</a:t>
            </a:r>
            <a:r>
              <a:rPr lang="en-US" sz="2500" dirty="0"/>
              <a:t>“In short there are two principles, which I cannot render consistent; nor is it in my power to renounce either of them, viz. </a:t>
            </a:r>
            <a:r>
              <a:rPr lang="en-US" sz="2500" i="1" dirty="0">
                <a:solidFill>
                  <a:srgbClr val="FF7C80"/>
                </a:solidFill>
              </a:rPr>
              <a:t>that all our distinct perceptions are distinct existences</a:t>
            </a:r>
            <a:r>
              <a:rPr lang="en-US" sz="2500" dirty="0"/>
              <a:t>, and </a:t>
            </a:r>
            <a:r>
              <a:rPr lang="en-US" sz="2500" i="1" dirty="0">
                <a:solidFill>
                  <a:srgbClr val="FF7C80"/>
                </a:solidFill>
              </a:rPr>
              <a:t>that the mind never perceives any real </a:t>
            </a:r>
            <a:r>
              <a:rPr lang="en-US" sz="2500" i="1" dirty="0" err="1">
                <a:solidFill>
                  <a:srgbClr val="FF7C80"/>
                </a:solidFill>
              </a:rPr>
              <a:t>connexion</a:t>
            </a:r>
            <a:r>
              <a:rPr lang="en-US" sz="2500" i="1" dirty="0">
                <a:solidFill>
                  <a:srgbClr val="FF7C80"/>
                </a:solidFill>
              </a:rPr>
              <a:t> among distinct existences</a:t>
            </a:r>
            <a:r>
              <a:rPr lang="en-US" sz="2500" dirty="0"/>
              <a:t>.  Did our perceptions either inhere in something simple and individual, or did the mind perceive some real </a:t>
            </a:r>
            <a:r>
              <a:rPr lang="en-US" sz="2500" dirty="0" err="1"/>
              <a:t>connexion</a:t>
            </a:r>
            <a:r>
              <a:rPr lang="en-US" sz="2500" dirty="0"/>
              <a:t> among them, there would be no difficulty in the case.”  (</a:t>
            </a:r>
            <a:r>
              <a:rPr lang="en-US" sz="2500" i="1" dirty="0"/>
              <a:t>T App</a:t>
            </a:r>
            <a:r>
              <a:rPr lang="en-US" sz="2500" dirty="0"/>
              <a:t> 21)</a:t>
            </a:r>
          </a:p>
          <a:p>
            <a:pPr>
              <a:spcBef>
                <a:spcPts val="1800"/>
              </a:spcBef>
            </a:pPr>
            <a:r>
              <a:rPr lang="en-US" sz="2800" dirty="0"/>
              <a:t>But the two cited principles aren’t apparently inconsistent!  So this has left </a:t>
            </a:r>
            <a:r>
              <a:rPr lang="en-US" sz="2800"/>
              <a:t>an attractively intriguing </a:t>
            </a:r>
            <a:r>
              <a:rPr lang="en-US" sz="2800" dirty="0"/>
              <a:t>puzzle for Hume’s interpreters.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C5F2338-D03E-486D-AA80-0ACDBF03C018}" type="slidenum">
              <a:rPr lang="en-US" sz="1600">
                <a:effectLst>
                  <a:outerShdw blurRad="38100" dist="38100" dir="2700000" algn="tl">
                    <a:srgbClr val="000000"/>
                  </a:outerShdw>
                </a:effectLst>
                <a:ea typeface="ＭＳ Ｐゴシック" charset="-128"/>
              </a:rPr>
              <a:pPr eaLnBrk="1" hangingPunct="1"/>
              <a:t>319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029458433"/>
      </p:ext>
    </p:extLst>
  </p:cSld>
  <p:clrMapOvr>
    <a:masterClrMapping/>
  </p:clrMapOvr>
  <p:transition spd="med">
    <p:cover/>
  </p:transition>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BE471-51F0-4673-9872-F9A7069BC235}"/>
              </a:ext>
            </a:extLst>
          </p:cNvPr>
          <p:cNvSpPr>
            <a:spLocks noGrp="1"/>
          </p:cNvSpPr>
          <p:nvPr>
            <p:ph type="title"/>
          </p:nvPr>
        </p:nvSpPr>
        <p:spPr>
          <a:xfrm>
            <a:off x="457200" y="133797"/>
            <a:ext cx="8229600" cy="810927"/>
          </a:xfrm>
        </p:spPr>
        <p:txBody>
          <a:bodyPr/>
          <a:lstStyle/>
          <a:p>
            <a:r>
              <a:rPr lang="en-US"/>
              <a:t>Multiple Interpretations </a:t>
            </a:r>
            <a:endParaRPr lang="en-GB"/>
          </a:p>
        </p:txBody>
      </p:sp>
      <p:sp>
        <p:nvSpPr>
          <p:cNvPr id="3" name="Content Placeholder 2">
            <a:extLst>
              <a:ext uri="{FF2B5EF4-FFF2-40B4-BE49-F238E27FC236}">
                <a16:creationId xmlns:a16="http://schemas.microsoft.com/office/drawing/2014/main" id="{54DA1757-BED9-4050-9C45-DFC3E1CF4752}"/>
              </a:ext>
            </a:extLst>
          </p:cNvPr>
          <p:cNvSpPr>
            <a:spLocks noGrp="1"/>
          </p:cNvSpPr>
          <p:nvPr>
            <p:ph idx="1"/>
          </p:nvPr>
        </p:nvSpPr>
        <p:spPr>
          <a:xfrm>
            <a:off x="734888" y="1196752"/>
            <a:ext cx="7833556" cy="5328592"/>
          </a:xfrm>
        </p:spPr>
        <p:txBody>
          <a:bodyPr/>
          <a:lstStyle/>
          <a:p>
            <a:r>
              <a:rPr lang="en-US" sz="2800"/>
              <a:t>Don Garrett starts his paper “Rethinking Hume’s Second Thoughts about Personal Identity” (2011) by remarking:</a:t>
            </a:r>
          </a:p>
          <a:p>
            <a:pPr lvl="1">
              <a:spcBef>
                <a:spcPts val="1800"/>
              </a:spcBef>
              <a:buFont typeface="Arial" panose="020B0604020202020204" pitchFamily="34" charset="0"/>
              <a:buChar char=" "/>
            </a:pPr>
            <a:r>
              <a:rPr lang="en-US" sz="2500"/>
              <a:t>“Why did Hume become so dissatisfied with [his] ‘former opionions’ …?  …  The question … has received what is surely a far greater number of distinct answers – well over two dozen, even by a conservative count – than has any other interpretive question about Hume’s philosophical writings.  …  I believe it is fair to say that no commentator has ever simply endorsed the answer of any other commentator.”  (p. 16)</a:t>
            </a:r>
            <a:endParaRPr lang="en-GB" sz="2500"/>
          </a:p>
        </p:txBody>
      </p:sp>
      <p:sp>
        <p:nvSpPr>
          <p:cNvPr id="4" name="Slide Number Placeholder 3">
            <a:extLst>
              <a:ext uri="{FF2B5EF4-FFF2-40B4-BE49-F238E27FC236}">
                <a16:creationId xmlns:a16="http://schemas.microsoft.com/office/drawing/2014/main" id="{E042E1A5-6879-42DC-A30E-C3A12F4EDDA9}"/>
              </a:ext>
            </a:extLst>
          </p:cNvPr>
          <p:cNvSpPr>
            <a:spLocks noGrp="1"/>
          </p:cNvSpPr>
          <p:nvPr>
            <p:ph type="sldNum" sz="quarter" idx="10"/>
          </p:nvPr>
        </p:nvSpPr>
        <p:spPr/>
        <p:txBody>
          <a:bodyPr/>
          <a:lstStyle/>
          <a:p>
            <a:fld id="{A10A50DE-8775-498A-B5F5-974B635EB245}" type="slidenum">
              <a:rPr lang="en-US" smtClean="0"/>
              <a:pPr/>
              <a:t>320</a:t>
            </a:fld>
            <a:endParaRPr lang="en-US"/>
          </a:p>
        </p:txBody>
      </p:sp>
    </p:spTree>
    <p:extLst>
      <p:ext uri="{BB962C8B-B14F-4D97-AF65-F5344CB8AC3E}">
        <p14:creationId xmlns:p14="http://schemas.microsoft.com/office/powerpoint/2010/main" val="4038708172"/>
      </p:ext>
    </p:extLst>
  </p:cSld>
  <p:clrMapOvr>
    <a:masterClrMapping/>
  </p:clrMapOvr>
  <p:transition spd="med">
    <p:cover/>
  </p:transition>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51C7265-98A1-4030-97A7-1E90CD70A11F}" type="slidenum">
              <a:rPr lang="en-US"/>
              <a:pPr/>
              <a:t>321</a:t>
            </a:fld>
            <a:endParaRPr lang="en-US"/>
          </a:p>
        </p:txBody>
      </p:sp>
      <p:sp>
        <p:nvSpPr>
          <p:cNvPr id="1158146" name="Rectangle 2"/>
          <p:cNvSpPr>
            <a:spLocks noGrp="1" noChangeArrowheads="1"/>
          </p:cNvSpPr>
          <p:nvPr>
            <p:ph type="title"/>
          </p:nvPr>
        </p:nvSpPr>
        <p:spPr>
          <a:xfrm>
            <a:off x="457200" y="152636"/>
            <a:ext cx="8229600" cy="882935"/>
          </a:xfrm>
        </p:spPr>
        <p:txBody>
          <a:bodyPr/>
          <a:lstStyle/>
          <a:p>
            <a:r>
              <a:rPr lang="en-GB" dirty="0"/>
              <a:t>A “Bundling Problem”?</a:t>
            </a:r>
            <a:endParaRPr lang="en-US" dirty="0"/>
          </a:p>
        </p:txBody>
      </p:sp>
      <p:sp>
        <p:nvSpPr>
          <p:cNvPr id="1158147" name="Rectangle 3"/>
          <p:cNvSpPr>
            <a:spLocks noGrp="1" noChangeArrowheads="1"/>
          </p:cNvSpPr>
          <p:nvPr>
            <p:ph type="body" idx="1"/>
          </p:nvPr>
        </p:nvSpPr>
        <p:spPr>
          <a:xfrm>
            <a:off x="457200" y="1268760"/>
            <a:ext cx="8229600" cy="5328890"/>
          </a:xfrm>
        </p:spPr>
        <p:txBody>
          <a:bodyPr/>
          <a:lstStyle/>
          <a:p>
            <a:r>
              <a:rPr lang="en-GB" sz="3000" dirty="0"/>
              <a:t>Many have seen the heart of Hume’s difficulty as some sort of </a:t>
            </a:r>
            <a:r>
              <a:rPr lang="en-GB" sz="3000" i="1" dirty="0"/>
              <a:t>bundling problem</a:t>
            </a:r>
            <a:r>
              <a:rPr lang="en-GB" sz="3000" dirty="0"/>
              <a:t>, e.g.:</a:t>
            </a:r>
          </a:p>
          <a:p>
            <a:pPr lvl="1">
              <a:spcBef>
                <a:spcPts val="1500"/>
              </a:spcBef>
            </a:pPr>
            <a:r>
              <a:rPr lang="en-GB" sz="2600" dirty="0"/>
              <a:t>What is it that makes our perceptions part of “our bundle” in the way that enables us to be seduced into thinking of them as a continuing self?</a:t>
            </a:r>
          </a:p>
          <a:p>
            <a:pPr lvl="1">
              <a:spcBef>
                <a:spcPts val="1500"/>
              </a:spcBef>
            </a:pPr>
            <a:r>
              <a:rPr lang="en-GB" sz="2600" dirty="0"/>
              <a:t>After all, I have no temptation to think of </a:t>
            </a:r>
            <a:r>
              <a:rPr lang="en-GB" sz="2600" i="1" dirty="0"/>
              <a:t>your</a:t>
            </a:r>
            <a:r>
              <a:rPr lang="en-GB" sz="2600" dirty="0"/>
              <a:t> perceptions as part of </a:t>
            </a:r>
            <a:r>
              <a:rPr lang="en-GB" sz="2600" i="1" dirty="0"/>
              <a:t>my</a:t>
            </a:r>
            <a:r>
              <a:rPr lang="en-GB" sz="2600" dirty="0"/>
              <a:t> self, because they don’t even come to my awareness!</a:t>
            </a:r>
          </a:p>
          <a:p>
            <a:pPr lvl="1">
              <a:spcBef>
                <a:spcPts val="1500"/>
              </a:spcBef>
            </a:pPr>
            <a:r>
              <a:rPr lang="en-GB" sz="2600" dirty="0"/>
              <a:t>This all seems to presuppose that the perceptions must </a:t>
            </a:r>
            <a:r>
              <a:rPr lang="en-GB" sz="2600" i="1" dirty="0"/>
              <a:t>genuinely</a:t>
            </a:r>
            <a:r>
              <a:rPr lang="en-GB" sz="2600" dirty="0"/>
              <a:t> be bundled in some way </a:t>
            </a:r>
            <a:r>
              <a:rPr lang="en-GB" sz="2600" i="1" dirty="0"/>
              <a:t>before</a:t>
            </a:r>
            <a:r>
              <a:rPr lang="en-GB" sz="2600" dirty="0"/>
              <a:t> Hume’s account of the error can even get going.</a:t>
            </a:r>
            <a:endParaRPr lang="en-US" sz="2600" dirty="0"/>
          </a:p>
        </p:txBody>
      </p:sp>
    </p:spTree>
    <p:extLst>
      <p:ext uri="{BB962C8B-B14F-4D97-AF65-F5344CB8AC3E}">
        <p14:creationId xmlns:p14="http://schemas.microsoft.com/office/powerpoint/2010/main" val="2505248973"/>
      </p:ext>
    </p:extLst>
  </p:cSld>
  <p:clrMapOvr>
    <a:masterClrMapping/>
  </p:clrMapOvr>
  <p:transition spd="med">
    <p:cover/>
  </p:transition>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D25A0-7ECA-4C61-9F4F-0157A48CCFF7}"/>
              </a:ext>
            </a:extLst>
          </p:cNvPr>
          <p:cNvSpPr>
            <a:spLocks noGrp="1"/>
          </p:cNvSpPr>
          <p:nvPr>
            <p:ph type="title"/>
          </p:nvPr>
        </p:nvSpPr>
        <p:spPr>
          <a:xfrm>
            <a:off x="457200" y="224644"/>
            <a:ext cx="8229600" cy="630907"/>
          </a:xfrm>
        </p:spPr>
        <p:txBody>
          <a:bodyPr/>
          <a:lstStyle/>
          <a:p>
            <a:r>
              <a:rPr lang="en-US"/>
              <a:t>Garrett’s Proposal</a:t>
            </a:r>
            <a:endParaRPr lang="en-GB"/>
          </a:p>
        </p:txBody>
      </p:sp>
      <p:sp>
        <p:nvSpPr>
          <p:cNvPr id="3" name="Content Placeholder 2">
            <a:extLst>
              <a:ext uri="{FF2B5EF4-FFF2-40B4-BE49-F238E27FC236}">
                <a16:creationId xmlns:a16="http://schemas.microsoft.com/office/drawing/2014/main" id="{4267D45D-3B7E-4EA5-9BF4-99A69D7CDCBD}"/>
              </a:ext>
            </a:extLst>
          </p:cNvPr>
          <p:cNvSpPr>
            <a:spLocks noGrp="1"/>
          </p:cNvSpPr>
          <p:nvPr>
            <p:ph idx="1"/>
          </p:nvPr>
        </p:nvSpPr>
        <p:spPr>
          <a:xfrm>
            <a:off x="457200" y="1268760"/>
            <a:ext cx="8229600" cy="5220580"/>
          </a:xfrm>
        </p:spPr>
        <p:txBody>
          <a:bodyPr/>
          <a:lstStyle/>
          <a:p>
            <a:r>
              <a:rPr lang="en-US" sz="2800"/>
              <a:t>Garrett’s carefully argued proposal in his 2011 paper seems as good as any other.  He sees Hume’s problem as arising from three of his “central doctrines”:</a:t>
            </a:r>
          </a:p>
          <a:p>
            <a:pPr lvl="1">
              <a:spcBef>
                <a:spcPts val="2400"/>
              </a:spcBef>
            </a:pPr>
            <a:r>
              <a:rPr lang="en-US" sz="2300" i="1" u="sng"/>
              <a:t>Placeless Perceptions</a:t>
            </a:r>
            <a:br>
              <a:rPr lang="en-US" sz="2300" i="1"/>
            </a:br>
            <a:r>
              <a:rPr lang="en-US" sz="2300"/>
              <a:t>No </a:t>
            </a:r>
            <a:r>
              <a:rPr lang="en-US" sz="2300" i="1">
                <a:solidFill>
                  <a:srgbClr val="FF7C80"/>
                </a:solidFill>
              </a:rPr>
              <a:t>nonvisual</a:t>
            </a:r>
            <a:r>
              <a:rPr lang="en-US" sz="2300"/>
              <a:t> and </a:t>
            </a:r>
            <a:r>
              <a:rPr lang="en-US" sz="2300" i="1">
                <a:solidFill>
                  <a:srgbClr val="FF7C80"/>
                </a:solidFill>
              </a:rPr>
              <a:t>nontactile</a:t>
            </a:r>
            <a:r>
              <a:rPr lang="en-US" sz="2300"/>
              <a:t> perception is in any “place,” either spiritual (such as a soul or mental substance) or spatial, by which it is located relative to any other perception.  Even visual and tactile perceptions are not in any place by which they are located relative to any other perceptions except to those (if any) with which they form a spatially complex perception.</a:t>
            </a:r>
          </a:p>
          <a:p>
            <a:pPr lvl="1"/>
            <a:endParaRPr lang="en-US" sz="2500" i="1"/>
          </a:p>
          <a:p>
            <a:pPr lvl="1"/>
            <a:endParaRPr lang="en-GB" sz="2500"/>
          </a:p>
        </p:txBody>
      </p:sp>
      <p:sp>
        <p:nvSpPr>
          <p:cNvPr id="4" name="Slide Number Placeholder 3">
            <a:extLst>
              <a:ext uri="{FF2B5EF4-FFF2-40B4-BE49-F238E27FC236}">
                <a16:creationId xmlns:a16="http://schemas.microsoft.com/office/drawing/2014/main" id="{EBD6A368-174A-4D16-8E69-1125EAC9F751}"/>
              </a:ext>
            </a:extLst>
          </p:cNvPr>
          <p:cNvSpPr>
            <a:spLocks noGrp="1"/>
          </p:cNvSpPr>
          <p:nvPr>
            <p:ph type="sldNum" sz="quarter" idx="10"/>
          </p:nvPr>
        </p:nvSpPr>
        <p:spPr/>
        <p:txBody>
          <a:bodyPr/>
          <a:lstStyle/>
          <a:p>
            <a:fld id="{A10A50DE-8775-498A-B5F5-974B635EB245}" type="slidenum">
              <a:rPr lang="en-US" smtClean="0"/>
              <a:pPr/>
              <a:t>322</a:t>
            </a:fld>
            <a:endParaRPr lang="en-US"/>
          </a:p>
        </p:txBody>
      </p:sp>
    </p:spTree>
    <p:extLst>
      <p:ext uri="{BB962C8B-B14F-4D97-AF65-F5344CB8AC3E}">
        <p14:creationId xmlns:p14="http://schemas.microsoft.com/office/powerpoint/2010/main" val="3768091560"/>
      </p:ext>
    </p:extLst>
  </p:cSld>
  <p:clrMapOvr>
    <a:masterClrMapping/>
  </p:clrMapOvr>
  <p:transition spd="med">
    <p:cover/>
  </p:transition>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67D45D-3B7E-4EA5-9BF4-99A69D7CDCBD}"/>
              </a:ext>
            </a:extLst>
          </p:cNvPr>
          <p:cNvSpPr>
            <a:spLocks noGrp="1"/>
          </p:cNvSpPr>
          <p:nvPr>
            <p:ph idx="1"/>
          </p:nvPr>
        </p:nvSpPr>
        <p:spPr>
          <a:xfrm>
            <a:off x="457200" y="404664"/>
            <a:ext cx="8229600" cy="6084676"/>
          </a:xfrm>
        </p:spPr>
        <p:txBody>
          <a:bodyPr/>
          <a:lstStyle/>
          <a:p>
            <a:pPr lvl="1">
              <a:spcBef>
                <a:spcPts val="1800"/>
              </a:spcBef>
            </a:pPr>
            <a:r>
              <a:rPr lang="en-US" sz="2300" i="1" u="sng"/>
              <a:t>Conjunctive Causation</a:t>
            </a:r>
            <a:br>
              <a:rPr lang="en-US" sz="2300" i="1"/>
            </a:br>
            <a:r>
              <a:rPr lang="en-US" sz="2300"/>
              <a:t>Taken together, the following are individually necessary and jointly sufficient for the existence of a causal relation between two objects: (i) priority in time; (ii) contiguity in time and, </a:t>
            </a:r>
            <a:r>
              <a:rPr lang="en-US" sz="2300" i="1">
                <a:solidFill>
                  <a:srgbClr val="FF7C80"/>
                </a:solidFill>
              </a:rPr>
              <a:t>where applicable</a:t>
            </a:r>
            <a:r>
              <a:rPr lang="en-US" sz="2300"/>
              <a:t>, in place; and (iii) constant similar conjunction of like objects.</a:t>
            </a:r>
          </a:p>
          <a:p>
            <a:pPr lvl="1">
              <a:spcBef>
                <a:spcPts val="2400"/>
              </a:spcBef>
            </a:pPr>
            <a:r>
              <a:rPr lang="en-US" sz="2300" i="1" u="sng"/>
              <a:t>Causal Bundling</a:t>
            </a:r>
            <a:br>
              <a:rPr lang="en-US" sz="2300" i="1"/>
            </a:br>
            <a:r>
              <a:rPr lang="en-US" sz="2300"/>
              <a:t>Perceptions are in the same mind if and only if they are elements in a system of relevant causal relations holding among them.</a:t>
            </a:r>
          </a:p>
          <a:p>
            <a:pPr>
              <a:spcBef>
                <a:spcPts val="2400"/>
              </a:spcBef>
            </a:pPr>
            <a:r>
              <a:rPr lang="en-US" sz="2800"/>
              <a:t>Garrett argues that these three doctrines together made it impossible for Hume to achieve a coherent conception of how perceptions have a “place” within any particular mind.</a:t>
            </a:r>
            <a:endParaRPr lang="en-GB" sz="2500"/>
          </a:p>
        </p:txBody>
      </p:sp>
      <p:sp>
        <p:nvSpPr>
          <p:cNvPr id="4" name="Slide Number Placeholder 3">
            <a:extLst>
              <a:ext uri="{FF2B5EF4-FFF2-40B4-BE49-F238E27FC236}">
                <a16:creationId xmlns:a16="http://schemas.microsoft.com/office/drawing/2014/main" id="{EBD6A368-174A-4D16-8E69-1125EAC9F751}"/>
              </a:ext>
            </a:extLst>
          </p:cNvPr>
          <p:cNvSpPr>
            <a:spLocks noGrp="1"/>
          </p:cNvSpPr>
          <p:nvPr>
            <p:ph type="sldNum" sz="quarter" idx="10"/>
          </p:nvPr>
        </p:nvSpPr>
        <p:spPr/>
        <p:txBody>
          <a:bodyPr/>
          <a:lstStyle/>
          <a:p>
            <a:fld id="{A10A50DE-8775-498A-B5F5-974B635EB245}" type="slidenum">
              <a:rPr lang="en-US" smtClean="0"/>
              <a:pPr/>
              <a:t>323</a:t>
            </a:fld>
            <a:endParaRPr lang="en-US"/>
          </a:p>
        </p:txBody>
      </p:sp>
    </p:spTree>
    <p:extLst>
      <p:ext uri="{BB962C8B-B14F-4D97-AF65-F5344CB8AC3E}">
        <p14:creationId xmlns:p14="http://schemas.microsoft.com/office/powerpoint/2010/main" val="3208401256"/>
      </p:ext>
    </p:extLst>
  </p:cSld>
  <p:clrMapOvr>
    <a:masterClrMapping/>
  </p:clrMapOvr>
  <p:transition spd="med">
    <p:cover/>
  </p:transition>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116632"/>
            <a:ext cx="8229600" cy="720080"/>
          </a:xfrm>
        </p:spPr>
        <p:txBody>
          <a:bodyPr/>
          <a:lstStyle/>
          <a:p>
            <a:r>
              <a:rPr lang="en-GB" dirty="0"/>
              <a:t>Changes of Mind?</a:t>
            </a:r>
          </a:p>
        </p:txBody>
      </p:sp>
      <p:sp>
        <p:nvSpPr>
          <p:cNvPr id="3" name="Content Placeholder 2"/>
          <p:cNvSpPr>
            <a:spLocks noGrp="1"/>
          </p:cNvSpPr>
          <p:nvPr>
            <p:ph idx="1"/>
          </p:nvPr>
        </p:nvSpPr>
        <p:spPr>
          <a:xfrm>
            <a:off x="683568" y="1052736"/>
            <a:ext cx="8172908" cy="5544616"/>
          </a:xfrm>
        </p:spPr>
        <p:txBody>
          <a:bodyPr/>
          <a:lstStyle/>
          <a:p>
            <a:r>
              <a:rPr lang="en-GB" sz="2500" dirty="0"/>
              <a:t>The issue of identity doesn’t arise in the </a:t>
            </a:r>
            <a:r>
              <a:rPr lang="en-GB" sz="2500" i="1" dirty="0"/>
              <a:t>Enquiry</a:t>
            </a:r>
            <a:r>
              <a:rPr lang="en-GB" sz="2500" dirty="0"/>
              <a:t>, and the only mention of personal identity in Hume’s later works is in his posthumously published </a:t>
            </a:r>
            <a:r>
              <a:rPr lang="en-GB" sz="2500" i="1" dirty="0"/>
              <a:t>Dialogues concerning Natural Religion</a:t>
            </a:r>
            <a:r>
              <a:rPr lang="en-GB" sz="2500" dirty="0"/>
              <a:t>, at </a:t>
            </a:r>
            <a:r>
              <a:rPr lang="en-GB" sz="2500" i="1" dirty="0"/>
              <a:t>D</a:t>
            </a:r>
            <a:r>
              <a:rPr lang="en-GB" sz="2500" dirty="0"/>
              <a:t> 4.2-3).  There “the soul of man” is described by Demea as constantly changing, and Cleanthes responds that a mind by its nature cannot be immutable.  So neither of them considers mental identity incompatible with change.</a:t>
            </a:r>
          </a:p>
          <a:p>
            <a:pPr>
              <a:spcBef>
                <a:spcPts val="1200"/>
              </a:spcBef>
            </a:pPr>
            <a:r>
              <a:rPr lang="en-GB" sz="2500" dirty="0"/>
              <a:t>The Separability Principle also disappears in the later works (at least in anything more than a very lightweight form), so Hume </a:t>
            </a:r>
            <a:r>
              <a:rPr lang="en-GB" sz="2500" i="1" u="sng" dirty="0"/>
              <a:t>might</a:t>
            </a:r>
            <a:r>
              <a:rPr lang="en-GB" sz="2500" dirty="0"/>
              <a:t> have changed his mind on the principles that made identity, especially of persons, so intractable in the </a:t>
            </a:r>
            <a:r>
              <a:rPr lang="en-GB" sz="2500" i="1" dirty="0"/>
              <a:t>Treatise</a:t>
            </a:r>
            <a:r>
              <a:rPr lang="en-GB" sz="2500" dirty="0"/>
              <a:t>. </a:t>
            </a:r>
          </a:p>
          <a:p>
            <a:pPr>
              <a:spcBef>
                <a:spcPts val="1200"/>
              </a:spcBef>
            </a:pPr>
            <a:endParaRPr lang="en-GB" sz="30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324</a:t>
            </a:fld>
            <a:endParaRPr lang="en-US"/>
          </a:p>
        </p:txBody>
      </p:sp>
    </p:spTree>
    <p:extLst>
      <p:ext uri="{BB962C8B-B14F-4D97-AF65-F5344CB8AC3E}">
        <p14:creationId xmlns:p14="http://schemas.microsoft.com/office/powerpoint/2010/main" val="354565189"/>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38203</Words>
  <Application>Microsoft Office PowerPoint</Application>
  <PresentationFormat>On-screen Show (4:3)</PresentationFormat>
  <Paragraphs>1839</Paragraphs>
  <Slides>324</Slides>
  <Notes>17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324</vt:i4>
      </vt:variant>
    </vt:vector>
  </HeadingPairs>
  <TitlesOfParts>
    <vt:vector size="332" baseType="lpstr">
      <vt:lpstr>ＭＳ Ｐゴシック</vt:lpstr>
      <vt:lpstr>Arial</vt:lpstr>
      <vt:lpstr>Calibri</vt:lpstr>
      <vt:lpstr>Courier New</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Two Lockean Kinds of Reasoning</vt:lpstr>
      <vt:lpstr>Kinds of Reasoning and Evidence</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Setting Out to Investigate Causal Inference and Belief</vt:lpstr>
      <vt:lpstr>T 1.3.5: “Of the impressions of the senses and memory”</vt:lpstr>
      <vt:lpstr>David Hume, 1711-1776</vt:lpstr>
      <vt:lpstr>Last Time ...</vt:lpstr>
      <vt:lpstr>4(a)  The Role of Treatise 1.3.6</vt:lpstr>
      <vt:lpstr>T 1.3.6: “Of the inference from the impression to the idea”</vt:lpstr>
      <vt:lpstr>Causal Inference Is Not A Priori (T)</vt:lpstr>
      <vt:lpstr>Experience and Constant Conjunction</vt:lpstr>
      <vt:lpstr>PowerPoint Presentation</vt:lpstr>
      <vt:lpstr>PowerPoint Presentation</vt:lpstr>
      <vt:lpstr>A Question of Faculties</vt:lpstr>
      <vt:lpstr>Hume’s Alternative Explanation</vt:lpstr>
      <vt:lpstr>4(b)  The Argument Concerning Induction (T, A, and E)</vt:lpstr>
      <vt:lpstr>The Famous Argument (×3)</vt:lpstr>
      <vt:lpstr>A Major Structural Change</vt:lpstr>
      <vt:lpstr>PowerPoint Presentation</vt:lpstr>
      <vt:lpstr>PowerPoint Presentation</vt:lpstr>
      <vt:lpstr>The Need for Extrapolation</vt:lpstr>
      <vt:lpstr>UP:  The Uniformity Principle</vt:lpstr>
      <vt:lpstr>UP in the Enquiry</vt:lpstr>
      <vt:lpstr>The Role of the Uniformity Principle</vt:lpstr>
      <vt:lpstr>Can UP be Founded on Argument?</vt:lpstr>
      <vt:lpstr>PowerPoint Presentation</vt:lpstr>
      <vt:lpstr>The Enquiry is More Thorough</vt:lpstr>
      <vt:lpstr>Argument Summary</vt:lpstr>
      <vt:lpstr>Hume’s Argument in the Treatise</vt:lpstr>
      <vt:lpstr>PowerPoint Presentation</vt:lpstr>
      <vt:lpstr>“Sceptical Doubts …” (Enquiry 4)</vt:lpstr>
      <vt:lpstr>The “Sceptical” Conclusion</vt:lpstr>
      <vt:lpstr>Epistemology, or Cognitive Science?</vt:lpstr>
      <vt:lpstr>But Is Hume Himself Sceptical?</vt:lpstr>
      <vt:lpstr>PowerPoint Presentation</vt:lpstr>
      <vt:lpstr>4(c)  More on Belief, Association, and Probability</vt:lpstr>
      <vt:lpstr>Custom and Belief</vt:lpstr>
      <vt:lpstr>PowerPoint Presentation</vt:lpstr>
      <vt:lpstr>A Puzzle in Treatise 1.3.9</vt:lpstr>
      <vt:lpstr>PowerPoint Presentation</vt:lpstr>
      <vt:lpstr>Religion and the Imagination</vt:lpstr>
      <vt:lpstr>T 1.3.10: “Of the Influence of Belief”</vt:lpstr>
      <vt:lpstr>T 1.3.11: “Probability of Chances”</vt:lpstr>
      <vt:lpstr>T 1.3.12: “Probability of Causes”</vt:lpstr>
      <vt:lpstr>PowerPoint Presentation</vt:lpstr>
      <vt:lpstr>Science: Seeking Hidden Causes</vt:lpstr>
      <vt:lpstr>T 1.3.13: “Unphilosophical Probability”</vt:lpstr>
      <vt:lpstr>David Hume, 1711-1776</vt:lpstr>
      <vt:lpstr>Last Time ...</vt:lpstr>
      <vt:lpstr>5(a)  The Argument of Treatise 1.3.14 and Enquiry 7 </vt:lpstr>
      <vt:lpstr>The Treatise and Enquiry Versions</vt:lpstr>
      <vt:lpstr>Applying the Copy Principle</vt:lpstr>
      <vt:lpstr>PowerPoint Presentation</vt:lpstr>
      <vt:lpstr>The Structure of the Argument</vt:lpstr>
      <vt:lpstr>PowerPoint Presentation</vt:lpstr>
      <vt:lpstr>Stage 2: A Family of Terms</vt:lpstr>
      <vt:lpstr>Two Puzzles</vt:lpstr>
      <vt:lpstr>Stage 3: Seeking the Impression</vt:lpstr>
      <vt:lpstr>Stage 4: No Such Impression from Observing Causation in Bodies</vt:lpstr>
      <vt:lpstr>PowerPoint Presentation</vt:lpstr>
      <vt:lpstr>Hume’s “Key Move” in the Enquiry</vt:lpstr>
      <vt:lpstr>Is the “Key Move” Plausible?</vt:lpstr>
      <vt:lpstr>Stage 5: An Internal Impression?</vt:lpstr>
      <vt:lpstr>Repeating the Key Move (Enquiry)</vt:lpstr>
      <vt:lpstr>5.1: Our Power over our Body</vt:lpstr>
      <vt:lpstr>5.2: Our Power over our Mind</vt:lpstr>
      <vt:lpstr>Stage 6: No Abstract Idea (Treatise)</vt:lpstr>
      <vt:lpstr>The Earliest Key Move (Treatise)</vt:lpstr>
      <vt:lpstr>Stage 7: Rejecting Occasionalism</vt:lpstr>
      <vt:lpstr>Stage 8: Having Another Look</vt:lpstr>
      <vt:lpstr>PowerPoint Presentation</vt:lpstr>
      <vt:lpstr>Stage 9: Repeated Instances</vt:lpstr>
      <vt:lpstr>PowerPoint Presentation</vt:lpstr>
      <vt:lpstr>Stage 10: Identifying the Impression</vt:lpstr>
      <vt:lpstr>PowerPoint Presentation</vt:lpstr>
      <vt:lpstr>5(b)  The “Impression of Necessary Connexion”</vt:lpstr>
      <vt:lpstr>Notorious “Subjectivism” about Necessity</vt:lpstr>
      <vt:lpstr>Misunderstanding and Bias</vt:lpstr>
      <vt:lpstr>The Confused Vulgar Idea of Power</vt:lpstr>
      <vt:lpstr>Is the Impression a Feeling? </vt:lpstr>
      <vt:lpstr>From “Determination” of Thought (Treatise) to “Transition” (Enquiry)</vt:lpstr>
      <vt:lpstr>Reflective Awareness of Inference?</vt:lpstr>
      <vt:lpstr>PowerPoint Presentation</vt:lpstr>
      <vt:lpstr>5(c)  The Two Definitions of Cause and of Necessity</vt:lpstr>
      <vt:lpstr>Two “Definitions of Cause”</vt:lpstr>
      <vt:lpstr>PowerPoint Presentation</vt:lpstr>
      <vt:lpstr>PowerPoint Presentation</vt:lpstr>
      <vt:lpstr>PowerPoint Presentation</vt:lpstr>
      <vt:lpstr>PowerPoint Presentation</vt:lpstr>
      <vt:lpstr>Applying the Definitions</vt:lpstr>
      <vt:lpstr>Corollaries of the Definitions</vt:lpstr>
      <vt:lpstr>The Two Definitions of Necessity</vt:lpstr>
      <vt:lpstr>Where is the Notorious Subjectivism?</vt:lpstr>
      <vt:lpstr>PowerPoint Presentation</vt:lpstr>
      <vt:lpstr>PowerPoint Presentation</vt:lpstr>
      <vt:lpstr>David Hume, 1711-1776</vt:lpstr>
      <vt:lpstr>From Last Time …</vt:lpstr>
      <vt:lpstr>6(a)  Causal Rules, to Liberty and Necessity</vt:lpstr>
      <vt:lpstr>The Rules of Treatise 1.3.15</vt:lpstr>
      <vt:lpstr>PowerPoint Presentation</vt:lpstr>
      <vt:lpstr>Quantitative Powers in the Enquiry</vt:lpstr>
      <vt:lpstr>PowerPoint Presentation</vt:lpstr>
      <vt:lpstr>“Of the Reason of Animals” (T 1.3.16)</vt:lpstr>
      <vt:lpstr>PowerPoint Presentation</vt:lpstr>
      <vt:lpstr>A Positive View of Causation</vt:lpstr>
      <vt:lpstr>Of Liberty and Necessity</vt:lpstr>
      <vt:lpstr>No Further Idea of Causal Necessity</vt:lpstr>
      <vt:lpstr>“A New Definition of Necessity”</vt:lpstr>
      <vt:lpstr>6(b)  Treatise 1.4.2  “Of Scepticism with Regard to the Senses”</vt:lpstr>
      <vt:lpstr>Treatise Book 1 Part 4 “Of the Sceptical and Other Systems of Philosophy”</vt:lpstr>
      <vt:lpstr>Scepticism with Regard to Reason</vt:lpstr>
      <vt:lpstr>Scepticism with regard to the Senses</vt:lpstr>
      <vt:lpstr>Doubts About the Existence of Body</vt:lpstr>
      <vt:lpstr>Analysing the Belief</vt:lpstr>
      <vt:lpstr>Which Faculty?</vt:lpstr>
      <vt:lpstr>Eliminating the Senses</vt:lpstr>
      <vt:lpstr>Fallacy, Illusion, and Transparency</vt:lpstr>
      <vt:lpstr>Externality to the Body</vt:lpstr>
      <vt:lpstr>Reason and the Vulgar View</vt:lpstr>
      <vt:lpstr>Eliminating Reason</vt:lpstr>
      <vt:lpstr>Turning to the Imagination</vt:lpstr>
      <vt:lpstr>Constancy and Coherence</vt:lpstr>
      <vt:lpstr>Explaining the Vulgar View</vt:lpstr>
      <vt:lpstr>PowerPoint Presentation</vt:lpstr>
      <vt:lpstr>The Four-Part Account</vt:lpstr>
      <vt:lpstr>A Problematic Assumption</vt:lpstr>
      <vt:lpstr>Fallacy and Fiction</vt:lpstr>
      <vt:lpstr>The Key Experiment</vt:lpstr>
      <vt:lpstr>The Philosophical System</vt:lpstr>
      <vt:lpstr>Recapitulation and Overview</vt:lpstr>
      <vt:lpstr>The Despairing Conclusion</vt:lpstr>
      <vt:lpstr>Carelessness and Inattention are the only “Remedy”</vt:lpstr>
      <vt:lpstr>“’Tis impossible … to defend either our understanding or senses”</vt:lpstr>
      <vt:lpstr>6(c)  Treatise 1.4.3  “Of the Antient Philosophy”</vt:lpstr>
      <vt:lpstr>Of the Antient Philosophy</vt:lpstr>
      <vt:lpstr>False Simplicity and Identity</vt:lpstr>
      <vt:lpstr>Inventing Substance</vt:lpstr>
      <vt:lpstr>Substantial Forms and Accidents</vt:lpstr>
      <vt:lpstr>Faculties and Occult Qualities</vt:lpstr>
      <vt:lpstr>Ridiculing Sympathies and Antipathies</vt:lpstr>
      <vt:lpstr>6(d)  Treatise 1.4.4  “Of the Modern Philosophy”</vt:lpstr>
      <vt:lpstr>Imaginative Principles, Good and Bad</vt:lpstr>
      <vt:lpstr>PowerPoint Presentation</vt:lpstr>
      <vt:lpstr>Hume’s Way Out?</vt:lpstr>
      <vt:lpstr>“Of the Modern Philosophy”</vt:lpstr>
      <vt:lpstr>A Causal Argument from Variation</vt:lpstr>
      <vt:lpstr>A Berkeleian Objection</vt:lpstr>
      <vt:lpstr>Annihilating Matter</vt:lpstr>
      <vt:lpstr>Reason Against the Senses</vt:lpstr>
      <vt:lpstr>David Hume, 1711-1776</vt:lpstr>
      <vt:lpstr>From Last Time …</vt:lpstr>
      <vt:lpstr>7(a)  How Does Hume View the Belief in the Continued and Distinct Existence of Body?</vt:lpstr>
      <vt:lpstr>(i) The Belief is Dubiously Coherent</vt:lpstr>
      <vt:lpstr>(ii) Clearly False in its Vulgar Form</vt:lpstr>
      <vt:lpstr>PowerPoint Presentation</vt:lpstr>
      <vt:lpstr>(iii) Nevertheless Universal and Irresistible</vt:lpstr>
      <vt:lpstr>(iv) Is the Philosophical Form Worse?</vt:lpstr>
      <vt:lpstr>(v)  Rejecting Both Forms of the Belief?</vt:lpstr>
      <vt:lpstr>(vi)  And Yet …</vt:lpstr>
      <vt:lpstr>The Discussion in the Enquiry</vt:lpstr>
      <vt:lpstr>PowerPoint Presentation</vt:lpstr>
      <vt:lpstr>PowerPoint Presentation</vt:lpstr>
      <vt:lpstr>PowerPoint Presentation</vt:lpstr>
      <vt:lpstr>PowerPoint Presentation</vt:lpstr>
      <vt:lpstr>Hume’s Tantalizing Last Words on Body</vt:lpstr>
      <vt:lpstr>7(b)  Of the Immateriality of the Soul</vt:lpstr>
      <vt:lpstr>Turning to the Internal World</vt:lpstr>
      <vt:lpstr>Taking Separability Too Far?</vt:lpstr>
      <vt:lpstr>Reification of Perceptions</vt:lpstr>
      <vt:lpstr>The Location of Perceptions</vt:lpstr>
      <vt:lpstr>A Spinozistic Parody</vt:lpstr>
      <vt:lpstr>Defending Materialism</vt:lpstr>
      <vt:lpstr>PowerPoint Presentation</vt:lpstr>
      <vt:lpstr>“’tis only by our experience of … constant conjunction, we can arrive at any knowledge of causation”</vt:lpstr>
      <vt:lpstr>“To consider the matter a priori, any thing may produce any thing”</vt:lpstr>
      <vt:lpstr>PowerPoint Presentation</vt:lpstr>
      <vt:lpstr>PowerPoint Presentation</vt:lpstr>
      <vt:lpstr>Applying the Definition of Cause</vt:lpstr>
      <vt:lpstr>A Puzzling Conclusion</vt:lpstr>
      <vt:lpstr>7(c)  Of Personal Identity</vt:lpstr>
      <vt:lpstr>Of Personal Identity</vt:lpstr>
      <vt:lpstr>The Bundle Theory</vt:lpstr>
      <vt:lpstr>PowerPoint Presentation</vt:lpstr>
      <vt:lpstr>But Identity Requires Constancy?</vt:lpstr>
      <vt:lpstr>Explaining the Attribution of Identity</vt:lpstr>
      <vt:lpstr>Confusion, Absurdity, and Fictions</vt:lpstr>
      <vt:lpstr>Association and Identity</vt:lpstr>
      <vt:lpstr>Explaining Personal Identity</vt:lpstr>
      <vt:lpstr>Resemblance, Causation, Memory</vt:lpstr>
      <vt:lpstr>Just Who is Confused Here?</vt:lpstr>
      <vt:lpstr>Notorious Second Thoughts</vt:lpstr>
      <vt:lpstr>Two Inconsistent Principles?</vt:lpstr>
      <vt:lpstr>Multiple Interpretations </vt:lpstr>
      <vt:lpstr>A “Bundling Problem”?</vt:lpstr>
      <vt:lpstr>Garrett’s Proposal</vt:lpstr>
      <vt:lpstr>PowerPoint Presentation</vt:lpstr>
      <vt:lpstr>Changes of Mind?</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322</cp:revision>
  <cp:lastPrinted>2025-11-18T18:45:10Z</cp:lastPrinted>
  <dcterms:created xsi:type="dcterms:W3CDTF">2003-12-13T01:24:05Z</dcterms:created>
  <dcterms:modified xsi:type="dcterms:W3CDTF">2025-11-26T08:39:16Z</dcterms:modified>
</cp:coreProperties>
</file>